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1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2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3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4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5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1" descr="第 1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1-001"/>
          <p:cNvSpPr/>
          <p:nvPr/>
        </p:nvSpPr>
        <p:spPr>
          <a:xfrm>
            <a:off x="1219581" y="1905381"/>
            <a:ext cx="10899267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97" b="1" dirty="0">
                <a:solidFill>
                  <a:srgbClr val="000C2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灵动力投资建议书</a:t>
            </a:r>
            <a:endParaRPr lang="en-US" sz="7897" dirty="0"/>
          </a:p>
        </p:txBody>
      </p:sp>
      <p:sp>
        <p:nvSpPr>
          <p:cNvPr id="4" name="ocr-text-p01-002"/>
          <p:cNvSpPr/>
          <p:nvPr/>
        </p:nvSpPr>
        <p:spPr>
          <a:xfrm>
            <a:off x="848106" y="3267456"/>
            <a:ext cx="1127074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17" b="1" dirty="0">
                <a:solidFill>
                  <a:srgbClr val="000C2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智灵动力 (北京 ) 科技有限公司</a:t>
            </a:r>
            <a:endParaRPr lang="en-US" sz="3817" dirty="0"/>
          </a:p>
        </p:txBody>
      </p:sp>
      <p:sp>
        <p:nvSpPr>
          <p:cNvPr id="5" name="ocr-text-p01-003"/>
          <p:cNvSpPr/>
          <p:nvPr/>
        </p:nvSpPr>
        <p:spPr>
          <a:xfrm>
            <a:off x="857631" y="3896106"/>
            <a:ext cx="60579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56" dirty="0">
                <a:solidFill>
                  <a:srgbClr val="000C2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从产品能力 、 商业验证到交易可行性的五页判断</a:t>
            </a:r>
            <a:endParaRPr lang="en-US" sz="2256" dirty="0"/>
          </a:p>
        </p:txBody>
      </p:sp>
      <p:sp>
        <p:nvSpPr>
          <p:cNvPr id="6" name="ocr-text-p01-004"/>
          <p:cNvSpPr/>
          <p:nvPr/>
        </p:nvSpPr>
        <p:spPr>
          <a:xfrm>
            <a:off x="857631" y="5972556"/>
            <a:ext cx="244602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6" b="1" dirty="0">
                <a:solidFill>
                  <a:srgbClr val="000C2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内部讨论稿 | 年 8 月</a:t>
            </a:r>
            <a:endParaRPr lang="en-US" sz="190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2" descr="第 2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2-001"/>
          <p:cNvSpPr/>
          <p:nvPr/>
        </p:nvSpPr>
        <p:spPr>
          <a:xfrm>
            <a:off x="181356" y="105156"/>
            <a:ext cx="119374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96" b="1" dirty="0">
                <a:solidFill>
                  <a:srgbClr val="000B22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(01 公司已形成三条产品线 ， 但底层技术与业务归属仍需核</a:t>
            </a:r>
            <a:endParaRPr lang="en-US" sz="3696" dirty="0"/>
          </a:p>
        </p:txBody>
      </p:sp>
      <p:sp>
        <p:nvSpPr>
          <p:cNvPr id="4" name="ocr-text-p02-002"/>
          <p:cNvSpPr/>
          <p:nvPr/>
        </p:nvSpPr>
        <p:spPr>
          <a:xfrm>
            <a:off x="3477006" y="924306"/>
            <a:ext cx="864184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21" b="1" dirty="0">
                <a:solidFill>
                  <a:srgbClr val="000B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一官方定位 : 科创研究与文创视听智能体 “一</a:t>
            </a:r>
            <a:endParaRPr lang="en-US" sz="2521" dirty="0"/>
          </a:p>
        </p:txBody>
      </p:sp>
      <p:sp>
        <p:nvSpPr>
          <p:cNvPr id="5" name="ocr-text-p02-003"/>
          <p:cNvSpPr/>
          <p:nvPr/>
        </p:nvSpPr>
        <p:spPr>
          <a:xfrm>
            <a:off x="4010406" y="1343406"/>
            <a:ext cx="810844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29" b="1" dirty="0">
                <a:solidFill>
                  <a:srgbClr val="0016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| [&gt;] eve</a:t>
            </a:r>
            <a:endParaRPr lang="en-US" sz="6429" dirty="0"/>
          </a:p>
        </p:txBody>
      </p:sp>
      <p:sp>
        <p:nvSpPr>
          <p:cNvPr id="6" name="ocr-text-p02-004"/>
          <p:cNvSpPr/>
          <p:nvPr/>
        </p:nvSpPr>
        <p:spPr>
          <a:xfrm>
            <a:off x="8430006" y="2210181"/>
            <a:ext cx="368884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081E4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|</a:t>
            </a:r>
            <a:endParaRPr lang="en-US" sz="1170" dirty="0"/>
          </a:p>
        </p:txBody>
      </p:sp>
      <p:sp>
        <p:nvSpPr>
          <p:cNvPr id="7" name="ocr-text-p02-005"/>
          <p:cNvSpPr/>
          <p:nvPr/>
        </p:nvSpPr>
        <p:spPr>
          <a:xfrm>
            <a:off x="4648581" y="2210181"/>
            <a:ext cx="747026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81E4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|</a:t>
            </a:r>
            <a:endParaRPr lang="en-US" sz="1080" dirty="0"/>
          </a:p>
        </p:txBody>
      </p:sp>
      <p:sp>
        <p:nvSpPr>
          <p:cNvPr id="8" name="ocr-text-p02-006"/>
          <p:cNvSpPr/>
          <p:nvPr/>
        </p:nvSpPr>
        <p:spPr>
          <a:xfrm>
            <a:off x="1067181" y="2229231"/>
            <a:ext cx="17487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7" b="1" dirty="0">
                <a:solidFill>
                  <a:srgbClr val="081E4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研究报告智能体</a:t>
            </a:r>
            <a:endParaRPr lang="en-US" sz="1967" dirty="0"/>
          </a:p>
        </p:txBody>
      </p:sp>
      <p:sp>
        <p:nvSpPr>
          <p:cNvPr id="9" name="ocr-text-p02-007"/>
          <p:cNvSpPr/>
          <p:nvPr/>
        </p:nvSpPr>
        <p:spPr>
          <a:xfrm>
            <a:off x="5001006" y="2229231"/>
            <a:ext cx="12458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62" b="1" dirty="0">
                <a:solidFill>
                  <a:srgbClr val="081E4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视频智能体</a:t>
            </a:r>
            <a:endParaRPr lang="en-US" sz="1962" dirty="0"/>
          </a:p>
        </p:txBody>
      </p:sp>
      <p:sp>
        <p:nvSpPr>
          <p:cNvPr id="10" name="ocr-text-p02-008"/>
          <p:cNvSpPr/>
          <p:nvPr/>
        </p:nvSpPr>
        <p:spPr>
          <a:xfrm>
            <a:off x="8801481" y="2267331"/>
            <a:ext cx="9829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2" dirty="0">
                <a:solidFill>
                  <a:srgbClr val="081E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算法工厂</a:t>
            </a:r>
            <a:endParaRPr lang="en-US" sz="1292" dirty="0"/>
          </a:p>
        </p:txBody>
      </p:sp>
      <p:sp>
        <p:nvSpPr>
          <p:cNvPr id="11" name="ocr-text-p02-009"/>
          <p:cNvSpPr/>
          <p:nvPr/>
        </p:nvSpPr>
        <p:spPr>
          <a:xfrm>
            <a:off x="5001006" y="2619756"/>
            <a:ext cx="12801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16" b="1" dirty="0">
                <a:solidFill>
                  <a:srgbClr val="081E4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剧幕智能体</a:t>
            </a:r>
            <a:endParaRPr lang="en-US" sz="2016" dirty="0"/>
          </a:p>
        </p:txBody>
      </p:sp>
      <p:sp>
        <p:nvSpPr>
          <p:cNvPr id="12" name="ocr-text-p02-010"/>
          <p:cNvSpPr/>
          <p:nvPr/>
        </p:nvSpPr>
        <p:spPr>
          <a:xfrm>
            <a:off x="1067181" y="2657856"/>
            <a:ext cx="108585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091E4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企业 FDE</a:t>
            </a:r>
            <a:endParaRPr lang="en-US" sz="1168" dirty="0"/>
          </a:p>
        </p:txBody>
      </p:sp>
      <p:sp>
        <p:nvSpPr>
          <p:cNvPr id="13" name="ocr-text-p02-011"/>
          <p:cNvSpPr/>
          <p:nvPr/>
        </p:nvSpPr>
        <p:spPr>
          <a:xfrm>
            <a:off x="8811006" y="2657856"/>
            <a:ext cx="1737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91F4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自进化算法优化</a:t>
            </a:r>
            <a:endParaRPr lang="en-US" sz="1230" dirty="0"/>
          </a:p>
        </p:txBody>
      </p:sp>
      <p:sp>
        <p:nvSpPr>
          <p:cNvPr id="14" name="ocr-text-p02-012"/>
          <p:cNvSpPr/>
          <p:nvPr/>
        </p:nvSpPr>
        <p:spPr>
          <a:xfrm>
            <a:off x="4648581" y="2924556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081E4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e 数字人智能体</a:t>
            </a:r>
            <a:endParaRPr lang="en-US" sz="2250" dirty="0"/>
          </a:p>
        </p:txBody>
      </p:sp>
      <p:sp>
        <p:nvSpPr>
          <p:cNvPr id="15" name="ocr-text-p02-013"/>
          <p:cNvSpPr/>
          <p:nvPr/>
        </p:nvSpPr>
        <p:spPr>
          <a:xfrm>
            <a:off x="8801481" y="3010281"/>
            <a:ext cx="23202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3" b="1" dirty="0">
                <a:solidFill>
                  <a:srgbClr val="081E4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VEQPy 可选求解扩展</a:t>
            </a:r>
            <a:endParaRPr lang="en-US" sz="2003" dirty="0"/>
          </a:p>
        </p:txBody>
      </p:sp>
      <p:sp>
        <p:nvSpPr>
          <p:cNvPr id="16" name="ocr-text-p02-014"/>
          <p:cNvSpPr/>
          <p:nvPr/>
        </p:nvSpPr>
        <p:spPr>
          <a:xfrm>
            <a:off x="1067181" y="3048381"/>
            <a:ext cx="1920240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81E4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Al-AutoResearch</a:t>
            </a:r>
            <a:endParaRPr lang="en-US" sz="1046" dirty="0"/>
          </a:p>
        </p:txBody>
      </p:sp>
      <p:sp>
        <p:nvSpPr>
          <p:cNvPr id="17" name="ocr-text-p02-015"/>
          <p:cNvSpPr/>
          <p:nvPr/>
        </p:nvSpPr>
        <p:spPr>
          <a:xfrm>
            <a:off x="4572381" y="3457956"/>
            <a:ext cx="33375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79" b="1" dirty="0">
                <a:solidFill>
                  <a:srgbClr val="010C2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三层技术体系 (管理层口径 )</a:t>
            </a:r>
            <a:endParaRPr lang="en-US" sz="2079" dirty="0"/>
          </a:p>
        </p:txBody>
      </p:sp>
      <p:sp>
        <p:nvSpPr>
          <p:cNvPr id="18" name="ocr-text-p02-016"/>
          <p:cNvSpPr/>
          <p:nvPr/>
        </p:nvSpPr>
        <p:spPr>
          <a:xfrm>
            <a:off x="5391531" y="3877056"/>
            <a:ext cx="156591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55" b="1" dirty="0">
                <a:solidFill>
                  <a:srgbClr val="12264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自进化大模型</a:t>
            </a:r>
            <a:endParaRPr lang="en-US" sz="2055" dirty="0"/>
          </a:p>
        </p:txBody>
      </p:sp>
      <p:sp>
        <p:nvSpPr>
          <p:cNvPr id="19" name="ocr-text-p02-017"/>
          <p:cNvSpPr/>
          <p:nvPr/>
        </p:nvSpPr>
        <p:spPr>
          <a:xfrm>
            <a:off x="5296281" y="4486656"/>
            <a:ext cx="178308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77" b="1" dirty="0">
                <a:solidFill>
                  <a:srgbClr val="0E244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 Al 框架</a:t>
            </a:r>
            <a:endParaRPr lang="en-US" sz="2077" dirty="0"/>
          </a:p>
        </p:txBody>
      </p:sp>
      <p:sp>
        <p:nvSpPr>
          <p:cNvPr id="20" name="ocr-text-p02-018"/>
          <p:cNvSpPr/>
          <p:nvPr/>
        </p:nvSpPr>
        <p:spPr>
          <a:xfrm>
            <a:off x="5896356" y="4810506"/>
            <a:ext cx="320040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9" dirty="0">
                <a:solidFill>
                  <a:srgbClr val="06234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会</a:t>
            </a:r>
            <a:endParaRPr lang="en-US" sz="1599" dirty="0"/>
          </a:p>
        </p:txBody>
      </p:sp>
      <p:sp>
        <p:nvSpPr>
          <p:cNvPr id="21" name="ocr-text-p02-019"/>
          <p:cNvSpPr/>
          <p:nvPr/>
        </p:nvSpPr>
        <p:spPr>
          <a:xfrm>
            <a:off x="2057781" y="4858131"/>
            <a:ext cx="114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0D204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</a:t>
            </a:r>
            <a:endParaRPr lang="en-US" sz="500" dirty="0"/>
          </a:p>
        </p:txBody>
      </p:sp>
      <p:sp>
        <p:nvSpPr>
          <p:cNvPr id="22" name="ocr-text-p02-020"/>
          <p:cNvSpPr/>
          <p:nvPr/>
        </p:nvSpPr>
        <p:spPr>
          <a:xfrm>
            <a:off x="3486531" y="4858131"/>
            <a:ext cx="17145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0E214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=</a:t>
            </a:r>
            <a:endParaRPr lang="en-US" sz="500" dirty="0"/>
          </a:p>
        </p:txBody>
      </p:sp>
      <p:sp>
        <p:nvSpPr>
          <p:cNvPr id="23" name="ocr-text-p02-021"/>
          <p:cNvSpPr/>
          <p:nvPr/>
        </p:nvSpPr>
        <p:spPr>
          <a:xfrm>
            <a:off x="5229606" y="5115306"/>
            <a:ext cx="196596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11" b="1" dirty="0">
                <a:solidFill>
                  <a:srgbClr val="05173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自进化算法优化</a:t>
            </a:r>
            <a:endParaRPr lang="en-US" sz="2211" dirty="0"/>
          </a:p>
        </p:txBody>
      </p:sp>
      <p:sp>
        <p:nvSpPr>
          <p:cNvPr id="24" name="ocr-text-p02-022"/>
          <p:cNvSpPr/>
          <p:nvPr/>
        </p:nvSpPr>
        <p:spPr>
          <a:xfrm>
            <a:off x="343281" y="5620131"/>
            <a:ext cx="1184871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80" dirty="0">
                <a:solidFill>
                  <a:srgbClr val="10182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 关键判断 : 产品矩阵可核对 ， 技术权属 、 测斌结果与业务资产归属仍需专项核实</a:t>
            </a:r>
            <a:endParaRPr lang="en-US" sz="2680" dirty="0"/>
          </a:p>
        </p:txBody>
      </p:sp>
      <p:sp>
        <p:nvSpPr>
          <p:cNvPr id="25" name="ocr-text-p02-023"/>
          <p:cNvSpPr/>
          <p:nvPr/>
        </p:nvSpPr>
        <p:spPr>
          <a:xfrm>
            <a:off x="857631" y="6486906"/>
            <a:ext cx="52692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72" dirty="0">
                <a:solidFill>
                  <a:srgbClr val="000C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司官网 、 华为云 、 项目会议纪要 、 算法工厂技术材料</a:t>
            </a:r>
            <a:endParaRPr lang="en-US" sz="1772" dirty="0"/>
          </a:p>
        </p:txBody>
      </p:sp>
      <p:sp>
        <p:nvSpPr>
          <p:cNvPr id="26" name="ocr-text-p02-024"/>
          <p:cNvSpPr/>
          <p:nvPr/>
        </p:nvSpPr>
        <p:spPr>
          <a:xfrm>
            <a:off x="200406" y="6496431"/>
            <a:ext cx="457200" cy="34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C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3" descr="第 3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3-001"/>
          <p:cNvSpPr/>
          <p:nvPr/>
        </p:nvSpPr>
        <p:spPr>
          <a:xfrm>
            <a:off x="257556" y="200406"/>
            <a:ext cx="1186129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25" b="1" dirty="0">
                <a:solidFill>
                  <a:srgbClr val="000E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02 | 商业化信号已出现 ， 但合同 、 验收与回款仍需穿透核实</a:t>
            </a:r>
            <a:endParaRPr lang="en-US" sz="3425" dirty="0"/>
          </a:p>
        </p:txBody>
      </p:sp>
      <p:sp>
        <p:nvSpPr>
          <p:cNvPr id="4" name="ocr-text-p03-002"/>
          <p:cNvSpPr/>
          <p:nvPr/>
        </p:nvSpPr>
        <p:spPr>
          <a:xfrm>
            <a:off x="8372856" y="2638806"/>
            <a:ext cx="200025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317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10000 分钟</a:t>
            </a:r>
            <a:endParaRPr lang="en-US" sz="2800" dirty="0"/>
          </a:p>
        </p:txBody>
      </p:sp>
      <p:sp>
        <p:nvSpPr>
          <p:cNvPr id="5" name="ocr-text-p03-003"/>
          <p:cNvSpPr/>
          <p:nvPr/>
        </p:nvSpPr>
        <p:spPr>
          <a:xfrm>
            <a:off x="4277106" y="3096006"/>
            <a:ext cx="114300" cy="138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0313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|</a:t>
            </a:r>
            <a:endParaRPr lang="en-US" sz="500" dirty="0"/>
          </a:p>
        </p:txBody>
      </p:sp>
      <p:sp>
        <p:nvSpPr>
          <p:cNvPr id="6" name="ocr-text-p03-004"/>
          <p:cNvSpPr/>
          <p:nvPr/>
        </p:nvSpPr>
        <p:spPr>
          <a:xfrm>
            <a:off x="724281" y="3219831"/>
            <a:ext cx="355473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61" dirty="0">
                <a:solidFill>
                  <a:srgbClr val="0519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FDE | 2026 年 5 月启动商业化</a:t>
            </a:r>
            <a:endParaRPr lang="en-US" sz="2061" dirty="0"/>
          </a:p>
        </p:txBody>
      </p:sp>
      <p:sp>
        <p:nvSpPr>
          <p:cNvPr id="7" name="ocr-text-p03-005"/>
          <p:cNvSpPr/>
          <p:nvPr/>
        </p:nvSpPr>
        <p:spPr>
          <a:xfrm>
            <a:off x="5067681" y="3257931"/>
            <a:ext cx="23431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76" dirty="0">
                <a:solidFill>
                  <a:srgbClr val="0619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算法优化 | 在谈项目</a:t>
            </a:r>
            <a:endParaRPr lang="en-US" sz="1476" dirty="0"/>
          </a:p>
        </p:txBody>
      </p:sp>
      <p:sp>
        <p:nvSpPr>
          <p:cNvPr id="8" name="ocr-text-p03-006"/>
          <p:cNvSpPr/>
          <p:nvPr/>
        </p:nvSpPr>
        <p:spPr>
          <a:xfrm>
            <a:off x="8372856" y="3372231"/>
            <a:ext cx="193167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13" b="1" dirty="0">
                <a:solidFill>
                  <a:srgbClr val="0216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500 元 /分钟</a:t>
            </a:r>
            <a:endParaRPr lang="en-US" sz="2613" dirty="0"/>
          </a:p>
        </p:txBody>
      </p:sp>
      <p:sp>
        <p:nvSpPr>
          <p:cNvPr id="9" name="ocr-text-p03-007"/>
          <p:cNvSpPr/>
          <p:nvPr/>
        </p:nvSpPr>
        <p:spPr>
          <a:xfrm>
            <a:off x="5067681" y="3648456"/>
            <a:ext cx="220599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0317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 成素科技 : 约 180 万元</a:t>
            </a:r>
            <a:endParaRPr lang="en-US" sz="1540" dirty="0"/>
          </a:p>
        </p:txBody>
      </p:sp>
      <p:sp>
        <p:nvSpPr>
          <p:cNvPr id="10" name="ocr-text-p03-008"/>
          <p:cNvSpPr/>
          <p:nvPr/>
        </p:nvSpPr>
        <p:spPr>
          <a:xfrm>
            <a:off x="714756" y="3657981"/>
            <a:ext cx="392049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21" dirty="0">
                <a:solidFill>
                  <a:srgbClr val="04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e £8: 60 万元 ， 流程推进中 ， 已完成 Demo</a:t>
            </a:r>
            <a:endParaRPr lang="en-US" sz="1621" dirty="0"/>
          </a:p>
        </p:txBody>
      </p:sp>
      <p:sp>
        <p:nvSpPr>
          <p:cNvPr id="11" name="ocr-text-p03-009"/>
          <p:cNvSpPr/>
          <p:nvPr/>
        </p:nvSpPr>
        <p:spPr>
          <a:xfrm>
            <a:off x="4277106" y="3705606"/>
            <a:ext cx="114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010E2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|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4" descr="第 4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4-001"/>
          <p:cNvSpPr/>
          <p:nvPr/>
        </p:nvSpPr>
        <p:spPr>
          <a:xfrm>
            <a:off x="190881" y="143256"/>
            <a:ext cx="11927967" cy="84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61" b="1" dirty="0">
                <a:solidFill>
                  <a:srgbClr val="000B2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03) | 高人力成本本加交易口径冲突 ， 现金流安全边界尚不清晰</a:t>
            </a:r>
            <a:endParaRPr lang="en-US" sz="3161" dirty="0"/>
          </a:p>
        </p:txBody>
      </p:sp>
      <p:sp>
        <p:nvSpPr>
          <p:cNvPr id="4" name="ocr-text-p04-002"/>
          <p:cNvSpPr/>
          <p:nvPr/>
        </p:nvSpPr>
        <p:spPr>
          <a:xfrm>
            <a:off x="7077456" y="1276731"/>
            <a:ext cx="218313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32" b="1" dirty="0">
                <a:solidFill>
                  <a:srgbClr val="05183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 2400 万元 /年</a:t>
            </a:r>
            <a:endParaRPr lang="en-US" sz="2232" dirty="0"/>
          </a:p>
        </p:txBody>
      </p:sp>
      <p:sp>
        <p:nvSpPr>
          <p:cNvPr id="5" name="ocr-text-p04-003"/>
          <p:cNvSpPr/>
          <p:nvPr/>
        </p:nvSpPr>
        <p:spPr>
          <a:xfrm>
            <a:off x="438531" y="1295781"/>
            <a:ext cx="218313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91" b="1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082 1384</a:t>
            </a:r>
            <a:endParaRPr lang="en-US" sz="2091" dirty="0"/>
          </a:p>
        </p:txBody>
      </p:sp>
      <p:sp>
        <p:nvSpPr>
          <p:cNvPr id="6" name="ocr-text-p04-004"/>
          <p:cNvSpPr/>
          <p:nvPr/>
        </p:nvSpPr>
        <p:spPr>
          <a:xfrm>
            <a:off x="390906" y="1543431"/>
            <a:ext cx="248031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4" b="1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(人当前人员规模</a:t>
            </a:r>
            <a:endParaRPr lang="en-US" sz="2604" dirty="0"/>
          </a:p>
        </p:txBody>
      </p:sp>
      <p:sp>
        <p:nvSpPr>
          <p:cNvPr id="7" name="ocr-text-p04-005"/>
          <p:cNvSpPr/>
          <p:nvPr/>
        </p:nvSpPr>
        <p:spPr>
          <a:xfrm>
            <a:off x="4229481" y="1733931"/>
            <a:ext cx="14630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基础人力成本</a:t>
            </a:r>
            <a:endParaRPr lang="en-US" sz="1920" dirty="0"/>
          </a:p>
        </p:txBody>
      </p:sp>
      <p:sp>
        <p:nvSpPr>
          <p:cNvPr id="8" name="ocr-text-p04-006"/>
          <p:cNvSpPr/>
          <p:nvPr/>
        </p:nvSpPr>
        <p:spPr>
          <a:xfrm>
            <a:off x="7086981" y="1733931"/>
            <a:ext cx="146304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年度人力成本</a:t>
            </a:r>
            <a:endParaRPr lang="en-US" sz="1920" dirty="0"/>
          </a:p>
        </p:txBody>
      </p:sp>
      <p:sp>
        <p:nvSpPr>
          <p:cNvPr id="9" name="ocr-text-p04-007"/>
          <p:cNvSpPr/>
          <p:nvPr/>
        </p:nvSpPr>
        <p:spPr>
          <a:xfrm>
            <a:off x="10201656" y="1733931"/>
            <a:ext cx="115443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8" b="1" dirty="0">
                <a:solidFill>
                  <a:srgbClr val="05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优化后计划</a:t>
            </a:r>
            <a:endParaRPr lang="en-US" sz="1818" dirty="0"/>
          </a:p>
        </p:txBody>
      </p:sp>
      <p:sp>
        <p:nvSpPr>
          <p:cNvPr id="10" name="ocr-text-p04-008"/>
          <p:cNvSpPr/>
          <p:nvPr/>
        </p:nvSpPr>
        <p:spPr>
          <a:xfrm>
            <a:off x="981456" y="2400681"/>
            <a:ext cx="385191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6" b="1" dirty="0">
                <a:solidFill>
                  <a:srgbClr val="0418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现金流安排 (管理层口径 )</a:t>
            </a:r>
            <a:endParaRPr lang="en-US" sz="2606" dirty="0"/>
          </a:p>
        </p:txBody>
      </p:sp>
      <p:sp>
        <p:nvSpPr>
          <p:cNvPr id="11" name="ocr-text-p04-009"/>
          <p:cNvSpPr/>
          <p:nvPr/>
        </p:nvSpPr>
        <p:spPr>
          <a:xfrm>
            <a:off x="7401306" y="2438781"/>
            <a:ext cx="202311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2" dirty="0">
                <a:solidFill>
                  <a:srgbClr val="0419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交易口径冲突</a:t>
            </a:r>
            <a:endParaRPr lang="en-US" sz="1722" dirty="0"/>
          </a:p>
        </p:txBody>
      </p:sp>
      <p:sp>
        <p:nvSpPr>
          <p:cNvPr id="12" name="ocr-text-p04-010"/>
          <p:cNvSpPr/>
          <p:nvPr/>
        </p:nvSpPr>
        <p:spPr>
          <a:xfrm>
            <a:off x="1248156" y="2953131"/>
            <a:ext cx="315468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3" b="1" dirty="0">
                <a:solidFill>
                  <a:srgbClr val="0418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| 老股东拟提供 1000 万元借款</a:t>
            </a:r>
            <a:endParaRPr lang="en-US" sz="1813" dirty="0"/>
          </a:p>
        </p:txBody>
      </p:sp>
      <p:sp>
        <p:nvSpPr>
          <p:cNvPr id="13" name="ocr-text-p04-011"/>
          <p:cNvSpPr/>
          <p:nvPr/>
        </p:nvSpPr>
        <p:spPr>
          <a:xfrm>
            <a:off x="5848731" y="3019806"/>
            <a:ext cx="4800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90" b="1" dirty="0">
                <a:solidFill>
                  <a:srgbClr val="0D274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来源</a:t>
            </a:r>
            <a:endParaRPr lang="en-US" sz="1890" dirty="0"/>
          </a:p>
        </p:txBody>
      </p:sp>
      <p:sp>
        <p:nvSpPr>
          <p:cNvPr id="14" name="ocr-text-p04-012"/>
          <p:cNvSpPr/>
          <p:nvPr/>
        </p:nvSpPr>
        <p:spPr>
          <a:xfrm>
            <a:off x="7248906" y="3019806"/>
            <a:ext cx="9372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45" b="1" dirty="0">
                <a:solidFill>
                  <a:srgbClr val="0D274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融资金额</a:t>
            </a:r>
            <a:endParaRPr lang="en-US" sz="1845" dirty="0"/>
          </a:p>
        </p:txBody>
      </p:sp>
      <p:sp>
        <p:nvSpPr>
          <p:cNvPr id="15" name="ocr-text-p04-013"/>
          <p:cNvSpPr/>
          <p:nvPr/>
        </p:nvSpPr>
        <p:spPr>
          <a:xfrm>
            <a:off x="10506456" y="3019806"/>
            <a:ext cx="92583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22" b="1" dirty="0">
                <a:solidFill>
                  <a:srgbClr val="0D274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核实状态</a:t>
            </a:r>
            <a:endParaRPr lang="en-US" sz="1822" dirty="0"/>
          </a:p>
        </p:txBody>
      </p:sp>
      <p:sp>
        <p:nvSpPr>
          <p:cNvPr id="16" name="ocr-text-p04-014"/>
          <p:cNvSpPr/>
          <p:nvPr/>
        </p:nvSpPr>
        <p:spPr>
          <a:xfrm>
            <a:off x="8877681" y="3057906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E294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估值口径</a:t>
            </a:r>
            <a:endParaRPr lang="en-US" sz="1230" dirty="0"/>
          </a:p>
        </p:txBody>
      </p:sp>
      <p:sp>
        <p:nvSpPr>
          <p:cNvPr id="17" name="ocr-text-p04-015"/>
          <p:cNvSpPr/>
          <p:nvPr/>
        </p:nvSpPr>
        <p:spPr>
          <a:xfrm>
            <a:off x="5648706" y="3477006"/>
            <a:ext cx="91440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213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项目记录</a:t>
            </a:r>
            <a:endParaRPr lang="en-US" sz="1800" dirty="0"/>
          </a:p>
        </p:txBody>
      </p:sp>
      <p:sp>
        <p:nvSpPr>
          <p:cNvPr id="18" name="ocr-text-p04-016"/>
          <p:cNvSpPr/>
          <p:nvPr/>
        </p:nvSpPr>
        <p:spPr>
          <a:xfrm>
            <a:off x="10506456" y="3505581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4142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存在冲突</a:t>
            </a:r>
            <a:endParaRPr lang="en-US" sz="1230" dirty="0"/>
          </a:p>
        </p:txBody>
      </p:sp>
      <p:sp>
        <p:nvSpPr>
          <p:cNvPr id="19" name="ocr-text-p04-017"/>
          <p:cNvSpPr/>
          <p:nvPr/>
        </p:nvSpPr>
        <p:spPr>
          <a:xfrm>
            <a:off x="8915781" y="3505581"/>
            <a:ext cx="7086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38" b="1" dirty="0">
                <a:solidFill>
                  <a:srgbClr val="0213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 亿元</a:t>
            </a:r>
            <a:endParaRPr lang="en-US" sz="1938" dirty="0"/>
          </a:p>
        </p:txBody>
      </p:sp>
      <p:sp>
        <p:nvSpPr>
          <p:cNvPr id="20" name="ocr-text-p04-018"/>
          <p:cNvSpPr/>
          <p:nvPr/>
        </p:nvSpPr>
        <p:spPr>
          <a:xfrm>
            <a:off x="7201281" y="3515106"/>
            <a:ext cx="101727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0414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1000 万元</a:t>
            </a:r>
            <a:endParaRPr lang="en-US" sz="1168" dirty="0"/>
          </a:p>
        </p:txBody>
      </p:sp>
      <p:sp>
        <p:nvSpPr>
          <p:cNvPr id="21" name="ocr-text-p04-019"/>
          <p:cNvSpPr/>
          <p:nvPr/>
        </p:nvSpPr>
        <p:spPr>
          <a:xfrm>
            <a:off x="1248156" y="3734181"/>
            <a:ext cx="35318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77" b="1" dirty="0">
                <a:solidFill>
                  <a:srgbClr val="0519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| 管理层称可覆盖约半年现金需求</a:t>
            </a:r>
            <a:endParaRPr lang="en-US" sz="1877" dirty="0"/>
          </a:p>
        </p:txBody>
      </p:sp>
      <p:sp>
        <p:nvSpPr>
          <p:cNvPr id="22" name="ocr-text-p04-020"/>
          <p:cNvSpPr/>
          <p:nvPr/>
        </p:nvSpPr>
        <p:spPr>
          <a:xfrm>
            <a:off x="10411206" y="3896106"/>
            <a:ext cx="116586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36" b="1" dirty="0">
                <a:solidFill>
                  <a:srgbClr val="02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管理层沟通</a:t>
            </a:r>
            <a:endParaRPr lang="en-US" sz="1836" dirty="0"/>
          </a:p>
        </p:txBody>
      </p:sp>
      <p:sp>
        <p:nvSpPr>
          <p:cNvPr id="23" name="ocr-text-p04-021"/>
          <p:cNvSpPr/>
          <p:nvPr/>
        </p:nvSpPr>
        <p:spPr>
          <a:xfrm>
            <a:off x="5648706" y="3934206"/>
            <a:ext cx="9258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415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会议口径</a:t>
            </a:r>
            <a:endParaRPr lang="en-US" sz="1230" dirty="0"/>
          </a:p>
        </p:txBody>
      </p:sp>
      <p:sp>
        <p:nvSpPr>
          <p:cNvPr id="24" name="ocr-text-p04-022"/>
          <p:cNvSpPr/>
          <p:nvPr/>
        </p:nvSpPr>
        <p:spPr>
          <a:xfrm>
            <a:off x="7258431" y="3934206"/>
            <a:ext cx="83439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4" dirty="0">
                <a:solidFill>
                  <a:srgbClr val="0314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约 1 亿元</a:t>
            </a:r>
            <a:endParaRPr lang="en-US" sz="1564" dirty="0"/>
          </a:p>
        </p:txBody>
      </p:sp>
      <p:sp>
        <p:nvSpPr>
          <p:cNvPr id="25" name="ocr-text-p04-023"/>
          <p:cNvSpPr/>
          <p:nvPr/>
        </p:nvSpPr>
        <p:spPr>
          <a:xfrm>
            <a:off x="8696706" y="3934206"/>
            <a:ext cx="1371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12" dirty="0">
                <a:solidFill>
                  <a:srgbClr val="0314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 亿 -15 亿元</a:t>
            </a:r>
            <a:endParaRPr lang="en-US" sz="1612" dirty="0"/>
          </a:p>
        </p:txBody>
      </p:sp>
      <p:sp>
        <p:nvSpPr>
          <p:cNvPr id="26" name="ocr-text-p04-024"/>
          <p:cNvSpPr/>
          <p:nvPr/>
        </p:nvSpPr>
        <p:spPr>
          <a:xfrm>
            <a:off x="1248156" y="4439031"/>
            <a:ext cx="424053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61" dirty="0">
                <a:solidFill>
                  <a:srgbClr val="05193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| 借款协议 、 期限 、 利率与提款条件尚待核实</a:t>
            </a:r>
            <a:endParaRPr lang="en-US" sz="1661" dirty="0"/>
          </a:p>
        </p:txBody>
      </p:sp>
      <p:sp>
        <p:nvSpPr>
          <p:cNvPr id="27" name="ocr-text-p04-025"/>
          <p:cNvSpPr/>
          <p:nvPr/>
        </p:nvSpPr>
        <p:spPr>
          <a:xfrm>
            <a:off x="6544056" y="5029581"/>
            <a:ext cx="465201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19" dirty="0">
                <a:solidFill>
                  <a:srgbClr val="0417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差异达到数量级 ， 不能直接用于交易定价</a:t>
            </a:r>
            <a:endParaRPr lang="en-US" sz="2019" dirty="0"/>
          </a:p>
        </p:txBody>
      </p:sp>
      <p:sp>
        <p:nvSpPr>
          <p:cNvPr id="28" name="ocr-text-p04-026"/>
          <p:cNvSpPr/>
          <p:nvPr/>
        </p:nvSpPr>
        <p:spPr>
          <a:xfrm>
            <a:off x="190881" y="5705856"/>
            <a:ext cx="1200111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13" dirty="0">
                <a:solidFill>
                  <a:srgbClr val="071D3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| (1) 投资影响 : 审计财务 、 现金流水平和正式条款明确前 ， 估值合理性无法判断</a:t>
            </a:r>
            <a:endParaRPr lang="en-US" sz="2713" dirty="0"/>
          </a:p>
        </p:txBody>
      </p:sp>
      <p:sp>
        <p:nvSpPr>
          <p:cNvPr id="29" name="ocr-text-p04-027"/>
          <p:cNvSpPr/>
          <p:nvPr/>
        </p:nvSpPr>
        <p:spPr>
          <a:xfrm>
            <a:off x="257556" y="6420231"/>
            <a:ext cx="390906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6" dirty="0">
                <a:solidFill>
                  <a:srgbClr val="000C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国来源 : 项目会议纪要 、 投资中台项目记录</a:t>
            </a:r>
            <a:endParaRPr lang="en-US" sz="15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r-clean-background-5" descr="第 5 页已清除文字的背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cr-text-p05-001"/>
          <p:cNvSpPr/>
          <p:nvPr/>
        </p:nvSpPr>
        <p:spPr>
          <a:xfrm>
            <a:off x="267081" y="248031"/>
            <a:ext cx="11851767" cy="75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57" b="1" dirty="0">
                <a:solidFill>
                  <a:srgbClr val="000C2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04 | 暂不形成确定性投资结论 ， 五项事实决定交易是否成立</a:t>
            </a:r>
            <a:endParaRPr lang="en-US" sz="3457" dirty="0"/>
          </a:p>
        </p:txBody>
      </p:sp>
      <p:sp>
        <p:nvSpPr>
          <p:cNvPr id="4" name="ocr-text-p05-002"/>
          <p:cNvSpPr/>
          <p:nvPr/>
        </p:nvSpPr>
        <p:spPr>
          <a:xfrm>
            <a:off x="5791581" y="1133856"/>
            <a:ext cx="21717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010D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168" dirty="0"/>
          </a:p>
        </p:txBody>
      </p:sp>
      <p:sp>
        <p:nvSpPr>
          <p:cNvPr id="5" name="ocr-text-p05-003"/>
          <p:cNvSpPr/>
          <p:nvPr/>
        </p:nvSpPr>
        <p:spPr>
          <a:xfrm>
            <a:off x="1276731" y="1410081"/>
            <a:ext cx="1165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8" dirty="0">
                <a:solidFill>
                  <a:srgbClr val="02162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支持因素</a:t>
            </a:r>
            <a:endParaRPr lang="en-US" sz="1538" dirty="0"/>
          </a:p>
        </p:txBody>
      </p:sp>
      <p:sp>
        <p:nvSpPr>
          <p:cNvPr id="6" name="ocr-text-p05-004"/>
          <p:cNvSpPr/>
          <p:nvPr/>
        </p:nvSpPr>
        <p:spPr>
          <a:xfrm>
            <a:off x="6353556" y="1543431"/>
            <a:ext cx="14973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31" b="1" dirty="0">
                <a:solidFill>
                  <a:srgbClr val="000C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主体与股权</a:t>
            </a:r>
            <a:endParaRPr lang="en-US" sz="1831" dirty="0"/>
          </a:p>
        </p:txBody>
      </p:sp>
      <p:sp>
        <p:nvSpPr>
          <p:cNvPr id="7" name="ocr-text-p05-005"/>
          <p:cNvSpPr/>
          <p:nvPr/>
        </p:nvSpPr>
        <p:spPr>
          <a:xfrm>
            <a:off x="5763006" y="1619631"/>
            <a:ext cx="35433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61" dirty="0">
                <a:solidFill>
                  <a:srgbClr val="060F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fia</a:t>
            </a:r>
            <a:endParaRPr lang="en-US" sz="1661" dirty="0"/>
          </a:p>
        </p:txBody>
      </p:sp>
      <p:sp>
        <p:nvSpPr>
          <p:cNvPr id="8" name="ocr-text-p05-006"/>
          <p:cNvSpPr/>
          <p:nvPr/>
        </p:nvSpPr>
        <p:spPr>
          <a:xfrm>
            <a:off x="9820656" y="1953006"/>
            <a:ext cx="1691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65" dirty="0">
                <a:solidFill>
                  <a:srgbClr val="0413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经营数据主要来自</a:t>
            </a:r>
            <a:endParaRPr lang="en-US" sz="1665" dirty="0"/>
          </a:p>
        </p:txBody>
      </p:sp>
      <p:sp>
        <p:nvSpPr>
          <p:cNvPr id="9" name="ocr-text-p05-007"/>
          <p:cNvSpPr/>
          <p:nvPr/>
        </p:nvSpPr>
        <p:spPr>
          <a:xfrm>
            <a:off x="1257681" y="2057781"/>
            <a:ext cx="19202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315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官方产品矩阵已形成</a:t>
            </a:r>
            <a:endParaRPr lang="en-US" sz="1680" dirty="0"/>
          </a:p>
        </p:txBody>
      </p:sp>
      <p:sp>
        <p:nvSpPr>
          <p:cNvPr id="10" name="ocr-text-p05-008"/>
          <p:cNvSpPr/>
          <p:nvPr/>
        </p:nvSpPr>
        <p:spPr>
          <a:xfrm>
            <a:off x="9830181" y="2219706"/>
            <a:ext cx="101727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2" dirty="0">
                <a:solidFill>
                  <a:srgbClr val="04142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管理层交流</a:t>
            </a:r>
            <a:endParaRPr lang="en-US" sz="1602" dirty="0"/>
          </a:p>
        </p:txBody>
      </p:sp>
      <p:sp>
        <p:nvSpPr>
          <p:cNvPr id="11" name="ocr-text-p05-009"/>
          <p:cNvSpPr/>
          <p:nvPr/>
        </p:nvSpPr>
        <p:spPr>
          <a:xfrm>
            <a:off x="4058031" y="2410206"/>
            <a:ext cx="27432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010D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168" dirty="0"/>
          </a:p>
        </p:txBody>
      </p:sp>
      <p:sp>
        <p:nvSpPr>
          <p:cNvPr id="12" name="ocr-text-p05-010"/>
          <p:cNvSpPr/>
          <p:nvPr/>
        </p:nvSpPr>
        <p:spPr>
          <a:xfrm>
            <a:off x="7458456" y="2410206"/>
            <a:ext cx="27432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01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168" dirty="0"/>
          </a:p>
        </p:txBody>
      </p:sp>
      <p:sp>
        <p:nvSpPr>
          <p:cNvPr id="13" name="ocr-text-p05-011"/>
          <p:cNvSpPr/>
          <p:nvPr/>
        </p:nvSpPr>
        <p:spPr>
          <a:xfrm>
            <a:off x="7477506" y="2715006"/>
            <a:ext cx="139446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9" dirty="0">
                <a:solidFill>
                  <a:srgbClr val="00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审计财务与现金</a:t>
            </a:r>
            <a:endParaRPr lang="en-US" sz="1569" dirty="0"/>
          </a:p>
        </p:txBody>
      </p:sp>
      <p:sp>
        <p:nvSpPr>
          <p:cNvPr id="14" name="ocr-text-p05-012"/>
          <p:cNvSpPr/>
          <p:nvPr/>
        </p:nvSpPr>
        <p:spPr>
          <a:xfrm>
            <a:off x="3400806" y="2753106"/>
            <a:ext cx="1017270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050F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正式融资与</a:t>
            </a:r>
            <a:endParaRPr lang="en-US" sz="1046" dirty="0"/>
          </a:p>
        </p:txBody>
      </p:sp>
      <p:sp>
        <p:nvSpPr>
          <p:cNvPr id="15" name="ocr-text-p05-013"/>
          <p:cNvSpPr/>
          <p:nvPr/>
        </p:nvSpPr>
        <p:spPr>
          <a:xfrm>
            <a:off x="1257681" y="2915031"/>
            <a:ext cx="2148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1" dirty="0">
                <a:solidFill>
                  <a:srgbClr val="04162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FDE、 视频与算法优化</a:t>
            </a:r>
            <a:endParaRPr lang="en-US" sz="1781" dirty="0"/>
          </a:p>
        </p:txBody>
      </p:sp>
      <p:sp>
        <p:nvSpPr>
          <p:cNvPr id="16" name="ocr-text-p05-014"/>
          <p:cNvSpPr/>
          <p:nvPr/>
        </p:nvSpPr>
        <p:spPr>
          <a:xfrm>
            <a:off x="9820656" y="2943606"/>
            <a:ext cx="19431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49" dirty="0">
                <a:solidFill>
                  <a:srgbClr val="04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订单 、 验收 、 回款与</a:t>
            </a:r>
            <a:endParaRPr lang="en-US" sz="1649" dirty="0"/>
          </a:p>
        </p:txBody>
      </p:sp>
      <p:sp>
        <p:nvSpPr>
          <p:cNvPr id="17" name="ocr-text-p05-015"/>
          <p:cNvSpPr/>
          <p:nvPr/>
        </p:nvSpPr>
        <p:spPr>
          <a:xfrm>
            <a:off x="3572256" y="2972181"/>
            <a:ext cx="868680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10" dirty="0">
                <a:solidFill>
                  <a:srgbClr val="00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交易条款</a:t>
            </a:r>
            <a:endParaRPr lang="en-US" sz="1710" dirty="0"/>
          </a:p>
        </p:txBody>
      </p:sp>
      <p:sp>
        <p:nvSpPr>
          <p:cNvPr id="18" name="ocr-text-p05-016"/>
          <p:cNvSpPr/>
          <p:nvPr/>
        </p:nvSpPr>
        <p:spPr>
          <a:xfrm>
            <a:off x="5239131" y="3010281"/>
            <a:ext cx="17259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65" b="1" dirty="0">
                <a:solidFill>
                  <a:srgbClr val="010F2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交易是否成立</a:t>
            </a:r>
            <a:endParaRPr lang="en-US" sz="2265" dirty="0"/>
          </a:p>
        </p:txBody>
      </p:sp>
      <p:sp>
        <p:nvSpPr>
          <p:cNvPr id="19" name="ocr-text-p05-017"/>
          <p:cNvSpPr/>
          <p:nvPr/>
        </p:nvSpPr>
        <p:spPr>
          <a:xfrm>
            <a:off x="9820656" y="3229356"/>
            <a:ext cx="172593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99" dirty="0">
                <a:solidFill>
                  <a:srgbClr val="04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财务底稿尚未穿透</a:t>
            </a:r>
            <a:endParaRPr lang="en-US" sz="1699" dirty="0"/>
          </a:p>
        </p:txBody>
      </p:sp>
      <p:sp>
        <p:nvSpPr>
          <p:cNvPr id="20" name="ocr-text-p05-018"/>
          <p:cNvSpPr/>
          <p:nvPr/>
        </p:nvSpPr>
        <p:spPr>
          <a:xfrm>
            <a:off x="1248156" y="3238881"/>
            <a:ext cx="168021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7" dirty="0">
                <a:solidFill>
                  <a:srgbClr val="0618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均出现商业化信号</a:t>
            </a:r>
            <a:endParaRPr lang="en-US" sz="1107" dirty="0"/>
          </a:p>
        </p:txBody>
      </p:sp>
      <p:sp>
        <p:nvSpPr>
          <p:cNvPr id="21" name="ocr-text-p05-019"/>
          <p:cNvSpPr/>
          <p:nvPr/>
        </p:nvSpPr>
        <p:spPr>
          <a:xfrm>
            <a:off x="4372356" y="3896106"/>
            <a:ext cx="29718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010E28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168" dirty="0"/>
          </a:p>
        </p:txBody>
      </p:sp>
      <p:sp>
        <p:nvSpPr>
          <p:cNvPr id="22" name="ocr-text-p05-020"/>
          <p:cNvSpPr/>
          <p:nvPr/>
        </p:nvSpPr>
        <p:spPr>
          <a:xfrm>
            <a:off x="7220331" y="3915156"/>
            <a:ext cx="28575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8" dirty="0">
                <a:solidFill>
                  <a:srgbClr val="010E2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168" dirty="0"/>
          </a:p>
        </p:txBody>
      </p:sp>
      <p:sp>
        <p:nvSpPr>
          <p:cNvPr id="23" name="ocr-text-p05-021"/>
          <p:cNvSpPr/>
          <p:nvPr/>
        </p:nvSpPr>
        <p:spPr>
          <a:xfrm>
            <a:off x="790956" y="3943731"/>
            <a:ext cx="265176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19" b="1" dirty="0">
                <a:solidFill>
                  <a:srgbClr val="04152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 技术材料显示算法优化</a:t>
            </a:r>
            <a:endParaRPr lang="en-US" sz="1919" dirty="0"/>
          </a:p>
        </p:txBody>
      </p:sp>
      <p:sp>
        <p:nvSpPr>
          <p:cNvPr id="24" name="ocr-text-p05-022"/>
          <p:cNvSpPr/>
          <p:nvPr/>
        </p:nvSpPr>
        <p:spPr>
          <a:xfrm>
            <a:off x="9820656" y="3943731"/>
            <a:ext cx="20116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04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融资和估值口径存在</a:t>
            </a:r>
            <a:endParaRPr lang="en-US" sz="1760" dirty="0"/>
          </a:p>
        </p:txBody>
      </p:sp>
      <p:sp>
        <p:nvSpPr>
          <p:cNvPr id="25" name="ocr-text-p05-023"/>
          <p:cNvSpPr/>
          <p:nvPr/>
        </p:nvSpPr>
        <p:spPr>
          <a:xfrm>
            <a:off x="3448431" y="4200906"/>
            <a:ext cx="14058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20E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知识产权与</a:t>
            </a:r>
            <a:endParaRPr lang="en-US" sz="1230" dirty="0"/>
          </a:p>
        </p:txBody>
      </p:sp>
      <p:sp>
        <p:nvSpPr>
          <p:cNvPr id="26" name="ocr-text-p05-024"/>
          <p:cNvSpPr/>
          <p:nvPr/>
        </p:nvSpPr>
        <p:spPr>
          <a:xfrm>
            <a:off x="7210806" y="4210431"/>
            <a:ext cx="154305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36" dirty="0">
                <a:solidFill>
                  <a:srgbClr val="00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合同验收与回款</a:t>
            </a:r>
            <a:endParaRPr lang="en-US" sz="1736" dirty="0"/>
          </a:p>
        </p:txBody>
      </p:sp>
      <p:sp>
        <p:nvSpPr>
          <p:cNvPr id="27" name="ocr-text-p05-025"/>
          <p:cNvSpPr/>
          <p:nvPr/>
        </p:nvSpPr>
        <p:spPr>
          <a:xfrm>
            <a:off x="1248156" y="4219956"/>
            <a:ext cx="21717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5" dirty="0">
                <a:solidFill>
                  <a:srgbClr val="04152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能力具备进一步核实价值</a:t>
            </a:r>
            <a:endParaRPr lang="en-US" sz="1555" dirty="0"/>
          </a:p>
        </p:txBody>
      </p:sp>
      <p:sp>
        <p:nvSpPr>
          <p:cNvPr id="28" name="ocr-text-p05-026"/>
          <p:cNvSpPr/>
          <p:nvPr/>
        </p:nvSpPr>
        <p:spPr>
          <a:xfrm>
            <a:off x="9820656" y="4229481"/>
            <a:ext cx="10744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92" dirty="0">
                <a:solidFill>
                  <a:srgbClr val="0414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数量级冲突</a:t>
            </a:r>
            <a:endParaRPr lang="en-US" sz="1692" dirty="0"/>
          </a:p>
        </p:txBody>
      </p:sp>
      <p:sp>
        <p:nvSpPr>
          <p:cNvPr id="29" name="ocr-text-p05-027"/>
          <p:cNvSpPr/>
          <p:nvPr/>
        </p:nvSpPr>
        <p:spPr>
          <a:xfrm>
            <a:off x="3934206" y="4429506"/>
            <a:ext cx="81153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98" dirty="0">
                <a:solidFill>
                  <a:srgbClr val="010D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资产归属</a:t>
            </a:r>
            <a:endParaRPr lang="en-US" sz="1598" dirty="0"/>
          </a:p>
        </p:txBody>
      </p:sp>
      <p:sp>
        <p:nvSpPr>
          <p:cNvPr id="30" name="ocr-text-p05-028"/>
          <p:cNvSpPr/>
          <p:nvPr/>
        </p:nvSpPr>
        <p:spPr>
          <a:xfrm>
            <a:off x="1000506" y="5220081"/>
            <a:ext cx="11191494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02173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结论 : 五项关键事实明确前 ， 不对估值和投资金额作确定性判断</a:t>
            </a:r>
            <a:endParaRPr lang="en-US" sz="2800" dirty="0"/>
          </a:p>
        </p:txBody>
      </p:sp>
      <p:sp>
        <p:nvSpPr>
          <p:cNvPr id="31" name="ocr-text-p05-029"/>
          <p:cNvSpPr/>
          <p:nvPr/>
        </p:nvSpPr>
        <p:spPr>
          <a:xfrm>
            <a:off x="295656" y="5267706"/>
            <a:ext cx="11823192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" b="1" dirty="0">
                <a:solidFill>
                  <a:srgbClr val="02163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|</a:t>
            </a:r>
            <a:endParaRPr lang="en-US" sz="500" dirty="0"/>
          </a:p>
        </p:txBody>
      </p:sp>
      <p:sp>
        <p:nvSpPr>
          <p:cNvPr id="32" name="ocr-text-p05-030"/>
          <p:cNvSpPr/>
          <p:nvPr/>
        </p:nvSpPr>
        <p:spPr>
          <a:xfrm>
            <a:off x="11668506" y="5877306"/>
            <a:ext cx="16002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02163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_4</a:t>
            </a:r>
            <a:endParaRPr lang="en-US" sz="500" dirty="0"/>
          </a:p>
        </p:txBody>
      </p:sp>
      <p:sp>
        <p:nvSpPr>
          <p:cNvPr id="33" name="ocr-text-p05-031"/>
          <p:cNvSpPr/>
          <p:nvPr/>
        </p:nvSpPr>
        <p:spPr>
          <a:xfrm>
            <a:off x="343281" y="5915406"/>
            <a:ext cx="11430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0214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=</a:t>
            </a:r>
            <a:endParaRPr lang="en-US" sz="500" dirty="0"/>
          </a:p>
        </p:txBody>
      </p:sp>
      <p:sp>
        <p:nvSpPr>
          <p:cNvPr id="34" name="ocr-text-p05-032"/>
          <p:cNvSpPr/>
          <p:nvPr/>
        </p:nvSpPr>
        <p:spPr>
          <a:xfrm>
            <a:off x="543306" y="6172581"/>
            <a:ext cx="5955030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88" dirty="0">
                <a:solidFill>
                  <a:srgbClr val="000D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[WO 责任声明 : 本材料仅供内部审议 ， 不构成最终投资决策</a:t>
            </a:r>
            <a:endParaRPr lang="en-US" sz="1788" dirty="0"/>
          </a:p>
        </p:txBody>
      </p:sp>
      <p:sp>
        <p:nvSpPr>
          <p:cNvPr id="35" name="ocr-text-p05-033"/>
          <p:cNvSpPr/>
          <p:nvPr/>
        </p:nvSpPr>
        <p:spPr>
          <a:xfrm>
            <a:off x="6734556" y="6182106"/>
            <a:ext cx="545744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96" dirty="0">
                <a:solidFill>
                  <a:srgbClr val="000D2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[2) 来源 : 公司官网 、 项目会议纪要 、 投资中台项目记录</a:t>
            </a:r>
            <a:endParaRPr lang="en-US" sz="17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Cybernaut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PDF template converted to editable PPTX</dc:subject>
  <dc:creator>Cybernaut</dc:creator>
  <cp:lastModifiedBy>Cybernaut</cp:lastModifiedBy>
  <cp:revision>1</cp:revision>
  <dcterms:created xsi:type="dcterms:W3CDTF">2026-08-06T07:35:17Z</dcterms:created>
  <dcterms:modified xsi:type="dcterms:W3CDTF">2026-08-06T07:35:17Z</dcterms:modified>
</cp:coreProperties>
</file>