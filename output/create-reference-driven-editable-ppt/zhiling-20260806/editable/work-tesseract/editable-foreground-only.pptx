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1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2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3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4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5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/ns0:Relationships>
</file>

<file path=ppt/slides/_rels/slide2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2.xml" /></ns0:Relationships>
</file>

<file path=ppt/slides/_rels/slide3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3.xml" /></ns0:Relationships>
</file>

<file path=ppt/slides/_rels/slide4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4.xml" /></ns0:Relationships>
</file>

<file path=ppt/slides/_rels/slide5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5.xml" /></ns0:Relationships>
</file>

<file path=ppt/slides/slide1.xml><?xml version="1.0" encoding="utf-8"?>
<ns0:sld xmlns:ns0="http://schemas.openxmlformats.org/presentationml/2006/main" xmlns:ns1="http://schemas.openxmlformats.org/drawingml/2006/main">
  <ns0:cSld name="Slide 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ocr-text-p01-001"/>
          <ns0:cNvSpPr/>
          <ns0:nvPr/>
        </ns0:nvSpPr>
        <ns0:spPr>
          <ns1:xfrm>
            <ns1:off x="1219581" y="1905381"/>
            <ns1:ext cx="10899267" cy="1216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7897" b="1" dirty="0">
                <ns1:solidFill>
                  <ns1:srgbClr val="000C25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灵动力投资建议书</ns1:t>
            </ns1:r>
            <ns1:endParaRPr lang="en-US" sz="7897" dirty="0"/>
          </ns1:p>
        </ns0:txBody>
      </ns0:sp>
      <ns0:sp>
        <ns0:nvSpPr>
          <ns0:cNvPr id="4" name="ocr-text-p01-002"/>
          <ns0:cNvSpPr/>
          <ns0:nvPr/>
        </ns0:nvSpPr>
        <ns0:spPr>
          <ns1:xfrm>
            <ns1:off x="848106" y="3267456"/>
            <ns1:ext cx="11270742" cy="66141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3817" b="1" dirty="0">
                <ns1:solidFill>
                  <ns1:srgbClr val="000C25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智灵动力 (北京 ) 科技有限公司</ns1:t>
            </ns1:r>
            <ns1:endParaRPr lang="en-US" sz="3817" dirty="0"/>
          </ns1:p>
        </ns0:txBody>
      </ns0:sp>
      <ns0:sp>
        <ns0:nvSpPr>
          <ns0:cNvPr id="5" name="ocr-text-p01-003"/>
          <ns0:cNvSpPr/>
          <ns0:nvPr/>
        </ns0:nvSpPr>
        <ns0:spPr>
          <ns1:xfrm>
            <ns1:off x="857631" y="3896106"/>
            <ns1:ext cx="6057900" cy="4160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256" dirty="0">
                <ns1:solidFill>
                  <ns1:srgbClr val="000C25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从产品能力 、 商业验证到交易可行性的五页判断</ns1:t>
            </ns1:r>
            <ns1:endParaRPr lang="en-US" sz="2256" dirty="0"/>
          </ns1:p>
        </ns0:txBody>
      </ns0:sp>
      <ns0:sp>
        <ns0:nvSpPr>
          <ns0:cNvPr id="6" name="ocr-text-p01-004"/>
          <ns0:cNvSpPr/>
          <ns0:nvPr/>
        </ns0:nvSpPr>
        <ns0:spPr>
          <ns1:xfrm>
            <ns1:off x="857631" y="5972556"/>
            <ns1:ext cx="2446020" cy="3307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906" b="1" dirty="0">
                <ns1:solidFill>
                  <ns1:srgbClr val="000C25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内部讨论稿 | 年 8 月</ns1:t>
            </ns1:r>
            <ns1:endParaRPr lang="en-US" sz="1906" dirty="0"/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>
  <ns0:cSld name="Slide 2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ocr-text-p02-001"/>
          <ns0:cNvSpPr/>
          <ns0:nvPr/>
        </ns0:nvSpPr>
        <ns0:spPr>
          <ns1:xfrm>
            <ns1:off x="181356" y="105156"/>
            <ns1:ext cx="11937492" cy="70408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3696" b="1" dirty="0">
                <ns1:solidFill>
                  <ns1:srgbClr val="000B22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(01 公司已形成三条产品线 ， 但底层技术与业务归属仍需核</ns1:t>
            </ns1:r>
            <ns1:endParaRPr lang="en-US" sz="3696" dirty="0"/>
          </ns1:p>
        </ns0:txBody>
      </ns0:sp>
      <ns0:sp>
        <ns0:nvSpPr>
          <ns0:cNvPr id="4" name="ocr-text-p02-002"/>
          <ns0:cNvSpPr/>
          <ns0:nvPr/>
        </ns0:nvSpPr>
        <ns0:spPr>
          <ns1:xfrm>
            <ns1:off x="3477006" y="924306"/>
            <ns1:ext cx="8641842" cy="4267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521" b="1" dirty="0">
                <ns1:solidFill>
                  <ns1:srgbClr val="000B23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一官方定位 : 科创研究与文创视听智能体 “一</ns1:t>
            </ns1:r>
            <ns1:endParaRPr lang="en-US" sz="2521" dirty="0"/>
          </ns1:p>
        </ns0:txBody>
      </ns0:sp>
      <ns0:sp>
        <ns0:nvSpPr>
          <ns0:cNvPr id="5" name="ocr-text-p02-003"/>
          <ns0:cNvSpPr/>
          <ns0:nvPr/>
        </ns0:nvSpPr>
        <ns0:spPr>
          <ns1:xfrm>
            <ns1:off x="4010406" y="1343406"/>
            <ns1:ext cx="8108442" cy="853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6429" b="1" dirty="0">
                <ns1:solidFill>
                  <ns1:srgbClr val="00163C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| [&gt;] eve</ns1:t>
            </ns1:r>
            <ns1:endParaRPr lang="en-US" sz="6429" dirty="0"/>
          </ns1:p>
        </ns0:txBody>
      </ns0:sp>
      <ns0:sp>
        <ns0:nvSpPr>
          <ns0:cNvPr id="6" name="ocr-text-p02-004"/>
          <ns0:cNvSpPr/>
          <ns0:nvPr/>
        </ns0:nvSpPr>
        <ns0:spPr>
          <ns1:xfrm>
            <ns1:off x="8430006" y="2210181"/>
            <ns1:ext cx="3688842" cy="10881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170" b="1" dirty="0">
                <ns1:solidFill>
                  <ns1:srgbClr val="081E44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|</ns1:t>
            </ns1:r>
            <ns1:endParaRPr lang="en-US" sz="1170" dirty="0"/>
          </ns1:p>
        </ns0:txBody>
      </ns0:sp>
      <ns0:sp>
        <ns0:nvSpPr>
          <ns0:cNvPr id="7" name="ocr-text-p02-005"/>
          <ns0:cNvSpPr/>
          <ns0:nvPr/>
        </ns0:nvSpPr>
        <ns0:spPr>
          <ns1:xfrm>
            <ns1:off x="4648581" y="2210181"/>
            <ns1:ext cx="7470267" cy="7680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080" b="1" dirty="0">
                <ns1:solidFill>
                  <ns1:srgbClr val="081E44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|</ns1:t>
            </ns1:r>
            <ns1:endParaRPr lang="en-US" sz="1080" dirty="0"/>
          </ns1:p>
        </ns0:txBody>
      </ns0:sp>
      <ns0:sp>
        <ns0:nvSpPr>
          <ns0:cNvPr id="8" name="ocr-text-p02-006"/>
          <ns0:cNvSpPr/>
          <ns0:nvPr/>
        </ns0:nvSpPr>
        <ns0:spPr>
          <ns1:xfrm>
            <ns1:off x="1067181" y="2229231"/>
            <ns1:ext cx="1748790" cy="3733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967" b="1" dirty="0">
                <ns1:solidFill>
                  <ns1:srgbClr val="081E4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研究报告智能体</ns1:t>
            </ns1:r>
            <ns1:endParaRPr lang="en-US" sz="1967" dirty="0"/>
          </ns1:p>
        </ns0:txBody>
      </ns0:sp>
      <ns0:sp>
        <ns0:nvSpPr>
          <ns0:cNvPr id="9" name="ocr-text-p02-007"/>
          <ns0:cNvSpPr/>
          <ns0:nvPr/>
        </ns0:nvSpPr>
        <ns0:spPr>
          <ns1:xfrm>
            <ns1:off x="5001006" y="2229231"/>
            <ns1:ext cx="1245870" cy="3840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962" b="1" dirty="0">
                <ns1:solidFill>
                  <ns1:srgbClr val="081E4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视频智能体</ns1:t>
            </ns1:r>
            <ns1:endParaRPr lang="en-US" sz="1962" dirty="0"/>
          </ns1:p>
        </ns0:txBody>
      </ns0:sp>
      <ns0:sp>
        <ns0:nvSpPr>
          <ns0:cNvPr id="10" name="ocr-text-p02-008"/>
          <ns0:cNvSpPr/>
          <ns0:nvPr/>
        </ns0:nvSpPr>
        <ns0:spPr>
          <ns1:xfrm>
            <ns1:off x="8801481" y="2267331"/>
            <ns1:ext cx="982980" cy="2240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292" dirty="0">
                <ns1:solidFill>
                  <ns1:srgbClr val="081E4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算法工厂</ns1:t>
            </ns1:r>
            <ns1:endParaRPr lang="en-US" sz="1292" dirty="0"/>
          </ns1:p>
        </ns0:txBody>
      </ns0:sp>
      <ns0:sp>
        <ns0:nvSpPr>
          <ns0:cNvPr id="11" name="ocr-text-p02-009"/>
          <ns0:cNvSpPr/>
          <ns0:nvPr/>
        </ns0:nvSpPr>
        <ns0:spPr>
          <ns1:xfrm>
            <ns1:off x="5001006" y="2619756"/>
            <ns1:ext cx="1280160" cy="3733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016" b="1" dirty="0">
                <ns1:solidFill>
                  <ns1:srgbClr val="081E4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剧幕智能体</ns1:t>
            </ns1:r>
            <ns1:endParaRPr lang="en-US" sz="2016" dirty="0"/>
          </ns1:p>
        </ns0:txBody>
      </ns0:sp>
      <ns0:sp>
        <ns0:nvSpPr>
          <ns0:cNvPr id="12" name="ocr-text-p02-010"/>
          <ns0:cNvSpPr/>
          <ns0:nvPr/>
        </ns0:nvSpPr>
        <ns0:spPr>
          <ns1:xfrm>
            <ns1:off x="1067181" y="2657856"/>
            <ns1:ext cx="1085850" cy="2026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168" dirty="0">
                <ns1:solidFill>
                  <ns1:srgbClr val="091E45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企业 FDE</ns1:t>
            </ns1:r>
            <ns1:endParaRPr lang="en-US" sz="1168" dirty="0"/>
          </ns1:p>
        </ns0:txBody>
      </ns0:sp>
      <ns0:sp>
        <ns0:nvSpPr>
          <ns0:cNvPr id="13" name="ocr-text-p02-011"/>
          <ns0:cNvSpPr/>
          <ns0:nvPr/>
        </ns0:nvSpPr>
        <ns0:spPr>
          <ns1:xfrm>
            <ns1:off x="8811006" y="2657856"/>
            <ns1:ext cx="1737360" cy="2133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230" dirty="0">
                <ns1:solidFill>
                  <ns1:srgbClr val="091F45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自进化算法优化</ns1:t>
            </ns1:r>
            <ns1:endParaRPr lang="en-US" sz="1230" dirty="0"/>
          </ns1:p>
        </ns0:txBody>
      </ns0:sp>
      <ns0:sp>
        <ns0:nvSpPr>
          <ns0:cNvPr id="14" name="ocr-text-p02-012"/>
          <ns0:cNvSpPr/>
          <ns0:nvPr/>
        </ns0:nvSpPr>
        <ns0:spPr>
          <ns1:xfrm>
            <ns1:off x="4648581" y="2924556"/>
            <ns1:ext cx="1965960" cy="4480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250" b="1" dirty="0">
                <ns1:solidFill>
                  <ns1:srgbClr val="081E4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e 数字人智能体</ns1:t>
            </ns1:r>
            <ns1:endParaRPr lang="en-US" sz="2250" dirty="0"/>
          </ns1:p>
        </ns0:txBody>
      </ns0:sp>
      <ns0:sp>
        <ns0:nvSpPr>
          <ns0:cNvPr id="15" name="ocr-text-p02-013"/>
          <ns0:cNvSpPr/>
          <ns0:nvPr/>
        </ns0:nvSpPr>
        <ns0:spPr>
          <ns1:xfrm>
            <ns1:off x="8801481" y="3010281"/>
            <ns1:ext cx="2320290" cy="3733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003" b="1" dirty="0">
                <ns1:solidFill>
                  <ns1:srgbClr val="081E4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VEQPy 可选求解扩展</ns1:t>
            </ns1:r>
            <ns1:endParaRPr lang="en-US" sz="2003" dirty="0"/>
          </ns1:p>
        </ns0:txBody>
      </ns0:sp>
      <ns0:sp>
        <ns0:nvSpPr>
          <ns0:cNvPr id="16" name="ocr-text-p02-014"/>
          <ns0:cNvSpPr/>
          <ns0:nvPr/>
        </ns0:nvSpPr>
        <ns0:spPr>
          <ns1:xfrm>
            <ns1:off x="1067181" y="3048381"/>
            <ns1:ext cx="1920240" cy="1813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046" dirty="0">
                <ns1:solidFill>
                  <ns1:srgbClr val="081E45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Al-AutoResearch</ns1:t>
            </ns1:r>
            <ns1:endParaRPr lang="en-US" sz="1046" dirty="0"/>
          </ns1:p>
        </ns0:txBody>
      </ns0:sp>
      <ns0:sp>
        <ns0:nvSpPr>
          <ns0:cNvPr id="17" name="ocr-text-p02-015"/>
          <ns0:cNvSpPr/>
          <ns0:nvPr/>
        </ns0:nvSpPr>
        <ns0:spPr>
          <ns1:xfrm>
            <ns1:off x="4572381" y="3457956"/>
            <ns1:ext cx="3337560" cy="3733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079" b="1" dirty="0">
                <ns1:solidFill>
                  <ns1:srgbClr val="010C25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三层技术体系 (管理层口径 )</ns1:t>
            </ns1:r>
            <ns1:endParaRPr lang="en-US" sz="2079" dirty="0"/>
          </ns1:p>
        </ns0:txBody>
      </ns0:sp>
      <ns0:sp>
        <ns0:nvSpPr>
          <ns0:cNvPr id="18" name="ocr-text-p02-016"/>
          <ns0:cNvSpPr/>
          <ns0:nvPr/>
        </ns0:nvSpPr>
        <ns0:spPr>
          <ns1:xfrm>
            <ns1:off x="5391531" y="3877056"/>
            <ns1:ext cx="1565910" cy="39471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055" b="1" dirty="0">
                <ns1:solidFill>
                  <ns1:srgbClr val="12264E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自进化大模型</ns1:t>
            </ns1:r>
            <ns1:endParaRPr lang="en-US" sz="2055" dirty="0"/>
          </ns1:p>
        </ns0:txBody>
      </ns0:sp>
      <ns0:sp>
        <ns0:nvSpPr>
          <ns0:cNvPr id="19" name="ocr-text-p02-017"/>
          <ns0:cNvSpPr/>
          <ns0:nvPr/>
        </ns0:nvSpPr>
        <ns0:spPr>
          <ns1:xfrm>
            <ns1:off x="5296281" y="4486656"/>
            <ns1:ext cx="1783080" cy="3733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077" b="1" dirty="0">
                <ns1:solidFill>
                  <ns1:srgbClr val="0E244C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自进化 Al 框架</ns1:t>
            </ns1:r>
            <ns1:endParaRPr lang="en-US" sz="2077" dirty="0"/>
          </ns1:p>
        </ns0:txBody>
      </ns0:sp>
      <ns0:sp>
        <ns0:nvSpPr>
          <ns0:cNvPr id="20" name="ocr-text-p02-018"/>
          <ns0:cNvSpPr/>
          <ns0:nvPr/>
        </ns0:nvSpPr>
        <ns0:spPr>
          <ns1:xfrm>
            <ns1:off x="5896356" y="4810506"/>
            <ns1:ext cx="320040" cy="2773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99" dirty="0">
                <ns1:solidFill>
                  <ns1:srgbClr val="062345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会</ns1:t>
            </ns1:r>
            <ns1:endParaRPr lang="en-US" sz="1599" dirty="0"/>
          </ns1:p>
        </ns0:txBody>
      </ns0:sp>
      <ns0:sp>
        <ns0:nvSpPr>
          <ns0:cNvPr id="21" name="ocr-text-p02-019"/>
          <ns0:cNvSpPr/>
          <ns0:nvPr/>
        </ns0:nvSpPr>
        <ns0:spPr>
          <ns1:xfrm>
            <ns1:off x="2057781" y="4858131"/>
            <ns1:ext cx="114300" cy="1066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500" dirty="0">
                <ns1:solidFill>
                  <ns1:srgbClr val="0D2047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a</ns1:t>
            </ns1:r>
            <ns1:endParaRPr lang="en-US" sz="500" dirty="0"/>
          </ns1:p>
        </ns0:txBody>
      </ns0:sp>
      <ns0:sp>
        <ns0:nvSpPr>
          <ns0:cNvPr id="22" name="ocr-text-p02-020"/>
          <ns0:cNvSpPr/>
          <ns0:nvPr/>
        </ns0:nvSpPr>
        <ns0:spPr>
          <ns1:xfrm>
            <ns1:off x="3486531" y="4858131"/>
            <ns1:ext cx="171450" cy="1066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500" dirty="0">
                <ns1:solidFill>
                  <ns1:srgbClr val="0E2148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=</ns1:t>
            </ns1:r>
            <ns1:endParaRPr lang="en-US" sz="500" dirty="0"/>
          </ns1:p>
        </ns0:txBody>
      </ns0:sp>
      <ns0:sp>
        <ns0:nvSpPr>
          <ns0:cNvPr id="23" name="ocr-text-p02-021"/>
          <ns0:cNvSpPr/>
          <ns0:nvPr/>
        </ns0:nvSpPr>
        <ns0:spPr>
          <ns1:xfrm>
            <ns1:off x="5229606" y="5115306"/>
            <ns1:ext cx="1965960" cy="4053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211" b="1" dirty="0">
                <ns1:solidFill>
                  <ns1:srgbClr val="051737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自进化算法优化</ns1:t>
            </ns1:r>
            <ns1:endParaRPr lang="en-US" sz="2211" dirty="0"/>
          </ns1:p>
        </ns0:txBody>
      </ns0:sp>
      <ns0:sp>
        <ns0:nvSpPr>
          <ns0:cNvPr id="24" name="ocr-text-p02-022"/>
          <ns0:cNvSpPr/>
          <ns0:nvPr/>
        </ns0:nvSpPr>
        <ns0:spPr>
          <ns1:xfrm>
            <ns1:off x="343281" y="5620131"/>
            <ns1:ext cx="11848719" cy="6934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680" dirty="0">
                <ns1:solidFill>
                  <ns1:srgbClr val="10182D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O 关键判断 : 产品矩阵可核对 ， 技术权属 、 测斌结果与业务资产归属仍需专项核实</ns1:t>
            </ns1:r>
            <ns1:endParaRPr lang="en-US" sz="2680" dirty="0"/>
          </ns1:p>
        </ns0:txBody>
      </ns0:sp>
      <ns0:sp>
        <ns0:nvSpPr>
          <ns0:cNvPr id="25" name="ocr-text-p02-023"/>
          <ns0:cNvSpPr/>
          <ns0:nvPr/>
        </ns0:nvSpPr>
        <ns0:spPr>
          <ns1:xfrm>
            <ns1:off x="857631" y="6486906"/>
            <ns1:ext cx="5269230" cy="3520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772" dirty="0">
                <ns1:solidFill>
                  <ns1:srgbClr val="000C2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司官网 、 华为云 、 项目会议纪要 、 算法工厂技术材料</ns1:t>
            </ns1:r>
            <ns1:endParaRPr lang="en-US" sz="1772" dirty="0"/>
          </ns1:p>
        </ns0:txBody>
      </ns0:sp>
      <ns0:sp>
        <ns0:nvSpPr>
          <ns0:cNvPr id="26" name="ocr-text-p02-024"/>
          <ns0:cNvSpPr/>
          <ns0:nvPr/>
        </ns0:nvSpPr>
        <ns0:spPr>
          <ns1:xfrm>
            <ns1:off x="200406" y="6496431"/>
            <ns1:ext cx="457200" cy="343281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000C2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来源</ns1:t>
            </ns1:r>
            <ns1:endParaRPr lang="en-US" sz="1800" dirty="0"/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>
  <ns0:cSld name="Slide 3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ocr-text-p03-001"/>
          <ns0:cNvSpPr/>
          <ns0:nvPr/>
        </ns0:nvSpPr>
        <ns0:spPr>
          <ns1:xfrm>
            <ns1:off x="257556" y="200406"/>
            <ns1:ext cx="11861292" cy="66141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3425" b="1" dirty="0">
                <ns1:solidFill>
                  <ns1:srgbClr val="000E23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02 | 商业化信号已出现 ， 但合同 、 验收与回款仍需穿透核实</ns1:t>
            </ns1:r>
            <ns1:endParaRPr lang="en-US" sz="3425" dirty="0"/>
          </ns1:p>
        </ns0:txBody>
      </ns0:sp>
      <ns0:sp>
        <ns0:nvSpPr>
          <ns0:cNvPr id="4" name="ocr-text-p03-002"/>
          <ns0:cNvSpPr/>
          <ns0:nvPr/>
        </ns0:nvSpPr>
        <ns0:spPr>
          <ns1:xfrm>
            <ns1:off x="8372856" y="2638806"/>
            <ns1:ext cx="2000250" cy="5654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800" b="1" dirty="0">
                <ns1:solidFill>
                  <ns1:srgbClr val="031731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10000 分钟</ns1:t>
            </ns1:r>
            <ns1:endParaRPr lang="en-US" sz="2800" dirty="0"/>
          </ns1:p>
        </ns0:txBody>
      </ns0:sp>
      <ns0:sp>
        <ns0:nvSpPr>
          <ns0:cNvPr id="5" name="ocr-text-p03-003"/>
          <ns0:cNvSpPr/>
          <ns0:nvPr/>
        </ns0:nvSpPr>
        <ns0:spPr>
          <ns1:xfrm>
            <ns1:off x="4277106" y="3096006"/>
            <ns1:ext cx="114300" cy="1386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500" dirty="0">
                <ns1:solidFill>
                  <ns1:srgbClr val="03132C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|</ns1:t>
            </ns1:r>
            <ns1:endParaRPr lang="en-US" sz="500" dirty="0"/>
          </ns1:p>
        </ns0:txBody>
      </ns0:sp>
      <ns0:sp>
        <ns0:nvSpPr>
          <ns0:cNvPr id="6" name="ocr-text-p03-004"/>
          <ns0:cNvSpPr/>
          <ns0:nvPr/>
        </ns0:nvSpPr>
        <ns0:spPr>
          <ns1:xfrm>
            <ns1:off x="724281" y="3219831"/>
            <ns1:ext cx="3554730" cy="4160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061" dirty="0">
                <ns1:solidFill>
                  <ns1:srgbClr val="05193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FDE | 2026 年 5 月启动商业化</ns1:t>
            </ns1:r>
            <ns1:endParaRPr lang="en-US" sz="2061" dirty="0"/>
          </ns1:p>
        </ns0:txBody>
      </ns0:sp>
      <ns0:sp>
        <ns0:nvSpPr>
          <ns0:cNvPr id="7" name="ocr-text-p03-005"/>
          <ns0:cNvSpPr/>
          <ns0:nvPr/>
        </ns0:nvSpPr>
        <ns0:spPr>
          <ns1:xfrm>
            <ns1:off x="5067681" y="3257931"/>
            <ns1:ext cx="234315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6192E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算法优化 | 在谈项目</ns1:t>
            </ns1:r>
            <ns1:endParaRPr lang="en-US" sz="1476" dirty="0"/>
          </ns1:p>
        </ns0:txBody>
      </ns0:sp>
      <ns0:sp>
        <ns0:nvSpPr>
          <ns0:cNvPr id="8" name="ocr-text-p03-006"/>
          <ns0:cNvSpPr/>
          <ns0:nvPr/>
        </ns0:nvSpPr>
        <ns0:spPr>
          <ns1:xfrm>
            <ns1:off x="8372856" y="3372231"/>
            <ns1:ext cx="1931670" cy="5547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613" b="1" dirty="0">
                <ns1:solidFill>
                  <ns1:srgbClr val="02162E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500 元 /分钟</ns1:t>
            </ns1:r>
            <ns1:endParaRPr lang="en-US" sz="2613" dirty="0"/>
          </ns1:p>
        </ns0:txBody>
      </ns0:sp>
      <ns0:sp>
        <ns0:nvSpPr>
          <ns0:cNvPr id="9" name="ocr-text-p03-007"/>
          <ns0:cNvSpPr/>
          <ns0:nvPr/>
        </ns0:nvSpPr>
        <ns0:spPr>
          <ns1:xfrm>
            <ns1:off x="5067681" y="3648456"/>
            <ns1:ext cx="2205990" cy="3733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40" dirty="0">
                <ns1:solidFill>
                  <ns1:srgbClr val="031731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。 成素科技 : 约 180 万元</ns1:t>
            </ns1:r>
            <ns1:endParaRPr lang="en-US" sz="1540" dirty="0"/>
          </ns1:p>
        </ns0:txBody>
      </ns0:sp>
      <ns0:sp>
        <ns0:nvSpPr>
          <ns0:cNvPr id="10" name="ocr-text-p03-008"/>
          <ns0:cNvSpPr/>
          <ns0:nvPr/>
        </ns0:nvSpPr>
        <ns0:spPr>
          <ns1:xfrm>
            <ns1:off x="714756" y="3657981"/>
            <ns1:ext cx="3920490" cy="34137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621" dirty="0">
                <ns1:solidFill>
                  <ns1:srgbClr val="04183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e £8: 60 万元 ， 流程推进中 ， 已完成 Demo</ns1:t>
            </ns1:r>
            <ns1:endParaRPr lang="en-US" sz="1621" dirty="0"/>
          </ns1:p>
        </ns0:txBody>
      </ns0:sp>
      <ns0:sp>
        <ns0:nvSpPr>
          <ns0:cNvPr id="11" name="ocr-text-p03-009"/>
          <ns0:cNvSpPr/>
          <ns0:nvPr/>
        </ns0:nvSpPr>
        <ns0:spPr>
          <ns1:xfrm>
            <ns1:off x="4277106" y="3705606"/>
            <ns1:ext cx="114300" cy="1066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500" dirty="0">
                <ns1:solidFill>
                  <ns1:srgbClr val="010E25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|</ns1:t>
            </ns1:r>
            <ns1:endParaRPr lang="en-US" sz="500" dirty="0"/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>
  <ns0:cSld name="Slide 4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ocr-text-p04-001"/>
          <ns0:cNvSpPr/>
          <ns0:nvPr/>
        </ns0:nvSpPr>
        <ns0:spPr>
          <ns1:xfrm>
            <ns1:off x="190881" y="143256"/>
            <ns1:ext cx="11927967" cy="8427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3161" b="1" dirty="0">
                <ns1:solidFill>
                  <ns1:srgbClr val="000B20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03) | 高人力成本本加交易口径冲突 ， 现金流安全边界尚不清晰</ns1:t>
            </ns1:r>
            <ns1:endParaRPr lang="en-US" sz="3161" dirty="0"/>
          </ns1:p>
        </ns0:txBody>
      </ns0:sp>
      <ns0:sp>
        <ns0:nvSpPr>
          <ns0:cNvPr id="4" name="ocr-text-p04-002"/>
          <ns0:cNvSpPr/>
          <ns0:nvPr/>
        </ns0:nvSpPr>
        <ns0:spPr>
          <ns1:xfrm>
            <ns1:off x="7077456" y="1276731"/>
            <ns1:ext cx="2183130" cy="4800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232" b="1" dirty="0">
                <ns1:solidFill>
                  <ns1:srgbClr val="051831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约 2400 万元 /年</ns1:t>
            </ns1:r>
            <ns1:endParaRPr lang="en-US" sz="2232" dirty="0"/>
          </ns1:p>
        </ns0:txBody>
      </ns0:sp>
      <ns0:sp>
        <ns0:nvSpPr>
          <ns0:cNvPr id="5" name="ocr-text-p04-003"/>
          <ns0:cNvSpPr/>
          <ns0:nvPr/>
        </ns0:nvSpPr>
        <ns0:spPr>
          <ns1:xfrm>
            <ns1:off x="438531" y="1295781"/>
            <ns1:ext cx="2183130" cy="3627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091" b="1" dirty="0">
                <ns1:solidFill>
                  <ns1:srgbClr val="05183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082 1384</ns1:t>
            </ns1:r>
            <ns1:endParaRPr lang="en-US" sz="2091" dirty="0"/>
          </ns1:p>
        </ns0:txBody>
      </ns0:sp>
      <ns0:sp>
        <ns0:nvSpPr>
          <ns0:cNvPr id="6" name="ocr-text-p04-004"/>
          <ns0:cNvSpPr/>
          <ns0:nvPr/>
        </ns0:nvSpPr>
        <ns0:spPr>
          <ns1:xfrm>
            <ns1:off x="390906" y="1543431"/>
            <ns1:ext cx="2480310" cy="4693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604" b="1" dirty="0">
                <ns1:solidFill>
                  <ns1:srgbClr val="05183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(人当前人员规模</ns1:t>
            </ns1:r>
            <ns1:endParaRPr lang="en-US" sz="2604" dirty="0"/>
          </ns1:p>
        </ns0:txBody>
      </ns0:sp>
      <ns0:sp>
        <ns0:nvSpPr>
          <ns0:cNvPr id="7" name="ocr-text-p04-005"/>
          <ns0:cNvSpPr/>
          <ns0:nvPr/>
        </ns0:nvSpPr>
        <ns0:spPr>
          <ns1:xfrm>
            <ns1:off x="4229481" y="1733931"/>
            <ns1:ext cx="1463040" cy="3733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920" b="1" dirty="0">
                <ns1:solidFill>
                  <ns1:srgbClr val="05183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基础人力成本</ns1:t>
            </ns1:r>
            <ns1:endParaRPr lang="en-US" sz="1920" dirty="0"/>
          </ns1:p>
        </ns0:txBody>
      </ns0:sp>
      <ns0:sp>
        <ns0:nvSpPr>
          <ns0:cNvPr id="8" name="ocr-text-p04-006"/>
          <ns0:cNvSpPr/>
          <ns0:nvPr/>
        </ns0:nvSpPr>
        <ns0:spPr>
          <ns1:xfrm>
            <ns1:off x="7086981" y="1733931"/>
            <ns1:ext cx="1463040" cy="3733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920" b="1" dirty="0">
                <ns1:solidFill>
                  <ns1:srgbClr val="05183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年度人力成本</ns1:t>
            </ns1:r>
            <ns1:endParaRPr lang="en-US" sz="1920" dirty="0"/>
          </ns1:p>
        </ns0:txBody>
      </ns0:sp>
      <ns0:sp>
        <ns0:nvSpPr>
          <ns0:cNvPr id="9" name="ocr-text-p04-007"/>
          <ns0:cNvSpPr/>
          <ns0:nvPr/>
        </ns0:nvSpPr>
        <ns0:spPr>
          <ns1:xfrm>
            <ns1:off x="10201656" y="1733931"/>
            <ns1:ext cx="1154430" cy="3733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818" b="1" dirty="0">
                <ns1:solidFill>
                  <ns1:srgbClr val="05183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优化后计划</ns1:t>
            </ns1:r>
            <ns1:endParaRPr lang="en-US" sz="1818" dirty="0"/>
          </ns1:p>
        </ns0:txBody>
      </ns0:sp>
      <ns0:sp>
        <ns0:nvSpPr>
          <ns0:cNvPr id="10" name="ocr-text-p04-008"/>
          <ns0:cNvSpPr/>
          <ns0:nvPr/>
        </ns0:nvSpPr>
        <ns0:spPr>
          <ns1:xfrm>
            <ns1:off x="981456" y="2400681"/>
            <ns1:ext cx="3851910" cy="4800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606" b="1" dirty="0">
                <ns1:solidFill>
                  <ns1:srgbClr val="04183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现金流安排 (管理层口径 )</ns1:t>
            </ns1:r>
            <ns1:endParaRPr lang="en-US" sz="2606" dirty="0"/>
          </ns1:p>
        </ns0:txBody>
      </ns0:sp>
      <ns0:sp>
        <ns0:nvSpPr>
          <ns0:cNvPr id="11" name="ocr-text-p04-009"/>
          <ns0:cNvSpPr/>
          <ns0:nvPr/>
        </ns0:nvSpPr>
        <ns0:spPr>
          <ns1:xfrm>
            <ns1:off x="7401306" y="2438781"/>
            <ns1:ext cx="2023110" cy="2987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722" dirty="0">
                <ns1:solidFill>
                  <ns1:srgbClr val="041935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交易口径冲突</ns1:t>
            </ns1:r>
            <ns1:endParaRPr lang="en-US" sz="1722" dirty="0"/>
          </ns1:p>
        </ns0:txBody>
      </ns0:sp>
      <ns0:sp>
        <ns0:nvSpPr>
          <ns0:cNvPr id="12" name="ocr-text-p04-010"/>
          <ns0:cNvSpPr/>
          <ns0:nvPr/>
        </ns0:nvSpPr>
        <ns0:spPr>
          <ns1:xfrm>
            <ns1:off x="1248156" y="2953131"/>
            <ns1:ext cx="3154680" cy="5440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813" b="1" dirty="0">
                <ns1:solidFill>
                  <ns1:srgbClr val="04183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| 老股东拟提供 1000 万元借款</ns1:t>
            </ns1:r>
            <ns1:endParaRPr lang="en-US" sz="1813" dirty="0"/>
          </ns1:p>
        </ns0:txBody>
      </ns0:sp>
      <ns0:sp>
        <ns0:nvSpPr>
          <ns0:cNvPr id="13" name="ocr-text-p04-011"/>
          <ns0:cNvSpPr/>
          <ns0:nvPr/>
        </ns0:nvSpPr>
        <ns0:spPr>
          <ns1:xfrm>
            <ns1:off x="5848731" y="3019806"/>
            <ns1:ext cx="480060" cy="3733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890" b="1" dirty="0">
                <ns1:solidFill>
                  <ns1:srgbClr val="0D2747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来源</ns1:t>
            </ns1:r>
            <ns1:endParaRPr lang="en-US" sz="1890" dirty="0"/>
          </ns1:p>
        </ns0:txBody>
      </ns0:sp>
      <ns0:sp>
        <ns0:nvSpPr>
          <ns0:cNvPr id="14" name="ocr-text-p04-012"/>
          <ns0:cNvSpPr/>
          <ns0:nvPr/>
        </ns0:nvSpPr>
        <ns0:spPr>
          <ns1:xfrm>
            <ns1:off x="7248906" y="3019806"/>
            <ns1:ext cx="937260" cy="3733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845" b="1" dirty="0">
                <ns1:solidFill>
                  <ns1:srgbClr val="0D2746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融资金额</ns1:t>
            </ns1:r>
            <ns1:endParaRPr lang="en-US" sz="1845" dirty="0"/>
          </ns1:p>
        </ns0:txBody>
      </ns0:sp>
      <ns0:sp>
        <ns0:nvSpPr>
          <ns0:cNvPr id="15" name="ocr-text-p04-013"/>
          <ns0:cNvSpPr/>
          <ns0:nvPr/>
        </ns0:nvSpPr>
        <ns0:spPr>
          <ns1:xfrm>
            <ns1:off x="10506456" y="3019806"/>
            <ns1:ext cx="925830" cy="3733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822" b="1" dirty="0">
                <ns1:solidFill>
                  <ns1:srgbClr val="0D2746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核实状态</ns1:t>
            </ns1:r>
            <ns1:endParaRPr lang="en-US" sz="1822" dirty="0"/>
          </ns1:p>
        </ns0:txBody>
      </ns0:sp>
      <ns0:sp>
        <ns0:nvSpPr>
          <ns0:cNvPr id="16" name="ocr-text-p04-014"/>
          <ns0:cNvSpPr/>
          <ns0:nvPr/>
        </ns0:nvSpPr>
        <ns0:spPr>
          <ns1:xfrm>
            <ns1:off x="8877681" y="3057906"/>
            <ns1:ext cx="925830" cy="2133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230" dirty="0">
                <ns1:solidFill>
                  <ns1:srgbClr val="0E2948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估值口径</ns1:t>
            </ns1:r>
            <ns1:endParaRPr lang="en-US" sz="1230" dirty="0"/>
          </ns1:p>
        </ns0:txBody>
      </ns0:sp>
      <ns0:sp>
        <ns0:nvSpPr>
          <ns0:cNvPr id="17" name="ocr-text-p04-015"/>
          <ns0:cNvSpPr/>
          <ns0:nvPr/>
        </ns0:nvSpPr>
        <ns0:spPr>
          <ns1:xfrm>
            <ns1:off x="5648706" y="3477006"/>
            <ns1:ext cx="914400" cy="3627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02132A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项目记录</ns1:t>
            </ns1:r>
            <ns1:endParaRPr lang="en-US" sz="1800" dirty="0"/>
          </ns1:p>
        </ns0:txBody>
      </ns0:sp>
      <ns0:sp>
        <ns0:nvSpPr>
          <ns0:cNvPr id="18" name="ocr-text-p04-016"/>
          <ns0:cNvSpPr/>
          <ns0:nvPr/>
        </ns0:nvSpPr>
        <ns0:spPr>
          <ns1:xfrm>
            <ns1:off x="10506456" y="3505581"/>
            <ns1:ext cx="925830" cy="2133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230" dirty="0">
                <ns1:solidFill>
                  <ns1:srgbClr val="041426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存在冲突</ns1:t>
            </ns1:r>
            <ns1:endParaRPr lang="en-US" sz="1230" dirty="0"/>
          </ns1:p>
        </ns0:txBody>
      </ns0:sp>
      <ns0:sp>
        <ns0:nvSpPr>
          <ns0:cNvPr id="19" name="ocr-text-p04-017"/>
          <ns0:cNvSpPr/>
          <ns0:nvPr/>
        </ns0:nvSpPr>
        <ns0:spPr>
          <ns1:xfrm>
            <ns1:off x="8915781" y="3505581"/>
            <ns1:ext cx="708660" cy="34137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938" b="1" dirty="0">
                <ns1:solidFill>
                  <ns1:srgbClr val="02132A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1 亿元</ns1:t>
            </ns1:r>
            <ns1:endParaRPr lang="en-US" sz="1938" dirty="0"/>
          </ns1:p>
        </ns0:txBody>
      </ns0:sp>
      <ns0:sp>
        <ns0:nvSpPr>
          <ns0:cNvPr id="20" name="ocr-text-p04-018"/>
          <ns0:cNvSpPr/>
          <ns0:nvPr/>
        </ns0:nvSpPr>
        <ns0:spPr>
          <ns1:xfrm>
            <ns1:off x="7201281" y="3515106"/>
            <ns1:ext cx="1017270" cy="2026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168" dirty="0">
                <ns1:solidFill>
                  <ns1:srgbClr val="04142A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1000 万元</ns1:t>
            </ns1:r>
            <ns1:endParaRPr lang="en-US" sz="1168" dirty="0"/>
          </ns1:p>
        </ns0:txBody>
      </ns0:sp>
      <ns0:sp>
        <ns0:nvSpPr>
          <ns0:cNvPr id="21" name="ocr-text-p04-019"/>
          <ns0:cNvSpPr/>
          <ns0:nvPr/>
        </ns0:nvSpPr>
        <ns0:spPr>
          <ns1:xfrm>
            <ns1:off x="1248156" y="3734181"/>
            <ns1:ext cx="3531870" cy="4480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877" b="1" dirty="0">
                <ns1:solidFill>
                  <ns1:srgbClr val="05193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| 管理层称可覆盖约半年现金需求</ns1:t>
            </ns1:r>
            <ns1:endParaRPr lang="en-US" sz="1877" dirty="0"/>
          </ns1:p>
        </ns0:txBody>
      </ns0:sp>
      <ns0:sp>
        <ns0:nvSpPr>
          <ns0:cNvPr id="22" name="ocr-text-p04-020"/>
          <ns0:cNvSpPr/>
          <ns0:nvPr/>
        </ns0:nvSpPr>
        <ns0:spPr>
          <ns1:xfrm>
            <ns1:off x="10411206" y="3896106"/>
            <ns1:ext cx="1165860" cy="3733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836" b="1" dirty="0">
                <ns1:solidFill>
                  <ns1:srgbClr val="02142B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管理层沟通</ns1:t>
            </ns1:r>
            <ns1:endParaRPr lang="en-US" sz="1836" dirty="0"/>
          </ns1:p>
        </ns0:txBody>
      </ns0:sp>
      <ns0:sp>
        <ns0:nvSpPr>
          <ns0:cNvPr id="23" name="ocr-text-p04-021"/>
          <ns0:cNvSpPr/>
          <ns0:nvPr/>
        </ns0:nvSpPr>
        <ns0:spPr>
          <ns1:xfrm>
            <ns1:off x="5648706" y="3934206"/>
            <ns1:ext cx="925830" cy="2133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230" dirty="0">
                <ns1:solidFill>
                  <ns1:srgbClr val="04152C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会议口径</ns1:t>
            </ns1:r>
            <ns1:endParaRPr lang="en-US" sz="1230" dirty="0"/>
          </ns1:p>
        </ns0:txBody>
      </ns0:sp>
      <ns0:sp>
        <ns0:nvSpPr>
          <ns0:cNvPr id="24" name="ocr-text-p04-022"/>
          <ns0:cNvSpPr/>
          <ns0:nvPr/>
        </ns0:nvSpPr>
        <ns0:spPr>
          <ns1:xfrm>
            <ns1:off x="7258431" y="3934206"/>
            <ns1:ext cx="834390" cy="34137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64" dirty="0">
                <ns1:solidFill>
                  <ns1:srgbClr val="03142C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约 1 亿元</ns1:t>
            </ns1:r>
            <ns1:endParaRPr lang="en-US" sz="1564" dirty="0"/>
          </ns1:p>
        </ns0:txBody>
      </ns0:sp>
      <ns0:sp>
        <ns0:nvSpPr>
          <ns0:cNvPr id="25" name="ocr-text-p04-023"/>
          <ns0:cNvSpPr/>
          <ns0:nvPr/>
        </ns0:nvSpPr>
        <ns0:spPr>
          <ns1:xfrm>
            <ns1:off x="8696706" y="3934206"/>
            <ns1:ext cx="1371600" cy="3520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612" dirty="0">
                <ns1:solidFill>
                  <ns1:srgbClr val="03142C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10 亿 -15 亿元</ns1:t>
            </ns1:r>
            <ns1:endParaRPr lang="en-US" sz="1612" dirty="0"/>
          </ns1:p>
        </ns0:txBody>
      </ns0:sp>
      <ns0:sp>
        <ns0:nvSpPr>
          <ns0:cNvPr id="26" name="ocr-text-p04-024"/>
          <ns0:cNvSpPr/>
          <ns0:nvPr/>
        </ns0:nvSpPr>
        <ns0:spPr>
          <ns1:xfrm>
            <ns1:off x="1248156" y="4439031"/>
            <ns1:ext cx="4240530" cy="43738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661" dirty="0">
                <ns1:solidFill>
                  <ns1:srgbClr val="05193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| 借款协议 、 期限 、 利率与提款条件尚待核实</ns1:t>
            </ns1:r>
            <ns1:endParaRPr lang="en-US" sz="1661" dirty="0"/>
          </ns1:p>
        </ns0:txBody>
      </ns0:sp>
      <ns0:sp>
        <ns0:nvSpPr>
          <ns0:cNvPr id="27" name="ocr-text-p04-025"/>
          <ns0:cNvSpPr/>
          <ns0:nvPr/>
        </ns0:nvSpPr>
        <ns0:spPr>
          <ns1:xfrm>
            <ns1:off x="6544056" y="5029581"/>
            <ns1:ext cx="4652010" cy="39471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019" dirty="0">
                <ns1:solidFill>
                  <ns1:srgbClr val="04172E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差异达到数量级 ， 不能直接用于交易定价</ns1:t>
            </ns1:r>
            <ns1:endParaRPr lang="en-US" sz="2019" dirty="0"/>
          </ns1:p>
        </ns0:txBody>
      </ns0:sp>
      <ns0:sp>
        <ns0:nvSpPr>
          <ns0:cNvPr id="28" name="ocr-text-p04-026"/>
          <ns0:cNvSpPr/>
          <ns0:nvPr/>
        </ns0:nvSpPr>
        <ns0:spPr>
          <ns1:xfrm>
            <ns1:off x="190881" y="5705856"/>
            <ns1:ext cx="12001119" cy="6934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713" dirty="0">
                <ns1:solidFill>
                  <ns1:srgbClr val="071D39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| (1) 投资影响 : 审计财务 、 现金流水平和正式条款明确前 ， 估值合理性无法判断</ns1:t>
            </ns1:r>
            <ns1:endParaRPr lang="en-US" sz="2713" dirty="0"/>
          </ns1:p>
        </ns0:txBody>
      </ns0:sp>
      <ns0:sp>
        <ns0:nvSpPr>
          <ns0:cNvPr id="29" name="ocr-text-p04-027"/>
          <ns0:cNvSpPr/>
          <ns0:nvPr/>
        </ns0:nvSpPr>
        <ns0:spPr>
          <ns1:xfrm>
            <ns1:off x="257556" y="6420231"/>
            <ns1:ext cx="3909060" cy="3627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96" dirty="0">
                <ns1:solidFill>
                  <ns1:srgbClr val="000C21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国来源 : 项目会议纪要 、 投资中台项目记录</ns1:t>
            </ns1:r>
            <ns1:endParaRPr lang="en-US" sz="1596" dirty="0"/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>
  <ns0:cSld name="Slide 5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ocr-text-p05-001"/>
          <ns0:cNvSpPr/>
          <ns0:nvPr/>
        </ns0:nvSpPr>
        <ns0:spPr>
          <ns1:xfrm>
            <ns1:off x="267081" y="248031"/>
            <ns1:ext cx="11851767" cy="7574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3457" b="1" dirty="0">
                <ns1:solidFill>
                  <ns1:srgbClr val="000C20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04 | 暂不形成确定性投资结论 ， 五项事实决定交易是否成立</ns1:t>
            </ns1:r>
            <ns1:endParaRPr lang="en-US" sz="3457" dirty="0"/>
          </ns1:p>
        </ns0:txBody>
      </ns0:sp>
      <ns0:sp>
        <ns0:nvSpPr>
          <ns0:cNvPr id="4" name="ocr-text-p05-002"/>
          <ns0:cNvSpPr/>
          <ns0:nvPr/>
        </ns0:nvSpPr>
        <ns0:spPr>
          <ns1:xfrm>
            <ns1:off x="5791581" y="1133856"/>
            <ns1:ext cx="217170" cy="2026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168" dirty="0">
                <ns1:solidFill>
                  <ns1:srgbClr val="010D2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01</ns1:t>
            </ns1:r>
            <ns1:endParaRPr lang="en-US" sz="1168" dirty="0"/>
          </ns1:p>
        </ns0:txBody>
      </ns0:sp>
      <ns0:sp>
        <ns0:nvSpPr>
          <ns0:cNvPr id="5" name="ocr-text-p05-003"/>
          <ns0:cNvSpPr/>
          <ns0:nvPr/>
        </ns0:nvSpPr>
        <ns0:spPr>
          <ns1:xfrm>
            <ns1:off x="1276731" y="1410081"/>
            <ns1:ext cx="1165860" cy="2667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38" dirty="0">
                <ns1:solidFill>
                  <ns1:srgbClr val="02162D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支持因素</ns1:t>
            </ns1:r>
            <ns1:endParaRPr lang="en-US" sz="1538" dirty="0"/>
          </ns1:p>
        </ns0:txBody>
      </ns0:sp>
      <ns0:sp>
        <ns0:nvSpPr>
          <ns0:cNvPr id="6" name="ocr-text-p05-004"/>
          <ns0:cNvSpPr/>
          <ns0:nvPr/>
        </ns0:nvSpPr>
        <ns0:spPr>
          <ns1:xfrm>
            <ns1:off x="6353556" y="1543431"/>
            <ns1:ext cx="1497330" cy="3520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831" b="1" dirty="0">
                <ns1:solidFill>
                  <ns1:srgbClr val="000C21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01 主体与股权</ns1:t>
            </ns1:r>
            <ns1:endParaRPr lang="en-US" sz="1831" dirty="0"/>
          </ns1:p>
        </ns0:txBody>
      </ns0:sp>
      <ns0:sp>
        <ns0:nvSpPr>
          <ns0:cNvPr id="7" name="ocr-text-p05-005"/>
          <ns0:cNvSpPr/>
          <ns0:nvPr/>
        </ns0:nvSpPr>
        <ns0:spPr>
          <ns1:xfrm>
            <ns1:off x="5763006" y="1619631"/>
            <ns1:ext cx="354330" cy="3627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661" dirty="0">
                <ns1:solidFill>
                  <ns1:srgbClr val="060F2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fia</ns1:t>
            </ns1:r>
            <ns1:endParaRPr lang="en-US" sz="1661" dirty="0"/>
          </ns1:p>
        </ns0:txBody>
      </ns0:sp>
      <ns0:sp>
        <ns0:nvSpPr>
          <ns0:cNvPr id="8" name="ocr-text-p05-006"/>
          <ns0:cNvSpPr/>
          <ns0:nvPr/>
        </ns0:nvSpPr>
        <ns0:spPr>
          <ns1:xfrm>
            <ns1:off x="9820656" y="1953006"/>
            <ns1:ext cx="1691640" cy="34137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665" dirty="0">
                <ns1:solidFill>
                  <ns1:srgbClr val="04132A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经营数据主要来自</ns1:t>
            </ns1:r>
            <ns1:endParaRPr lang="en-US" sz="1665" dirty="0"/>
          </ns1:p>
        </ns0:txBody>
      </ns0:sp>
      <ns0:sp>
        <ns0:nvSpPr>
          <ns0:cNvPr id="9" name="ocr-text-p05-007"/>
          <ns0:cNvSpPr/>
          <ns0:nvPr/>
        </ns0:nvSpPr>
        <ns0:spPr>
          <ns1:xfrm>
            <ns1:off x="1257681" y="2057781"/>
            <ns1:ext cx="1920240" cy="3520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680" dirty="0">
                <ns1:solidFill>
                  <ns1:srgbClr val="03152C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官方产品矩阵已形成</ns1:t>
            </ns1:r>
            <ns1:endParaRPr lang="en-US" sz="1680" dirty="0"/>
          </ns1:p>
        </ns0:txBody>
      </ns0:sp>
      <ns0:sp>
        <ns0:nvSpPr>
          <ns0:cNvPr id="10" name="ocr-text-p05-008"/>
          <ns0:cNvSpPr/>
          <ns0:nvPr/>
        </ns0:nvSpPr>
        <ns0:spPr>
          <ns1:xfrm>
            <ns1:off x="9830181" y="2219706"/>
            <ns1:ext cx="1017270" cy="3307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602" dirty="0">
                <ns1:solidFill>
                  <ns1:srgbClr val="04142A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管理层交流</ns1:t>
            </ns1:r>
            <ns1:endParaRPr lang="en-US" sz="1602" dirty="0"/>
          </ns1:p>
        </ns0:txBody>
      </ns0:sp>
      <ns0:sp>
        <ns0:nvSpPr>
          <ns0:cNvPr id="11" name="ocr-text-p05-009"/>
          <ns0:cNvSpPr/>
          <ns0:nvPr/>
        </ns0:nvSpPr>
        <ns0:spPr>
          <ns1:xfrm>
            <ns1:off x="4058031" y="2410206"/>
            <ns1:ext cx="274320" cy="2026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168" dirty="0">
                <ns1:solidFill>
                  <ns1:srgbClr val="010D2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05</ns1:t>
            </ns1:r>
            <ns1:endParaRPr lang="en-US" sz="1168" dirty="0"/>
          </ns1:p>
        </ns0:txBody>
      </ns0:sp>
      <ns0:sp>
        <ns0:nvSpPr>
          <ns0:cNvPr id="12" name="ocr-text-p05-010"/>
          <ns0:cNvSpPr/>
          <ns0:nvPr/>
        </ns0:nvSpPr>
        <ns0:spPr>
          <ns1:xfrm>
            <ns1:off x="7458456" y="2410206"/>
            <ns1:ext cx="274320" cy="2026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168" dirty="0">
                <ns1:solidFill>
                  <ns1:srgbClr val="010D2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02</ns1:t>
            </ns1:r>
            <ns1:endParaRPr lang="en-US" sz="1168" dirty="0"/>
          </ns1:p>
        </ns0:txBody>
      </ns0:sp>
      <ns0:sp>
        <ns0:nvSpPr>
          <ns0:cNvPr id="13" name="ocr-text-p05-011"/>
          <ns0:cNvSpPr/>
          <ns0:nvPr/>
        </ns0:nvSpPr>
        <ns0:spPr>
          <ns1:xfrm>
            <ns1:off x="7477506" y="2715006"/>
            <ns1:ext cx="1394460" cy="3307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69" dirty="0">
                <ns1:solidFill>
                  <ns1:srgbClr val="000D2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审计财务与现金</ns1:t>
            </ns1:r>
            <ns1:endParaRPr lang="en-US" sz="1569" dirty="0"/>
          </ns1:p>
        </ns0:txBody>
      </ns0:sp>
      <ns0:sp>
        <ns0:nvSpPr>
          <ns0:cNvPr id="14" name="ocr-text-p05-012"/>
          <ns0:cNvSpPr/>
          <ns0:nvPr/>
        </ns0:nvSpPr>
        <ns0:spPr>
          <ns1:xfrm>
            <ns1:off x="3400806" y="2753106"/>
            <ns1:ext cx="1017270" cy="1813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046" dirty="0">
                <ns1:solidFill>
                  <ns1:srgbClr val="050F2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正式融资与</ns1:t>
            </ns1:r>
            <ns1:endParaRPr lang="en-US" sz="1046" dirty="0"/>
          </ns1:p>
        </ns0:txBody>
      </ns0:sp>
      <ns0:sp>
        <ns0:nvSpPr>
          <ns0:cNvPr id="15" name="ocr-text-p05-013"/>
          <ns0:cNvSpPr/>
          <ns0:nvPr/>
        </ns0:nvSpPr>
        <ns0:spPr>
          <ns1:xfrm>
            <ns1:off x="1257681" y="2915031"/>
            <ns1:ext cx="2148840" cy="34137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781" dirty="0">
                <ns1:solidFill>
                  <ns1:srgbClr val="04162C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FDE、 视频与算法优化</ns1:t>
            </ns1:r>
            <ns1:endParaRPr lang="en-US" sz="1781" dirty="0"/>
          </ns1:p>
        </ns0:txBody>
      </ns0:sp>
      <ns0:sp>
        <ns0:nvSpPr>
          <ns0:cNvPr id="16" name="ocr-text-p05-014"/>
          <ns0:cNvSpPr/>
          <ns0:nvPr/>
        </ns0:nvSpPr>
        <ns0:spPr>
          <ns1:xfrm>
            <ns1:off x="9820656" y="2943606"/>
            <ns1:ext cx="1943100" cy="34137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649" dirty="0">
                <ns1:solidFill>
                  <ns1:srgbClr val="04142B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订单 、 验收 、 回款与</ns1:t>
            </ns1:r>
            <ns1:endParaRPr lang="en-US" sz="1649" dirty="0"/>
          </ns1:p>
        </ns0:txBody>
      </ns0:sp>
      <ns0:sp>
        <ns0:nvSpPr>
          <ns0:cNvPr id="17" name="ocr-text-p05-015"/>
          <ns0:cNvSpPr/>
          <ns0:nvPr/>
        </ns0:nvSpPr>
        <ns0:spPr>
          <ns1:xfrm>
            <ns1:off x="3572256" y="2972181"/>
            <ns1:ext cx="868680" cy="3307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710" dirty="0">
                <ns1:solidFill>
                  <ns1:srgbClr val="000D2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交易条款</ns1:t>
            </ns1:r>
            <ns1:endParaRPr lang="en-US" sz="1710" dirty="0"/>
          </ns1:p>
        </ns0:txBody>
      </ns0:sp>
      <ns0:sp>
        <ns0:nvSpPr>
          <ns0:cNvPr id="18" name="ocr-text-p05-016"/>
          <ns0:cNvSpPr/>
          <ns0:nvPr/>
        </ns0:nvSpPr>
        <ns0:spPr>
          <ns1:xfrm>
            <ns1:off x="5239131" y="3010281"/>
            <ns1:ext cx="1725930" cy="4480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265" b="1" dirty="0">
                <ns1:solidFill>
                  <ns1:srgbClr val="010F26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交易是否成立</ns1:t>
            </ns1:r>
            <ns1:endParaRPr lang="en-US" sz="2265" dirty="0"/>
          </ns1:p>
        </ns0:txBody>
      </ns0:sp>
      <ns0:sp>
        <ns0:nvSpPr>
          <ns0:cNvPr id="19" name="ocr-text-p05-017"/>
          <ns0:cNvSpPr/>
          <ns0:nvPr/>
        </ns0:nvSpPr>
        <ns0:spPr>
          <ns1:xfrm>
            <ns1:off x="9820656" y="3229356"/>
            <ns1:ext cx="1725930" cy="3520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699" dirty="0">
                <ns1:solidFill>
                  <ns1:srgbClr val="04142B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财务底稿尚未穿透</ns1:t>
            </ns1:r>
            <ns1:endParaRPr lang="en-US" sz="1699" dirty="0"/>
          </ns1:p>
        </ns0:txBody>
      </ns0:sp>
      <ns0:sp>
        <ns0:nvSpPr>
          <ns0:cNvPr id="20" name="ocr-text-p05-018"/>
          <ns0:cNvSpPr/>
          <ns0:nvPr/>
        </ns0:nvSpPr>
        <ns0:spPr>
          <ns1:xfrm>
            <ns1:off x="1248156" y="3238881"/>
            <ns1:ext cx="1680210" cy="19202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107" dirty="0">
                <ns1:solidFill>
                  <ns1:srgbClr val="06182F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均出现商业化信号</ns1:t>
            </ns1:r>
            <ns1:endParaRPr lang="en-US" sz="1107" dirty="0"/>
          </ns1:p>
        </ns0:txBody>
      </ns0:sp>
      <ns0:sp>
        <ns0:nvSpPr>
          <ns0:cNvPr id="21" name="ocr-text-p05-019"/>
          <ns0:cNvSpPr/>
          <ns0:nvPr/>
        </ns0:nvSpPr>
        <ns0:spPr>
          <ns1:xfrm>
            <ns1:off x="4372356" y="3896106"/>
            <ns1:ext cx="297180" cy="2026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168" dirty="0">
                <ns1:solidFill>
                  <ns1:srgbClr val="010E28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04</ns1:t>
            </ns1:r>
            <ns1:endParaRPr lang="en-US" sz="1168" dirty="0"/>
          </ns1:p>
        </ns0:txBody>
      </ns0:sp>
      <ns0:sp>
        <ns0:nvSpPr>
          <ns0:cNvPr id="22" name="ocr-text-p05-020"/>
          <ns0:cNvSpPr/>
          <ns0:nvPr/>
        </ns0:nvSpPr>
        <ns0:spPr>
          <ns1:xfrm>
            <ns1:off x="7220331" y="3915156"/>
            <ns1:ext cx="285750" cy="2026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168" dirty="0">
                <ns1:solidFill>
                  <ns1:srgbClr val="010E26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03</ns1:t>
            </ns1:r>
            <ns1:endParaRPr lang="en-US" sz="1168" dirty="0"/>
          </ns1:p>
        </ns0:txBody>
      </ns0:sp>
      <ns0:sp>
        <ns0:nvSpPr>
          <ns0:cNvPr id="23" name="ocr-text-p05-021"/>
          <ns0:cNvSpPr/>
          <ns0:nvPr/>
        </ns0:nvSpPr>
        <ns0:spPr>
          <ns1:xfrm>
            <ns1:off x="790956" y="3943731"/>
            <ns1:ext cx="2651760" cy="39471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919" b="1" dirty="0">
                <ns1:solidFill>
                  <ns1:srgbClr val="04152D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B 技术材料显示算法优化</ns1:t>
            </ns1:r>
            <ns1:endParaRPr lang="en-US" sz="1919" dirty="0"/>
          </ns1:p>
        </ns0:txBody>
      </ns0:sp>
      <ns0:sp>
        <ns0:nvSpPr>
          <ns0:cNvPr id="24" name="ocr-text-p05-022"/>
          <ns0:cNvSpPr/>
          <ns0:nvPr/>
        </ns0:nvSpPr>
        <ns0:spPr>
          <ns1:xfrm>
            <ns1:off x="9820656" y="3943731"/>
            <ns1:ext cx="2011680" cy="3520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760" dirty="0">
                <ns1:solidFill>
                  <ns1:srgbClr val="04142B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融资和估值口径存在</ns1:t>
            </ns1:r>
            <ns1:endParaRPr lang="en-US" sz="1760" dirty="0"/>
          </ns1:p>
        </ns0:txBody>
      </ns0:sp>
      <ns0:sp>
        <ns0:nvSpPr>
          <ns0:cNvPr id="25" name="ocr-text-p05-023"/>
          <ns0:cNvSpPr/>
          <ns0:nvPr/>
        </ns0:nvSpPr>
        <ns0:spPr>
          <ns1:xfrm>
            <ns1:off x="3448431" y="4200906"/>
            <ns1:ext cx="1405890" cy="2133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230" dirty="0">
                <ns1:solidFill>
                  <ns1:srgbClr val="020E2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04 知识产权与</ns1:t>
            </ns1:r>
            <ns1:endParaRPr lang="en-US" sz="1230" dirty="0"/>
          </ns1:p>
        </ns0:txBody>
      </ns0:sp>
      <ns0:sp>
        <ns0:nvSpPr>
          <ns0:cNvPr id="26" name="ocr-text-p05-024"/>
          <ns0:cNvSpPr/>
          <ns0:nvPr/>
        </ns0:nvSpPr>
        <ns0:spPr>
          <ns1:xfrm>
            <ns1:off x="7210806" y="4210431"/>
            <ns1:ext cx="1543050" cy="3627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736" dirty="0">
                <ns1:solidFill>
                  <ns1:srgbClr val="000D2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合同验收与回款</ns1:t>
            </ns1:r>
            <ns1:endParaRPr lang="en-US" sz="1736" dirty="0"/>
          </ns1:p>
        </ns0:txBody>
      </ns0:sp>
      <ns0:sp>
        <ns0:nvSpPr>
          <ns0:cNvPr id="27" name="ocr-text-p05-025"/>
          <ns0:cNvSpPr/>
          <ns0:nvPr/>
        </ns0:nvSpPr>
        <ns0:spPr>
          <ns1:xfrm>
            <ns1:off x="1248156" y="4219956"/>
            <ns1:ext cx="2171700" cy="34137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55" dirty="0">
                <ns1:solidFill>
                  <ns1:srgbClr val="04152D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能力具备进一步核实价值</ns1:t>
            </ns1:r>
            <ns1:endParaRPr lang="en-US" sz="1555" dirty="0"/>
          </ns1:p>
        </ns0:txBody>
      </ns0:sp>
      <ns0:sp>
        <ns0:nvSpPr>
          <ns0:cNvPr id="28" name="ocr-text-p05-026"/>
          <ns0:cNvSpPr/>
          <ns0:nvPr/>
        </ns0:nvSpPr>
        <ns0:spPr>
          <ns1:xfrm>
            <ns1:off x="9820656" y="4229481"/>
            <ns1:ext cx="1074420" cy="34137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692" dirty="0">
                <ns1:solidFill>
                  <ns1:srgbClr val="04142B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数量级冲突</ns1:t>
            </ns1:r>
            <ns1:endParaRPr lang="en-US" sz="1692" dirty="0"/>
          </ns1:p>
        </ns0:txBody>
      </ns0:sp>
      <ns0:sp>
        <ns0:nvSpPr>
          <ns0:cNvPr id="29" name="ocr-text-p05-027"/>
          <ns0:cNvSpPr/>
          <ns0:nvPr/>
        </ns0:nvSpPr>
        <ns0:spPr>
          <ns1:xfrm>
            <ns1:off x="3934206" y="4429506"/>
            <ns1:ext cx="811530" cy="34137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98" dirty="0">
                <ns1:solidFill>
                  <ns1:srgbClr val="010D2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资产归属</ns1:t>
            </ns1:r>
            <ns1:endParaRPr lang="en-US" sz="1598" dirty="0"/>
          </ns1:p>
        </ns0:txBody>
      </ns0:sp>
      <ns0:sp>
        <ns0:nvSpPr>
          <ns0:cNvPr id="30" name="ocr-text-p05-028"/>
          <ns0:cNvSpPr/>
          <ns0:nvPr/>
        </ns0:nvSpPr>
        <ns0:spPr>
          <ns1:xfrm>
            <ns1:off x="1000506" y="5220081"/>
            <ns1:ext cx="11191494" cy="8641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800" dirty="0">
                <ns1:solidFill>
                  <ns1:srgbClr val="021735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结论 : 五项关键事实明确前 ， 不对估值和投资金额作确定性判断</ns1:t>
            </ns1:r>
            <ns1:endParaRPr lang="en-US" sz="2800" dirty="0"/>
          </ns1:p>
        </ns0:txBody>
      </ns0:sp>
      <ns0:sp>
        <ns0:nvSpPr>
          <ns0:cNvPr id="31" name="ocr-text-p05-029"/>
          <ns0:cNvSpPr/>
          <ns0:nvPr/>
        </ns0:nvSpPr>
        <ns0:spPr>
          <ns1:xfrm>
            <ns1:off x="295656" y="5267706"/>
            <ns1:ext cx="11823192" cy="60807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500" b="1" dirty="0">
                <ns1:solidFill>
                  <ns1:srgbClr val="021636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|</ns1:t>
            </ns1:r>
            <ns1:endParaRPr lang="en-US" sz="500" dirty="0"/>
          </ns1:p>
        </ns0:txBody>
      </ns0:sp>
      <ns0:sp>
        <ns0:nvSpPr>
          <ns0:cNvPr id="32" name="ocr-text-p05-030"/>
          <ns0:cNvSpPr/>
          <ns0:nvPr/>
        </ns0:nvSpPr>
        <ns0:spPr>
          <ns1:xfrm>
            <ns1:off x="11668506" y="5877306"/>
            <ns1:ext cx="160020" cy="1066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500" dirty="0">
                <ns1:solidFill>
                  <ns1:srgbClr val="02163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_4</ns1:t>
            </ns1:r>
            <ns1:endParaRPr lang="en-US" sz="500" dirty="0"/>
          </ns1:p>
        </ns0:txBody>
      </ns0:sp>
      <ns0:sp>
        <ns0:nvSpPr>
          <ns0:cNvPr id="33" name="ocr-text-p05-031"/>
          <ns0:cNvSpPr/>
          <ns0:nvPr/>
        </ns0:nvSpPr>
        <ns0:spPr>
          <ns1:xfrm>
            <ns1:off x="343281" y="5915406"/>
            <ns1:ext cx="114300" cy="1066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500" dirty="0">
                <ns1:solidFill>
                  <ns1:srgbClr val="02143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=</ns1:t>
            </ns1:r>
            <ns1:endParaRPr lang="en-US" sz="500" dirty="0"/>
          </ns1:p>
        </ns0:txBody>
      </ns0:sp>
      <ns0:sp>
        <ns0:nvSpPr>
          <ns0:cNvPr id="34" name="ocr-text-p05-032"/>
          <ns0:cNvSpPr/>
          <ns0:nvPr/>
        </ns0:nvSpPr>
        <ns0:spPr>
          <ns1:xfrm>
            <ns1:off x="543306" y="6172581"/>
            <ns1:ext cx="5955030" cy="5013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788" dirty="0">
                <ns1:solidFill>
                  <ns1:srgbClr val="000D2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[WO 责任声明 : 本材料仅供内部审议 ， 不构成最终投资决策</ns1:t>
            </ns1:r>
            <ns1:endParaRPr lang="en-US" sz="1788" dirty="0"/>
          </ns1:p>
        </ns0:txBody>
      </ns0:sp>
      <ns0:sp>
        <ns0:nvSpPr>
          <ns0:cNvPr id="35" name="ocr-text-p05-033"/>
          <ns0:cNvSpPr/>
          <ns0:nvPr/>
        </ns0:nvSpPr>
        <ns0:spPr>
          <ns1:xfrm>
            <ns1:off x="6734556" y="6182106"/>
            <ns1:ext cx="5457444" cy="4800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796" dirty="0">
                <ns1:solidFill>
                  <ns1:srgbClr val="000D2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[2) 来源 : 公司官网 、 项目会议纪要 、 投资中台项目记录</ns1:t>
            </ns1:r>
            <ns1:endParaRPr lang="en-US" sz="1796" dirty="0"/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Cybernaut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PDF template converted to editable PPTX</dc:subject>
  <dc:creator>Cybernaut</dc:creator>
  <cp:lastModifiedBy>Cybernaut</cp:lastModifiedBy>
  <cp:revision>1</cp:revision>
  <dcterms:created xsi:type="dcterms:W3CDTF">2026-08-06T07:35:17Z</dcterms:created>
  <dcterms:modified xsi:type="dcterms:W3CDTF">2026-08-06T07:35:17Z</dcterms:modified>
</cp:coreProperties>
</file>