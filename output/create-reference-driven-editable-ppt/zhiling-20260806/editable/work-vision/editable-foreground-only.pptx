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用户提供的原始 PDF：/Users/lh/Documents/cybernaut-dist/output/create-reference-driven-editable-ppt/zhiling-20260806/bridge/智灵动力_投资建议书_图片桥接.pdf（第 1 页）
- 背景由原页清除文字后生成；文字、图标、图形、图表和表格按可编辑对象重建。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用户提供的原始 PDF：/Users/lh/Documents/cybernaut-dist/output/create-reference-driven-editable-ppt/zhiling-20260806/bridge/智灵动力_投资建议书_图片桥接.pdf（第 2 页）
- 背景由原页清除文字后生成；文字、图标、图形、图表和表格按可编辑对象重建。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用户提供的原始 PDF：/Users/lh/Documents/cybernaut-dist/output/create-reference-driven-editable-ppt/zhiling-20260806/bridge/智灵动力_投资建议书_图片桥接.pdf（第 3 页）
- 背景由原页清除文字后生成；文字、图标、图形、图表和表格按可编辑对象重建。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用户提供的原始 PDF：/Users/lh/Documents/cybernaut-dist/output/create-reference-driven-editable-ppt/zhiling-20260806/bridge/智灵动力_投资建议书_图片桥接.pdf（第 4 页）
- 背景由原页清除文字后生成；文字、图标、图形、图表和表格按可编辑对象重建。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用户提供的原始 PDF：/Users/lh/Documents/cybernaut-dist/output/create-reference-driven-editable-ppt/zhiling-20260806/bridge/智灵动力_投资建议书_图片桥接.pdf（第 5 页）
- 背景由原页清除文字后生成；文字、图标、图形、图表和表格按可编辑对象重建。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2" Type="http://schemas.openxmlformats.org/officeDocument/2006/relationships/slideLayout" Target="../slideLayouts/slideLayout1.xml" /><ns0:Relationship Id="rId3" Type="http://schemas.openxmlformats.org/officeDocument/2006/relationships/notesSlide" Target="../notesSlides/notesSlide1.xml" /></ns0:Relationships>
</file>

<file path=ppt/slides/_rels/slide2.xml.rels><?xml version='1.0' encoding='utf-8'?>
<ns0:Relationships xmlns:ns0="http://schemas.openxmlformats.org/package/2006/relationships"><ns0:Relationship Id="rId2" Type="http://schemas.openxmlformats.org/officeDocument/2006/relationships/slideLayout" Target="../slideLayouts/slideLayout1.xml" /><ns0:Relationship Id="rId3" Type="http://schemas.openxmlformats.org/officeDocument/2006/relationships/notesSlide" Target="../notesSlides/notesSlide2.xml" /></ns0:Relationships>
</file>

<file path=ppt/slides/_rels/slide3.xml.rels><?xml version='1.0' encoding='utf-8'?>
<ns0:Relationships xmlns:ns0="http://schemas.openxmlformats.org/package/2006/relationships"><ns0:Relationship Id="rId2" Type="http://schemas.openxmlformats.org/officeDocument/2006/relationships/slideLayout" Target="../slideLayouts/slideLayout1.xml" /><ns0:Relationship Id="rId3" Type="http://schemas.openxmlformats.org/officeDocument/2006/relationships/notesSlide" Target="../notesSlides/notesSlide3.xml" /></ns0:Relationships>
</file>

<file path=ppt/slides/_rels/slide4.xml.rels><?xml version='1.0' encoding='utf-8'?>
<ns0:Relationships xmlns:ns0="http://schemas.openxmlformats.org/package/2006/relationships"><ns0:Relationship Id="rId2" Type="http://schemas.openxmlformats.org/officeDocument/2006/relationships/slideLayout" Target="../slideLayouts/slideLayout1.xml" /><ns0:Relationship Id="rId3" Type="http://schemas.openxmlformats.org/officeDocument/2006/relationships/notesSlide" Target="../notesSlides/notesSlide4.xml" /></ns0:Relationships>
</file>

<file path=ppt/slides/_rels/slide5.xml.rels><?xml version='1.0' encoding='utf-8'?>
<ns0:Relationships xmlns:ns0="http://schemas.openxmlformats.org/package/2006/relationships"><ns0:Relationship Id="rId2" Type="http://schemas.openxmlformats.org/officeDocument/2006/relationships/slideLayout" Target="../slideLayouts/slideLayout1.xml" /><ns0:Relationship Id="rId3" Type="http://schemas.openxmlformats.org/officeDocument/2006/relationships/notesSlide" Target="../notesSlides/notesSlide5.xml" /></ns0:Relationships>
</file>

<file path=ppt/slides/slide1.xml><?xml version="1.0" encoding="utf-8"?>
<ns0:sld xmlns:ns0="http://schemas.openxmlformats.org/presentationml/2006/main" xmlns:ns1="http://schemas.openxmlformats.org/drawingml/2006/main">
  <ns0:cSld name="Slide 1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3" name="ocr-text-p01-001"/>
          <ns0:cNvSpPr/>
          <ns0:nvPr/>
        </ns0:nvSpPr>
        <ns0:spPr>
          <ns1:xfrm>
            <ns1:off x="771906" y="1914906"/>
            <ns1:ext cx="11346942" cy="981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7393" b="1" dirty="0">
                <ns1:solidFill>
                  <ns1:srgbClr val="000C25"/>
                </ns1:solidFill>
                <ns1:latin typeface="Songti SC" pitchFamily="34" charset="0"/>
                <ns1:ea typeface="Songti SC" pitchFamily="34" charset="-122"/>
                <ns1:cs typeface="Songti SC" pitchFamily="34" charset="-120"/>
              </ns1:rPr>
              <ns1:t>智灵动力投资建议书</ns1:t>
            </ns1:r>
            <ns1:endParaRPr lang="en-US" sz="7393" dirty="0"/>
          </ns1:p>
        </ns0:txBody>
      </ns0:sp>
      <ns0:sp>
        <ns0:nvSpPr>
          <ns0:cNvPr id="4" name="ocr-text-p01-002"/>
          <ns0:cNvSpPr/>
          <ns0:nvPr/>
        </ns0:nvSpPr>
        <ns0:spPr>
          <ns1:xfrm>
            <ns1:off x="829056" y="3286506"/>
            <ns1:ext cx="6835140" cy="4693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2706" b="1" dirty="0">
                <ns1:solidFill>
                  <ns1:srgbClr val="010C25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智灵动力（北京）科技有限公司</ns1:t>
            </ns1:r>
            <ns1:endParaRPr lang="en-US" sz="2706" dirty="0"/>
          </ns1:p>
        </ns0:txBody>
      </ns0:sp>
      <ns0:sp>
        <ns0:nvSpPr>
          <ns0:cNvPr id="5" name="ocr-text-p01-003"/>
          <ns0:cNvSpPr/>
          <ns0:nvPr/>
        </ns0:nvSpPr>
        <ns0:spPr>
          <ns1:xfrm>
            <ns1:off x="848106" y="3915156"/>
            <ns1:ext cx="6103620" cy="34137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968" dirty="0">
                <ns1:solidFill>
                  <ns1:srgbClr val="000C25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从产品能力、商业验证到交易可行性的五页判断</ns1:t>
            </ns1:r>
            <ns1:endParaRPr lang="en-US" sz="1968" dirty="0"/>
          </ns1:p>
        </ns0:txBody>
      </ns0:sp>
      <ns0:sp>
        <ns0:nvSpPr>
          <ns0:cNvPr id="6" name="ocr-text-p01-004"/>
          <ns0:cNvSpPr/>
          <ns0:nvPr/>
        </ns0:nvSpPr>
        <ns0:spPr>
          <ns1:xfrm>
            <ns1:off x="829056" y="6010656"/>
            <ns1:ext cx="2446020" cy="2133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230" dirty="0">
                <ns1:solidFill>
                  <ns1:srgbClr val="010C25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内部讨论稿｜ 2026年8月</ns1:t>
            </ns1:r>
            <ns1:endParaRPr lang="en-US" sz="1230" dirty="0"/>
          </ns1:p>
        </ns0:txBody>
      </ns0:sp>
    </ns0:spTree>
  </ns0:cSld>
  <ns0:clrMapOvr>
    <ns1:masterClrMapping/>
  </ns0:clrMapOvr>
</ns0:sld>
</file>

<file path=ppt/slides/slide2.xml><?xml version="1.0" encoding="utf-8"?>
<ns0:sld xmlns:ns0="http://schemas.openxmlformats.org/presentationml/2006/main" xmlns:ns1="http://schemas.openxmlformats.org/drawingml/2006/main">
  <ns0:cSld name="Slide 2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3" name="ocr-text-p02-001"/>
          <ns0:cNvSpPr/>
          <ns0:nvPr/>
        </ns0:nvSpPr>
        <ns0:spPr>
          <ns1:xfrm>
            <ns1:off x="276606" y="238506"/>
            <ns1:ext cx="11842242" cy="4480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2686" b="1" dirty="0">
                <ns1:solidFill>
                  <ns1:srgbClr val="154FB1"/>
                </ns1:solidFill>
                <ns1:latin typeface="Songti SC" pitchFamily="34" charset="0"/>
                <ns1:ea typeface="Songti SC" pitchFamily="34" charset="-122"/>
                <ns1:cs typeface="Songti SC" pitchFamily="34" charset="-120"/>
              </ns1:rPr>
              <ns1:t>01</ns1:t>
            </ns1:r>
            <ns1:endParaRPr lang="en-US" sz="2686" dirty="0"/>
          </ns1:p>
        </ns0:txBody>
      </ns0:sp>
      <ns0:sp>
        <ns0:nvSpPr>
          <ns0:cNvPr id="4" name="ocr-text-p02-002"/>
          <ns0:cNvSpPr/>
          <ns0:nvPr/>
        </ns0:nvSpPr>
        <ns0:spPr>
          <ns1:xfrm>
            <ns1:off x="1095756" y="238506"/>
            <ns1:ext cx="11023092" cy="57607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3454" b="1" dirty="0">
                <ns1:solidFill>
                  <ns1:srgbClr val="000B22"/>
                </ns1:solidFill>
                <ns1:latin typeface="Songti SC" pitchFamily="34" charset="0"/>
                <ns1:ea typeface="Songti SC" pitchFamily="34" charset="-122"/>
                <ns1:cs typeface="Songti SC" pitchFamily="34" charset="-120"/>
              </ns1:rPr>
              <ns1:t>公司已形成三条产品线，但底层技术与业务归属仍需核实</ns1:t>
            </ns1:r>
            <ns1:endParaRPr lang="en-US" sz="3454" dirty="0"/>
          </ns1:p>
        </ns0:txBody>
      </ns0:sp>
      <ns0:sp>
        <ns0:nvSpPr>
          <ns0:cNvPr id="5" name="ocr-text-p02-003"/>
          <ns0:cNvSpPr/>
          <ns0:nvPr/>
        </ns0:nvSpPr>
        <ns0:spPr>
          <ns1:xfrm>
            <ns1:off x="4124706" y="943356"/>
            <ns1:ext cx="7994142" cy="29870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791" b="1" dirty="0">
                <ns1:solidFill>
                  <ns1:srgbClr val="010C23"/>
                </ns1:solidFill>
                <ns1:latin typeface="Songti SC" pitchFamily="34" charset="0"/>
                <ns1:ea typeface="Songti SC" pitchFamily="34" charset="-122"/>
                <ns1:cs typeface="Songti SC" pitchFamily="34" charset="-120"/>
              </ns1:rPr>
              <ns1:t>官方定位：科创研究与文创视听智能体</ns1:t>
            </ns1:r>
            <ns1:endParaRPr lang="en-US" sz="1791" dirty="0"/>
          </ns1:p>
        </ns0:txBody>
      </ns0:sp>
      <ns0:sp>
        <ns0:nvSpPr>
          <ns0:cNvPr id="6" name="ocr-text-p02-004"/>
          <ns0:cNvSpPr/>
          <ns0:nvPr/>
        </ns0:nvSpPr>
        <ns0:spPr>
          <ns1:xfrm>
            <ns1:off x="1742695" y="1606548"/>
            <ns1:ext cx="1693466" cy="34934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2014" b="1" dirty="0">
                <ns1:solidFill>
                  <ns1:srgbClr val="00163E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行业智能体</ns1:t>
            </ns1:r>
            <ns1:endParaRPr lang="en-US" sz="2014" dirty="0"/>
          </ns1:p>
        </ns0:txBody>
      </ns0:sp>
      <ns0:sp>
        <ns0:nvSpPr>
          <ns0:cNvPr id="7" name="ocr-text-p02-005"/>
          <ns0:cNvSpPr/>
          <ns0:nvPr/>
        </ns0:nvSpPr>
        <ns0:spPr>
          <ns1:xfrm>
            <ns1:off x="1038606" y="2257806"/>
            <ns1:ext cx="180594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476" dirty="0">
                <ns1:solidFill>
                  <ns1:srgbClr val="091E45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研究报告智能体</ns1:t>
            </ns1:r>
            <ns1:endParaRPr lang="en-US" sz="1476" dirty="0"/>
          </ns1:p>
        </ns0:txBody>
      </ns0:sp>
      <ns0:sp>
        <ns0:nvSpPr>
          <ns0:cNvPr id="8" name="ocr-text-p02-006"/>
          <ns0:cNvSpPr/>
          <ns0:nvPr/>
        </ns0:nvSpPr>
        <ns0:spPr>
          <ns1:xfrm>
            <ns1:off x="1038377" y="2656831"/>
            <ns1:ext cx="1120690" cy="236993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366" dirty="0">
                <ns1:solidFill>
                  <ns1:srgbClr val="081E44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企业 FDE</ns1:t>
            </ns1:r>
            <ns1:endParaRPr lang="en-US" sz="1366" dirty="0"/>
          </ns1:p>
        </ns0:txBody>
      </ns0:sp>
      <ns0:sp>
        <ns0:nvSpPr>
          <ns0:cNvPr id="9" name="ocr-text-p02-007"/>
          <ns0:cNvSpPr/>
          <ns0:nvPr/>
        </ns0:nvSpPr>
        <ns0:spPr>
          <ns1:xfrm>
            <ns1:off x="1057656" y="3057906"/>
            <ns1:ext cx="1965960" cy="2133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230" dirty="0">
                <ns1:solidFill>
                  <ns1:srgbClr val="081E44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AI-AutoResearch</ns1:t>
            </ns1:r>
            <ns1:endParaRPr lang="en-US" sz="1230" dirty="0"/>
          </ns1:p>
        </ns0:txBody>
      </ns0:sp>
      <ns0:sp>
        <ns0:nvSpPr>
          <ns0:cNvPr id="10" name="ocr-text-p02-008"/>
          <ns0:cNvSpPr/>
          <ns0:nvPr/>
        </ns0:nvSpPr>
        <ns0:spPr>
          <ns1:xfrm>
            <ns1:off x="5838562" y="1607714"/>
            <ns1:ext cx="1350285" cy="346733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999" b="1" dirty="0">
                <ns1:solidFill>
                  <ns1:srgbClr val="01163E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文创视听</ns1:t>
            </ns1:r>
            <ns1:endParaRPr lang="en-US" sz="1999" dirty="0"/>
          </ns1:p>
        </ns0:txBody>
      </ns0:sp>
      <ns0:sp>
        <ns0:nvSpPr>
          <ns0:cNvPr id="11" name="ocr-text-p02-009"/>
          <ns0:cNvSpPr/>
          <ns0:nvPr/>
        </ns0:nvSpPr>
        <ns0:spPr>
          <ns1:xfrm>
            <ns1:off x="4981513" y="2255851"/>
            <ns1:ext cx="1304082" cy="2817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624" dirty="0">
                <ns1:solidFill>
                  <ns1:srgbClr val="081E45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视频智能体</ns1:t>
            </ns1:r>
            <ns1:endParaRPr lang="en-US" sz="1624" dirty="0"/>
          </ns1:p>
        </ns0:txBody>
      </ns0:sp>
      <ns0:sp>
        <ns0:nvSpPr>
          <ns0:cNvPr id="12" name="ocr-text-p02-010"/>
          <ns0:cNvSpPr/>
          <ns0:nvPr/>
        </ns0:nvSpPr>
        <ns0:spPr>
          <ns1:xfrm>
            <ns1:off x="4981675" y="2637466"/>
            <ns1:ext cx="1303693" cy="25903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493" dirty="0">
                <ns1:solidFill>
                  <ns1:srgbClr val="081E45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剧幕智能体</ns1:t>
            </ns1:r>
            <ns1:endParaRPr lang="en-US" sz="1493" dirty="0"/>
          </ns1:p>
        </ns0:txBody>
      </ns0:sp>
      <ns0:sp>
        <ns0:nvSpPr>
          <ns0:cNvPr id="13" name="ocr-text-p02-011"/>
          <ns0:cNvSpPr/>
          <ns0:nvPr/>
        </ns0:nvSpPr>
        <ns0:spPr>
          <ns1:xfrm>
            <ns1:off x="4981956" y="3019806"/>
            <ns1:ext cx="1554480" cy="2773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599" dirty="0">
                <ns1:solidFill>
                  <ns1:srgbClr val="081E45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数字人智能体</ns1:t>
            </ns1:r>
            <ns1:endParaRPr lang="en-US" sz="1599" dirty="0"/>
          </ns1:p>
        </ns0:txBody>
      </ns0:sp>
      <ns0:sp>
        <ns0:nvSpPr>
          <ns0:cNvPr id="14" name="ocr-text-p02-012"/>
          <ns0:cNvSpPr/>
          <ns0:nvPr/>
        </ns0:nvSpPr>
        <ns0:spPr>
          <ns1:xfrm>
            <ns1:off x="4543806" y="3457956"/>
            <ns1:ext cx="3383280" cy="29870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722" dirty="0">
                <ns1:solidFill>
                  <ns1:srgbClr val="010C24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三层技术体系（管理层口径）</ns1:t>
            </ns1:r>
            <ns1:endParaRPr lang="en-US" sz="1722" dirty="0"/>
          </ns1:p>
        </ns0:txBody>
      </ns0:sp>
      <ns0:sp>
        <ns0:nvSpPr>
          <ns0:cNvPr id="15" name="ocr-text-p02-013"/>
          <ns0:cNvSpPr/>
          <ns0:nvPr/>
        </ns0:nvSpPr>
        <ns0:spPr>
          <ns1:xfrm>
            <ns1:off x="5362215" y="3891995"/>
            <ns1:ext cx="1624838" cy="286577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652" dirty="0">
                <ns1:solidFill>
                  <ns1:srgbClr val="12274F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自进化大模型</ns1:t>
            </ns1:r>
            <ns1:endParaRPr lang="en-US" sz="1652" dirty="0"/>
          </ns1:p>
        </ns0:txBody>
      </ns0:sp>
      <ns0:sp>
        <ns0:nvSpPr>
          <ns0:cNvPr id="16" name="ocr-text-p02-014"/>
          <ns0:cNvSpPr/>
          <ns0:nvPr/>
        </ns0:nvSpPr>
        <ns0:spPr>
          <ns1:xfrm>
            <ns1:off x="5267706" y="4524756"/>
            <ns1:ext cx="1851660" cy="2773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599" dirty="0">
                <ns1:solidFill>
                  <ns1:srgbClr val="0E244C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自进化 AI 框架</ns1:t>
            </ns1:r>
            <ns1:endParaRPr lang="en-US" sz="1599" dirty="0"/>
          </ns1:p>
        </ns0:txBody>
      </ns0:sp>
      <ns0:sp>
        <ns0:nvSpPr>
          <ns0:cNvPr id="17" name="ocr-text-p02-015"/>
          <ns0:cNvSpPr/>
          <ns0:nvPr/>
        </ns0:nvSpPr>
        <ns0:spPr>
          <ns1:xfrm>
            <ns1:off x="5210556" y="5134356"/>
            <ns1:ext cx="2034540" cy="29870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722" dirty="0">
                <ns1:solidFill>
                  <ns1:srgbClr val="051737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自进化算法优化</ns1:t>
            </ns1:r>
            <ns1:endParaRPr lang="en-US" sz="1722" dirty="0"/>
          </ns1:p>
        </ns0:txBody>
      </ns0:sp>
      <ns0:sp>
        <ns0:nvSpPr>
          <ns0:cNvPr id="18" name="ocr-text-p02-016"/>
          <ns0:cNvSpPr/>
          <ns0:nvPr/>
        </ns0:nvSpPr>
        <ns0:spPr>
          <ns1:xfrm>
            <ns1:off x="9458706" y="1610106"/>
            <ns1:ext cx="1371600" cy="34137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968" b="1" dirty="0">
                <ns1:solidFill>
                  <ns1:srgbClr val="00163E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算法优化</ns1:t>
            </ns1:r>
            <ns1:endParaRPr lang="en-US" sz="1968" dirty="0"/>
          </ns1:p>
        </ns0:txBody>
      </ns0:sp>
      <ns0:sp>
        <ns0:nvSpPr>
          <ns0:cNvPr id="19" name="ocr-text-p02-017"/>
          <ns0:cNvSpPr/>
          <ns0:nvPr/>
        </ns0:nvSpPr>
        <ns0:spPr>
          <ns1:xfrm>
            <ns1:off x="8772199" y="2255225"/>
            <ns1:ext cx="1076117" cy="283149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632" dirty="0">
                <ns1:solidFill>
                  <ns1:srgbClr val="081E44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算法工厂</ns1:t>
            </ns1:r>
            <ns1:endParaRPr lang="en-US" sz="1632" dirty="0"/>
          </ns1:p>
        </ns0:txBody>
      </ns0:sp>
      <ns0:sp>
        <ns0:nvSpPr>
          <ns0:cNvPr id="20" name="ocr-text-p02-018"/>
          <ns0:cNvSpPr/>
          <ns0:nvPr/>
        </ns0:nvSpPr>
        <ns0:spPr>
          <ns1:xfrm>
            <ns1:off x="8715756" y="2638806"/>
            <ns1:ext cx="187452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476" dirty="0">
                <ns1:solidFill>
                  <ns1:srgbClr val="081E44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自进化算法优化</ns1:t>
            </ns1:r>
            <ns1:endParaRPr lang="en-US" sz="1476" dirty="0"/>
          </ns1:p>
        </ns0:txBody>
      </ns0:sp>
      <ns0:sp>
        <ns0:nvSpPr>
          <ns0:cNvPr id="21" name="ocr-text-p02-019"/>
          <ns0:cNvSpPr/>
          <ns0:nvPr/>
        </ns0:nvSpPr>
        <ns0:spPr>
          <ns1:xfrm>
            <ns1:off x="8772906" y="3038856"/>
            <ns1:ext cx="2400300" cy="2773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599" dirty="0">
                <ns1:solidFill>
                  <ns1:srgbClr val="081E44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VEQPy 可选求解扩展</ns1:t>
            </ns1:r>
            <ns1:endParaRPr lang="en-US" sz="1599" dirty="0"/>
          </ns1:p>
        </ns0:txBody>
      </ns0:sp>
      <ns0:sp>
        <ns0:nvSpPr>
          <ns0:cNvPr id="22" name="ocr-text-p02-020"/>
          <ns0:cNvSpPr/>
          <ns0:nvPr/>
        </ns0:nvSpPr>
        <ns0:spPr>
          <ns1:xfrm>
            <ns1:off x="1189676" y="5776890"/>
            <ns1:ext cx="11002324" cy="44255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2551" dirty="0">
                <ns1:solidFill>
                  <ns1:srgbClr val="11182D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关键判断：产品矩阵可核对，技术权属、测试结果与业务资产归属仍需专项核实</ns1:t>
            </ns1:r>
            <ns1:endParaRPr lang="en-US" sz="2551" dirty="0"/>
          </ns1:p>
        </ns0:txBody>
      </ns0:sp>
      <ns0:sp>
        <ns0:nvSpPr>
          <ns0:cNvPr id="23" name="ocr-text-p02-021"/>
          <ns0:cNvSpPr/>
          <ns0:nvPr/>
        </ns0:nvSpPr>
        <ns0:spPr>
          <ns1:xfrm>
            <ns1:off x="181356" y="6525006"/>
            <ns1:ext cx="6080760" cy="2773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599" dirty="0">
                <ns1:solidFill>
                  <ns1:srgbClr val="000C24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来源：公司官网、华为云、项目会议纪要、算法工厂技术材料</ns1:t>
            </ns1:r>
            <ns1:endParaRPr lang="en-US" sz="1599" dirty="0"/>
          </ns1:p>
        </ns0:txBody>
      </ns0:sp>
    </ns0:spTree>
  </ns0:cSld>
  <ns0:clrMapOvr>
    <ns1:masterClrMapping/>
  </ns0:clrMapOvr>
</ns0:sld>
</file>

<file path=ppt/slides/slide3.xml><?xml version="1.0" encoding="utf-8"?>
<ns0:sld xmlns:ns0="http://schemas.openxmlformats.org/presentationml/2006/main" xmlns:ns1="http://schemas.openxmlformats.org/drawingml/2006/main">
  <ns0:cSld name="Slide 3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3" name="ocr-text-p03-001"/>
          <ns0:cNvSpPr/>
          <ns0:nvPr/>
        </ns0:nvSpPr>
        <ns0:spPr>
          <ns1:xfrm>
            <ns1:off x="238506" y="238506"/>
            <ns1:ext cx="11880342" cy="51206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3070" b="1" dirty="0">
                <ns1:solidFill>
                  <ns1:srgbClr val="000E24"/>
                </ns1:solidFill>
                <ns1:latin typeface="Songti SC" pitchFamily="34" charset="0"/>
                <ns1:ea typeface="Songti SC" pitchFamily="34" charset="-122"/>
                <ns1:cs typeface="Songti SC" pitchFamily="34" charset="-120"/>
              </ns1:rPr>
              <ns1:t>02</ns1:t>
            </ns1:r>
            <ns1:endParaRPr lang="en-US" sz="3070" dirty="0"/>
          </ns1:p>
        </ns0:txBody>
      </ns0:sp>
      <ns0:sp>
        <ns0:nvSpPr>
          <ns0:cNvPr id="4" name="ocr-text-p03-002"/>
          <ns0:cNvSpPr/>
          <ns0:nvPr/>
        </ns0:nvSpPr>
        <ns0:spPr>
          <ns1:xfrm>
            <ns1:off x="1208632" y="267229"/>
            <ns1:ext cx="10910216" cy="5757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3452" b="1" dirty="0">
                <ns1:solidFill>
                  <ns1:srgbClr val="000E23"/>
                </ns1:solidFill>
                <ns1:latin typeface="Songti SC" pitchFamily="34" charset="0"/>
                <ns1:ea typeface="Songti SC" pitchFamily="34" charset="-122"/>
                <ns1:cs typeface="Songti SC" pitchFamily="34" charset="-120"/>
              </ns1:rPr>
              <ns1:t>商业化信号已出现，</ns1:t>
            </ns1:r>
            <ns1:endParaRPr lang="en-US" sz="3452" dirty="0"/>
          </ns1:p>
        </ns0:txBody>
      </ns0:sp>
      <ns0:sp>
        <ns0:nvSpPr>
          <ns0:cNvPr id="5" name="ocr-text-p03-003"/>
          <ns0:cNvSpPr/>
          <ns0:nvPr/>
        </ns0:nvSpPr>
        <ns0:spPr>
          <ns1:xfrm>
            <ns1:off x="4562856" y="257556"/>
            <ns1:ext cx="7555992" cy="5334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3198" b="1" dirty="0">
                <ns1:solidFill>
                  <ns1:srgbClr val="000E23"/>
                </ns1:solidFill>
                <ns1:latin typeface="Songti SC" pitchFamily="34" charset="0"/>
                <ns1:ea typeface="Songti SC" pitchFamily="34" charset="-122"/>
                <ns1:cs typeface="Songti SC" pitchFamily="34" charset="-120"/>
              </ns1:rPr>
              <ns1:t>但合同、验收与回款仍需穿透核实</ns1:t>
            </ns1:r>
            <ns1:endParaRPr lang="en-US" sz="3198" dirty="0"/>
          </ns1:p>
        </ns0:txBody>
      </ns0:sp>
      <ns0:sp>
        <ns0:nvSpPr>
          <ns0:cNvPr id="6" name="ocr-text-p03-004"/>
          <ns0:cNvSpPr/>
          <ns0:nvPr/>
        </ns0:nvSpPr>
        <ns0:spPr>
          <ns1:xfrm>
            <ns1:off x="581406" y="1991106"/>
            <ns1:ext cx="571500" cy="2773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599" dirty="0">
                <ns1:solidFill>
                  <ns1:srgbClr val="17345E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接洽</ns1:t>
            </ns1:r>
            <ns1:endParaRPr lang="en-US" sz="1599" dirty="0"/>
          </ns1:p>
        </ns0:txBody>
      </ns0:sp>
      <ns0:sp>
        <ns0:nvSpPr>
          <ns0:cNvPr id="7" name="ocr-text-p03-005"/>
          <ns0:cNvSpPr/>
          <ns0:nvPr/>
        </ns0:nvSpPr>
        <ns0:spPr>
          <ns1:xfrm>
            <ns1:off x="1819656" y="2010156"/>
            <ns1:ext cx="77724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476" dirty="0">
                <ns1:solidFill>
                  <ns1:srgbClr val="17345E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Demo</ns1:t>
            </ns1:r>
            <ns1:endParaRPr lang="en-US" sz="1476" dirty="0"/>
          </ns1:p>
        </ns0:txBody>
      </ns0:sp>
      <ns0:sp>
        <ns0:nvSpPr>
          <ns0:cNvPr id="8" name="ocr-text-p03-006"/>
          <ns0:cNvSpPr/>
          <ns0:nvPr/>
        </ns0:nvSpPr>
        <ns0:spPr>
          <ns1:xfrm>
            <ns1:off x="3248406" y="1991106"/>
            <ns1:ext cx="571500" cy="2773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599" dirty="0">
                <ns1:solidFill>
                  <ns1:srgbClr val="17345E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合同</ns1:t>
            </ns1:r>
            <ns1:endParaRPr lang="en-US" sz="1599" dirty="0"/>
          </ns1:p>
        </ns0:txBody>
      </ns0:sp>
      <ns0:sp>
        <ns0:nvSpPr>
          <ns0:cNvPr id="9" name="ocr-text-p03-007"/>
          <ns0:cNvSpPr/>
          <ns0:nvPr/>
        </ns0:nvSpPr>
        <ns0:spPr>
          <ns1:xfrm>
            <ns1:off x="4486656" y="1991106"/>
            <ns1:ext cx="594360" cy="29870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722" dirty="0">
                <ns1:solidFill>
                  <ns1:srgbClr val="17345E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交付</ns1:t>
            </ns1:r>
            <ns1:endParaRPr lang="en-US" sz="1722" dirty="0"/>
          </ns1:p>
        </ns0:txBody>
      </ns0:sp>
      <ns0:sp>
        <ns0:nvSpPr>
          <ns0:cNvPr id="10" name="ocr-text-p03-008"/>
          <ns0:cNvSpPr/>
          <ns0:nvPr/>
        </ns0:nvSpPr>
        <ns0:spPr>
          <ns1:xfrm>
            <ns1:off x="5705856" y="1991106"/>
            <ns1:ext cx="594360" cy="29870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722" dirty="0">
                <ns1:solidFill>
                  <ns1:srgbClr val="17345E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验收</ns1:t>
            </ns1:r>
            <ns1:endParaRPr lang="en-US" sz="1722" dirty="0"/>
          </ns1:p>
        </ns0:txBody>
      </ns0:sp>
      <ns0:sp>
        <ns0:nvSpPr>
          <ns0:cNvPr id="11" name="ocr-text-p03-009"/>
          <ns0:cNvSpPr/>
          <ns0:nvPr/>
        </ns0:nvSpPr>
        <ns0:spPr>
          <ns1:xfrm>
            <ns1:off x="6944106" y="1991106"/>
            <ns1:ext cx="594360" cy="29870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722" dirty="0">
                <ns1:solidFill>
                  <ns1:srgbClr val="17345E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回款</ns1:t>
            </ns1:r>
            <ns1:endParaRPr lang="en-US" sz="1722" dirty="0"/>
          </ns1:p>
        </ns0:txBody>
      </ns0:sp>
      <ns0:sp>
        <ns0:nvSpPr>
          <ns0:cNvPr id="12" name="ocr-text-p03-010"/>
          <ns0:cNvSpPr/>
          <ns0:nvPr/>
        </ns0:nvSpPr>
        <ns0:spPr>
          <ns1:xfrm>
            <ns1:off x="695706" y="3248406"/>
            <ns1:ext cx="3611880" cy="29870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722" dirty="0">
                <ns1:solidFill>
                  <ns1:srgbClr val="051932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FDE｜ 2026年5月启动商业化</ns1:t>
            </ns1:r>
            <ns1:endParaRPr lang="en-US" sz="1722" dirty="0"/>
          </ns1:p>
        </ns0:txBody>
      </ns0:sp>
      <ns0:sp>
        <ns0:nvSpPr>
          <ns0:cNvPr id="13" name="ocr-text-p03-011"/>
          <ns0:cNvSpPr/>
          <ns0:nvPr/>
        </ns0:nvSpPr>
        <ns0:spPr>
          <ns1:xfrm>
            <ns1:off x="657606" y="3705606"/>
            <ns1:ext cx="4023360" cy="2773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599" dirty="0">
                <ns1:solidFill>
                  <ns1:srgbClr val="041832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• 集鑫：60万元，流程推进中，已完成Demo</ns1:t>
            </ns1:r>
            <ns1:endParaRPr lang="en-US" sz="1599" dirty="0"/>
          </ns1:p>
        </ns0:txBody>
      </ns0:sp>
      <ns0:sp>
        <ns0:nvSpPr>
          <ns0:cNvPr id="14" name="ocr-text-p03-012"/>
          <ns0:cNvSpPr/>
          <ns0:nvPr/>
        </ns0:nvSpPr>
        <ns0:spPr>
          <ns1:xfrm>
            <ns1:off x="657606" y="4048506"/>
            <ns1:ext cx="4251960" cy="2773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599" dirty="0">
                <ns1:solidFill>
                  <ns1:srgbClr val="031731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• 广博股份、海程邦达：单客潜在规模约200万元</ns1:t>
            </ns1:r>
            <ns1:endParaRPr lang="en-US" sz="1599" dirty="0"/>
          </ns1:p>
        </ns0:txBody>
      </ns0:sp>
      <ns0:sp>
        <ns0:nvSpPr>
          <ns0:cNvPr id="15" name="ocr-text-p03-013"/>
          <ns0:cNvSpPr/>
          <ns0:nvPr/>
        </ns0:nvSpPr>
        <ns0:spPr>
          <ns1:xfrm>
            <ns1:off x="657606" y="4410456"/>
            <ns1:ext cx="3909060" cy="2773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599" dirty="0">
                <ns1:solidFill>
                  <ns1:srgbClr val="031731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• 济南病虫害：沟通规模1000万-2000万元</ns1:t>
            </ns1:r>
            <ns1:endParaRPr lang="en-US" sz="1599" dirty="0"/>
          </ns1:p>
        </ns0:txBody>
      </ns0:sp>
      <ns0:sp>
        <ns0:nvSpPr>
          <ns0:cNvPr id="16" name="ocr-text-p03-014"/>
          <ns0:cNvSpPr/>
          <ns0:nvPr/>
        </ns0:nvSpPr>
        <ns0:spPr>
          <ns1:xfrm>
            <ns1:off x="5039106" y="3229356"/>
            <ns1:ext cx="2400300" cy="34137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968" b="1" dirty="0">
                <ns1:solidFill>
                  <ns1:srgbClr val="041831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算法优化｜在谈项目</ns1:t>
            </ns1:r>
            <ns1:endParaRPr lang="en-US" sz="1968" dirty="0"/>
          </ns1:p>
        </ns0:txBody>
      </ns0:sp>
      <ns0:sp>
        <ns0:nvSpPr>
          <ns0:cNvPr id="17" name="ocr-text-p03-015"/>
          <ns0:cNvSpPr/>
          <ns0:nvPr/>
        </ns0:nvSpPr>
        <ns0:spPr>
          <ns1:xfrm>
            <ns1:off x="5020056" y="3686556"/>
            <ns1:ext cx="226314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476" dirty="0">
                <ns1:solidFill>
                  <ns1:srgbClr val="041831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• 成泰科技：约180万元</ns1:t>
            </ns1:r>
            <ns1:endParaRPr lang="en-US" sz="1476" dirty="0"/>
          </ns1:p>
        </ns0:txBody>
      </ns0:sp>
      <ns0:sp>
        <ns0:nvSpPr>
          <ns0:cNvPr id="18" name="ocr-text-p03-016"/>
          <ns0:cNvSpPr/>
          <ns0:nvPr/>
        </ns0:nvSpPr>
        <ns0:spPr>
          <ns1:xfrm>
            <ns1:off x="5001006" y="4067556"/>
            <ns1:ext cx="249174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476" dirty="0">
                <ns1:solidFill>
                  <ns1:srgbClr val="02162F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• 华为超聚变：约180万元</ns1:t>
            </ns1:r>
            <ns1:endParaRPr lang="en-US" sz="1476" dirty="0"/>
          </ns1:p>
        </ns0:txBody>
      </ns0:sp>
      <ns0:sp>
        <ns0:nvSpPr>
          <ns0:cNvPr id="19" name="ocr-text-p03-017"/>
          <ns0:cNvSpPr/>
          <ns0:nvPr/>
        </ns0:nvSpPr>
        <ns0:spPr>
          <ns1:xfrm>
            <ns1:off x="5001006" y="4410456"/>
            <ns1:ext cx="2308860" cy="2773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599" dirty="0">
                <ns1:solidFill>
                  <ns1:srgbClr val="021630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• 首个商业签单仍待确认</ns1:t>
            </ns1:r>
            <ns1:endParaRPr lang="en-US" sz="1599" dirty="0"/>
          </ns1:p>
        </ns0:txBody>
      </ns0:sp>
      <ns0:sp>
        <ns0:nvSpPr>
          <ns0:cNvPr id="20" name="ocr-text-p03-018"/>
          <ns0:cNvSpPr/>
          <ns0:nvPr/>
        </ns0:nvSpPr>
        <ns0:spPr>
          <ns1:xfrm>
            <ns1:off x="8333035" y="1943957"/>
            <ns1:ext cx="2473011" cy="46832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2700" b="1" dirty="0">
                <ns1:solidFill>
                  <ns1:srgbClr val="041935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5000分钟/20天</ns1:t>
            </ns1:r>
            <ns1:endParaRPr lang="en-US" sz="2700" dirty="0"/>
          </ns1:p>
        </ns0:txBody>
      </ns0:sp>
      <ns0:sp>
        <ns0:nvSpPr>
          <ns0:cNvPr id="21" name="ocr-text-p03-019"/>
          <ns0:cNvSpPr/>
          <ns0:nvPr/>
        </ns0:nvSpPr>
        <ns0:spPr>
          <ns1:xfrm>
            <ns1:off x="10695645" y="2042480"/>
            <ns1:ext cx="1283307" cy="29030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674" dirty="0">
                <ns1:solidFill>
                  <ns1:srgbClr val="031730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当前交付节奏</ns1:t>
            </ns1:r>
            <ns1:endParaRPr lang="en-US" sz="1674" dirty="0"/>
          </ns1:p>
        </ns0:txBody>
      </ns0:sp>
      <ns0:sp>
        <ns0:nvSpPr>
          <ns0:cNvPr id="22" name="ocr-text-p03-020"/>
          <ns0:cNvSpPr/>
          <ns0:nvPr/>
        </ns0:nvSpPr>
        <ns0:spPr>
          <ns1:xfrm>
            <ns1:off x="8315706" y="2676906"/>
            <ns1:ext cx="2034540" cy="4693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2706" b="1" dirty="0">
                <ns1:solidFill>
                  <ns1:srgbClr val="031731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10000分钟</ns1:t>
            </ns1:r>
            <ns1:endParaRPr lang="en-US" sz="2706" dirty="0"/>
          </ns1:p>
        </ns0:txBody>
      </ns0:sp>
      <ns0:sp>
        <ns0:nvSpPr>
          <ns0:cNvPr id="23" name="ocr-text-p03-021"/>
          <ns0:cNvSpPr/>
          <ns0:nvPr/>
        </ns0:nvSpPr>
        <ns0:spPr>
          <ns1:xfrm>
            <ns1:off x="10695593" y="2785866"/>
            <ns1:ext cx="1054830" cy="26799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545" dirty="0">
                <ns1:solidFill>
                  <ns1:srgbClr val="03152E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下一轮计划</ns1:t>
            </ns1:r>
            <ns1:endParaRPr lang="en-US" sz="1545" dirty="0"/>
          </ns1:p>
        </ns0:txBody>
      </ns0:sp>
      <ns0:sp>
        <ns0:nvSpPr>
          <ns0:cNvPr id="24" name="ocr-text-p03-022"/>
          <ns0:cNvSpPr/>
          <ns0:nvPr/>
        </ns0:nvSpPr>
        <ns0:spPr>
          <ns1:xfrm>
            <ns1:off x="8333938" y="3416481"/>
            <ns1:ext cx="1967922" cy="45561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2627" b="1" dirty="0">
                <ns1:solidFill>
                  <ns1:srgbClr val="02162E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500元/分钟</ns1:t>
            </ns1:r>
            <ns1:endParaRPr lang="en-US" sz="2627" dirty="0"/>
          </ns1:p>
        </ns0:txBody>
      </ns0:sp>
      <ns0:sp>
        <ns0:nvSpPr>
          <ns0:cNvPr id="25" name="ocr-text-p03-023"/>
          <ns0:cNvSpPr/>
          <ns0:nvPr/>
        </ns0:nvSpPr>
        <ns0:spPr>
          <ns1:xfrm>
            <ns1:off x="10677906" y="3534156"/>
            <ns1:ext cx="66294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476" dirty="0">
                <ns1:solidFill>
                  <ns1:srgbClr val="02142C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制作费</ns1:t>
            </ns1:r>
            <ns1:endParaRPr lang="en-US" sz="1476" dirty="0"/>
          </ns1:p>
        </ns0:txBody>
      </ns0:sp>
      <ns0:sp>
        <ns0:nvSpPr>
          <ns0:cNvPr id="26" name="ocr-text-p03-024"/>
          <ns0:cNvSpPr/>
          <ns0:nvPr/>
        </ns0:nvSpPr>
        <ns0:spPr>
          <ns1:xfrm>
            <ns1:off x="8334756" y="4143756"/>
            <ns1:ext cx="1965960" cy="4693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2706" b="1" dirty="0">
                <ns1:solidFill>
                  <ns1:srgbClr val="01142C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330元/分钟</ns1:t>
            </ns1:r>
            <ns1:endParaRPr lang="en-US" sz="2706" dirty="0"/>
          </ns1:p>
        </ns0:txBody>
      </ns0:sp>
      <ns0:sp>
        <ns0:nvSpPr>
          <ns0:cNvPr id="27" name="ocr-text-p03-025"/>
          <ns0:cNvSpPr/>
          <ns0:nvPr/>
        </ns0:nvSpPr>
        <ns0:spPr>
          <ns1:xfrm>
            <ns1:off x="10696956" y="4258056"/>
            <ns1:ext cx="84582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476" dirty="0">
                <ns1:solidFill>
                  <ns1:srgbClr val="02132B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当前成本</ns1:t>
            </ns1:r>
            <ns1:endParaRPr lang="en-US" sz="1476" dirty="0"/>
          </ns1:p>
        </ns0:txBody>
      </ns0:sp>
      <ns0:sp>
        <ns0:nvSpPr>
          <ns0:cNvPr id="28" name="ocr-text-p03-026"/>
          <ns0:cNvSpPr/>
          <ns0:nvPr/>
        </ns0:nvSpPr>
        <ns0:spPr>
          <ns1:xfrm>
            <ns1:off x="9363456" y="4810506"/>
            <ns1:ext cx="2194560" cy="29870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722" dirty="0">
                <ns1:solidFill>
                  <ns1:srgbClr val="021226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Q3目标150元/分钟</ns1:t>
            </ns1:r>
            <ns1:endParaRPr lang="en-US" sz="1722" dirty="0"/>
          </ns1:p>
        </ns0:txBody>
      </ns0:sp>
      <ns0:sp>
        <ns0:nvSpPr>
          <ns0:cNvPr id="29" name="ocr-text-p03-027"/>
          <ns0:cNvSpPr/>
          <ns0:nvPr/>
        </ns0:nvSpPr>
        <ns0:spPr>
          <ns1:xfrm>
            <ns1:off x="8239506" y="5343906"/>
            <ns1:ext cx="3952494" cy="2346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353" dirty="0">
                <ns1:solidFill>
                  <ns1:srgbClr val="011229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状态说明：以上订单、单价、成本与目标均为管理层口径</ns1:t>
            </ns1:r>
            <ns1:endParaRPr lang="en-US" sz="1353" dirty="0"/>
          </ns1:p>
        </ns0:txBody>
      </ns0:sp>
      <ns0:sp>
        <ns0:nvSpPr>
          <ns0:cNvPr id="30" name="ocr-text-p03-028"/>
          <ns0:cNvSpPr/>
          <ns0:nvPr/>
        </ns0:nvSpPr>
        <ns0:spPr>
          <ns1:xfrm>
            <ns1:off x="1362456" y="5896356"/>
            <ns1:ext cx="9761220" cy="4267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2460" dirty="0">
                <ns1:solidFill>
                  <ns1:srgbClr val="17345E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投资影响：合同、验收、开票、回款与毛利底稿决定商业化质量</ns1:t>
            </ns1:r>
            <ns1:endParaRPr lang="en-US" sz="2460" dirty="0"/>
          </ns1:p>
        </ns0:txBody>
      </ns0:sp>
      <ns0:sp>
        <ns0:nvSpPr>
          <ns0:cNvPr id="31" name="ocr-text-p03-029"/>
          <ns0:cNvSpPr/>
          <ns0:nvPr/>
        </ns0:nvSpPr>
        <ns0:spPr>
          <ns1:xfrm>
            <ns1:off x="695706" y="6486906"/>
            <ns1:ext cx="3497580" cy="2346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353" dirty="0">
                <ns1:solidFill>
                  <ns1:srgbClr val="020F23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来源：2026年6月30日项目会议纪要</ns1:t>
            </ns1:r>
            <ns1:endParaRPr lang="en-US" sz="1353" dirty="0"/>
          </ns1:p>
        </ns0:txBody>
      </ns0:sp>
    </ns0:spTree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>
  <ns0:cSld name="Slide 4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3" name="ocr-text-p04-001"/>
          <ns0:cNvSpPr/>
          <ns0:nvPr/>
        </ns0:nvSpPr>
        <ns0:spPr>
          <ns1:xfrm>
            <ns1:off x="257556" y="333756"/>
            <ns1:ext cx="11861292" cy="4480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2686" b="1" dirty="0">
                <ns1:solidFill>
                  <ns1:srgbClr val="17345E"/>
                </ns1:solidFill>
                <ns1:latin typeface="Songti SC" pitchFamily="34" charset="0"/>
                <ns1:ea typeface="Songti SC" pitchFamily="34" charset="-122"/>
                <ns1:cs typeface="Songti SC" pitchFamily="34" charset="-120"/>
              </ns1:rPr>
              <ns1:t>03</ns1:t>
            </ns1:r>
            <ns1:endParaRPr lang="en-US" sz="2686" dirty="0"/>
          </ns1:p>
        </ns0:txBody>
      </ns0:sp>
      <ns0:sp>
        <ns0:nvSpPr>
          <ns0:cNvPr id="4" name="ocr-text-p04-002"/>
          <ns0:cNvSpPr/>
          <ns0:nvPr/>
        </ns0:nvSpPr>
        <ns0:spPr>
          <ns1:xfrm>
            <ns1:off x="1267206" y="314706"/>
            <ns1:ext cx="10851642" cy="51206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3070" b="1" dirty="0">
                <ns1:solidFill>
                  <ns1:srgbClr val="000B20"/>
                </ns1:solidFill>
                <ns1:latin typeface="Songti SC" pitchFamily="34" charset="0"/>
                <ns1:ea typeface="Songti SC" pitchFamily="34" charset="-122"/>
                <ns1:cs typeface="Songti SC" pitchFamily="34" charset="-120"/>
              </ns1:rPr>
              <ns1:t>高人力成本叠加交易口径冲突，现金流安全边界尚不清晰</ns1:t>
            </ns1:r>
            <ns1:endParaRPr lang="en-US" sz="3070" dirty="0"/>
          </ns1:p>
        </ns0:txBody>
      </ns0:sp>
      <ns0:sp>
        <ns0:nvSpPr>
          <ns0:cNvPr id="5" name="ocr-text-p04-003"/>
          <ns0:cNvSpPr/>
          <ns0:nvPr/>
        </ns0:nvSpPr>
        <ns0:spPr>
          <ns1:xfrm>
            <ns1:off x="1305306" y="1286256"/>
            <ns1:ext cx="1165860" cy="4267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2460" b="1" dirty="0">
                <ns1:solidFill>
                  <ns1:srgbClr val="051832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138人</ns1:t>
            </ns1:r>
            <ns1:endParaRPr lang="en-US" sz="2460" dirty="0"/>
          </ns1:p>
        </ns0:txBody>
      </ns0:sp>
      <ns0:sp>
        <ns0:nvSpPr>
          <ns0:cNvPr id="6" name="ocr-text-p04-004"/>
          <ns0:cNvSpPr/>
          <ns0:nvPr/>
        </ns0:nvSpPr>
        <ns0:spPr>
          <ns1:xfrm>
            <ns1:off x="1285838" y="1760289"/>
            <ns1:ext cx="1441184" cy="260999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505" dirty="0">
                <ns1:solidFill>
                  <ns1:srgbClr val="051832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当前人员规模</ns1:t>
            </ns1:r>
            <ns1:endParaRPr lang="en-US" sz="1505" dirty="0"/>
          </ns1:p>
        </ns0:txBody>
      </ns0:sp>
      <ns0:sp>
        <ns0:nvSpPr>
          <ns0:cNvPr id="7" name="ocr-text-p04-005"/>
          <ns0:cNvSpPr/>
          <ns0:nvPr/>
        </ns0:nvSpPr>
        <ns0:spPr>
          <ns1:xfrm>
            <ns1:off x="962406" y="2429256"/>
            <ns1:ext cx="3863340" cy="3200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845" b="1" dirty="0">
                <ns1:solidFill>
                  <ns1:srgbClr val="041934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现金流安排（管理层口径）</ns1:t>
            </ns1:r>
            <ns1:endParaRPr lang="en-US" sz="1845" dirty="0"/>
          </ns1:p>
        </ns0:txBody>
      </ns0:sp>
      <ns0:sp>
        <ns0:nvSpPr>
          <ns0:cNvPr id="8" name="ocr-text-p04-006"/>
          <ns0:cNvSpPr/>
          <ns0:nvPr/>
        </ns0:nvSpPr>
        <ns0:spPr>
          <ns1:xfrm>
            <ns1:off x="1457706" y="3134106"/>
            <ns1:ext cx="292608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476" dirty="0">
                <ns1:solidFill>
                  <ns1:srgbClr val="051932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老股东拟提供1000万元借款</ns1:t>
            </ns1:r>
            <ns1:endParaRPr lang="en-US" sz="1476" dirty="0"/>
          </ns1:p>
        </ns0:txBody>
      </ns0:sp>
      <ns0:sp>
        <ns0:nvSpPr>
          <ns0:cNvPr id="9" name="ocr-text-p04-007"/>
          <ns0:cNvSpPr/>
          <ns0:nvPr/>
        </ns0:nvSpPr>
        <ns0:spPr>
          <ns1:xfrm>
            <ns1:off x="1457706" y="3800856"/>
            <ns1:ext cx="3314700" cy="2773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599" dirty="0">
                <ns1:solidFill>
                  <ns1:srgbClr val="051933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管理层称可覆盖约半年现金需求</ns1:t>
            </ns1:r>
            <ns1:endParaRPr lang="en-US" sz="1599" dirty="0"/>
          </ns1:p>
        </ns0:txBody>
      </ns0:sp>
      <ns0:sp>
        <ns0:nvSpPr>
          <ns0:cNvPr id="10" name="ocr-text-p04-008"/>
          <ns0:cNvSpPr/>
          <ns0:nvPr/>
        </ns0:nvSpPr>
        <ns0:spPr>
          <ns1:xfrm>
            <ns1:off x="1457706" y="4524756"/>
            <ns1:ext cx="4023360" cy="2773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599" dirty="0">
                <ns1:solidFill>
                  <ns1:srgbClr val="051933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借款协议、期限、利率与提款条件尚待核实</ns1:t>
            </ns1:r>
            <ns1:endParaRPr lang="en-US" sz="1599" dirty="0"/>
          </ns1:p>
        </ns0:txBody>
      </ns0:sp>
      <ns0:sp>
        <ns0:nvSpPr>
          <ns0:cNvPr id="11" name="ocr-text-p04-009"/>
          <ns0:cNvSpPr/>
          <ns0:nvPr/>
        </ns0:nvSpPr>
        <ns0:spPr>
          <ns1:xfrm>
            <ns1:off x="4200906" y="1305306"/>
            <ns1:ext cx="1965960" cy="3840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2214" b="1" dirty="0">
                <ns1:solidFill>
                  <ns1:srgbClr val="051831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约200万元/月</ns1:t>
            </ns1:r>
            <ns1:endParaRPr lang="en-US" sz="2214" dirty="0"/>
          </ns1:p>
        </ns0:txBody>
      </ns0:sp>
      <ns0:sp>
        <ns0:nvSpPr>
          <ns0:cNvPr id="12" name="ocr-text-p04-010"/>
          <ns0:cNvSpPr/>
          <ns0:nvPr/>
        </ns0:nvSpPr>
        <ns0:spPr>
          <ns1:xfrm>
            <ns1:off x="4219956" y="1762506"/>
            <ns1:ext cx="146304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476" dirty="0">
                <ns1:solidFill>
                  <ns1:srgbClr val="051832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基础人力成本</ns1:t>
            </ns1:r>
            <ns1:endParaRPr lang="en-US" sz="1476" dirty="0"/>
          </ns1:p>
        </ns0:txBody>
      </ns0:sp>
      <ns0:sp>
        <ns0:nvSpPr>
          <ns0:cNvPr id="13" name="ocr-text-p04-011"/>
          <ns0:cNvSpPr/>
          <ns0:nvPr/>
        </ns0:nvSpPr>
        <ns0:spPr>
          <ns1:xfrm>
            <ns1:off x="5820156" y="3038856"/>
            <ns1:ext cx="52578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476" dirty="0">
                <ns1:solidFill>
                  <ns1:srgbClr val="0D2747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来源</ns1:t>
            </ns1:r>
            <ns1:endParaRPr lang="en-US" sz="1476" dirty="0"/>
          </ns1:p>
        </ns0:txBody>
      </ns0:sp>
      <ns0:sp>
        <ns0:nvSpPr>
          <ns0:cNvPr id="14" name="ocr-text-p04-012"/>
          <ns0:cNvSpPr/>
          <ns0:nvPr/>
        </ns0:nvSpPr>
        <ns0:spPr>
          <ns1:xfrm>
            <ns1:off x="5628977" y="3493601"/>
            <ns1:ext cx="984608" cy="2615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508" dirty="0">
                <ns1:solidFill>
                  <ns1:srgbClr val="03132A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项目记录</ns1:t>
            </ns1:r>
            <ns1:endParaRPr lang="en-US" sz="1508" dirty="0"/>
          </ns1:p>
        </ns0:txBody>
      </ns0:sp>
      <ns0:sp>
        <ns0:nvSpPr>
          <ns0:cNvPr id="15" name="ocr-text-p04-013"/>
          <ns0:cNvSpPr/>
          <ns0:nvPr/>
        </ns0:nvSpPr>
        <ns0:spPr>
          <ns1:xfrm>
            <ns1:off x="5628978" y="3912702"/>
            <ns1:ext cx="984607" cy="261529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508" dirty="0">
                <ns1:solidFill>
                  <ns1:srgbClr val="03142B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会议口径</ns1:t>
            </ns1:r>
            <ns1:endParaRPr lang="en-US" sz="1508" dirty="0"/>
          </ns1:p>
        </ns0:txBody>
      </ns0:sp>
      <ns0:sp>
        <ns0:nvSpPr>
          <ns0:cNvPr id="16" name="ocr-text-p04-014"/>
          <ns0:cNvSpPr/>
          <ns0:nvPr/>
        </ns0:nvSpPr>
        <ns0:spPr>
          <ns1:xfrm>
            <ns1:off x="7038168" y="1299203"/>
            <ns1:ext cx="2197412" cy="41905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2416" b="1" dirty="0">
                <ns1:solidFill>
                  <ns1:srgbClr val="051831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约2400万元/年</ns1:t>
            </ns1:r>
            <ns1:endParaRPr lang="en-US" sz="2416" dirty="0"/>
          </ns1:p>
        </ns0:txBody>
      </ns0:sp>
      <ns0:sp>
        <ns0:nvSpPr>
          <ns0:cNvPr id="17" name="ocr-text-p04-015"/>
          <ns0:cNvSpPr/>
          <ns0:nvPr/>
        </ns0:nvSpPr>
        <ns0:spPr>
          <ns1:xfrm>
            <ns1:off x="7058406" y="1762506"/>
            <ns1:ext cx="146304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476" dirty="0">
                <ns1:solidFill>
                  <ns1:srgbClr val="051832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年度人力成本</ns1:t>
            </ns1:r>
            <ns1:endParaRPr lang="en-US" sz="1476" dirty="0"/>
          </ns1:p>
        </ns0:txBody>
      </ns0:sp>
      <ns0:sp>
        <ns0:nvSpPr>
          <ns0:cNvPr id="18" name="ocr-text-p04-016"/>
          <ns0:cNvSpPr/>
          <ns0:nvPr/>
        </ns0:nvSpPr>
        <ns0:spPr>
          <ns1:xfrm>
            <ns1:off x="7363206" y="2429256"/>
            <ns1:ext cx="2103120" cy="36271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2091" b="1" dirty="0">
                <ns1:solidFill>
                  <ns1:srgbClr val="041833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交易口径冲突</ns1:t>
            </ns1:r>
            <ns1:endParaRPr lang="en-US" sz="2091" dirty="0"/>
          </ns1:p>
        </ns0:txBody>
      </ns0:sp>
      <ns0:sp>
        <ns0:nvSpPr>
          <ns0:cNvPr id="19" name="ocr-text-p04-017"/>
          <ns0:cNvSpPr/>
          <ns0:nvPr/>
        </ns0:nvSpPr>
        <ns0:spPr>
          <ns1:xfrm>
            <ns1:off x="7229856" y="3038856"/>
            <ns1:ext cx="98298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476" dirty="0">
                <ns1:solidFill>
                  <ns1:srgbClr val="0D2847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融资金额</ns1:t>
            </ns1:r>
            <ns1:endParaRPr lang="en-US" sz="1476" dirty="0"/>
          </ns1:p>
        </ns0:txBody>
      </ns0:sp>
      <ns0:sp>
        <ns0:nvSpPr>
          <ns0:cNvPr id="20" name="ocr-text-p04-018"/>
          <ns0:cNvSpPr/>
          <ns0:nvPr/>
        </ns0:nvSpPr>
        <ns0:spPr>
          <ns1:xfrm>
            <ns1:off x="7172706" y="3515106"/>
            <ns1:ext cx="1074420" cy="2346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353" dirty="0">
                <ns1:solidFill>
                  <ns1:srgbClr val="02132A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1000万元</ns1:t>
            </ns1:r>
            <ns1:endParaRPr lang="en-US" sz="1353" dirty="0"/>
          </ns1:p>
        </ns0:txBody>
      </ns0:sp>
      <ns0:sp>
        <ns0:nvSpPr>
          <ns0:cNvPr id="21" name="ocr-text-p04-019"/>
          <ns0:cNvSpPr/>
          <ns0:nvPr/>
        </ns0:nvSpPr>
        <ns0:spPr>
          <ns1:xfrm>
            <ns1:off x="7229602" y="3914373"/>
            <ns1:ext cx="915009" cy="27912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609" dirty="0">
                <ns1:solidFill>
                  <ns1:srgbClr val="03142B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约1亿元</ns1:t>
            </ns1:r>
            <ns1:endParaRPr lang="en-US" sz="1609" dirty="0"/>
          </ns1:p>
        </ns0:txBody>
      </ns0:sp>
      <ns0:sp>
        <ns0:nvSpPr>
          <ns0:cNvPr id="22" name="ocr-text-p04-020"/>
          <ns0:cNvSpPr/>
          <ns0:nvPr/>
        </ns0:nvSpPr>
        <ns0:spPr>
          <ns1:xfrm>
            <ns1:off x="10180892" y="1298513"/>
            <ns1:ext cx="1695753" cy="420601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2425" b="1" dirty="0">
                <ns1:solidFill>
                  <ns1:srgbClr val="051831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130人左右</ns1:t>
            </ns1:r>
            <ns1:endParaRPr lang="en-US" sz="2425" dirty="0"/>
          </ns1:p>
        </ns0:txBody>
      </ns0:sp>
      <ns0:sp>
        <ns0:nvSpPr>
          <ns0:cNvPr id="23" name="ocr-text-p04-021"/>
          <ns0:cNvSpPr/>
          <ns0:nvPr/>
        </ns0:nvSpPr>
        <ns0:spPr>
          <ns1:xfrm>
            <ns1:off x="10182606" y="1762506"/>
            <ns1:ext cx="121158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476" dirty="0">
                <ns1:solidFill>
                  <ns1:srgbClr val="051932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优化后计划</ns1:t>
            </ns1:r>
            <ns1:endParaRPr lang="en-US" sz="1476" dirty="0"/>
          </ns1:p>
        </ns0:txBody>
      </ns0:sp>
      <ns0:sp>
        <ns0:nvSpPr>
          <ns0:cNvPr id="24" name="ocr-text-p04-022"/>
          <ns0:cNvSpPr/>
          <ns0:nvPr/>
        </ns0:nvSpPr>
        <ns0:spPr>
          <ns1:xfrm>
            <ns1:off x="8867442" y="3036473"/>
            <ns1:ext cx="984694" cy="282707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630" dirty="0">
                <ns1:solidFill>
                  <ns1:srgbClr val="0D2747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估值口径</ns1:t>
            </ns1:r>
            <ns1:endParaRPr lang="en-US" sz="1630" dirty="0"/>
          </ns1:p>
        </ns0:txBody>
      </ns0:sp>
      <ns0:sp>
        <ns0:nvSpPr>
          <ns0:cNvPr id="25" name="ocr-text-p04-023"/>
          <ns0:cNvSpPr/>
          <ns0:nvPr/>
        </ns0:nvSpPr>
        <ns0:spPr>
          <ns1:xfrm>
            <ns1:off x="9001506" y="3496056"/>
            <ns1:ext cx="64008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476" dirty="0">
                <ns1:solidFill>
                  <ns1:srgbClr val="02132A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1亿元</ns1:t>
            </ns1:r>
            <ns1:endParaRPr lang="en-US" sz="1476" dirty="0"/>
          </ns1:p>
        </ns0:txBody>
      </ns0:sp>
      <ns0:sp>
        <ns0:nvSpPr>
          <ns0:cNvPr id="26" name="ocr-text-p04-024"/>
          <ns0:cNvSpPr/>
          <ns0:nvPr/>
        </ns0:nvSpPr>
        <ns0:spPr>
          <ns1:xfrm>
            <ns1:off x="8658606" y="3934206"/>
            <ns1:ext cx="146304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476" dirty="0">
                <ns1:solidFill>
                  <ns1:srgbClr val="03142B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10亿-15亿元</ns1:t>
            </ns1:r>
            <ns1:endParaRPr lang="en-US" sz="1476" dirty="0"/>
          </ns1:p>
        </ns0:txBody>
      </ns0:sp>
      <ns0:sp>
        <ns0:nvSpPr>
          <ns0:cNvPr id="27" name="ocr-text-p04-025"/>
          <ns0:cNvSpPr/>
          <ns0:nvPr/>
        </ns0:nvSpPr>
        <ns0:spPr>
          <ns1:xfrm>
            <ns1:off x="10487406" y="3038856"/>
            <ns1:ext cx="982980" cy="2773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599" dirty="0">
                <ns1:solidFill>
                  <ns1:srgbClr val="0D2746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核实状态</ns1:t>
            </ns1:r>
            <ns1:endParaRPr lang="en-US" sz="1599" dirty="0"/>
          </ns1:p>
        </ns0:txBody>
      </ns0:sp>
      <ns0:sp>
        <ns0:nvSpPr>
          <ns0:cNvPr id="28" name="ocr-text-p04-026"/>
          <ns0:cNvSpPr/>
          <ns0:nvPr/>
        </ns0:nvSpPr>
        <ns0:spPr>
          <ns1:xfrm>
            <ns1:off x="10485795" y="3490144"/>
            <ns1:ext cx="986845" cy="26927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552" dirty="0">
                <ns1:solidFill>
                  <ns1:srgbClr val="021328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存在冲突</ns1:t>
            </ns1:r>
            <ns1:endParaRPr lang="en-US" sz="1552" dirty="0"/>
          </ns1:p>
        </ns0:txBody>
      </ns0:sp>
      <ns0:sp>
        <ns0:nvSpPr>
          <ns0:cNvPr id="29" name="ocr-text-p04-027"/>
          <ns0:cNvSpPr/>
          <ns0:nvPr/>
        </ns0:nvSpPr>
        <ns0:spPr>
          <ns1:xfrm>
            <ns1:off x="10392156" y="3915156"/>
            <ns1:ext cx="121158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476" dirty="0">
                <ns1:solidFill>
                  <ns1:srgbClr val="03142C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管理层沟通</ns1:t>
            </ns1:r>
            <ns1:endParaRPr lang="en-US" sz="1476" dirty="0"/>
          </ns1:p>
        </ns0:txBody>
      </ns0:sp>
      <ns0:sp>
        <ns0:nvSpPr>
          <ns0:cNvPr id="30" name="ocr-text-p04-028"/>
          <ns0:cNvSpPr/>
          <ns0:nvPr/>
        </ns0:nvSpPr>
        <ns0:spPr>
          <ns1:xfrm>
            <ns1:off x="6525006" y="5039106"/>
            <ns1:ext cx="4709160" cy="3200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845" b="1" dirty="0">
                <ns1:solidFill>
                  <ns1:srgbClr val="04172E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差异达到数量级，不能直接用于交易定价</ns1:t>
            </ns1:r>
            <ns1:endParaRPr lang="en-US" sz="1845" dirty="0"/>
          </ns1:p>
        </ns0:txBody>
      </ns0:sp>
      <ns0:sp>
        <ns0:nvSpPr>
          <ns0:cNvPr id="31" name="ocr-text-p04-029"/>
          <ns0:cNvSpPr/>
          <ns0:nvPr/>
        </ns0:nvSpPr>
        <ns0:spPr>
          <ns1:xfrm>
            <ns1:off x="238506" y="6467856"/>
            <ns1:ext cx="395478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476" dirty="0">
                <ns1:solidFill>
                  <ns1:srgbClr val="000C21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来源：项目会议纪要、投资中台项目记录</ns1:t>
            </ns1:r>
            <ns1:endParaRPr lang="en-US" sz="1476" dirty="0"/>
          </ns1:p>
        </ns0:txBody>
      </ns0:sp>
      <ns0:sp>
        <ns0:nvSpPr>
          <ns0:cNvPr id="32" name="ocr-text-p04-030"/>
          <ns0:cNvSpPr/>
          <ns0:nvPr/>
        </ns0:nvSpPr>
        <ns0:spPr>
          <ns1:xfrm>
            <ns1:off x="1457706" y="5896356"/>
            <ns1:ext cx="10734294" cy="3840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2214" dirty="0">
                <ns1:solidFill>
                  <ns1:srgbClr val="081E3A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投资影响：审计财务、现金流水平和正式条款明确前，估值合理性无法判断</ns1:t>
            </ns1:r>
            <ns1:endParaRPr lang="en-US" sz="2214" dirty="0"/>
          </ns1:p>
        </ns0:txBody>
      </ns0:sp>
    </ns0:spTree>
  </ns0:cSld>
  <ns0:clrMapOvr>
    <ns1:masterClrMapping/>
  </ns0:clrMapOvr>
</ns0:sld>
</file>

<file path=ppt/slides/slide5.xml><?xml version="1.0" encoding="utf-8"?>
<ns0:sld xmlns:ns0="http://schemas.openxmlformats.org/presentationml/2006/main" xmlns:ns1="http://schemas.openxmlformats.org/drawingml/2006/main">
  <ns0:cSld name="Slide 5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3" name="ocr-text-p05-001"/>
          <ns0:cNvSpPr/>
          <ns0:nvPr/>
        </ns0:nvSpPr>
        <ns0:spPr>
          <ns1:xfrm>
            <ns1:off x="295656" y="276606"/>
            <ns1:ext cx="11823192" cy="4267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2558" b="1" dirty="0">
                <ns1:solidFill>
                  <ns1:srgbClr val="000C21"/>
                </ns1:solidFill>
                <ns1:latin typeface="Songti SC" pitchFamily="34" charset="0"/>
                <ns1:ea typeface="Songti SC" pitchFamily="34" charset="-122"/>
                <ns1:cs typeface="Songti SC" pitchFamily="34" charset="-120"/>
              </ns1:rPr>
              <ns1:t>04</ns1:t>
            </ns1:r>
            <ns1:endParaRPr lang="en-US" sz="2558" dirty="0"/>
          </ns1:p>
        </ns0:txBody>
      </ns0:sp>
      <ns0:sp>
        <ns0:nvSpPr>
          <ns0:cNvPr id="4" name="ocr-text-p05-002"/>
          <ns0:cNvSpPr/>
          <ns0:nvPr/>
        </ns0:nvSpPr>
        <ns0:spPr>
          <ns1:xfrm>
            <ns1:off x="1229106" y="295656"/>
            <ns1:ext cx="10889742" cy="5334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3198" b="1" dirty="0">
                <ns1:solidFill>
                  <ns1:srgbClr val="000C20"/>
                </ns1:solidFill>
                <ns1:latin typeface="Songti SC" pitchFamily="34" charset="0"/>
                <ns1:ea typeface="Songti SC" pitchFamily="34" charset="-122"/>
                <ns1:cs typeface="Songti SC" pitchFamily="34" charset="-120"/>
              </ns1:rPr>
              <ns1:t>暂不形成确定性投资结论，五项事实决定交易是否成立</ns1:t>
            </ns1:r>
            <ns1:endParaRPr lang="en-US" sz="3198" dirty="0"/>
          </ns1:p>
        </ns0:txBody>
      </ns0:sp>
      <ns0:sp>
        <ns0:nvSpPr>
          <ns0:cNvPr id="5" name="ocr-text-p05-003"/>
          <ns0:cNvSpPr/>
          <ns0:nvPr/>
        </ns0:nvSpPr>
        <ns0:spPr>
          <ns1:xfrm>
            <ns1:off x="1266597" y="1398276"/>
            <ns1:ext cx="1190182" cy="30381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751" dirty="0">
                <ns1:solidFill>
                  <ns1:srgbClr val="03162D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支持因素</ns1:t>
            </ns1:r>
            <ns1:endParaRPr lang="en-US" sz="1751" dirty="0"/>
          </ns1:p>
        </ns0:txBody>
      </ns0:sp>
      <ns0:sp>
        <ns0:nvSpPr>
          <ns0:cNvPr id="6" name="ocr-text-p05-004"/>
          <ns0:cNvSpPr/>
          <ns0:nvPr/>
        </ns0:nvSpPr>
        <ns0:spPr>
          <ns1:xfrm>
            <ns1:off x="1229106" y="2086356"/>
            <ns1:ext cx="1943100" cy="2346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353" dirty="0">
                <ns1:solidFill>
                  <ns1:srgbClr val="04162C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官方产品矩阵已形成</ns1:t>
            </ns1:r>
            <ns1:endParaRPr lang="en-US" sz="1353" dirty="0"/>
          </ns1:p>
        </ns0:txBody>
      </ns0:sp>
      <ns0:sp>
        <ns0:nvSpPr>
          <ns0:cNvPr id="7" name="ocr-text-p05-005"/>
          <ns0:cNvSpPr/>
          <ns0:nvPr/>
        </ns0:nvSpPr>
        <ns0:spPr>
          <ns1:xfrm>
            <ns1:off x="5763006" y="1133856"/>
            <ns1:ext cx="297180" cy="2346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353" dirty="0">
                <ns1:solidFill>
                  <ns1:srgbClr val="000C22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01</ns1:t>
            </ns1:r>
            <ns1:endParaRPr lang="en-US" sz="1353" dirty="0"/>
          </ns1:p>
        </ns0:txBody>
      </ns0:sp>
      <ns0:sp>
        <ns0:nvSpPr>
          <ns0:cNvPr id="8" name="ocr-text-p05-006"/>
          <ns0:cNvSpPr/>
          <ns0:nvPr/>
        </ns0:nvSpPr>
        <ns0:spPr>
          <ns1:xfrm>
            <ns1:off x="6334506" y="1552956"/>
            <ns1:ext cx="155448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476" dirty="0">
                <ns1:solidFill>
                  <ns1:srgbClr val="010C21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01 主体与股权</ns1:t>
            </ns1:r>
            <ns1:endParaRPr lang="en-US" sz="1476" dirty="0"/>
          </ns1:p>
        </ns0:txBody>
      </ns0:sp>
      <ns0:sp>
        <ns0:nvSpPr>
          <ns0:cNvPr id="9" name="ocr-text-p05-007"/>
          <ns0:cNvSpPr/>
          <ns0:nvPr/>
        </ns0:nvSpPr>
        <ns0:spPr>
          <ns1:xfrm>
            <ns1:off x="9820157" y="1398655"/>
            <ns1:ext cx="1212777" cy="302963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747" dirty="0">
                <ns1:solidFill>
                  <ns1:srgbClr val="041328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主要反证</ns1:t>
            </ns1:r>
            <ns1:endParaRPr lang="en-US" sz="1747" dirty="0"/>
          </ns1:p>
        </ns0:txBody>
      </ns0:sp>
      <ns0:sp>
        <ns0:nvSpPr>
          <ns0:cNvPr id="10" name="ocr-text-p05-008"/>
          <ns0:cNvSpPr/>
          <ns0:nvPr/>
        </ns0:nvSpPr>
        <ns0:spPr>
          <ns1:xfrm>
            <ns1:off x="9801606" y="1991106"/>
            <ns1:ext cx="1691640" cy="2133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230" dirty="0">
                <ns1:solidFill>
                  <ns1:srgbClr val="04142B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经营数据主要来自</ns1:t>
            </ns1:r>
            <ns1:endParaRPr lang="en-US" sz="1230" dirty="0"/>
          </ns1:p>
        </ns0:txBody>
      </ns0:sp>
      <ns0:sp>
        <ns0:nvSpPr>
          <ns0:cNvPr id="11" name="ocr-text-p05-009"/>
          <ns0:cNvSpPr/>
          <ns0:nvPr/>
        </ns0:nvSpPr>
        <ns0:spPr>
          <ns1:xfrm>
            <ns1:off x="9801090" y="2255353"/>
            <ns1:ext cx="1075657" cy="21885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262" dirty="0">
                <ns1:solidFill>
                  <ns1:srgbClr val="05152C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管理层交流</ns1:t>
            </ns1:r>
            <ns1:endParaRPr lang="en-US" sz="1262" dirty="0"/>
          </ns1:p>
        </ns0:txBody>
      </ns0:sp>
      <ns0:sp>
        <ns0:nvSpPr>
          <ns0:cNvPr id="12" name="ocr-text-p05-010"/>
          <ns0:cNvSpPr/>
          <ns0:nvPr/>
        </ns0:nvSpPr>
        <ns0:spPr>
          <ns1:xfrm>
            <ns1:off x="1229106" y="2943606"/>
            <ns1:ext cx="2171700" cy="2773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599" dirty="0">
                <ns1:solidFill>
                  <ns1:srgbClr val="04162C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FDE、视频与算法优化</ns1:t>
            </ns1:r>
            <ns1:endParaRPr lang="en-US" sz="1599" dirty="0"/>
          </ns1:p>
        </ns0:txBody>
      </ns0:sp>
      <ns0:sp>
        <ns0:nvSpPr>
          <ns0:cNvPr id="13" name="ocr-text-p05-011"/>
          <ns0:cNvSpPr/>
          <ns0:nvPr/>
        </ns0:nvSpPr>
        <ns0:spPr>
          <ns1:xfrm>
            <ns1:off x="1229106" y="3229356"/>
            <ns1:ext cx="1737360" cy="2346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353" dirty="0">
                <ns1:solidFill>
                  <ns1:srgbClr val="05172E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均出现商业化信号</ns1:t>
            </ns1:r>
            <ns1:endParaRPr lang="en-US" sz="1353" dirty="0"/>
          </ns1:p>
        </ns0:txBody>
      </ns0:sp>
      <ns0:sp>
        <ns0:nvSpPr>
          <ns0:cNvPr id="14" name="ocr-text-p05-012"/>
          <ns0:cNvSpPr/>
          <ns0:nvPr/>
        </ns0:nvSpPr>
        <ns0:spPr>
          <ns1:xfrm>
            <ns1:off x="4029456" y="2391156"/>
            <ns1:ext cx="34290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476" dirty="0">
                <ns1:solidFill>
                  <ns1:srgbClr val="000C21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05</ns1:t>
            </ns1:r>
            <ns1:endParaRPr lang="en-US" sz="1476" dirty="0"/>
          </ns1:p>
        </ns0:txBody>
      </ns0:sp>
      <ns0:sp>
        <ns0:nvSpPr>
          <ns0:cNvPr id="15" name="ocr-text-p05-013"/>
          <ns0:cNvSpPr/>
          <ns0:nvPr/>
        </ns0:nvSpPr>
        <ns0:spPr>
          <ns1:xfrm>
            <ns1:off x="3381756" y="2753106"/>
            <ns1:ext cx="1051560" cy="2133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230" dirty="0">
                <ns1:solidFill>
                  <ns1:srgbClr val="030E22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正式融资与</ns1:t>
            </ns1:r>
            <ns1:endParaRPr lang="en-US" sz="1230" dirty="0"/>
          </ns1:p>
        </ns0:txBody>
      </ns0:sp>
      <ns0:sp>
        <ns0:nvSpPr>
          <ns0:cNvPr id="16" name="ocr-text-p05-014"/>
          <ns0:cNvSpPr/>
          <ns0:nvPr/>
        </ns0:nvSpPr>
        <ns0:spPr>
          <ns1:xfrm>
            <ns1:off x="3552128" y="2978152"/>
            <ns1:ext cx="894127" cy="2639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522" dirty="0">
                <ns1:solidFill>
                  <ns1:srgbClr val="010D23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交易条款</ns1:t>
            </ns1:r>
            <ns1:endParaRPr lang="en-US" sz="1522" dirty="0"/>
          </ns1:p>
        </ns0:txBody>
      </ns0:sp>
      <ns0:sp>
        <ns0:nvSpPr>
          <ns0:cNvPr id="17" name="ocr-text-p05-015"/>
          <ns0:cNvSpPr/>
          <ns0:nvPr/>
        </ns0:nvSpPr>
        <ns0:spPr>
          <ns1:xfrm>
            <ns1:off x="7439406" y="2391156"/>
            <ns1:ext cx="34290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476" dirty="0">
                <ns1:solidFill>
                  <ns1:srgbClr val="000C22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02</ns1:t>
            </ns1:r>
            <ns1:endParaRPr lang="en-US" sz="1476" dirty="0"/>
          </ns1:p>
        </ns0:txBody>
      </ns0:sp>
      <ns0:sp>
        <ns0:nvSpPr>
          <ns0:cNvPr id="18" name="ocr-text-p05-016"/>
          <ns0:cNvSpPr/>
          <ns0:nvPr/>
        </ns0:nvSpPr>
        <ns0:spPr>
          <ns1:xfrm>
            <ns1:off x="7458456" y="2753106"/>
            <ns1:ext cx="1440180" cy="2133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230" dirty="0">
                <ns1:solidFill>
                  <ns1:srgbClr val="030E24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审计财务与现金</ns1:t>
            </ns1:r>
            <ns1:endParaRPr lang="en-US" sz="1230" dirty="0"/>
          </ns1:p>
        </ns0:txBody>
      </ns0:sp>
      <ns0:sp>
        <ns0:nvSpPr>
          <ns0:cNvPr id="19" name="ocr-text-p05-017"/>
          <ns0:cNvSpPr/>
          <ns0:nvPr/>
        </ns0:nvSpPr>
        <ns0:spPr>
          <ns1:xfrm>
            <ns1:off x="5228989" y="3035696"/>
            <ns1:ext cx="1738841" cy="327119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886" b="1" dirty="0">
                <ns1:solidFill>
                  <ns1:srgbClr val="021026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交易是否成立</ns1:t>
            </ns1:r>
            <ns1:endParaRPr lang="en-US" sz="1886" dirty="0"/>
          </ns1:p>
        </ns0:txBody>
      </ns0:sp>
      <ns0:sp>
        <ns0:nvSpPr>
          <ns0:cNvPr id="20" name="ocr-text-p05-018"/>
          <ns0:cNvSpPr/>
          <ns0:nvPr/>
        </ns0:nvSpPr>
        <ns0:spPr>
          <ns1:xfrm>
            <ns1:off x="9801606" y="2981706"/>
            <ns1:ext cx="194310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476" dirty="0">
                <ns1:solidFill>
                  <ns1:srgbClr val="04142B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订单、验收、回款与</ns1:t>
            </ns1:r>
            <ns1:endParaRPr lang="en-US" sz="1476" dirty="0"/>
          </ns1:p>
        </ns0:txBody>
      </ns0:sp>
      <ns0:sp>
        <ns0:nvSpPr>
          <ns0:cNvPr id="21" name="ocr-text-p05-019"/>
          <ns0:cNvSpPr/>
          <ns0:nvPr/>
        </ns0:nvSpPr>
        <ns0:spPr>
          <ns1:xfrm>
            <ns1:off x="9801606" y="3267456"/>
            <ns1:ext cx="1714500" cy="2346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353" dirty="0">
                <ns1:solidFill>
                  <ns1:srgbClr val="04152C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财务底稿尚未穿透</ns1:t>
            </ns1:r>
            <ns1:endParaRPr lang="en-US" sz="1353" dirty="0"/>
          </ns1:p>
        </ns0:txBody>
      </ns0:sp>
      <ns0:sp>
        <ns0:nvSpPr>
          <ns0:cNvPr id="22" name="ocr-text-p05-020"/>
          <ns0:cNvSpPr/>
          <ns0:nvPr/>
        </ns0:nvSpPr>
        <ns0:spPr>
          <ns1:xfrm>
            <ns1:off x="1229106" y="3953256"/>
            <ns1:ext cx="214884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476" dirty="0">
                <ns1:solidFill>
                  <ns1:srgbClr val="04162D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技术材料显示算法优化</ns1:t>
            </ns1:r>
            <ns1:endParaRPr lang="en-US" sz="1476" dirty="0"/>
          </ns1:p>
        </ns0:txBody>
      </ns0:sp>
      <ns0:sp>
        <ns0:nvSpPr>
          <ns0:cNvPr id="23" name="ocr-text-p05-021"/>
          <ns0:cNvSpPr/>
          <ns0:nvPr/>
        </ns0:nvSpPr>
        <ns0:spPr>
          <ns1:xfrm>
            <ns1:off x="1229106" y="4258056"/>
            <ns1:ext cx="2171700" cy="2346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353" dirty="0">
                <ns1:solidFill>
                  <ns1:srgbClr val="04152D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能力具备进一步核实价值</ns1:t>
            </ns1:r>
            <ns1:endParaRPr lang="en-US" sz="1353" dirty="0"/>
          </ns1:p>
        </ns0:txBody>
      </ns0:sp>
      <ns0:sp>
        <ns0:nvSpPr>
          <ns0:cNvPr id="24" name="ocr-text-p05-022"/>
          <ns0:cNvSpPr/>
          <ns0:nvPr/>
        </ns0:nvSpPr>
        <ns0:spPr>
          <ns1:xfrm>
            <ns1:off x="4353306" y="3877056"/>
            <ns1:ext cx="36576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476" dirty="0">
                <ns1:solidFill>
                  <ns1:srgbClr val="000D24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04</ns1:t>
            </ns1:r>
            <ns1:endParaRPr lang="en-US" sz="1476" dirty="0"/>
          </ns1:p>
        </ns0:txBody>
      </ns0:sp>
      <ns0:sp>
        <ns0:nvSpPr>
          <ns0:cNvPr id="25" name="ocr-text-p05-023"/>
          <ns0:cNvSpPr/>
          <ns0:nvPr/>
        </ns0:nvSpPr>
        <ns0:spPr>
          <ns1:xfrm>
            <ns1:off x="3419254" y="4197404"/>
            <ns1:ext cx="1441623" cy="242539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398" dirty="0">
                <ns1:solidFill>
                  <ns1:srgbClr val="010D23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04知识产权与</ns1:t>
            </ns1:r>
            <ns1:endParaRPr lang="en-US" sz="1398" dirty="0"/>
          </ns1:p>
        </ns0:txBody>
      </ns0:sp>
      <ns0:sp>
        <ns0:nvSpPr>
          <ns0:cNvPr id="26" name="ocr-text-p05-024"/>
          <ns0:cNvSpPr/>
          <ns0:nvPr/>
        </ns0:nvSpPr>
        <ns0:spPr>
          <ns1:xfrm>
            <ns1:off x="3900286" y="4403790"/>
            <ns1:ext cx="919608" cy="299411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726" dirty="0">
                <ns1:solidFill>
                  <ns1:srgbClr val="010D23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资产归属</ns1:t>
            </ns1:r>
            <ns1:endParaRPr lang="en-US" sz="1726" dirty="0"/>
          </ns1:p>
        </ns0:txBody>
      </ns0:sp>
      <ns0:sp>
        <ns0:nvSpPr>
          <ns0:cNvPr id="27" name="ocr-text-p05-025"/>
          <ns0:cNvSpPr/>
          <ns0:nvPr/>
        </ns0:nvSpPr>
        <ns0:spPr>
          <ns1:xfrm>
            <ns1:off x="4943856" y="4143756"/>
            <ns1:ext cx="365760" cy="29870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722" dirty="0">
                <ns1:solidFill>
                  <ns1:srgbClr val="030F24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IP</ns1:t>
            </ns1:r>
            <ns1:endParaRPr lang="en-US" sz="1722" dirty="0"/>
          </ns1:p>
        </ns0:txBody>
      </ns0:sp>
      <ns0:sp>
        <ns0:nvSpPr>
          <ns0:cNvPr id="28" name="ocr-text-p05-026"/>
          <ns0:cNvSpPr/>
          <ns0:nvPr/>
        </ns0:nvSpPr>
        <ns0:spPr>
          <ns1:xfrm>
            <ns1:off x="7191756" y="3896106"/>
            <ns1:ext cx="34290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476" dirty="0">
                <ns1:solidFill>
                  <ns1:srgbClr val="000D24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03</ns1:t>
            </ns1:r>
            <ns1:endParaRPr lang="en-US" sz="1476" dirty="0"/>
          </ns1:p>
        </ns0:txBody>
      </ns0:sp>
      <ns0:sp>
        <ns0:nvSpPr>
          <ns0:cNvPr id="29" name="ocr-text-p05-027"/>
          <ns0:cNvSpPr/>
          <ns0:nvPr/>
        </ns0:nvSpPr>
        <ns0:spPr>
          <ns1:xfrm>
            <ns1:off x="7191756" y="4219956"/>
            <ns1:ext cx="160020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476" dirty="0">
                <ns1:solidFill>
                  <ns1:srgbClr val="010D23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合同验收与回款</ns1:t>
            </ns1:r>
            <ns1:endParaRPr lang="en-US" sz="1476" dirty="0"/>
          </ns1:p>
        </ns0:txBody>
      </ns0:sp>
      <ns0:sp>
        <ns0:nvSpPr>
          <ns0:cNvPr id="30" name="ocr-text-p05-028"/>
          <ns0:cNvSpPr/>
          <ns0:nvPr/>
        </ns0:nvSpPr>
        <ns0:spPr>
          <ns1:xfrm>
            <ns1:off x="9801606" y="3953256"/>
            <ns1:ext cx="2034540" cy="25603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476" dirty="0">
                <ns1:solidFill>
                  <ns1:srgbClr val="04142B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融资和估值口径存在</ns1:t>
            </ns1:r>
            <ns1:endParaRPr lang="en-US" sz="1476" dirty="0"/>
          </ns1:p>
        </ns0:txBody>
      </ns0:sp>
      <ns0:sp>
        <ns0:nvSpPr>
          <ns0:cNvPr id="31" name="ocr-text-p05-029"/>
          <ns0:cNvSpPr/>
          <ns0:nvPr/>
        </ns0:nvSpPr>
        <ns0:spPr>
          <ns1:xfrm>
            <ns1:off x="9801606" y="4258056"/>
            <ns1:ext cx="1143000" cy="2346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353" dirty="0">
                <ns1:solidFill>
                  <ns1:srgbClr val="04142C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数量级冲突</ns1:t>
            </ns1:r>
            <ns1:endParaRPr lang="en-US" sz="1353" dirty="0"/>
          </ns1:p>
        </ns0:txBody>
      </ns0:sp>
      <ns0:sp>
        <ns0:nvSpPr>
          <ns0:cNvPr id="32" name="ocr-text-p05-030"/>
          <ns0:cNvSpPr/>
          <ns0:nvPr/>
        </ns0:nvSpPr>
        <ns0:spPr>
          <ns1:xfrm>
            <ns1:off x="960052" y="5262546"/>
            <ns1:ext cx="11231948" cy="64199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2800" dirty="0">
                <ns1:solidFill>
                  <ns1:srgbClr val="031735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结论：五项关键事实明确前，不对估值和投资金额作确定性判断</ns1:t>
            </ns1:r>
            <ns1:endParaRPr lang="en-US" sz="2800" dirty="0"/>
          </ns1:p>
        </ns0:txBody>
      </ns0:sp>
      <ns0:sp>
        <ns0:nvSpPr>
          <ns0:cNvPr id="33" name="ocr-text-p05-031"/>
          <ns0:cNvSpPr/>
          <ns0:nvPr/>
        </ns0:nvSpPr>
        <ns0:spPr>
          <ns1:xfrm>
            <ns1:off x="943356" y="6296406"/>
            <ns1:ext cx="5509260" cy="2773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599" dirty="0">
                <ns1:solidFill>
                  <ns1:srgbClr val="010E25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责任声明：本材料仅供内部审议，不构成最终投资决策</ns1:t>
            </ns1:r>
            <ns1:endParaRPr lang="en-US" sz="1599" dirty="0"/>
          </ns1:p>
        </ns0:txBody>
      </ns0:sp>
      <ns0:sp>
        <ns0:nvSpPr>
          <ns0:cNvPr id="34" name="ocr-text-p05-032"/>
          <ns0:cNvSpPr/>
          <ns0:nvPr/>
        </ns0:nvSpPr>
        <ns0:spPr>
          <ns1:xfrm>
            <ns1:off x="7134606" y="6296406"/>
            <ns1:ext cx="5057394" cy="2773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>
            <ns1:normAutofit/>
          </ns1:bodyPr>
          <ns1:lstStyle/>
          <ns1:p>
            <ns1:pPr indent="0" marL="0">
              <ns1:buNone/>
            </ns1:pPr>
            <ns1:r>
              <ns1:rPr lang="en-US" sz="1599" dirty="0">
                <ns1:solidFill>
                  <ns1:srgbClr val="000D24"/>
                </ns1:solidFill>
                <ns1:latin typeface="Hiragino Sans GB" pitchFamily="34" charset="0"/>
                <ns1:ea typeface="Hiragino Sans GB" pitchFamily="34" charset="-122"/>
                <ns1:cs typeface="Hiragino Sans GB" pitchFamily="34" charset="-120"/>
              </ns1:rPr>
              <ns1:t>来源：公司官网、项目会议纪要、投资中台项目记录</ns1:t>
            </ns1:r>
            <ns1:endParaRPr lang="en-US" sz="1599" dirty="0"/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Cybernaut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PDF template converted to editable PPTX</dc:subject>
  <dc:creator>Cybernaut</dc:creator>
  <cp:lastModifiedBy>Cybernaut</cp:lastModifiedBy>
  <cp:revision>1</cp:revision>
  <dcterms:created xsi:type="dcterms:W3CDTF">2026-08-06T07:58:32Z</dcterms:created>
  <dcterms:modified xsi:type="dcterms:W3CDTF">2026-08-06T07:58:32Z</dcterms:modified>
</cp:coreProperties>
</file>