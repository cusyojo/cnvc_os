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1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2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3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4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5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1" descr="第 1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1-001"/>
          <p:cNvSpPr/>
          <p:nvPr/>
        </p:nvSpPr>
        <p:spPr>
          <a:xfrm>
            <a:off x="1219581" y="1905381"/>
            <a:ext cx="10899267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97" b="1" dirty="0">
                <a:solidFill>
                  <a:srgbClr val="EAF4F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智灵动力投资建议书</a:t>
            </a:r>
            <a:endParaRPr lang="en-US" sz="7897" dirty="0"/>
          </a:p>
        </p:txBody>
      </p:sp>
      <p:sp>
        <p:nvSpPr>
          <p:cNvPr id="4" name="ocr-text-p01-002"/>
          <p:cNvSpPr/>
          <p:nvPr/>
        </p:nvSpPr>
        <p:spPr>
          <a:xfrm>
            <a:off x="848106" y="3267456"/>
            <a:ext cx="1127074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17" b="1" dirty="0">
                <a:solidFill>
                  <a:srgbClr val="E8F1F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智灵动力（北京）科技有限公司</a:t>
            </a:r>
            <a:endParaRPr lang="en-US" sz="3817" dirty="0"/>
          </a:p>
        </p:txBody>
      </p:sp>
      <p:sp>
        <p:nvSpPr>
          <p:cNvPr id="5" name="ocr-text-p01-003"/>
          <p:cNvSpPr/>
          <p:nvPr/>
        </p:nvSpPr>
        <p:spPr>
          <a:xfrm>
            <a:off x="857631" y="3896106"/>
            <a:ext cx="60579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56" dirty="0">
                <a:solidFill>
                  <a:srgbClr val="8494B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从产品能力、商业验证到交易可行性的五页判断</a:t>
            </a:r>
            <a:endParaRPr lang="en-US" sz="2256" dirty="0"/>
          </a:p>
        </p:txBody>
      </p:sp>
      <p:sp>
        <p:nvSpPr>
          <p:cNvPr id="6" name="ocr-text-p01-004"/>
          <p:cNvSpPr/>
          <p:nvPr/>
        </p:nvSpPr>
        <p:spPr>
          <a:xfrm>
            <a:off x="857631" y="5972556"/>
            <a:ext cx="2446020" cy="330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6" b="1" dirty="0">
                <a:solidFill>
                  <a:srgbClr val="8690A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内部讨论稿｜2026年8月</a:t>
            </a:r>
            <a:endParaRPr lang="en-US" sz="190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2" descr="第 2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2-001"/>
          <p:cNvSpPr/>
          <p:nvPr/>
        </p:nvSpPr>
        <p:spPr>
          <a:xfrm>
            <a:off x="181356" y="105156"/>
            <a:ext cx="119374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96" b="1" dirty="0">
                <a:solidFill>
                  <a:srgbClr val="D5E4F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公司已形成三条产品线，但底层技术与业务归属仍需核实</a:t>
            </a:r>
            <a:endParaRPr lang="en-US" sz="3696" dirty="0"/>
          </a:p>
        </p:txBody>
      </p:sp>
      <p:sp>
        <p:nvSpPr>
          <p:cNvPr id="4" name="ocr-text-p02-002"/>
          <p:cNvSpPr/>
          <p:nvPr/>
        </p:nvSpPr>
        <p:spPr>
          <a:xfrm>
            <a:off x="3477006" y="924306"/>
            <a:ext cx="864184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21" b="1" dirty="0">
                <a:solidFill>
                  <a:srgbClr val="D8E3F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官方定位：科创研究与文创视听智能体</a:t>
            </a:r>
            <a:endParaRPr lang="en-US" sz="2521" dirty="0"/>
          </a:p>
        </p:txBody>
      </p:sp>
      <p:sp>
        <p:nvSpPr>
          <p:cNvPr id="5" name="ocr-text-p02-003"/>
          <p:cNvSpPr/>
          <p:nvPr/>
        </p:nvSpPr>
        <p:spPr>
          <a:xfrm>
            <a:off x="1067181" y="2229231"/>
            <a:ext cx="174879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67" b="1" dirty="0">
                <a:solidFill>
                  <a:srgbClr val="D6DBE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研究报告智能体</a:t>
            </a:r>
            <a:endParaRPr lang="en-US" sz="1967" dirty="0"/>
          </a:p>
        </p:txBody>
      </p:sp>
      <p:sp>
        <p:nvSpPr>
          <p:cNvPr id="6" name="ocr-text-p02-004"/>
          <p:cNvSpPr/>
          <p:nvPr/>
        </p:nvSpPr>
        <p:spPr>
          <a:xfrm>
            <a:off x="5001006" y="2229231"/>
            <a:ext cx="12458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62" b="1" dirty="0">
                <a:solidFill>
                  <a:srgbClr val="D7DCE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视频智能体</a:t>
            </a:r>
            <a:endParaRPr lang="en-US" sz="1962" dirty="0"/>
          </a:p>
        </p:txBody>
      </p:sp>
      <p:sp>
        <p:nvSpPr>
          <p:cNvPr id="7" name="ocr-text-p02-005"/>
          <p:cNvSpPr/>
          <p:nvPr/>
        </p:nvSpPr>
        <p:spPr>
          <a:xfrm>
            <a:off x="8801481" y="2267331"/>
            <a:ext cx="9829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92" dirty="0">
                <a:solidFill>
                  <a:srgbClr val="D1D7E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算法工厂</a:t>
            </a:r>
            <a:endParaRPr lang="en-US" sz="1292" dirty="0"/>
          </a:p>
        </p:txBody>
      </p:sp>
      <p:sp>
        <p:nvSpPr>
          <p:cNvPr id="8" name="ocr-text-p02-006"/>
          <p:cNvSpPr/>
          <p:nvPr/>
        </p:nvSpPr>
        <p:spPr>
          <a:xfrm>
            <a:off x="5001006" y="2619756"/>
            <a:ext cx="12801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16" b="1" dirty="0">
                <a:solidFill>
                  <a:srgbClr val="DCE0E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剧幕智能体</a:t>
            </a:r>
            <a:endParaRPr lang="en-US" sz="2016" dirty="0"/>
          </a:p>
        </p:txBody>
      </p:sp>
      <p:sp>
        <p:nvSpPr>
          <p:cNvPr id="9" name="ocr-text-p02-007"/>
          <p:cNvSpPr/>
          <p:nvPr/>
        </p:nvSpPr>
        <p:spPr>
          <a:xfrm>
            <a:off x="1067181" y="2657856"/>
            <a:ext cx="1085850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8" dirty="0">
                <a:solidFill>
                  <a:srgbClr val="DFE4E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企业 FDE</a:t>
            </a:r>
            <a:endParaRPr lang="en-US" sz="1168" dirty="0"/>
          </a:p>
        </p:txBody>
      </p:sp>
      <p:sp>
        <p:nvSpPr>
          <p:cNvPr id="10" name="ocr-text-p02-008"/>
          <p:cNvSpPr/>
          <p:nvPr/>
        </p:nvSpPr>
        <p:spPr>
          <a:xfrm>
            <a:off x="8811006" y="2657856"/>
            <a:ext cx="17373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E3E6E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自进化算法优化</a:t>
            </a:r>
            <a:endParaRPr lang="en-US" sz="1230" dirty="0"/>
          </a:p>
        </p:txBody>
      </p:sp>
      <p:sp>
        <p:nvSpPr>
          <p:cNvPr id="11" name="ocr-text-p02-009"/>
          <p:cNvSpPr/>
          <p:nvPr/>
        </p:nvSpPr>
        <p:spPr>
          <a:xfrm>
            <a:off x="4648581" y="2924556"/>
            <a:ext cx="1965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D4D9E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数字人智能体</a:t>
            </a:r>
            <a:endParaRPr lang="en-US" sz="2250" dirty="0"/>
          </a:p>
        </p:txBody>
      </p:sp>
      <p:sp>
        <p:nvSpPr>
          <p:cNvPr id="12" name="ocr-text-p02-010"/>
          <p:cNvSpPr/>
          <p:nvPr/>
        </p:nvSpPr>
        <p:spPr>
          <a:xfrm>
            <a:off x="8801481" y="3010281"/>
            <a:ext cx="232029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3" b="1" dirty="0">
                <a:solidFill>
                  <a:srgbClr val="DADFE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VEQPy 可选求解扩展</a:t>
            </a:r>
            <a:endParaRPr lang="en-US" sz="2003" dirty="0"/>
          </a:p>
        </p:txBody>
      </p:sp>
      <p:sp>
        <p:nvSpPr>
          <p:cNvPr id="13" name="ocr-text-p02-011"/>
          <p:cNvSpPr/>
          <p:nvPr/>
        </p:nvSpPr>
        <p:spPr>
          <a:xfrm>
            <a:off x="1067181" y="3048381"/>
            <a:ext cx="1920240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D5DBE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AI-AutoResearch</a:t>
            </a:r>
            <a:endParaRPr lang="en-US" sz="1046" dirty="0"/>
          </a:p>
        </p:txBody>
      </p:sp>
      <p:sp>
        <p:nvSpPr>
          <p:cNvPr id="14" name="ocr-text-p02-012"/>
          <p:cNvSpPr/>
          <p:nvPr/>
        </p:nvSpPr>
        <p:spPr>
          <a:xfrm>
            <a:off x="4572381" y="3457956"/>
            <a:ext cx="33375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79" b="1" dirty="0">
                <a:solidFill>
                  <a:srgbClr val="E7EAF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三层技术体系 (管理层口径 )</a:t>
            </a:r>
            <a:endParaRPr lang="en-US" sz="2079" dirty="0"/>
          </a:p>
        </p:txBody>
      </p:sp>
      <p:sp>
        <p:nvSpPr>
          <p:cNvPr id="15" name="ocr-text-p02-013"/>
          <p:cNvSpPr/>
          <p:nvPr/>
        </p:nvSpPr>
        <p:spPr>
          <a:xfrm>
            <a:off x="5391531" y="3877056"/>
            <a:ext cx="1565910" cy="39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55" b="1" dirty="0">
                <a:solidFill>
                  <a:srgbClr val="F8F8F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自进化大模型</a:t>
            </a:r>
            <a:endParaRPr lang="en-US" sz="2055" dirty="0"/>
          </a:p>
        </p:txBody>
      </p:sp>
      <p:sp>
        <p:nvSpPr>
          <p:cNvPr id="16" name="ocr-text-p02-014"/>
          <p:cNvSpPr/>
          <p:nvPr/>
        </p:nvSpPr>
        <p:spPr>
          <a:xfrm>
            <a:off x="5296281" y="4486656"/>
            <a:ext cx="178308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77" b="1" dirty="0">
                <a:solidFill>
                  <a:srgbClr val="F7F8F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自进化 AI 框架</a:t>
            </a:r>
            <a:endParaRPr lang="en-US" sz="2077" dirty="0"/>
          </a:p>
        </p:txBody>
      </p:sp>
      <p:sp>
        <p:nvSpPr>
          <p:cNvPr id="17" name="ocr-text-p02-015"/>
          <p:cNvSpPr/>
          <p:nvPr/>
        </p:nvSpPr>
        <p:spPr>
          <a:xfrm>
            <a:off x="5229606" y="5115306"/>
            <a:ext cx="1965960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11" b="1" dirty="0">
                <a:solidFill>
                  <a:srgbClr val="F8F8F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自进化算法优化</a:t>
            </a:r>
            <a:endParaRPr lang="en-US" sz="2211" dirty="0"/>
          </a:p>
        </p:txBody>
      </p:sp>
      <p:sp>
        <p:nvSpPr>
          <p:cNvPr id="18" name="ocr-text-p02-016"/>
          <p:cNvSpPr/>
          <p:nvPr/>
        </p:nvSpPr>
        <p:spPr>
          <a:xfrm>
            <a:off x="343281" y="5620131"/>
            <a:ext cx="1184871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80" dirty="0">
                <a:solidFill>
                  <a:srgbClr val="F7F3F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关键判断：产品矩阵可核对，技术权属、测试结果与业务资产归属仍需专项核实</a:t>
            </a:r>
            <a:endParaRPr lang="en-US" sz="2680" dirty="0"/>
          </a:p>
        </p:txBody>
      </p:sp>
      <p:sp>
        <p:nvSpPr>
          <p:cNvPr id="19" name="ocr-text-p02-017"/>
          <p:cNvSpPr/>
          <p:nvPr/>
        </p:nvSpPr>
        <p:spPr>
          <a:xfrm>
            <a:off x="857631" y="6486906"/>
            <a:ext cx="526923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72" dirty="0">
                <a:solidFill>
                  <a:srgbClr val="A1B2C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公司官网、华为云、项目会议纪要、算法工厂技术材料</a:t>
            </a:r>
            <a:endParaRPr lang="en-US" sz="177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3" descr="第 3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3-001"/>
          <p:cNvSpPr/>
          <p:nvPr/>
        </p:nvSpPr>
        <p:spPr>
          <a:xfrm>
            <a:off x="257556" y="200406"/>
            <a:ext cx="1186129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25" b="1" dirty="0">
                <a:solidFill>
                  <a:srgbClr val="FAFAF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商业化信号已出现，但合同、验收与回款仍需穿透核实</a:t>
            </a:r>
            <a:endParaRPr lang="en-US" sz="3425" dirty="0"/>
          </a:p>
        </p:txBody>
      </p:sp>
      <p:sp>
        <p:nvSpPr>
          <p:cNvPr id="4" name="ocr-text-p03-002"/>
          <p:cNvSpPr/>
          <p:nvPr/>
        </p:nvSpPr>
        <p:spPr>
          <a:xfrm>
            <a:off x="8372856" y="2638806"/>
            <a:ext cx="200025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7BF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10000分钟</a:t>
            </a:r>
            <a:endParaRPr lang="en-US" sz="2800" dirty="0"/>
          </a:p>
        </p:txBody>
      </p:sp>
      <p:sp>
        <p:nvSpPr>
          <p:cNvPr id="5" name="ocr-text-p03-003"/>
          <p:cNvSpPr/>
          <p:nvPr/>
        </p:nvSpPr>
        <p:spPr>
          <a:xfrm>
            <a:off x="724281" y="3219831"/>
            <a:ext cx="355473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61" dirty="0">
                <a:solidFill>
                  <a:srgbClr val="F669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FDE｜2026年5月启动商业化</a:t>
            </a:r>
            <a:endParaRPr lang="en-US" sz="2061" dirty="0"/>
          </a:p>
        </p:txBody>
      </p:sp>
      <p:sp>
        <p:nvSpPr>
          <p:cNvPr id="6" name="ocr-text-p03-004"/>
          <p:cNvSpPr/>
          <p:nvPr/>
        </p:nvSpPr>
        <p:spPr>
          <a:xfrm>
            <a:off x="5067681" y="3257931"/>
            <a:ext cx="23431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F5672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算法优化｜在谈项目</a:t>
            </a:r>
            <a:endParaRPr lang="en-US" sz="1476" dirty="0"/>
          </a:p>
        </p:txBody>
      </p:sp>
      <p:sp>
        <p:nvSpPr>
          <p:cNvPr id="7" name="ocr-text-p03-005"/>
          <p:cNvSpPr/>
          <p:nvPr/>
        </p:nvSpPr>
        <p:spPr>
          <a:xfrm>
            <a:off x="8372856" y="3372231"/>
            <a:ext cx="193167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13" b="1" dirty="0">
                <a:solidFill>
                  <a:srgbClr val="1079F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500元/分钟</a:t>
            </a:r>
            <a:endParaRPr lang="en-US" sz="2613" dirty="0"/>
          </a:p>
        </p:txBody>
      </p:sp>
      <p:sp>
        <p:nvSpPr>
          <p:cNvPr id="8" name="ocr-text-p03-006"/>
          <p:cNvSpPr/>
          <p:nvPr/>
        </p:nvSpPr>
        <p:spPr>
          <a:xfrm>
            <a:off x="5067681" y="3648456"/>
            <a:ext cx="220599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D6D4D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成泰科技：约180万元</a:t>
            </a:r>
            <a:endParaRPr lang="en-US" sz="1540" dirty="0"/>
          </a:p>
        </p:txBody>
      </p:sp>
      <p:sp>
        <p:nvSpPr>
          <p:cNvPr id="9" name="ocr-text-p03-007"/>
          <p:cNvSpPr/>
          <p:nvPr/>
        </p:nvSpPr>
        <p:spPr>
          <a:xfrm>
            <a:off x="714756" y="3657981"/>
            <a:ext cx="392049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21" dirty="0">
                <a:solidFill>
                  <a:srgbClr val="D3D4D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集鑫：60万元，流程推进中，已完成 Demo</a:t>
            </a:r>
            <a:endParaRPr lang="en-US" sz="162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4" descr="第 4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4-001"/>
          <p:cNvSpPr/>
          <p:nvPr/>
        </p:nvSpPr>
        <p:spPr>
          <a:xfrm>
            <a:off x="190881" y="143256"/>
            <a:ext cx="11927967" cy="84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61" b="1" dirty="0">
                <a:solidFill>
                  <a:srgbClr val="F8F9F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高人力成本叠加交易口径冲突，现金流安全边界尚不清晰</a:t>
            </a:r>
            <a:endParaRPr lang="en-US" sz="3161" dirty="0"/>
          </a:p>
        </p:txBody>
      </p:sp>
      <p:sp>
        <p:nvSpPr>
          <p:cNvPr id="4" name="ocr-text-p04-002"/>
          <p:cNvSpPr/>
          <p:nvPr/>
        </p:nvSpPr>
        <p:spPr>
          <a:xfrm>
            <a:off x="7077456" y="1276731"/>
            <a:ext cx="218313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32" b="1" dirty="0">
                <a:solidFill>
                  <a:srgbClr val="F9F9F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约2400万元/年</a:t>
            </a:r>
            <a:endParaRPr lang="en-US" sz="2232" dirty="0"/>
          </a:p>
        </p:txBody>
      </p:sp>
      <p:sp>
        <p:nvSpPr>
          <p:cNvPr id="5" name="ocr-text-p04-003"/>
          <p:cNvSpPr/>
          <p:nvPr/>
        </p:nvSpPr>
        <p:spPr>
          <a:xfrm>
            <a:off x="438531" y="1295781"/>
            <a:ext cx="218313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91" b="1" dirty="0">
                <a:solidFill>
                  <a:srgbClr val="F7F8F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138人</a:t>
            </a:r>
            <a:endParaRPr lang="en-US" sz="2091" dirty="0"/>
          </a:p>
        </p:txBody>
      </p:sp>
      <p:sp>
        <p:nvSpPr>
          <p:cNvPr id="6" name="ocr-text-p04-004"/>
          <p:cNvSpPr/>
          <p:nvPr/>
        </p:nvSpPr>
        <p:spPr>
          <a:xfrm>
            <a:off x="390906" y="1543431"/>
            <a:ext cx="248031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4" b="1" dirty="0">
                <a:solidFill>
                  <a:srgbClr val="C3C5E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当前人员规模</a:t>
            </a:r>
            <a:endParaRPr lang="en-US" sz="2604" dirty="0"/>
          </a:p>
        </p:txBody>
      </p:sp>
      <p:sp>
        <p:nvSpPr>
          <p:cNvPr id="7" name="ocr-text-p04-005"/>
          <p:cNvSpPr/>
          <p:nvPr/>
        </p:nvSpPr>
        <p:spPr>
          <a:xfrm>
            <a:off x="4229481" y="1733931"/>
            <a:ext cx="146304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20" b="1" dirty="0">
                <a:solidFill>
                  <a:srgbClr val="CBCDD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基础人力成本</a:t>
            </a:r>
            <a:endParaRPr lang="en-US" sz="1920" dirty="0"/>
          </a:p>
        </p:txBody>
      </p:sp>
      <p:sp>
        <p:nvSpPr>
          <p:cNvPr id="8" name="ocr-text-p04-006"/>
          <p:cNvSpPr/>
          <p:nvPr/>
        </p:nvSpPr>
        <p:spPr>
          <a:xfrm>
            <a:off x="7086981" y="1733931"/>
            <a:ext cx="146304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20" b="1" dirty="0">
                <a:solidFill>
                  <a:srgbClr val="C8CBD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年度人力成本</a:t>
            </a:r>
            <a:endParaRPr lang="en-US" sz="1920" dirty="0"/>
          </a:p>
        </p:txBody>
      </p:sp>
      <p:sp>
        <p:nvSpPr>
          <p:cNvPr id="9" name="ocr-text-p04-007"/>
          <p:cNvSpPr/>
          <p:nvPr/>
        </p:nvSpPr>
        <p:spPr>
          <a:xfrm>
            <a:off x="10201656" y="1733931"/>
            <a:ext cx="115443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18" b="1" dirty="0">
                <a:solidFill>
                  <a:srgbClr val="C9CDD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优化后计划</a:t>
            </a:r>
            <a:endParaRPr lang="en-US" sz="1818" dirty="0"/>
          </a:p>
        </p:txBody>
      </p:sp>
      <p:sp>
        <p:nvSpPr>
          <p:cNvPr id="10" name="ocr-text-p04-008"/>
          <p:cNvSpPr/>
          <p:nvPr/>
        </p:nvSpPr>
        <p:spPr>
          <a:xfrm>
            <a:off x="981456" y="2400681"/>
            <a:ext cx="385191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6" b="1" dirty="0">
                <a:solidFill>
                  <a:srgbClr val="1E84E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现金流安排（管理层口径）</a:t>
            </a:r>
            <a:endParaRPr lang="en-US" sz="2606" dirty="0"/>
          </a:p>
        </p:txBody>
      </p:sp>
      <p:sp>
        <p:nvSpPr>
          <p:cNvPr id="11" name="ocr-text-p04-009"/>
          <p:cNvSpPr/>
          <p:nvPr/>
        </p:nvSpPr>
        <p:spPr>
          <a:xfrm>
            <a:off x="7401306" y="2438781"/>
            <a:ext cx="202311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2" dirty="0">
                <a:solidFill>
                  <a:srgbClr val="1E85E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交易口径冲突</a:t>
            </a:r>
            <a:endParaRPr lang="en-US" sz="1722" dirty="0"/>
          </a:p>
        </p:txBody>
      </p:sp>
      <p:sp>
        <p:nvSpPr>
          <p:cNvPr id="12" name="ocr-text-p04-010"/>
          <p:cNvSpPr/>
          <p:nvPr/>
        </p:nvSpPr>
        <p:spPr>
          <a:xfrm>
            <a:off x="1248156" y="2953131"/>
            <a:ext cx="315468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13" b="1" dirty="0">
                <a:solidFill>
                  <a:srgbClr val="C3C6C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老股东拟提供1000万元借款</a:t>
            </a:r>
            <a:endParaRPr lang="en-US" sz="1813" dirty="0"/>
          </a:p>
        </p:txBody>
      </p:sp>
      <p:sp>
        <p:nvSpPr>
          <p:cNvPr id="13" name="ocr-text-p04-011"/>
          <p:cNvSpPr/>
          <p:nvPr/>
        </p:nvSpPr>
        <p:spPr>
          <a:xfrm>
            <a:off x="7248906" y="3019806"/>
            <a:ext cx="9372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45" b="1" dirty="0">
                <a:solidFill>
                  <a:srgbClr val="F3F4F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融资金额</a:t>
            </a:r>
            <a:endParaRPr lang="en-US" sz="1845" dirty="0"/>
          </a:p>
        </p:txBody>
      </p:sp>
      <p:sp>
        <p:nvSpPr>
          <p:cNvPr id="14" name="ocr-text-p04-012"/>
          <p:cNvSpPr/>
          <p:nvPr/>
        </p:nvSpPr>
        <p:spPr>
          <a:xfrm>
            <a:off x="10506456" y="3019806"/>
            <a:ext cx="92583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22" b="1" dirty="0">
                <a:solidFill>
                  <a:srgbClr val="F6F7F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核实状态</a:t>
            </a:r>
            <a:endParaRPr lang="en-US" sz="1822" dirty="0"/>
          </a:p>
        </p:txBody>
      </p:sp>
      <p:sp>
        <p:nvSpPr>
          <p:cNvPr id="15" name="ocr-text-p04-013"/>
          <p:cNvSpPr/>
          <p:nvPr/>
        </p:nvSpPr>
        <p:spPr>
          <a:xfrm>
            <a:off x="8877681" y="3057906"/>
            <a:ext cx="92583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9FAF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估值口径</a:t>
            </a:r>
            <a:endParaRPr lang="en-US" sz="1230" dirty="0"/>
          </a:p>
        </p:txBody>
      </p:sp>
      <p:sp>
        <p:nvSpPr>
          <p:cNvPr id="16" name="ocr-text-p04-014"/>
          <p:cNvSpPr/>
          <p:nvPr/>
        </p:nvSpPr>
        <p:spPr>
          <a:xfrm>
            <a:off x="5648706" y="3477006"/>
            <a:ext cx="91440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CACFD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项目记录</a:t>
            </a:r>
            <a:endParaRPr lang="en-US" sz="1800" dirty="0"/>
          </a:p>
        </p:txBody>
      </p:sp>
      <p:sp>
        <p:nvSpPr>
          <p:cNvPr id="17" name="ocr-text-p04-015"/>
          <p:cNvSpPr/>
          <p:nvPr/>
        </p:nvSpPr>
        <p:spPr>
          <a:xfrm>
            <a:off x="10506456" y="3505581"/>
            <a:ext cx="92583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5742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存在冲突</a:t>
            </a:r>
            <a:endParaRPr lang="en-US" sz="1230" dirty="0"/>
          </a:p>
        </p:txBody>
      </p:sp>
      <p:sp>
        <p:nvSpPr>
          <p:cNvPr id="18" name="ocr-text-p04-016"/>
          <p:cNvSpPr/>
          <p:nvPr/>
        </p:nvSpPr>
        <p:spPr>
          <a:xfrm>
            <a:off x="8915781" y="3505581"/>
            <a:ext cx="7086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38" b="1" dirty="0">
                <a:solidFill>
                  <a:srgbClr val="C4C6C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 亿元</a:t>
            </a:r>
            <a:endParaRPr lang="en-US" sz="1938" dirty="0"/>
          </a:p>
        </p:txBody>
      </p:sp>
      <p:sp>
        <p:nvSpPr>
          <p:cNvPr id="19" name="ocr-text-p04-017"/>
          <p:cNvSpPr/>
          <p:nvPr/>
        </p:nvSpPr>
        <p:spPr>
          <a:xfrm>
            <a:off x="7201281" y="3515106"/>
            <a:ext cx="1017270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8" dirty="0">
                <a:solidFill>
                  <a:srgbClr val="C7CAD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1000 万元</a:t>
            </a:r>
            <a:endParaRPr lang="en-US" sz="1168" dirty="0"/>
          </a:p>
        </p:txBody>
      </p:sp>
      <p:sp>
        <p:nvSpPr>
          <p:cNvPr id="20" name="ocr-text-p04-018"/>
          <p:cNvSpPr/>
          <p:nvPr/>
        </p:nvSpPr>
        <p:spPr>
          <a:xfrm>
            <a:off x="1248156" y="3734181"/>
            <a:ext cx="35318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77" b="1" dirty="0">
                <a:solidFill>
                  <a:srgbClr val="C6C9D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管理层称可覆盖约半年现金需求</a:t>
            </a:r>
            <a:endParaRPr lang="en-US" sz="1877" dirty="0"/>
          </a:p>
        </p:txBody>
      </p:sp>
      <p:sp>
        <p:nvSpPr>
          <p:cNvPr id="21" name="ocr-text-p04-019"/>
          <p:cNvSpPr/>
          <p:nvPr/>
        </p:nvSpPr>
        <p:spPr>
          <a:xfrm>
            <a:off x="10411206" y="3896106"/>
            <a:ext cx="11658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36" b="1" dirty="0">
                <a:solidFill>
                  <a:srgbClr val="C3C7C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管理层沟通</a:t>
            </a:r>
            <a:endParaRPr lang="en-US" sz="1836" dirty="0"/>
          </a:p>
        </p:txBody>
      </p:sp>
      <p:sp>
        <p:nvSpPr>
          <p:cNvPr id="22" name="ocr-text-p04-020"/>
          <p:cNvSpPr/>
          <p:nvPr/>
        </p:nvSpPr>
        <p:spPr>
          <a:xfrm>
            <a:off x="5648706" y="3934206"/>
            <a:ext cx="92583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CDCFD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会议口径</a:t>
            </a:r>
            <a:endParaRPr lang="en-US" sz="1230" dirty="0"/>
          </a:p>
        </p:txBody>
      </p:sp>
      <p:sp>
        <p:nvSpPr>
          <p:cNvPr id="23" name="ocr-text-p04-021"/>
          <p:cNvSpPr/>
          <p:nvPr/>
        </p:nvSpPr>
        <p:spPr>
          <a:xfrm>
            <a:off x="7258431" y="3934206"/>
            <a:ext cx="83439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64" dirty="0">
                <a:solidFill>
                  <a:srgbClr val="C0BAC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约 1 亿元</a:t>
            </a:r>
            <a:endParaRPr lang="en-US" sz="1564" dirty="0"/>
          </a:p>
        </p:txBody>
      </p:sp>
      <p:sp>
        <p:nvSpPr>
          <p:cNvPr id="24" name="ocr-text-p04-022"/>
          <p:cNvSpPr/>
          <p:nvPr/>
        </p:nvSpPr>
        <p:spPr>
          <a:xfrm>
            <a:off x="8696706" y="393420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12" dirty="0">
                <a:solidFill>
                  <a:srgbClr val="B7B5B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10亿-15亿元</a:t>
            </a:r>
            <a:endParaRPr lang="en-US" sz="1612" dirty="0"/>
          </a:p>
        </p:txBody>
      </p:sp>
      <p:sp>
        <p:nvSpPr>
          <p:cNvPr id="25" name="ocr-text-p04-023"/>
          <p:cNvSpPr/>
          <p:nvPr/>
        </p:nvSpPr>
        <p:spPr>
          <a:xfrm>
            <a:off x="1248156" y="4439031"/>
            <a:ext cx="424053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61" dirty="0">
                <a:solidFill>
                  <a:srgbClr val="BCC0C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借款协议、期限、利率与提款条件尚待核实</a:t>
            </a:r>
            <a:endParaRPr lang="en-US" sz="1661" dirty="0"/>
          </a:p>
        </p:txBody>
      </p:sp>
      <p:sp>
        <p:nvSpPr>
          <p:cNvPr id="26" name="ocr-text-p04-024"/>
          <p:cNvSpPr/>
          <p:nvPr/>
        </p:nvSpPr>
        <p:spPr>
          <a:xfrm>
            <a:off x="6544056" y="5029581"/>
            <a:ext cx="4652010" cy="39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19" dirty="0">
                <a:solidFill>
                  <a:srgbClr val="EF7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差异达到数量级 ， 不能直接用于交易定价</a:t>
            </a:r>
            <a:endParaRPr lang="en-US" sz="2019" dirty="0"/>
          </a:p>
        </p:txBody>
      </p:sp>
      <p:sp>
        <p:nvSpPr>
          <p:cNvPr id="27" name="ocr-text-p04-025"/>
          <p:cNvSpPr/>
          <p:nvPr/>
        </p:nvSpPr>
        <p:spPr>
          <a:xfrm>
            <a:off x="190881" y="5705856"/>
            <a:ext cx="1200111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13" dirty="0">
                <a:solidFill>
                  <a:srgbClr val="F7F2F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投资影响：审计财务、现金流水平和正式条款明确前，估值合理性无法判断</a:t>
            </a:r>
            <a:endParaRPr lang="en-US" sz="2713" dirty="0"/>
          </a:p>
        </p:txBody>
      </p:sp>
      <p:sp>
        <p:nvSpPr>
          <p:cNvPr id="28" name="ocr-text-p04-026"/>
          <p:cNvSpPr/>
          <p:nvPr/>
        </p:nvSpPr>
        <p:spPr>
          <a:xfrm>
            <a:off x="257556" y="6420231"/>
            <a:ext cx="390906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6" dirty="0">
                <a:solidFill>
                  <a:srgbClr val="969BA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来源：项目会议纪要、投资中台项目记录</a:t>
            </a:r>
            <a:endParaRPr lang="en-US" sz="159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5" descr="第 5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5-001"/>
          <p:cNvSpPr/>
          <p:nvPr/>
        </p:nvSpPr>
        <p:spPr>
          <a:xfrm>
            <a:off x="267081" y="248031"/>
            <a:ext cx="11851767" cy="757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57" b="1" dirty="0">
                <a:solidFill>
                  <a:srgbClr val="FAFAF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 暂不形成确定性投资结论，五项事实决定交易是否成立</a:t>
            </a:r>
            <a:endParaRPr lang="en-US" sz="3457" dirty="0"/>
          </a:p>
        </p:txBody>
      </p:sp>
      <p:sp>
        <p:nvSpPr>
          <p:cNvPr id="4" name="ocr-text-p05-002"/>
          <p:cNvSpPr/>
          <p:nvPr/>
        </p:nvSpPr>
        <p:spPr>
          <a:xfrm>
            <a:off x="5791581" y="1133856"/>
            <a:ext cx="217170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8" dirty="0">
                <a:solidFill>
                  <a:srgbClr val="3D9BF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en-US" sz="1168" dirty="0"/>
          </a:p>
        </p:txBody>
      </p:sp>
      <p:sp>
        <p:nvSpPr>
          <p:cNvPr id="5" name="ocr-text-p05-003"/>
          <p:cNvSpPr/>
          <p:nvPr/>
        </p:nvSpPr>
        <p:spPr>
          <a:xfrm>
            <a:off x="1276731" y="1410081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8" dirty="0">
                <a:solidFill>
                  <a:srgbClr val="01EDC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支持因素</a:t>
            </a:r>
            <a:endParaRPr lang="en-US" sz="1538" dirty="0"/>
          </a:p>
        </p:txBody>
      </p:sp>
      <p:sp>
        <p:nvSpPr>
          <p:cNvPr id="6" name="ocr-text-p05-004"/>
          <p:cNvSpPr/>
          <p:nvPr/>
        </p:nvSpPr>
        <p:spPr>
          <a:xfrm>
            <a:off x="6353556" y="1543431"/>
            <a:ext cx="149733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31" b="1" dirty="0">
                <a:solidFill>
                  <a:srgbClr val="E3E4E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主体与股权</a:t>
            </a:r>
            <a:endParaRPr lang="en-US" sz="1831" dirty="0"/>
          </a:p>
        </p:txBody>
      </p:sp>
      <p:sp>
        <p:nvSpPr>
          <p:cNvPr id="7" name="ocr-text-p05-005"/>
          <p:cNvSpPr/>
          <p:nvPr/>
        </p:nvSpPr>
        <p:spPr>
          <a:xfrm>
            <a:off x="9820656" y="1953006"/>
            <a:ext cx="1691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65" dirty="0">
                <a:solidFill>
                  <a:srgbClr val="D4D7D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经营数据主要来自</a:t>
            </a:r>
            <a:endParaRPr lang="en-US" sz="1665" dirty="0"/>
          </a:p>
        </p:txBody>
      </p:sp>
      <p:sp>
        <p:nvSpPr>
          <p:cNvPr id="8" name="ocr-text-p05-006"/>
          <p:cNvSpPr/>
          <p:nvPr/>
        </p:nvSpPr>
        <p:spPr>
          <a:xfrm>
            <a:off x="1257681" y="2057781"/>
            <a:ext cx="1920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D5D8D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官方产品矩阵已形成</a:t>
            </a:r>
            <a:endParaRPr lang="en-US" sz="1680" dirty="0"/>
          </a:p>
        </p:txBody>
      </p:sp>
      <p:sp>
        <p:nvSpPr>
          <p:cNvPr id="9" name="ocr-text-p05-007"/>
          <p:cNvSpPr/>
          <p:nvPr/>
        </p:nvSpPr>
        <p:spPr>
          <a:xfrm>
            <a:off x="9830181" y="2219706"/>
            <a:ext cx="1017270" cy="330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2" dirty="0">
                <a:solidFill>
                  <a:srgbClr val="CED0D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管理层交流</a:t>
            </a:r>
            <a:endParaRPr lang="en-US" sz="1602" dirty="0"/>
          </a:p>
        </p:txBody>
      </p:sp>
      <p:sp>
        <p:nvSpPr>
          <p:cNvPr id="10" name="ocr-text-p05-008"/>
          <p:cNvSpPr/>
          <p:nvPr/>
        </p:nvSpPr>
        <p:spPr>
          <a:xfrm>
            <a:off x="4058031" y="2410206"/>
            <a:ext cx="274320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8" dirty="0">
                <a:solidFill>
                  <a:srgbClr val="3F99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</a:t>
            </a:r>
            <a:endParaRPr lang="en-US" sz="1168" dirty="0"/>
          </a:p>
        </p:txBody>
      </p:sp>
      <p:sp>
        <p:nvSpPr>
          <p:cNvPr id="11" name="ocr-text-p05-009"/>
          <p:cNvSpPr/>
          <p:nvPr/>
        </p:nvSpPr>
        <p:spPr>
          <a:xfrm>
            <a:off x="7458456" y="2410206"/>
            <a:ext cx="274320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8" dirty="0">
                <a:solidFill>
                  <a:srgbClr val="3F99F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en-US" sz="1168" dirty="0"/>
          </a:p>
        </p:txBody>
      </p:sp>
      <p:sp>
        <p:nvSpPr>
          <p:cNvPr id="12" name="ocr-text-p05-010"/>
          <p:cNvSpPr/>
          <p:nvPr/>
        </p:nvSpPr>
        <p:spPr>
          <a:xfrm>
            <a:off x="7477506" y="2715006"/>
            <a:ext cx="1394460" cy="330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69" dirty="0">
                <a:solidFill>
                  <a:srgbClr val="D4D6D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审计财务与现金</a:t>
            </a:r>
            <a:endParaRPr lang="en-US" sz="1569" dirty="0"/>
          </a:p>
        </p:txBody>
      </p:sp>
      <p:sp>
        <p:nvSpPr>
          <p:cNvPr id="13" name="ocr-text-p05-011"/>
          <p:cNvSpPr/>
          <p:nvPr/>
        </p:nvSpPr>
        <p:spPr>
          <a:xfrm>
            <a:off x="3400806" y="2753106"/>
            <a:ext cx="1017270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D6D9D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正式融资与</a:t>
            </a:r>
            <a:endParaRPr lang="en-US" sz="1046" dirty="0"/>
          </a:p>
        </p:txBody>
      </p:sp>
      <p:sp>
        <p:nvSpPr>
          <p:cNvPr id="14" name="ocr-text-p05-012"/>
          <p:cNvSpPr/>
          <p:nvPr/>
        </p:nvSpPr>
        <p:spPr>
          <a:xfrm>
            <a:off x="1257681" y="2915031"/>
            <a:ext cx="21488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81" dirty="0">
                <a:solidFill>
                  <a:srgbClr val="D5D9D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FDE、 视频与算法优化</a:t>
            </a:r>
            <a:endParaRPr lang="en-US" sz="1781" dirty="0"/>
          </a:p>
        </p:txBody>
      </p:sp>
      <p:sp>
        <p:nvSpPr>
          <p:cNvPr id="15" name="ocr-text-p05-013"/>
          <p:cNvSpPr/>
          <p:nvPr/>
        </p:nvSpPr>
        <p:spPr>
          <a:xfrm>
            <a:off x="9820656" y="2943606"/>
            <a:ext cx="19431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49" dirty="0">
                <a:solidFill>
                  <a:srgbClr val="D5D7D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订单 、 验收 、 回款与</a:t>
            </a:r>
            <a:endParaRPr lang="en-US" sz="1649" dirty="0"/>
          </a:p>
        </p:txBody>
      </p:sp>
      <p:sp>
        <p:nvSpPr>
          <p:cNvPr id="16" name="ocr-text-p05-014"/>
          <p:cNvSpPr/>
          <p:nvPr/>
        </p:nvSpPr>
        <p:spPr>
          <a:xfrm>
            <a:off x="3572256" y="2972181"/>
            <a:ext cx="868680" cy="330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10" dirty="0">
                <a:solidFill>
                  <a:srgbClr val="D9DAD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交易条款</a:t>
            </a:r>
            <a:endParaRPr lang="en-US" sz="1710" dirty="0"/>
          </a:p>
        </p:txBody>
      </p:sp>
      <p:sp>
        <p:nvSpPr>
          <p:cNvPr id="17" name="ocr-text-p05-015"/>
          <p:cNvSpPr/>
          <p:nvPr/>
        </p:nvSpPr>
        <p:spPr>
          <a:xfrm>
            <a:off x="5239131" y="3010281"/>
            <a:ext cx="172593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65" b="1" dirty="0">
                <a:solidFill>
                  <a:srgbClr val="F9F8F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交易是否成立</a:t>
            </a:r>
            <a:endParaRPr lang="en-US" sz="2265" dirty="0"/>
          </a:p>
        </p:txBody>
      </p:sp>
      <p:sp>
        <p:nvSpPr>
          <p:cNvPr id="18" name="ocr-text-p05-016"/>
          <p:cNvSpPr/>
          <p:nvPr/>
        </p:nvSpPr>
        <p:spPr>
          <a:xfrm>
            <a:off x="9820656" y="3229356"/>
            <a:ext cx="172593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99" dirty="0">
                <a:solidFill>
                  <a:srgbClr val="D2D6D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财务底稿尚未穿透</a:t>
            </a:r>
            <a:endParaRPr lang="en-US" sz="1699" dirty="0"/>
          </a:p>
        </p:txBody>
      </p:sp>
      <p:sp>
        <p:nvSpPr>
          <p:cNvPr id="19" name="ocr-text-p05-017"/>
          <p:cNvSpPr/>
          <p:nvPr/>
        </p:nvSpPr>
        <p:spPr>
          <a:xfrm>
            <a:off x="1248156" y="3238881"/>
            <a:ext cx="168021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7" dirty="0">
                <a:solidFill>
                  <a:srgbClr val="D4D8D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均出现商业化信号</a:t>
            </a:r>
            <a:endParaRPr lang="en-US" sz="1107" dirty="0"/>
          </a:p>
        </p:txBody>
      </p:sp>
      <p:sp>
        <p:nvSpPr>
          <p:cNvPr id="20" name="ocr-text-p05-018"/>
          <p:cNvSpPr/>
          <p:nvPr/>
        </p:nvSpPr>
        <p:spPr>
          <a:xfrm>
            <a:off x="4372356" y="3896106"/>
            <a:ext cx="297180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8" dirty="0">
                <a:solidFill>
                  <a:srgbClr val="3F9CF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</a:t>
            </a:r>
            <a:endParaRPr lang="en-US" sz="1168" dirty="0"/>
          </a:p>
        </p:txBody>
      </p:sp>
      <p:sp>
        <p:nvSpPr>
          <p:cNvPr id="21" name="ocr-text-p05-019"/>
          <p:cNvSpPr/>
          <p:nvPr/>
        </p:nvSpPr>
        <p:spPr>
          <a:xfrm>
            <a:off x="7220331" y="3915156"/>
            <a:ext cx="285750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8" dirty="0">
                <a:solidFill>
                  <a:srgbClr val="419B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en-US" sz="1168" dirty="0"/>
          </a:p>
        </p:txBody>
      </p:sp>
      <p:sp>
        <p:nvSpPr>
          <p:cNvPr id="22" name="ocr-text-p05-020"/>
          <p:cNvSpPr/>
          <p:nvPr/>
        </p:nvSpPr>
        <p:spPr>
          <a:xfrm>
            <a:off x="790956" y="3943731"/>
            <a:ext cx="2651760" cy="39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19" b="1" dirty="0">
                <a:solidFill>
                  <a:srgbClr val="CDD6D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技术材料显示算法优化</a:t>
            </a:r>
            <a:endParaRPr lang="en-US" sz="1919" dirty="0"/>
          </a:p>
        </p:txBody>
      </p:sp>
      <p:sp>
        <p:nvSpPr>
          <p:cNvPr id="23" name="ocr-text-p05-021"/>
          <p:cNvSpPr/>
          <p:nvPr/>
        </p:nvSpPr>
        <p:spPr>
          <a:xfrm>
            <a:off x="9820656" y="3943731"/>
            <a:ext cx="20116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60" dirty="0">
                <a:solidFill>
                  <a:srgbClr val="D4D7D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融资和估值口径存在</a:t>
            </a:r>
            <a:endParaRPr lang="en-US" sz="1760" dirty="0"/>
          </a:p>
        </p:txBody>
      </p:sp>
      <p:sp>
        <p:nvSpPr>
          <p:cNvPr id="24" name="ocr-text-p05-022"/>
          <p:cNvSpPr/>
          <p:nvPr/>
        </p:nvSpPr>
        <p:spPr>
          <a:xfrm>
            <a:off x="3448431" y="4200906"/>
            <a:ext cx="140589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D0D2D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 知识产权与</a:t>
            </a:r>
            <a:endParaRPr lang="en-US" sz="1230" dirty="0"/>
          </a:p>
        </p:txBody>
      </p:sp>
      <p:sp>
        <p:nvSpPr>
          <p:cNvPr id="25" name="ocr-text-p05-023"/>
          <p:cNvSpPr/>
          <p:nvPr/>
        </p:nvSpPr>
        <p:spPr>
          <a:xfrm>
            <a:off x="7210806" y="4210431"/>
            <a:ext cx="154305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36" dirty="0">
                <a:solidFill>
                  <a:srgbClr val="D9DBD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合同验收与回款</a:t>
            </a:r>
            <a:endParaRPr lang="en-US" sz="1736" dirty="0"/>
          </a:p>
        </p:txBody>
      </p:sp>
      <p:sp>
        <p:nvSpPr>
          <p:cNvPr id="26" name="ocr-text-p05-024"/>
          <p:cNvSpPr/>
          <p:nvPr/>
        </p:nvSpPr>
        <p:spPr>
          <a:xfrm>
            <a:off x="1248156" y="4219956"/>
            <a:ext cx="21717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5" dirty="0">
                <a:solidFill>
                  <a:srgbClr val="D2D5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能力具备进一步核实价值</a:t>
            </a:r>
            <a:endParaRPr lang="en-US" sz="1555" dirty="0"/>
          </a:p>
        </p:txBody>
      </p:sp>
      <p:sp>
        <p:nvSpPr>
          <p:cNvPr id="27" name="ocr-text-p05-025"/>
          <p:cNvSpPr/>
          <p:nvPr/>
        </p:nvSpPr>
        <p:spPr>
          <a:xfrm>
            <a:off x="9820656" y="4229481"/>
            <a:ext cx="10744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92" dirty="0">
                <a:solidFill>
                  <a:srgbClr val="D4D7D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数量级冲突</a:t>
            </a:r>
            <a:endParaRPr lang="en-US" sz="1692" dirty="0"/>
          </a:p>
        </p:txBody>
      </p:sp>
      <p:sp>
        <p:nvSpPr>
          <p:cNvPr id="28" name="ocr-text-p05-026"/>
          <p:cNvSpPr/>
          <p:nvPr/>
        </p:nvSpPr>
        <p:spPr>
          <a:xfrm>
            <a:off x="3934206" y="4429506"/>
            <a:ext cx="81153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8" dirty="0">
                <a:solidFill>
                  <a:srgbClr val="DDDFE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资产归属</a:t>
            </a:r>
            <a:endParaRPr lang="en-US" sz="1598" dirty="0"/>
          </a:p>
        </p:txBody>
      </p:sp>
      <p:sp>
        <p:nvSpPr>
          <p:cNvPr id="29" name="ocr-text-p05-027"/>
          <p:cNvSpPr/>
          <p:nvPr/>
        </p:nvSpPr>
        <p:spPr>
          <a:xfrm>
            <a:off x="1000506" y="5220081"/>
            <a:ext cx="11191494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AF9F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结论：五项关键事实明确前，不对估值和投资金额作确定性判断</a:t>
            </a:r>
            <a:endParaRPr lang="en-US" sz="2800" dirty="0"/>
          </a:p>
        </p:txBody>
      </p:sp>
      <p:sp>
        <p:nvSpPr>
          <p:cNvPr id="30" name="ocr-text-p05-028"/>
          <p:cNvSpPr/>
          <p:nvPr/>
        </p:nvSpPr>
        <p:spPr>
          <a:xfrm>
            <a:off x="543306" y="6172581"/>
            <a:ext cx="5955030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88" dirty="0">
                <a:solidFill>
                  <a:srgbClr val="BDC1D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责任声明：本材料仅供内部审议，不构成最终投资决策</a:t>
            </a:r>
            <a:endParaRPr lang="en-US" sz="1788" dirty="0"/>
          </a:p>
        </p:txBody>
      </p:sp>
      <p:sp>
        <p:nvSpPr>
          <p:cNvPr id="31" name="ocr-text-p05-029"/>
          <p:cNvSpPr/>
          <p:nvPr/>
        </p:nvSpPr>
        <p:spPr>
          <a:xfrm>
            <a:off x="6734556" y="6182106"/>
            <a:ext cx="545744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96" dirty="0">
                <a:solidFill>
                  <a:srgbClr val="B4B9C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来源：公司官网、项目会议纪要、投资中台项目记录</a:t>
            </a:r>
            <a:endParaRPr lang="en-US" sz="179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Cybernaut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PDF template converted to editable PPTX</dc:subject>
  <dc:creator>Cybernaut</dc:creator>
  <cp:lastModifiedBy>Cybernaut</cp:lastModifiedBy>
  <cp:revision>1</cp:revision>
  <dcterms:created xsi:type="dcterms:W3CDTF">2026-08-06T07:42:55Z</dcterms:created>
  <dcterms:modified xsi:type="dcterms:W3CDTF">2026-08-06T07:42:55Z</dcterms:modified>
</cp:coreProperties>
</file>