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用户提供的原始 PDF：/Users/lh/Documents/cybernaut-dist/output/create-reference-driven-editable-ppt/zhiling-20260806/bridge/智灵动力_投资建议书_图片桥接.pdf（第 1 页）
- 背景由原页清除文字后生成；文字、图标、图形、图表和表格按可编辑对象重建。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用户提供的原始 PDF：/Users/lh/Documents/cybernaut-dist/output/create-reference-driven-editable-ppt/zhiling-20260806/bridge/智灵动力_投资建议书_图片桥接.pdf（第 2 页）
- 背景由原页清除文字后生成；文字、图标、图形、图表和表格按可编辑对象重建。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用户提供的原始 PDF：/Users/lh/Documents/cybernaut-dist/output/create-reference-driven-editable-ppt/zhiling-20260806/bridge/智灵动力_投资建议书_图片桥接.pdf（第 3 页）
- 背景由原页清除文字后生成；文字、图标、图形、图表和表格按可编辑对象重建。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用户提供的原始 PDF：/Users/lh/Documents/cybernaut-dist/output/create-reference-driven-editable-ppt/zhiling-20260806/bridge/智灵动力_投资建议书_图片桥接.pdf（第 4 页）
- 背景由原页清除文字后生成；文字、图标、图形、图表和表格按可编辑对象重建。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用户提供的原始 PDF：/Users/lh/Documents/cybernaut-dist/output/create-reference-driven-editable-ppt/zhiling-20260806/bridge/智灵动力_投资建议书_图片桥接.pdf（第 5 页）
- 背景由原页清除文字后生成；文字、图标、图形、图表和表格按可编辑对象重建。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cr-clean-background-1" descr="第 1 页已清除文字的背景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ocr-text-p01-001"/>
          <p:cNvSpPr/>
          <p:nvPr/>
        </p:nvSpPr>
        <p:spPr>
          <a:xfrm>
            <a:off x="771906" y="1914906"/>
            <a:ext cx="11346942" cy="981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393" b="1" dirty="0">
                <a:solidFill>
                  <a:srgbClr val="000C25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智灵动力投资建议书</a:t>
            </a:r>
            <a:endParaRPr lang="en-US" sz="7393" dirty="0"/>
          </a:p>
        </p:txBody>
      </p:sp>
      <p:sp>
        <p:nvSpPr>
          <p:cNvPr id="4" name="ocr-text-p01-002"/>
          <p:cNvSpPr/>
          <p:nvPr/>
        </p:nvSpPr>
        <p:spPr>
          <a:xfrm>
            <a:off x="829056" y="3286506"/>
            <a:ext cx="6835140" cy="4693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706" b="1" dirty="0">
                <a:solidFill>
                  <a:srgbClr val="010C25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智灵动力（北京）科技有限公司</a:t>
            </a:r>
            <a:endParaRPr lang="en-US" sz="2706" dirty="0"/>
          </a:p>
        </p:txBody>
      </p:sp>
      <p:sp>
        <p:nvSpPr>
          <p:cNvPr id="5" name="ocr-text-p01-003"/>
          <p:cNvSpPr/>
          <p:nvPr/>
        </p:nvSpPr>
        <p:spPr>
          <a:xfrm>
            <a:off x="848106" y="3915156"/>
            <a:ext cx="610362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968" dirty="0">
                <a:solidFill>
                  <a:srgbClr val="000C25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从产品能力、商业验证到交易可行性的五页判断</a:t>
            </a:r>
            <a:endParaRPr lang="en-US" sz="1968" dirty="0"/>
          </a:p>
        </p:txBody>
      </p:sp>
      <p:sp>
        <p:nvSpPr>
          <p:cNvPr id="6" name="ocr-text-p01-004"/>
          <p:cNvSpPr/>
          <p:nvPr/>
        </p:nvSpPr>
        <p:spPr>
          <a:xfrm>
            <a:off x="829056" y="6010656"/>
            <a:ext cx="244602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30" dirty="0">
                <a:solidFill>
                  <a:srgbClr val="010C25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内部讨论稿｜ 2026年8月</a:t>
            </a:r>
            <a:endParaRPr lang="en-US" sz="123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cr-clean-background-2" descr="第 2 页已清除文字的背景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ocr-text-p02-001"/>
          <p:cNvSpPr/>
          <p:nvPr/>
        </p:nvSpPr>
        <p:spPr>
          <a:xfrm>
            <a:off x="276606" y="238506"/>
            <a:ext cx="11842242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686" b="1" dirty="0">
                <a:solidFill>
                  <a:srgbClr val="154FB1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01</a:t>
            </a:r>
            <a:endParaRPr lang="en-US" sz="2686" dirty="0"/>
          </a:p>
        </p:txBody>
      </p:sp>
      <p:sp>
        <p:nvSpPr>
          <p:cNvPr id="4" name="ocr-text-p02-002"/>
          <p:cNvSpPr/>
          <p:nvPr/>
        </p:nvSpPr>
        <p:spPr>
          <a:xfrm>
            <a:off x="1095756" y="238506"/>
            <a:ext cx="11023092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454" b="1" dirty="0">
                <a:solidFill>
                  <a:srgbClr val="000B22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公司已形成三条产品线，但底层技术与业务归属仍需核实</a:t>
            </a:r>
            <a:endParaRPr lang="en-US" sz="3454" dirty="0"/>
          </a:p>
        </p:txBody>
      </p:sp>
      <p:sp>
        <p:nvSpPr>
          <p:cNvPr id="5" name="ocr-text-p02-003"/>
          <p:cNvSpPr/>
          <p:nvPr/>
        </p:nvSpPr>
        <p:spPr>
          <a:xfrm>
            <a:off x="4124706" y="943356"/>
            <a:ext cx="7994142" cy="2987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91" b="1" dirty="0">
                <a:solidFill>
                  <a:srgbClr val="010C23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官方定位：科创研究与文创视听智能体</a:t>
            </a:r>
            <a:endParaRPr lang="en-US" sz="1791" dirty="0"/>
          </a:p>
        </p:txBody>
      </p:sp>
      <p:sp>
        <p:nvSpPr>
          <p:cNvPr id="6" name="ocr-text-p02-004"/>
          <p:cNvSpPr/>
          <p:nvPr/>
        </p:nvSpPr>
        <p:spPr>
          <a:xfrm>
            <a:off x="1742695" y="1606548"/>
            <a:ext cx="1693466" cy="3493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014" b="1" dirty="0">
                <a:solidFill>
                  <a:srgbClr val="00163E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行业智能体</a:t>
            </a:r>
            <a:endParaRPr lang="en-US" sz="2014" dirty="0"/>
          </a:p>
        </p:txBody>
      </p:sp>
      <p:sp>
        <p:nvSpPr>
          <p:cNvPr id="7" name="ocr-text-p02-005"/>
          <p:cNvSpPr/>
          <p:nvPr/>
        </p:nvSpPr>
        <p:spPr>
          <a:xfrm>
            <a:off x="1038606" y="2257806"/>
            <a:ext cx="18059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76" dirty="0">
                <a:solidFill>
                  <a:srgbClr val="091E45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研究报告智能体</a:t>
            </a:r>
            <a:endParaRPr lang="en-US" sz="1476" dirty="0"/>
          </a:p>
        </p:txBody>
      </p:sp>
      <p:sp>
        <p:nvSpPr>
          <p:cNvPr id="8" name="ocr-text-p02-006"/>
          <p:cNvSpPr/>
          <p:nvPr/>
        </p:nvSpPr>
        <p:spPr>
          <a:xfrm>
            <a:off x="1038377" y="2656831"/>
            <a:ext cx="1120690" cy="2369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66" dirty="0">
                <a:solidFill>
                  <a:srgbClr val="081E44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企业 FDE</a:t>
            </a:r>
            <a:endParaRPr lang="en-US" sz="1366" dirty="0"/>
          </a:p>
        </p:txBody>
      </p:sp>
      <p:sp>
        <p:nvSpPr>
          <p:cNvPr id="9" name="ocr-text-p02-007"/>
          <p:cNvSpPr/>
          <p:nvPr/>
        </p:nvSpPr>
        <p:spPr>
          <a:xfrm>
            <a:off x="1057656" y="3057906"/>
            <a:ext cx="196596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30" dirty="0">
                <a:solidFill>
                  <a:srgbClr val="081E44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AI-AutoResearch</a:t>
            </a:r>
            <a:endParaRPr lang="en-US" sz="1230" dirty="0"/>
          </a:p>
        </p:txBody>
      </p:sp>
      <p:sp>
        <p:nvSpPr>
          <p:cNvPr id="10" name="ocr-text-p02-008"/>
          <p:cNvSpPr/>
          <p:nvPr/>
        </p:nvSpPr>
        <p:spPr>
          <a:xfrm>
            <a:off x="5838562" y="1607714"/>
            <a:ext cx="1350285" cy="3467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999" b="1" dirty="0">
                <a:solidFill>
                  <a:srgbClr val="01163E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文创视听</a:t>
            </a:r>
            <a:endParaRPr lang="en-US" sz="1999" dirty="0"/>
          </a:p>
        </p:txBody>
      </p:sp>
      <p:sp>
        <p:nvSpPr>
          <p:cNvPr id="11" name="ocr-text-p02-009"/>
          <p:cNvSpPr/>
          <p:nvPr/>
        </p:nvSpPr>
        <p:spPr>
          <a:xfrm>
            <a:off x="4981513" y="2255851"/>
            <a:ext cx="1304082" cy="2817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624" dirty="0">
                <a:solidFill>
                  <a:srgbClr val="081E45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视频智能体</a:t>
            </a:r>
            <a:endParaRPr lang="en-US" sz="1624" dirty="0"/>
          </a:p>
        </p:txBody>
      </p:sp>
      <p:sp>
        <p:nvSpPr>
          <p:cNvPr id="12" name="ocr-text-p02-010"/>
          <p:cNvSpPr/>
          <p:nvPr/>
        </p:nvSpPr>
        <p:spPr>
          <a:xfrm>
            <a:off x="4981675" y="2637466"/>
            <a:ext cx="1303693" cy="259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93" dirty="0">
                <a:solidFill>
                  <a:srgbClr val="081E45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剧幕智能体</a:t>
            </a:r>
            <a:endParaRPr lang="en-US" sz="1493" dirty="0"/>
          </a:p>
        </p:txBody>
      </p:sp>
      <p:sp>
        <p:nvSpPr>
          <p:cNvPr id="13" name="ocr-text-p02-011"/>
          <p:cNvSpPr/>
          <p:nvPr/>
        </p:nvSpPr>
        <p:spPr>
          <a:xfrm>
            <a:off x="4981956" y="3019806"/>
            <a:ext cx="1554480" cy="277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99" dirty="0">
                <a:solidFill>
                  <a:srgbClr val="081E45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数字人智能体</a:t>
            </a:r>
            <a:endParaRPr lang="en-US" sz="1599" dirty="0"/>
          </a:p>
        </p:txBody>
      </p:sp>
      <p:sp>
        <p:nvSpPr>
          <p:cNvPr id="14" name="ocr-text-p02-012"/>
          <p:cNvSpPr/>
          <p:nvPr/>
        </p:nvSpPr>
        <p:spPr>
          <a:xfrm>
            <a:off x="4543806" y="3457956"/>
            <a:ext cx="3383280" cy="2987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22" dirty="0">
                <a:solidFill>
                  <a:srgbClr val="010C24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三层技术体系（管理层口径）</a:t>
            </a:r>
            <a:endParaRPr lang="en-US" sz="1722" dirty="0"/>
          </a:p>
        </p:txBody>
      </p:sp>
      <p:sp>
        <p:nvSpPr>
          <p:cNvPr id="15" name="ocr-text-p02-013"/>
          <p:cNvSpPr/>
          <p:nvPr/>
        </p:nvSpPr>
        <p:spPr>
          <a:xfrm>
            <a:off x="5362215" y="3891995"/>
            <a:ext cx="1624838" cy="2865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652" dirty="0">
                <a:solidFill>
                  <a:srgbClr val="12274F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自进化大模型</a:t>
            </a:r>
            <a:endParaRPr lang="en-US" sz="1652" dirty="0"/>
          </a:p>
        </p:txBody>
      </p:sp>
      <p:sp>
        <p:nvSpPr>
          <p:cNvPr id="16" name="ocr-text-p02-014"/>
          <p:cNvSpPr/>
          <p:nvPr/>
        </p:nvSpPr>
        <p:spPr>
          <a:xfrm>
            <a:off x="5267706" y="4524756"/>
            <a:ext cx="1851660" cy="277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99" dirty="0">
                <a:solidFill>
                  <a:srgbClr val="0E244C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自进化 AI 框架</a:t>
            </a:r>
            <a:endParaRPr lang="en-US" sz="1599" dirty="0"/>
          </a:p>
        </p:txBody>
      </p:sp>
      <p:sp>
        <p:nvSpPr>
          <p:cNvPr id="17" name="ocr-text-p02-015"/>
          <p:cNvSpPr/>
          <p:nvPr/>
        </p:nvSpPr>
        <p:spPr>
          <a:xfrm>
            <a:off x="5210556" y="5134356"/>
            <a:ext cx="2034540" cy="2987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22" dirty="0">
                <a:solidFill>
                  <a:srgbClr val="051737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自进化算法优化</a:t>
            </a:r>
            <a:endParaRPr lang="en-US" sz="1722" dirty="0"/>
          </a:p>
        </p:txBody>
      </p:sp>
      <p:sp>
        <p:nvSpPr>
          <p:cNvPr id="18" name="ocr-text-p02-016"/>
          <p:cNvSpPr/>
          <p:nvPr/>
        </p:nvSpPr>
        <p:spPr>
          <a:xfrm>
            <a:off x="9458706" y="1610106"/>
            <a:ext cx="137160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968" b="1" dirty="0">
                <a:solidFill>
                  <a:srgbClr val="00163E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算法优化</a:t>
            </a:r>
            <a:endParaRPr lang="en-US" sz="1968" dirty="0"/>
          </a:p>
        </p:txBody>
      </p:sp>
      <p:sp>
        <p:nvSpPr>
          <p:cNvPr id="19" name="ocr-text-p02-017"/>
          <p:cNvSpPr/>
          <p:nvPr/>
        </p:nvSpPr>
        <p:spPr>
          <a:xfrm>
            <a:off x="8772199" y="2255225"/>
            <a:ext cx="1076117" cy="2831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632" dirty="0">
                <a:solidFill>
                  <a:srgbClr val="081E44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算法工厂</a:t>
            </a:r>
            <a:endParaRPr lang="en-US" sz="1632" dirty="0"/>
          </a:p>
        </p:txBody>
      </p:sp>
      <p:sp>
        <p:nvSpPr>
          <p:cNvPr id="20" name="ocr-text-p02-018"/>
          <p:cNvSpPr/>
          <p:nvPr/>
        </p:nvSpPr>
        <p:spPr>
          <a:xfrm>
            <a:off x="8715756" y="2638806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76" dirty="0">
                <a:solidFill>
                  <a:srgbClr val="081E44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自进化算法优化</a:t>
            </a:r>
            <a:endParaRPr lang="en-US" sz="1476" dirty="0"/>
          </a:p>
        </p:txBody>
      </p:sp>
      <p:sp>
        <p:nvSpPr>
          <p:cNvPr id="21" name="ocr-text-p02-019"/>
          <p:cNvSpPr/>
          <p:nvPr/>
        </p:nvSpPr>
        <p:spPr>
          <a:xfrm>
            <a:off x="8772906" y="3038856"/>
            <a:ext cx="2400300" cy="277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99" dirty="0">
                <a:solidFill>
                  <a:srgbClr val="081E44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VEQPy 可选求解扩展</a:t>
            </a:r>
            <a:endParaRPr lang="en-US" sz="1599" dirty="0"/>
          </a:p>
        </p:txBody>
      </p:sp>
      <p:sp>
        <p:nvSpPr>
          <p:cNvPr id="22" name="ocr-text-p02-020"/>
          <p:cNvSpPr/>
          <p:nvPr/>
        </p:nvSpPr>
        <p:spPr>
          <a:xfrm>
            <a:off x="1189676" y="5776890"/>
            <a:ext cx="11002324" cy="4425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551" dirty="0">
                <a:solidFill>
                  <a:srgbClr val="11182D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关键判断：产品矩阵可核对，技术权属、测试结果与业务资产归属仍需专项核实</a:t>
            </a:r>
            <a:endParaRPr lang="en-US" sz="2551" dirty="0"/>
          </a:p>
        </p:txBody>
      </p:sp>
      <p:sp>
        <p:nvSpPr>
          <p:cNvPr id="23" name="ocr-text-p02-021"/>
          <p:cNvSpPr/>
          <p:nvPr/>
        </p:nvSpPr>
        <p:spPr>
          <a:xfrm>
            <a:off x="181356" y="6525006"/>
            <a:ext cx="6080760" cy="277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99" dirty="0">
                <a:solidFill>
                  <a:srgbClr val="000C24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来源：公司官网、华为云、项目会议纪要、算法工厂技术材料</a:t>
            </a:r>
            <a:endParaRPr lang="en-US" sz="1599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cr-clean-background-3" descr="第 3 页已清除文字的背景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ocr-text-p03-001"/>
          <p:cNvSpPr/>
          <p:nvPr/>
        </p:nvSpPr>
        <p:spPr>
          <a:xfrm>
            <a:off x="238506" y="238506"/>
            <a:ext cx="1188034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070" b="1" dirty="0">
                <a:solidFill>
                  <a:srgbClr val="000E24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02</a:t>
            </a:r>
            <a:endParaRPr lang="en-US" sz="3070" dirty="0"/>
          </a:p>
        </p:txBody>
      </p:sp>
      <p:sp>
        <p:nvSpPr>
          <p:cNvPr id="4" name="ocr-text-p03-002"/>
          <p:cNvSpPr/>
          <p:nvPr/>
        </p:nvSpPr>
        <p:spPr>
          <a:xfrm>
            <a:off x="1208632" y="267229"/>
            <a:ext cx="10910216" cy="5757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452" b="1" dirty="0">
                <a:solidFill>
                  <a:srgbClr val="000E23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商业化信号已出现，</a:t>
            </a:r>
            <a:endParaRPr lang="en-US" sz="3452" dirty="0"/>
          </a:p>
        </p:txBody>
      </p:sp>
      <p:sp>
        <p:nvSpPr>
          <p:cNvPr id="5" name="ocr-text-p03-003"/>
          <p:cNvSpPr/>
          <p:nvPr/>
        </p:nvSpPr>
        <p:spPr>
          <a:xfrm>
            <a:off x="4562856" y="257556"/>
            <a:ext cx="7555992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198" b="1" dirty="0">
                <a:solidFill>
                  <a:srgbClr val="000E23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但合同、验收与回款仍需穿透核实</a:t>
            </a:r>
            <a:endParaRPr lang="en-US" sz="3198" dirty="0"/>
          </a:p>
        </p:txBody>
      </p:sp>
      <p:sp>
        <p:nvSpPr>
          <p:cNvPr id="6" name="ocr-text-p03-004"/>
          <p:cNvSpPr/>
          <p:nvPr/>
        </p:nvSpPr>
        <p:spPr>
          <a:xfrm>
            <a:off x="581406" y="1991106"/>
            <a:ext cx="571500" cy="277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99" dirty="0">
                <a:solidFill>
                  <a:srgbClr val="17345E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接洽</a:t>
            </a:r>
            <a:endParaRPr lang="en-US" sz="1599" dirty="0"/>
          </a:p>
        </p:txBody>
      </p:sp>
      <p:sp>
        <p:nvSpPr>
          <p:cNvPr id="7" name="ocr-text-p03-005"/>
          <p:cNvSpPr/>
          <p:nvPr/>
        </p:nvSpPr>
        <p:spPr>
          <a:xfrm>
            <a:off x="1819656" y="2010156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76" dirty="0">
                <a:solidFill>
                  <a:srgbClr val="17345E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Demo</a:t>
            </a:r>
            <a:endParaRPr lang="en-US" sz="1476" dirty="0"/>
          </a:p>
        </p:txBody>
      </p:sp>
      <p:sp>
        <p:nvSpPr>
          <p:cNvPr id="8" name="ocr-text-p03-006"/>
          <p:cNvSpPr/>
          <p:nvPr/>
        </p:nvSpPr>
        <p:spPr>
          <a:xfrm>
            <a:off x="3248406" y="1991106"/>
            <a:ext cx="571500" cy="277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99" dirty="0">
                <a:solidFill>
                  <a:srgbClr val="17345E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合同</a:t>
            </a:r>
            <a:endParaRPr lang="en-US" sz="1599" dirty="0"/>
          </a:p>
        </p:txBody>
      </p:sp>
      <p:sp>
        <p:nvSpPr>
          <p:cNvPr id="9" name="ocr-text-p03-007"/>
          <p:cNvSpPr/>
          <p:nvPr/>
        </p:nvSpPr>
        <p:spPr>
          <a:xfrm>
            <a:off x="4486656" y="1991106"/>
            <a:ext cx="594360" cy="2987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22" dirty="0">
                <a:solidFill>
                  <a:srgbClr val="17345E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交付</a:t>
            </a:r>
            <a:endParaRPr lang="en-US" sz="1722" dirty="0"/>
          </a:p>
        </p:txBody>
      </p:sp>
      <p:sp>
        <p:nvSpPr>
          <p:cNvPr id="10" name="ocr-text-p03-008"/>
          <p:cNvSpPr/>
          <p:nvPr/>
        </p:nvSpPr>
        <p:spPr>
          <a:xfrm>
            <a:off x="5705856" y="1991106"/>
            <a:ext cx="594360" cy="2987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22" dirty="0">
                <a:solidFill>
                  <a:srgbClr val="17345E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验收</a:t>
            </a:r>
            <a:endParaRPr lang="en-US" sz="1722" dirty="0"/>
          </a:p>
        </p:txBody>
      </p:sp>
      <p:sp>
        <p:nvSpPr>
          <p:cNvPr id="11" name="ocr-text-p03-009"/>
          <p:cNvSpPr/>
          <p:nvPr/>
        </p:nvSpPr>
        <p:spPr>
          <a:xfrm>
            <a:off x="6944106" y="1991106"/>
            <a:ext cx="594360" cy="2987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22" dirty="0">
                <a:solidFill>
                  <a:srgbClr val="17345E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回款</a:t>
            </a:r>
            <a:endParaRPr lang="en-US" sz="1722" dirty="0"/>
          </a:p>
        </p:txBody>
      </p:sp>
      <p:sp>
        <p:nvSpPr>
          <p:cNvPr id="12" name="ocr-text-p03-010"/>
          <p:cNvSpPr/>
          <p:nvPr/>
        </p:nvSpPr>
        <p:spPr>
          <a:xfrm>
            <a:off x="695706" y="3248406"/>
            <a:ext cx="3611880" cy="2987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22" dirty="0">
                <a:solidFill>
                  <a:srgbClr val="051932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FDE｜ 2026年5月启动商业化</a:t>
            </a:r>
            <a:endParaRPr lang="en-US" sz="1722" dirty="0"/>
          </a:p>
        </p:txBody>
      </p:sp>
      <p:sp>
        <p:nvSpPr>
          <p:cNvPr id="13" name="ocr-text-p03-011"/>
          <p:cNvSpPr/>
          <p:nvPr/>
        </p:nvSpPr>
        <p:spPr>
          <a:xfrm>
            <a:off x="657606" y="3705606"/>
            <a:ext cx="4023360" cy="277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99" dirty="0">
                <a:solidFill>
                  <a:srgbClr val="041832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• 集鑫：60万元，流程推进中，已完成Demo</a:t>
            </a:r>
            <a:endParaRPr lang="en-US" sz="1599" dirty="0"/>
          </a:p>
        </p:txBody>
      </p:sp>
      <p:sp>
        <p:nvSpPr>
          <p:cNvPr id="14" name="ocr-text-p03-012"/>
          <p:cNvSpPr/>
          <p:nvPr/>
        </p:nvSpPr>
        <p:spPr>
          <a:xfrm>
            <a:off x="657606" y="4048506"/>
            <a:ext cx="4251960" cy="277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99" dirty="0">
                <a:solidFill>
                  <a:srgbClr val="031731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• 广博股份、海程邦达：单客潜在规模约200万元</a:t>
            </a:r>
            <a:endParaRPr lang="en-US" sz="1599" dirty="0"/>
          </a:p>
        </p:txBody>
      </p:sp>
      <p:sp>
        <p:nvSpPr>
          <p:cNvPr id="15" name="ocr-text-p03-013"/>
          <p:cNvSpPr/>
          <p:nvPr/>
        </p:nvSpPr>
        <p:spPr>
          <a:xfrm>
            <a:off x="657606" y="4410456"/>
            <a:ext cx="3909060" cy="277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99" dirty="0">
                <a:solidFill>
                  <a:srgbClr val="031731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• 济南病虫害：沟通规模1000万-2000万元</a:t>
            </a:r>
            <a:endParaRPr lang="en-US" sz="1599" dirty="0"/>
          </a:p>
        </p:txBody>
      </p:sp>
      <p:sp>
        <p:nvSpPr>
          <p:cNvPr id="16" name="ocr-text-p03-014"/>
          <p:cNvSpPr/>
          <p:nvPr/>
        </p:nvSpPr>
        <p:spPr>
          <a:xfrm>
            <a:off x="5039106" y="3229356"/>
            <a:ext cx="240030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968" b="1" dirty="0">
                <a:solidFill>
                  <a:srgbClr val="041831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算法优化｜在谈项目</a:t>
            </a:r>
            <a:endParaRPr lang="en-US" sz="1968" dirty="0"/>
          </a:p>
        </p:txBody>
      </p:sp>
      <p:sp>
        <p:nvSpPr>
          <p:cNvPr id="17" name="ocr-text-p03-015"/>
          <p:cNvSpPr/>
          <p:nvPr/>
        </p:nvSpPr>
        <p:spPr>
          <a:xfrm>
            <a:off x="5020056" y="3686556"/>
            <a:ext cx="22631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76" dirty="0">
                <a:solidFill>
                  <a:srgbClr val="041831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• 成泰科技：约180万元</a:t>
            </a:r>
            <a:endParaRPr lang="en-US" sz="1476" dirty="0"/>
          </a:p>
        </p:txBody>
      </p:sp>
      <p:sp>
        <p:nvSpPr>
          <p:cNvPr id="18" name="ocr-text-p03-016"/>
          <p:cNvSpPr/>
          <p:nvPr/>
        </p:nvSpPr>
        <p:spPr>
          <a:xfrm>
            <a:off x="5001006" y="4067556"/>
            <a:ext cx="24917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76" dirty="0">
                <a:solidFill>
                  <a:srgbClr val="02162F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• 华为超聚变：约180万元</a:t>
            </a:r>
            <a:endParaRPr lang="en-US" sz="1476" dirty="0"/>
          </a:p>
        </p:txBody>
      </p:sp>
      <p:sp>
        <p:nvSpPr>
          <p:cNvPr id="19" name="ocr-text-p03-017"/>
          <p:cNvSpPr/>
          <p:nvPr/>
        </p:nvSpPr>
        <p:spPr>
          <a:xfrm>
            <a:off x="5001006" y="4410456"/>
            <a:ext cx="2308860" cy="277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99" dirty="0">
                <a:solidFill>
                  <a:srgbClr val="021630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• 首个商业签单仍待确认</a:t>
            </a:r>
            <a:endParaRPr lang="en-US" sz="1599" dirty="0"/>
          </a:p>
        </p:txBody>
      </p:sp>
      <p:sp>
        <p:nvSpPr>
          <p:cNvPr id="20" name="ocr-text-p03-018"/>
          <p:cNvSpPr/>
          <p:nvPr/>
        </p:nvSpPr>
        <p:spPr>
          <a:xfrm>
            <a:off x="8333035" y="1943957"/>
            <a:ext cx="2473011" cy="4683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041935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5000分钟/20天</a:t>
            </a:r>
            <a:endParaRPr lang="en-US" sz="2700" dirty="0"/>
          </a:p>
        </p:txBody>
      </p:sp>
      <p:sp>
        <p:nvSpPr>
          <p:cNvPr id="21" name="ocr-text-p03-019"/>
          <p:cNvSpPr/>
          <p:nvPr/>
        </p:nvSpPr>
        <p:spPr>
          <a:xfrm>
            <a:off x="10695645" y="2042480"/>
            <a:ext cx="1283307" cy="2903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674" dirty="0">
                <a:solidFill>
                  <a:srgbClr val="031730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当前交付节奏</a:t>
            </a:r>
            <a:endParaRPr lang="en-US" sz="1674" dirty="0"/>
          </a:p>
        </p:txBody>
      </p:sp>
      <p:sp>
        <p:nvSpPr>
          <p:cNvPr id="22" name="ocr-text-p03-020"/>
          <p:cNvSpPr/>
          <p:nvPr/>
        </p:nvSpPr>
        <p:spPr>
          <a:xfrm>
            <a:off x="8315706" y="2676906"/>
            <a:ext cx="2034540" cy="4693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706" b="1" dirty="0">
                <a:solidFill>
                  <a:srgbClr val="031731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10000分钟</a:t>
            </a:r>
            <a:endParaRPr lang="en-US" sz="2706" dirty="0"/>
          </a:p>
        </p:txBody>
      </p:sp>
      <p:sp>
        <p:nvSpPr>
          <p:cNvPr id="23" name="ocr-text-p03-021"/>
          <p:cNvSpPr/>
          <p:nvPr/>
        </p:nvSpPr>
        <p:spPr>
          <a:xfrm>
            <a:off x="10695593" y="2785866"/>
            <a:ext cx="1054830" cy="2679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45" dirty="0">
                <a:solidFill>
                  <a:srgbClr val="03152E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下一轮计划</a:t>
            </a:r>
            <a:endParaRPr lang="en-US" sz="1545" dirty="0"/>
          </a:p>
        </p:txBody>
      </p:sp>
      <p:sp>
        <p:nvSpPr>
          <p:cNvPr id="24" name="ocr-text-p03-022"/>
          <p:cNvSpPr/>
          <p:nvPr/>
        </p:nvSpPr>
        <p:spPr>
          <a:xfrm>
            <a:off x="8333938" y="3416481"/>
            <a:ext cx="1967922" cy="45561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627" b="1" dirty="0">
                <a:solidFill>
                  <a:srgbClr val="02162E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500元/分钟</a:t>
            </a:r>
            <a:endParaRPr lang="en-US" sz="2627" dirty="0"/>
          </a:p>
        </p:txBody>
      </p:sp>
      <p:sp>
        <p:nvSpPr>
          <p:cNvPr id="25" name="ocr-text-p03-023"/>
          <p:cNvSpPr/>
          <p:nvPr/>
        </p:nvSpPr>
        <p:spPr>
          <a:xfrm>
            <a:off x="10677906" y="3534156"/>
            <a:ext cx="6629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76" dirty="0">
                <a:solidFill>
                  <a:srgbClr val="02142C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制作费</a:t>
            </a:r>
            <a:endParaRPr lang="en-US" sz="1476" dirty="0"/>
          </a:p>
        </p:txBody>
      </p:sp>
      <p:sp>
        <p:nvSpPr>
          <p:cNvPr id="26" name="ocr-text-p03-024"/>
          <p:cNvSpPr/>
          <p:nvPr/>
        </p:nvSpPr>
        <p:spPr>
          <a:xfrm>
            <a:off x="8334756" y="4143756"/>
            <a:ext cx="1965960" cy="4693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706" b="1" dirty="0">
                <a:solidFill>
                  <a:srgbClr val="01142C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330元/分钟</a:t>
            </a:r>
            <a:endParaRPr lang="en-US" sz="2706" dirty="0"/>
          </a:p>
        </p:txBody>
      </p:sp>
      <p:sp>
        <p:nvSpPr>
          <p:cNvPr id="27" name="ocr-text-p03-025"/>
          <p:cNvSpPr/>
          <p:nvPr/>
        </p:nvSpPr>
        <p:spPr>
          <a:xfrm>
            <a:off x="10696956" y="4258056"/>
            <a:ext cx="8458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76" dirty="0">
                <a:solidFill>
                  <a:srgbClr val="02132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当前成本</a:t>
            </a:r>
            <a:endParaRPr lang="en-US" sz="1476" dirty="0"/>
          </a:p>
        </p:txBody>
      </p:sp>
      <p:sp>
        <p:nvSpPr>
          <p:cNvPr id="28" name="ocr-text-p03-026"/>
          <p:cNvSpPr/>
          <p:nvPr/>
        </p:nvSpPr>
        <p:spPr>
          <a:xfrm>
            <a:off x="9363456" y="4810506"/>
            <a:ext cx="2194560" cy="2987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22" dirty="0">
                <a:solidFill>
                  <a:srgbClr val="021226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Q3目标150元/分钟</a:t>
            </a:r>
            <a:endParaRPr lang="en-US" sz="1722" dirty="0"/>
          </a:p>
        </p:txBody>
      </p:sp>
      <p:sp>
        <p:nvSpPr>
          <p:cNvPr id="29" name="ocr-text-p03-027"/>
          <p:cNvSpPr/>
          <p:nvPr/>
        </p:nvSpPr>
        <p:spPr>
          <a:xfrm>
            <a:off x="8239506" y="5343906"/>
            <a:ext cx="3952494" cy="2346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3" dirty="0">
                <a:solidFill>
                  <a:srgbClr val="011229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状态说明：以上订单、单价、成本与目标均为管理层口径</a:t>
            </a:r>
            <a:endParaRPr lang="en-US" sz="1353" dirty="0"/>
          </a:p>
        </p:txBody>
      </p:sp>
      <p:sp>
        <p:nvSpPr>
          <p:cNvPr id="30" name="ocr-text-p03-028"/>
          <p:cNvSpPr/>
          <p:nvPr/>
        </p:nvSpPr>
        <p:spPr>
          <a:xfrm>
            <a:off x="1362456" y="5896356"/>
            <a:ext cx="976122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460" dirty="0">
                <a:solidFill>
                  <a:srgbClr val="17345E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投资影响：合同、验收、开票、回款与毛利底稿决定商业化质量</a:t>
            </a:r>
            <a:endParaRPr lang="en-US" sz="2460" dirty="0"/>
          </a:p>
        </p:txBody>
      </p:sp>
      <p:sp>
        <p:nvSpPr>
          <p:cNvPr id="31" name="ocr-text-p03-029"/>
          <p:cNvSpPr/>
          <p:nvPr/>
        </p:nvSpPr>
        <p:spPr>
          <a:xfrm>
            <a:off x="695706" y="6486906"/>
            <a:ext cx="3497580" cy="2346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3" dirty="0">
                <a:solidFill>
                  <a:srgbClr val="020F2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来源：2026年6月30日项目会议纪要</a:t>
            </a:r>
            <a:endParaRPr lang="en-US" sz="1353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cr-clean-background-4" descr="第 4 页已清除文字的背景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ocr-text-p04-001"/>
          <p:cNvSpPr/>
          <p:nvPr/>
        </p:nvSpPr>
        <p:spPr>
          <a:xfrm>
            <a:off x="257556" y="333756"/>
            <a:ext cx="11861292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686" b="1" dirty="0">
                <a:solidFill>
                  <a:srgbClr val="17345E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03</a:t>
            </a:r>
            <a:endParaRPr lang="en-US" sz="2686" dirty="0"/>
          </a:p>
        </p:txBody>
      </p:sp>
      <p:sp>
        <p:nvSpPr>
          <p:cNvPr id="4" name="ocr-text-p04-002"/>
          <p:cNvSpPr/>
          <p:nvPr/>
        </p:nvSpPr>
        <p:spPr>
          <a:xfrm>
            <a:off x="1267206" y="314706"/>
            <a:ext cx="1085164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070" b="1" dirty="0">
                <a:solidFill>
                  <a:srgbClr val="000B20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高人力成本叠加交易口径冲突，现金流安全边界尚不清晰</a:t>
            </a:r>
            <a:endParaRPr lang="en-US" sz="3070" dirty="0"/>
          </a:p>
        </p:txBody>
      </p:sp>
      <p:sp>
        <p:nvSpPr>
          <p:cNvPr id="5" name="ocr-text-p04-003"/>
          <p:cNvSpPr/>
          <p:nvPr/>
        </p:nvSpPr>
        <p:spPr>
          <a:xfrm>
            <a:off x="1305306" y="1286256"/>
            <a:ext cx="116586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460" b="1" dirty="0">
                <a:solidFill>
                  <a:srgbClr val="051832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138人</a:t>
            </a:r>
            <a:endParaRPr lang="en-US" sz="2460" dirty="0"/>
          </a:p>
        </p:txBody>
      </p:sp>
      <p:sp>
        <p:nvSpPr>
          <p:cNvPr id="6" name="ocr-text-p04-004"/>
          <p:cNvSpPr/>
          <p:nvPr/>
        </p:nvSpPr>
        <p:spPr>
          <a:xfrm>
            <a:off x="1285838" y="1760289"/>
            <a:ext cx="1441184" cy="2609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5" dirty="0">
                <a:solidFill>
                  <a:srgbClr val="051832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当前人员规模</a:t>
            </a:r>
            <a:endParaRPr lang="en-US" sz="1505" dirty="0"/>
          </a:p>
        </p:txBody>
      </p:sp>
      <p:sp>
        <p:nvSpPr>
          <p:cNvPr id="7" name="ocr-text-p04-005"/>
          <p:cNvSpPr/>
          <p:nvPr/>
        </p:nvSpPr>
        <p:spPr>
          <a:xfrm>
            <a:off x="962406" y="2429256"/>
            <a:ext cx="38633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845" b="1" dirty="0">
                <a:solidFill>
                  <a:srgbClr val="041934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现金流安排（管理层口径）</a:t>
            </a:r>
            <a:endParaRPr lang="en-US" sz="1845" dirty="0"/>
          </a:p>
        </p:txBody>
      </p:sp>
      <p:sp>
        <p:nvSpPr>
          <p:cNvPr id="8" name="ocr-text-p04-006"/>
          <p:cNvSpPr/>
          <p:nvPr/>
        </p:nvSpPr>
        <p:spPr>
          <a:xfrm>
            <a:off x="1457706" y="3134106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76" dirty="0">
                <a:solidFill>
                  <a:srgbClr val="051932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老股东拟提供1000万元借款</a:t>
            </a:r>
            <a:endParaRPr lang="en-US" sz="1476" dirty="0"/>
          </a:p>
        </p:txBody>
      </p:sp>
      <p:sp>
        <p:nvSpPr>
          <p:cNvPr id="9" name="ocr-text-p04-007"/>
          <p:cNvSpPr/>
          <p:nvPr/>
        </p:nvSpPr>
        <p:spPr>
          <a:xfrm>
            <a:off x="1457706" y="3800856"/>
            <a:ext cx="3314700" cy="277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99" dirty="0">
                <a:solidFill>
                  <a:srgbClr val="05193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管理层称可覆盖约半年现金需求</a:t>
            </a:r>
            <a:endParaRPr lang="en-US" sz="1599" dirty="0"/>
          </a:p>
        </p:txBody>
      </p:sp>
      <p:sp>
        <p:nvSpPr>
          <p:cNvPr id="10" name="ocr-text-p04-008"/>
          <p:cNvSpPr/>
          <p:nvPr/>
        </p:nvSpPr>
        <p:spPr>
          <a:xfrm>
            <a:off x="1457706" y="4524756"/>
            <a:ext cx="4023360" cy="277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99" dirty="0">
                <a:solidFill>
                  <a:srgbClr val="05193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借款协议、期限、利率与提款条件尚待核实</a:t>
            </a:r>
            <a:endParaRPr lang="en-US" sz="1599" dirty="0"/>
          </a:p>
        </p:txBody>
      </p:sp>
      <p:sp>
        <p:nvSpPr>
          <p:cNvPr id="11" name="ocr-text-p04-009"/>
          <p:cNvSpPr/>
          <p:nvPr/>
        </p:nvSpPr>
        <p:spPr>
          <a:xfrm>
            <a:off x="4200906" y="1305306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214" b="1" dirty="0">
                <a:solidFill>
                  <a:srgbClr val="051831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约200万元/月</a:t>
            </a:r>
            <a:endParaRPr lang="en-US" sz="2214" dirty="0"/>
          </a:p>
        </p:txBody>
      </p:sp>
      <p:sp>
        <p:nvSpPr>
          <p:cNvPr id="12" name="ocr-text-p04-010"/>
          <p:cNvSpPr/>
          <p:nvPr/>
        </p:nvSpPr>
        <p:spPr>
          <a:xfrm>
            <a:off x="4219956" y="1762506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76" dirty="0">
                <a:solidFill>
                  <a:srgbClr val="051832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基础人力成本</a:t>
            </a:r>
            <a:endParaRPr lang="en-US" sz="1476" dirty="0"/>
          </a:p>
        </p:txBody>
      </p:sp>
      <p:sp>
        <p:nvSpPr>
          <p:cNvPr id="13" name="ocr-text-p04-011"/>
          <p:cNvSpPr/>
          <p:nvPr/>
        </p:nvSpPr>
        <p:spPr>
          <a:xfrm>
            <a:off x="5820156" y="3038856"/>
            <a:ext cx="5257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76" dirty="0">
                <a:solidFill>
                  <a:srgbClr val="0D2747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来源</a:t>
            </a:r>
            <a:endParaRPr lang="en-US" sz="1476" dirty="0"/>
          </a:p>
        </p:txBody>
      </p:sp>
      <p:sp>
        <p:nvSpPr>
          <p:cNvPr id="14" name="ocr-text-p04-012"/>
          <p:cNvSpPr/>
          <p:nvPr/>
        </p:nvSpPr>
        <p:spPr>
          <a:xfrm>
            <a:off x="5628977" y="3493601"/>
            <a:ext cx="984608" cy="2615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8" dirty="0">
                <a:solidFill>
                  <a:srgbClr val="03132A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项目记录</a:t>
            </a:r>
            <a:endParaRPr lang="en-US" sz="1508" dirty="0"/>
          </a:p>
        </p:txBody>
      </p:sp>
      <p:sp>
        <p:nvSpPr>
          <p:cNvPr id="15" name="ocr-text-p04-013"/>
          <p:cNvSpPr/>
          <p:nvPr/>
        </p:nvSpPr>
        <p:spPr>
          <a:xfrm>
            <a:off x="5628978" y="3912702"/>
            <a:ext cx="984607" cy="26152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8" dirty="0">
                <a:solidFill>
                  <a:srgbClr val="03142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会议口径</a:t>
            </a:r>
            <a:endParaRPr lang="en-US" sz="1508" dirty="0"/>
          </a:p>
        </p:txBody>
      </p:sp>
      <p:sp>
        <p:nvSpPr>
          <p:cNvPr id="16" name="ocr-text-p04-014"/>
          <p:cNvSpPr/>
          <p:nvPr/>
        </p:nvSpPr>
        <p:spPr>
          <a:xfrm>
            <a:off x="7038168" y="1299203"/>
            <a:ext cx="2197412" cy="4190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416" b="1" dirty="0">
                <a:solidFill>
                  <a:srgbClr val="051831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约2400万元/年</a:t>
            </a:r>
            <a:endParaRPr lang="en-US" sz="2416" dirty="0"/>
          </a:p>
        </p:txBody>
      </p:sp>
      <p:sp>
        <p:nvSpPr>
          <p:cNvPr id="17" name="ocr-text-p04-015"/>
          <p:cNvSpPr/>
          <p:nvPr/>
        </p:nvSpPr>
        <p:spPr>
          <a:xfrm>
            <a:off x="7058406" y="1762506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76" dirty="0">
                <a:solidFill>
                  <a:srgbClr val="051832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年度人力成本</a:t>
            </a:r>
            <a:endParaRPr lang="en-US" sz="1476" dirty="0"/>
          </a:p>
        </p:txBody>
      </p:sp>
      <p:sp>
        <p:nvSpPr>
          <p:cNvPr id="18" name="ocr-text-p04-016"/>
          <p:cNvSpPr/>
          <p:nvPr/>
        </p:nvSpPr>
        <p:spPr>
          <a:xfrm>
            <a:off x="7363206" y="2429256"/>
            <a:ext cx="2103120" cy="3627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091" b="1" dirty="0">
                <a:solidFill>
                  <a:srgbClr val="04183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交易口径冲突</a:t>
            </a:r>
            <a:endParaRPr lang="en-US" sz="2091" dirty="0"/>
          </a:p>
        </p:txBody>
      </p:sp>
      <p:sp>
        <p:nvSpPr>
          <p:cNvPr id="19" name="ocr-text-p04-017"/>
          <p:cNvSpPr/>
          <p:nvPr/>
        </p:nvSpPr>
        <p:spPr>
          <a:xfrm>
            <a:off x="7229856" y="3038856"/>
            <a:ext cx="9829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76" dirty="0">
                <a:solidFill>
                  <a:srgbClr val="0D2847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融资金额</a:t>
            </a:r>
            <a:endParaRPr lang="en-US" sz="1476" dirty="0"/>
          </a:p>
        </p:txBody>
      </p:sp>
      <p:sp>
        <p:nvSpPr>
          <p:cNvPr id="20" name="ocr-text-p04-018"/>
          <p:cNvSpPr/>
          <p:nvPr/>
        </p:nvSpPr>
        <p:spPr>
          <a:xfrm>
            <a:off x="7172706" y="3515106"/>
            <a:ext cx="1074420" cy="2346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3" dirty="0">
                <a:solidFill>
                  <a:srgbClr val="02132A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1000万元</a:t>
            </a:r>
            <a:endParaRPr lang="en-US" sz="1353" dirty="0"/>
          </a:p>
        </p:txBody>
      </p:sp>
      <p:sp>
        <p:nvSpPr>
          <p:cNvPr id="21" name="ocr-text-p04-019"/>
          <p:cNvSpPr/>
          <p:nvPr/>
        </p:nvSpPr>
        <p:spPr>
          <a:xfrm>
            <a:off x="7229602" y="3914373"/>
            <a:ext cx="915009" cy="2791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609" dirty="0">
                <a:solidFill>
                  <a:srgbClr val="03142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约1亿元</a:t>
            </a:r>
            <a:endParaRPr lang="en-US" sz="1609" dirty="0"/>
          </a:p>
        </p:txBody>
      </p:sp>
      <p:sp>
        <p:nvSpPr>
          <p:cNvPr id="22" name="ocr-text-p04-020"/>
          <p:cNvSpPr/>
          <p:nvPr/>
        </p:nvSpPr>
        <p:spPr>
          <a:xfrm>
            <a:off x="10180892" y="1298513"/>
            <a:ext cx="1695753" cy="42060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425" b="1" dirty="0">
                <a:solidFill>
                  <a:srgbClr val="051831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130人左右</a:t>
            </a:r>
            <a:endParaRPr lang="en-US" sz="2425" dirty="0"/>
          </a:p>
        </p:txBody>
      </p:sp>
      <p:sp>
        <p:nvSpPr>
          <p:cNvPr id="23" name="ocr-text-p04-021"/>
          <p:cNvSpPr/>
          <p:nvPr/>
        </p:nvSpPr>
        <p:spPr>
          <a:xfrm>
            <a:off x="10182606" y="1762506"/>
            <a:ext cx="12115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76" dirty="0">
                <a:solidFill>
                  <a:srgbClr val="051932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优化后计划</a:t>
            </a:r>
            <a:endParaRPr lang="en-US" sz="1476" dirty="0"/>
          </a:p>
        </p:txBody>
      </p:sp>
      <p:sp>
        <p:nvSpPr>
          <p:cNvPr id="24" name="ocr-text-p04-022"/>
          <p:cNvSpPr/>
          <p:nvPr/>
        </p:nvSpPr>
        <p:spPr>
          <a:xfrm>
            <a:off x="8867442" y="3036473"/>
            <a:ext cx="984694" cy="2827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630" dirty="0">
                <a:solidFill>
                  <a:srgbClr val="0D2747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估值口径</a:t>
            </a:r>
            <a:endParaRPr lang="en-US" sz="1630" dirty="0"/>
          </a:p>
        </p:txBody>
      </p:sp>
      <p:sp>
        <p:nvSpPr>
          <p:cNvPr id="25" name="ocr-text-p04-023"/>
          <p:cNvSpPr/>
          <p:nvPr/>
        </p:nvSpPr>
        <p:spPr>
          <a:xfrm>
            <a:off x="9001506" y="3496056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76" dirty="0">
                <a:solidFill>
                  <a:srgbClr val="02132A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1亿元</a:t>
            </a:r>
            <a:endParaRPr lang="en-US" sz="1476" dirty="0"/>
          </a:p>
        </p:txBody>
      </p:sp>
      <p:sp>
        <p:nvSpPr>
          <p:cNvPr id="26" name="ocr-text-p04-024"/>
          <p:cNvSpPr/>
          <p:nvPr/>
        </p:nvSpPr>
        <p:spPr>
          <a:xfrm>
            <a:off x="8658606" y="3934206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76" dirty="0">
                <a:solidFill>
                  <a:srgbClr val="03142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10亿-15亿元</a:t>
            </a:r>
            <a:endParaRPr lang="en-US" sz="1476" dirty="0"/>
          </a:p>
        </p:txBody>
      </p:sp>
      <p:sp>
        <p:nvSpPr>
          <p:cNvPr id="27" name="ocr-text-p04-025"/>
          <p:cNvSpPr/>
          <p:nvPr/>
        </p:nvSpPr>
        <p:spPr>
          <a:xfrm>
            <a:off x="10487406" y="3038856"/>
            <a:ext cx="982980" cy="277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99" dirty="0">
                <a:solidFill>
                  <a:srgbClr val="0D2746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核实状态</a:t>
            </a:r>
            <a:endParaRPr lang="en-US" sz="1599" dirty="0"/>
          </a:p>
        </p:txBody>
      </p:sp>
      <p:sp>
        <p:nvSpPr>
          <p:cNvPr id="28" name="ocr-text-p04-026"/>
          <p:cNvSpPr/>
          <p:nvPr/>
        </p:nvSpPr>
        <p:spPr>
          <a:xfrm>
            <a:off x="10485795" y="3490144"/>
            <a:ext cx="986845" cy="2692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52" dirty="0">
                <a:solidFill>
                  <a:srgbClr val="021328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存在冲突</a:t>
            </a:r>
            <a:endParaRPr lang="en-US" sz="1552" dirty="0"/>
          </a:p>
        </p:txBody>
      </p:sp>
      <p:sp>
        <p:nvSpPr>
          <p:cNvPr id="29" name="ocr-text-p04-027"/>
          <p:cNvSpPr/>
          <p:nvPr/>
        </p:nvSpPr>
        <p:spPr>
          <a:xfrm>
            <a:off x="10392156" y="3915156"/>
            <a:ext cx="12115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76" dirty="0">
                <a:solidFill>
                  <a:srgbClr val="03142C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管理层沟通</a:t>
            </a:r>
            <a:endParaRPr lang="en-US" sz="1476" dirty="0"/>
          </a:p>
        </p:txBody>
      </p:sp>
      <p:sp>
        <p:nvSpPr>
          <p:cNvPr id="30" name="ocr-text-p04-028"/>
          <p:cNvSpPr/>
          <p:nvPr/>
        </p:nvSpPr>
        <p:spPr>
          <a:xfrm>
            <a:off x="6525006" y="5039106"/>
            <a:ext cx="4709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845" b="1" dirty="0">
                <a:solidFill>
                  <a:srgbClr val="04172E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差异达到数量级，不能直接用于交易定价</a:t>
            </a:r>
            <a:endParaRPr lang="en-US" sz="1845" dirty="0"/>
          </a:p>
        </p:txBody>
      </p:sp>
      <p:sp>
        <p:nvSpPr>
          <p:cNvPr id="31" name="ocr-text-p04-029"/>
          <p:cNvSpPr/>
          <p:nvPr/>
        </p:nvSpPr>
        <p:spPr>
          <a:xfrm>
            <a:off x="238506" y="6467856"/>
            <a:ext cx="39547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76" dirty="0">
                <a:solidFill>
                  <a:srgbClr val="000C21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来源：项目会议纪要、投资中台项目记录</a:t>
            </a:r>
            <a:endParaRPr lang="en-US" sz="1476" dirty="0"/>
          </a:p>
        </p:txBody>
      </p:sp>
      <p:sp>
        <p:nvSpPr>
          <p:cNvPr id="32" name="ocr-text-p04-030"/>
          <p:cNvSpPr/>
          <p:nvPr/>
        </p:nvSpPr>
        <p:spPr>
          <a:xfrm>
            <a:off x="1457706" y="5896356"/>
            <a:ext cx="1073429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214" dirty="0">
                <a:solidFill>
                  <a:srgbClr val="081E3A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投资影响：审计财务、现金流水平和正式条款明确前，估值合理性无法判断</a:t>
            </a:r>
            <a:endParaRPr lang="en-US" sz="2214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cr-clean-background-5" descr="第 5 页已清除文字的背景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ocr-text-p05-001"/>
          <p:cNvSpPr/>
          <p:nvPr/>
        </p:nvSpPr>
        <p:spPr>
          <a:xfrm>
            <a:off x="295656" y="276606"/>
            <a:ext cx="11823192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558" b="1" dirty="0">
                <a:solidFill>
                  <a:srgbClr val="000C21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04</a:t>
            </a:r>
            <a:endParaRPr lang="en-US" sz="2558" dirty="0"/>
          </a:p>
        </p:txBody>
      </p:sp>
      <p:sp>
        <p:nvSpPr>
          <p:cNvPr id="4" name="ocr-text-p05-002"/>
          <p:cNvSpPr/>
          <p:nvPr/>
        </p:nvSpPr>
        <p:spPr>
          <a:xfrm>
            <a:off x="1229106" y="295656"/>
            <a:ext cx="10889742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198" b="1" dirty="0">
                <a:solidFill>
                  <a:srgbClr val="000C20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暂不形成确定性投资结论，五项事实决定交易是否成立</a:t>
            </a:r>
            <a:endParaRPr lang="en-US" sz="3198" dirty="0"/>
          </a:p>
        </p:txBody>
      </p:sp>
      <p:sp>
        <p:nvSpPr>
          <p:cNvPr id="5" name="ocr-text-p05-003"/>
          <p:cNvSpPr/>
          <p:nvPr/>
        </p:nvSpPr>
        <p:spPr>
          <a:xfrm>
            <a:off x="1266597" y="1398276"/>
            <a:ext cx="1190182" cy="3038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51" dirty="0">
                <a:solidFill>
                  <a:srgbClr val="03162D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支持因素</a:t>
            </a:r>
            <a:endParaRPr lang="en-US" sz="1751" dirty="0"/>
          </a:p>
        </p:txBody>
      </p:sp>
      <p:sp>
        <p:nvSpPr>
          <p:cNvPr id="6" name="ocr-text-p05-004"/>
          <p:cNvSpPr/>
          <p:nvPr/>
        </p:nvSpPr>
        <p:spPr>
          <a:xfrm>
            <a:off x="1229106" y="2086356"/>
            <a:ext cx="1943100" cy="2346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3" dirty="0">
                <a:solidFill>
                  <a:srgbClr val="04162C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官方产品矩阵已形成</a:t>
            </a:r>
            <a:endParaRPr lang="en-US" sz="1353" dirty="0"/>
          </a:p>
        </p:txBody>
      </p:sp>
      <p:sp>
        <p:nvSpPr>
          <p:cNvPr id="7" name="ocr-text-p05-005"/>
          <p:cNvSpPr/>
          <p:nvPr/>
        </p:nvSpPr>
        <p:spPr>
          <a:xfrm>
            <a:off x="5763006" y="1133856"/>
            <a:ext cx="297180" cy="2346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3" dirty="0">
                <a:solidFill>
                  <a:srgbClr val="000C22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01</a:t>
            </a:r>
            <a:endParaRPr lang="en-US" sz="1353" dirty="0"/>
          </a:p>
        </p:txBody>
      </p:sp>
      <p:sp>
        <p:nvSpPr>
          <p:cNvPr id="8" name="ocr-text-p05-006"/>
          <p:cNvSpPr/>
          <p:nvPr/>
        </p:nvSpPr>
        <p:spPr>
          <a:xfrm>
            <a:off x="6334506" y="1552956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76" dirty="0">
                <a:solidFill>
                  <a:srgbClr val="010C21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01 主体与股权</a:t>
            </a:r>
            <a:endParaRPr lang="en-US" sz="1476" dirty="0"/>
          </a:p>
        </p:txBody>
      </p:sp>
      <p:sp>
        <p:nvSpPr>
          <p:cNvPr id="9" name="ocr-text-p05-007"/>
          <p:cNvSpPr/>
          <p:nvPr/>
        </p:nvSpPr>
        <p:spPr>
          <a:xfrm>
            <a:off x="9820157" y="1398655"/>
            <a:ext cx="1212777" cy="3029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47" dirty="0">
                <a:solidFill>
                  <a:srgbClr val="041328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主要反证</a:t>
            </a:r>
            <a:endParaRPr lang="en-US" sz="1747" dirty="0"/>
          </a:p>
        </p:txBody>
      </p:sp>
      <p:sp>
        <p:nvSpPr>
          <p:cNvPr id="10" name="ocr-text-p05-008"/>
          <p:cNvSpPr/>
          <p:nvPr/>
        </p:nvSpPr>
        <p:spPr>
          <a:xfrm>
            <a:off x="9801606" y="1991106"/>
            <a:ext cx="169164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30" dirty="0">
                <a:solidFill>
                  <a:srgbClr val="04142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经营数据主要来自</a:t>
            </a:r>
            <a:endParaRPr lang="en-US" sz="1230" dirty="0"/>
          </a:p>
        </p:txBody>
      </p:sp>
      <p:sp>
        <p:nvSpPr>
          <p:cNvPr id="11" name="ocr-text-p05-009"/>
          <p:cNvSpPr/>
          <p:nvPr/>
        </p:nvSpPr>
        <p:spPr>
          <a:xfrm>
            <a:off x="9801090" y="2255353"/>
            <a:ext cx="1075657" cy="2188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62" dirty="0">
                <a:solidFill>
                  <a:srgbClr val="05152C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管理层交流</a:t>
            </a:r>
            <a:endParaRPr lang="en-US" sz="1262" dirty="0"/>
          </a:p>
        </p:txBody>
      </p:sp>
      <p:sp>
        <p:nvSpPr>
          <p:cNvPr id="12" name="ocr-text-p05-010"/>
          <p:cNvSpPr/>
          <p:nvPr/>
        </p:nvSpPr>
        <p:spPr>
          <a:xfrm>
            <a:off x="1229106" y="2943606"/>
            <a:ext cx="2171700" cy="277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99" dirty="0">
                <a:solidFill>
                  <a:srgbClr val="04162C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FDE、视频与算法优化</a:t>
            </a:r>
            <a:endParaRPr lang="en-US" sz="1599" dirty="0"/>
          </a:p>
        </p:txBody>
      </p:sp>
      <p:sp>
        <p:nvSpPr>
          <p:cNvPr id="13" name="ocr-text-p05-011"/>
          <p:cNvSpPr/>
          <p:nvPr/>
        </p:nvSpPr>
        <p:spPr>
          <a:xfrm>
            <a:off x="1229106" y="3229356"/>
            <a:ext cx="1737360" cy="2346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3" dirty="0">
                <a:solidFill>
                  <a:srgbClr val="05172E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均出现商业化信号</a:t>
            </a:r>
            <a:endParaRPr lang="en-US" sz="1353" dirty="0"/>
          </a:p>
        </p:txBody>
      </p:sp>
      <p:sp>
        <p:nvSpPr>
          <p:cNvPr id="14" name="ocr-text-p05-012"/>
          <p:cNvSpPr/>
          <p:nvPr/>
        </p:nvSpPr>
        <p:spPr>
          <a:xfrm>
            <a:off x="4029456" y="2391156"/>
            <a:ext cx="3429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76" dirty="0">
                <a:solidFill>
                  <a:srgbClr val="000C21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05</a:t>
            </a:r>
            <a:endParaRPr lang="en-US" sz="1476" dirty="0"/>
          </a:p>
        </p:txBody>
      </p:sp>
      <p:sp>
        <p:nvSpPr>
          <p:cNvPr id="15" name="ocr-text-p05-013"/>
          <p:cNvSpPr/>
          <p:nvPr/>
        </p:nvSpPr>
        <p:spPr>
          <a:xfrm>
            <a:off x="3381756" y="2753106"/>
            <a:ext cx="105156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30" dirty="0">
                <a:solidFill>
                  <a:srgbClr val="030E22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正式融资与</a:t>
            </a:r>
            <a:endParaRPr lang="en-US" sz="1230" dirty="0"/>
          </a:p>
        </p:txBody>
      </p:sp>
      <p:sp>
        <p:nvSpPr>
          <p:cNvPr id="16" name="ocr-text-p05-014"/>
          <p:cNvSpPr/>
          <p:nvPr/>
        </p:nvSpPr>
        <p:spPr>
          <a:xfrm>
            <a:off x="3552128" y="2978152"/>
            <a:ext cx="894127" cy="2639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22" dirty="0">
                <a:solidFill>
                  <a:srgbClr val="010D2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交易条款</a:t>
            </a:r>
            <a:endParaRPr lang="en-US" sz="1522" dirty="0"/>
          </a:p>
        </p:txBody>
      </p:sp>
      <p:sp>
        <p:nvSpPr>
          <p:cNvPr id="17" name="ocr-text-p05-015"/>
          <p:cNvSpPr/>
          <p:nvPr/>
        </p:nvSpPr>
        <p:spPr>
          <a:xfrm>
            <a:off x="7439406" y="2391156"/>
            <a:ext cx="3429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76" dirty="0">
                <a:solidFill>
                  <a:srgbClr val="000C22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02</a:t>
            </a:r>
            <a:endParaRPr lang="en-US" sz="1476" dirty="0"/>
          </a:p>
        </p:txBody>
      </p:sp>
      <p:sp>
        <p:nvSpPr>
          <p:cNvPr id="18" name="ocr-text-p05-016"/>
          <p:cNvSpPr/>
          <p:nvPr/>
        </p:nvSpPr>
        <p:spPr>
          <a:xfrm>
            <a:off x="7458456" y="2753106"/>
            <a:ext cx="144018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30" dirty="0">
                <a:solidFill>
                  <a:srgbClr val="030E24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审计财务与现金</a:t>
            </a:r>
            <a:endParaRPr lang="en-US" sz="1230" dirty="0"/>
          </a:p>
        </p:txBody>
      </p:sp>
      <p:sp>
        <p:nvSpPr>
          <p:cNvPr id="19" name="ocr-text-p05-017"/>
          <p:cNvSpPr/>
          <p:nvPr/>
        </p:nvSpPr>
        <p:spPr>
          <a:xfrm>
            <a:off x="5228989" y="3035696"/>
            <a:ext cx="1738841" cy="3271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886" b="1" dirty="0">
                <a:solidFill>
                  <a:srgbClr val="021026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交易是否成立</a:t>
            </a:r>
            <a:endParaRPr lang="en-US" sz="1886" dirty="0"/>
          </a:p>
        </p:txBody>
      </p:sp>
      <p:sp>
        <p:nvSpPr>
          <p:cNvPr id="20" name="ocr-text-p05-018"/>
          <p:cNvSpPr/>
          <p:nvPr/>
        </p:nvSpPr>
        <p:spPr>
          <a:xfrm>
            <a:off x="9801606" y="2981706"/>
            <a:ext cx="19431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76" dirty="0">
                <a:solidFill>
                  <a:srgbClr val="04142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订单、验收、回款与</a:t>
            </a:r>
            <a:endParaRPr lang="en-US" sz="1476" dirty="0"/>
          </a:p>
        </p:txBody>
      </p:sp>
      <p:sp>
        <p:nvSpPr>
          <p:cNvPr id="21" name="ocr-text-p05-019"/>
          <p:cNvSpPr/>
          <p:nvPr/>
        </p:nvSpPr>
        <p:spPr>
          <a:xfrm>
            <a:off x="9801606" y="3267456"/>
            <a:ext cx="1714500" cy="2346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3" dirty="0">
                <a:solidFill>
                  <a:srgbClr val="04152C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财务底稿尚未穿透</a:t>
            </a:r>
            <a:endParaRPr lang="en-US" sz="1353" dirty="0"/>
          </a:p>
        </p:txBody>
      </p:sp>
      <p:sp>
        <p:nvSpPr>
          <p:cNvPr id="22" name="ocr-text-p05-020"/>
          <p:cNvSpPr/>
          <p:nvPr/>
        </p:nvSpPr>
        <p:spPr>
          <a:xfrm>
            <a:off x="1229106" y="3953256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76" dirty="0">
                <a:solidFill>
                  <a:srgbClr val="04162D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技术材料显示算法优化</a:t>
            </a:r>
            <a:endParaRPr lang="en-US" sz="1476" dirty="0"/>
          </a:p>
        </p:txBody>
      </p:sp>
      <p:sp>
        <p:nvSpPr>
          <p:cNvPr id="23" name="ocr-text-p05-021"/>
          <p:cNvSpPr/>
          <p:nvPr/>
        </p:nvSpPr>
        <p:spPr>
          <a:xfrm>
            <a:off x="1229106" y="4258056"/>
            <a:ext cx="2171700" cy="2346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3" dirty="0">
                <a:solidFill>
                  <a:srgbClr val="04152D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能力具备进一步核实价值</a:t>
            </a:r>
            <a:endParaRPr lang="en-US" sz="1353" dirty="0"/>
          </a:p>
        </p:txBody>
      </p:sp>
      <p:sp>
        <p:nvSpPr>
          <p:cNvPr id="24" name="ocr-text-p05-022"/>
          <p:cNvSpPr/>
          <p:nvPr/>
        </p:nvSpPr>
        <p:spPr>
          <a:xfrm>
            <a:off x="4353306" y="3877056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76" dirty="0">
                <a:solidFill>
                  <a:srgbClr val="000D24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04</a:t>
            </a:r>
            <a:endParaRPr lang="en-US" sz="1476" dirty="0"/>
          </a:p>
        </p:txBody>
      </p:sp>
      <p:sp>
        <p:nvSpPr>
          <p:cNvPr id="25" name="ocr-text-p05-023"/>
          <p:cNvSpPr/>
          <p:nvPr/>
        </p:nvSpPr>
        <p:spPr>
          <a:xfrm>
            <a:off x="3419254" y="4197404"/>
            <a:ext cx="1441623" cy="2425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98" dirty="0">
                <a:solidFill>
                  <a:srgbClr val="010D2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04知识产权与</a:t>
            </a:r>
            <a:endParaRPr lang="en-US" sz="1398" dirty="0"/>
          </a:p>
        </p:txBody>
      </p:sp>
      <p:sp>
        <p:nvSpPr>
          <p:cNvPr id="26" name="ocr-text-p05-024"/>
          <p:cNvSpPr/>
          <p:nvPr/>
        </p:nvSpPr>
        <p:spPr>
          <a:xfrm>
            <a:off x="3900286" y="4403790"/>
            <a:ext cx="919608" cy="2994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26" dirty="0">
                <a:solidFill>
                  <a:srgbClr val="010D2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资产归属</a:t>
            </a:r>
            <a:endParaRPr lang="en-US" sz="1726" dirty="0"/>
          </a:p>
        </p:txBody>
      </p:sp>
      <p:sp>
        <p:nvSpPr>
          <p:cNvPr id="27" name="ocr-text-p05-025"/>
          <p:cNvSpPr/>
          <p:nvPr/>
        </p:nvSpPr>
        <p:spPr>
          <a:xfrm>
            <a:off x="4943856" y="4143756"/>
            <a:ext cx="365760" cy="2987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22" dirty="0">
                <a:solidFill>
                  <a:srgbClr val="030F24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IP</a:t>
            </a:r>
            <a:endParaRPr lang="en-US" sz="1722" dirty="0"/>
          </a:p>
        </p:txBody>
      </p:sp>
      <p:sp>
        <p:nvSpPr>
          <p:cNvPr id="28" name="ocr-text-p05-026"/>
          <p:cNvSpPr/>
          <p:nvPr/>
        </p:nvSpPr>
        <p:spPr>
          <a:xfrm>
            <a:off x="7191756" y="3896106"/>
            <a:ext cx="3429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76" dirty="0">
                <a:solidFill>
                  <a:srgbClr val="000D24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03</a:t>
            </a:r>
            <a:endParaRPr lang="en-US" sz="1476" dirty="0"/>
          </a:p>
        </p:txBody>
      </p:sp>
      <p:sp>
        <p:nvSpPr>
          <p:cNvPr id="29" name="ocr-text-p05-027"/>
          <p:cNvSpPr/>
          <p:nvPr/>
        </p:nvSpPr>
        <p:spPr>
          <a:xfrm>
            <a:off x="7191756" y="4219956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76" dirty="0">
                <a:solidFill>
                  <a:srgbClr val="010D2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合同验收与回款</a:t>
            </a:r>
            <a:endParaRPr lang="en-US" sz="1476" dirty="0"/>
          </a:p>
        </p:txBody>
      </p:sp>
      <p:sp>
        <p:nvSpPr>
          <p:cNvPr id="30" name="ocr-text-p05-028"/>
          <p:cNvSpPr/>
          <p:nvPr/>
        </p:nvSpPr>
        <p:spPr>
          <a:xfrm>
            <a:off x="9801606" y="3953256"/>
            <a:ext cx="20345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76" dirty="0">
                <a:solidFill>
                  <a:srgbClr val="04142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融资和估值口径存在</a:t>
            </a:r>
            <a:endParaRPr lang="en-US" sz="1476" dirty="0"/>
          </a:p>
        </p:txBody>
      </p:sp>
      <p:sp>
        <p:nvSpPr>
          <p:cNvPr id="31" name="ocr-text-p05-029"/>
          <p:cNvSpPr/>
          <p:nvPr/>
        </p:nvSpPr>
        <p:spPr>
          <a:xfrm>
            <a:off x="9801606" y="4258056"/>
            <a:ext cx="1143000" cy="2346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3" dirty="0">
                <a:solidFill>
                  <a:srgbClr val="04142C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数量级冲突</a:t>
            </a:r>
            <a:endParaRPr lang="en-US" sz="1353" dirty="0"/>
          </a:p>
        </p:txBody>
      </p:sp>
      <p:sp>
        <p:nvSpPr>
          <p:cNvPr id="32" name="ocr-text-p05-030"/>
          <p:cNvSpPr/>
          <p:nvPr/>
        </p:nvSpPr>
        <p:spPr>
          <a:xfrm>
            <a:off x="960052" y="5262546"/>
            <a:ext cx="11231948" cy="6419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800" dirty="0">
                <a:solidFill>
                  <a:srgbClr val="031735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结论：五项关键事实明确前，不对估值和投资金额作确定性判断</a:t>
            </a:r>
            <a:endParaRPr lang="en-US" sz="2800" dirty="0"/>
          </a:p>
        </p:txBody>
      </p:sp>
      <p:sp>
        <p:nvSpPr>
          <p:cNvPr id="33" name="ocr-text-p05-031"/>
          <p:cNvSpPr/>
          <p:nvPr/>
        </p:nvSpPr>
        <p:spPr>
          <a:xfrm>
            <a:off x="943356" y="6296406"/>
            <a:ext cx="5509260" cy="277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99" dirty="0">
                <a:solidFill>
                  <a:srgbClr val="010E25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责任声明：本材料仅供内部审议，不构成最终投资决策</a:t>
            </a:r>
            <a:endParaRPr lang="en-US" sz="1599" dirty="0"/>
          </a:p>
        </p:txBody>
      </p:sp>
      <p:sp>
        <p:nvSpPr>
          <p:cNvPr id="34" name="ocr-text-p05-032"/>
          <p:cNvSpPr/>
          <p:nvPr/>
        </p:nvSpPr>
        <p:spPr>
          <a:xfrm>
            <a:off x="7134606" y="6296406"/>
            <a:ext cx="5057394" cy="277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99" dirty="0">
                <a:solidFill>
                  <a:srgbClr val="000D24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来源：公司官网、项目会议纪要、投资中台项目记录</a:t>
            </a:r>
            <a:endParaRPr lang="en-US" sz="1599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 CJK S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 CJK S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Cybernaut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PDF template converted to editable PPTX</dc:subject>
  <dc:creator>Cybernaut</dc:creator>
  <cp:lastModifiedBy>Cybernaut</cp:lastModifiedBy>
  <cp:revision>1</cp:revision>
  <dcterms:created xsi:type="dcterms:W3CDTF">2026-08-06T07:58:32Z</dcterms:created>
  <dcterms:modified xsi:type="dcterms:W3CDTF">2026-08-06T07:58:32Z</dcterms:modified>
</cp:coreProperties>
</file>