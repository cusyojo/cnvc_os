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1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2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3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4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5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1" descr="第 1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1-001"/>
          <p:cNvSpPr/>
          <p:nvPr/>
        </p:nvSpPr>
        <p:spPr>
          <a:xfrm>
            <a:off x="771906" y="1914906"/>
            <a:ext cx="11346942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7393" b="1" dirty="0">
                <a:solidFill>
                  <a:srgbClr val="EAF4F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智灵动力投资建议书</a:t>
            </a:r>
            <a:endParaRPr lang="zh-CN" sz="7393" dirty="0"/>
          </a:p>
        </p:txBody>
      </p:sp>
      <p:sp>
        <p:nvSpPr>
          <p:cNvPr id="4" name="ocr-text-p01-002"/>
          <p:cNvSpPr/>
          <p:nvPr/>
        </p:nvSpPr>
        <p:spPr>
          <a:xfrm>
            <a:off x="829056" y="3286506"/>
            <a:ext cx="683514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706" b="1" dirty="0">
                <a:solidFill>
                  <a:srgbClr val="E8F1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智灵动力（北京）科技有限公司</a:t>
            </a:r>
            <a:endParaRPr lang="zh-CN" sz="2706" dirty="0"/>
          </a:p>
        </p:txBody>
      </p:sp>
      <p:sp>
        <p:nvSpPr>
          <p:cNvPr id="5" name="ocr-text-p01-003"/>
          <p:cNvSpPr/>
          <p:nvPr/>
        </p:nvSpPr>
        <p:spPr>
          <a:xfrm>
            <a:off x="848106" y="3915156"/>
            <a:ext cx="61036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968" dirty="0">
                <a:solidFill>
                  <a:srgbClr val="8494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从产品能力、商业验证到交易可行性的五页判断</a:t>
            </a:r>
            <a:endParaRPr lang="zh-CN" sz="1968" dirty="0"/>
          </a:p>
        </p:txBody>
      </p:sp>
      <p:sp>
        <p:nvSpPr>
          <p:cNvPr id="6" name="ocr-text-p01-004"/>
          <p:cNvSpPr/>
          <p:nvPr/>
        </p:nvSpPr>
        <p:spPr>
          <a:xfrm>
            <a:off x="829056" y="6010656"/>
            <a:ext cx="24460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230" dirty="0">
                <a:solidFill>
                  <a:srgbClr val="8790A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内部讨论稿｜ 2026年8月</a:t>
            </a:r>
            <a:endParaRPr lang="zh-CN" sz="12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2" descr="第 2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2-001"/>
          <p:cNvSpPr/>
          <p:nvPr/>
        </p:nvSpPr>
        <p:spPr>
          <a:xfrm>
            <a:off x="276606" y="238506"/>
            <a:ext cx="1184224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686" b="1" dirty="0">
                <a:solidFill>
                  <a:srgbClr val="F7F9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2686" dirty="0"/>
          </a:p>
        </p:txBody>
      </p:sp>
      <p:sp>
        <p:nvSpPr>
          <p:cNvPr id="4" name="ocr-text-p02-002"/>
          <p:cNvSpPr/>
          <p:nvPr/>
        </p:nvSpPr>
        <p:spPr>
          <a:xfrm>
            <a:off x="1095756" y="238506"/>
            <a:ext cx="110230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3454" b="1" dirty="0">
                <a:solidFill>
                  <a:srgbClr val="D5E4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公司已形成三条产品线，但底层技术与业务归属仍需核实</a:t>
            </a:r>
            <a:endParaRPr lang="zh-CN" sz="3454" dirty="0"/>
          </a:p>
        </p:txBody>
      </p:sp>
      <p:sp>
        <p:nvSpPr>
          <p:cNvPr id="5" name="ocr-text-p02-003"/>
          <p:cNvSpPr/>
          <p:nvPr/>
        </p:nvSpPr>
        <p:spPr>
          <a:xfrm>
            <a:off x="4124706" y="943356"/>
            <a:ext cx="799414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791" b="1" dirty="0">
                <a:solidFill>
                  <a:srgbClr val="D9E4F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官方定位：科创研究与文创视听智能体</a:t>
            </a:r>
            <a:endParaRPr lang="zh-CN" sz="1791" dirty="0"/>
          </a:p>
        </p:txBody>
      </p:sp>
      <p:sp>
        <p:nvSpPr>
          <p:cNvPr id="6" name="ocr-text-p02-004"/>
          <p:cNvSpPr/>
          <p:nvPr/>
        </p:nvSpPr>
        <p:spPr>
          <a:xfrm>
            <a:off x="1742695" y="1606548"/>
            <a:ext cx="1693466" cy="34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014" b="1" dirty="0">
                <a:solidFill>
                  <a:srgbClr val="3299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行业智能体</a:t>
            </a:r>
            <a:endParaRPr lang="zh-CN" sz="2014" dirty="0"/>
          </a:p>
        </p:txBody>
      </p:sp>
      <p:sp>
        <p:nvSpPr>
          <p:cNvPr id="7" name="ocr-text-p02-005"/>
          <p:cNvSpPr/>
          <p:nvPr/>
        </p:nvSpPr>
        <p:spPr>
          <a:xfrm>
            <a:off x="1038606" y="2257806"/>
            <a:ext cx="1805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6DB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研究报告智能体</a:t>
            </a:r>
            <a:endParaRPr lang="zh-CN" sz="1476" dirty="0"/>
          </a:p>
        </p:txBody>
      </p:sp>
      <p:sp>
        <p:nvSpPr>
          <p:cNvPr id="8" name="ocr-text-p02-006"/>
          <p:cNvSpPr/>
          <p:nvPr/>
        </p:nvSpPr>
        <p:spPr>
          <a:xfrm>
            <a:off x="1038377" y="2656831"/>
            <a:ext cx="1120690" cy="236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66" dirty="0">
                <a:solidFill>
                  <a:srgbClr val="DCE2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 FDE</a:t>
            </a:r>
            <a:endParaRPr lang="zh-CN" sz="1366" dirty="0"/>
          </a:p>
        </p:txBody>
      </p:sp>
      <p:sp>
        <p:nvSpPr>
          <p:cNvPr id="9" name="ocr-text-p02-007"/>
          <p:cNvSpPr/>
          <p:nvPr/>
        </p:nvSpPr>
        <p:spPr>
          <a:xfrm>
            <a:off x="1057656" y="3057906"/>
            <a:ext cx="1965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230" dirty="0">
                <a:solidFill>
                  <a:srgbClr val="D1D8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AI-AutoResearch</a:t>
            </a:r>
            <a:endParaRPr lang="zh-CN" sz="1230" dirty="0"/>
          </a:p>
        </p:txBody>
      </p:sp>
      <p:sp>
        <p:nvSpPr>
          <p:cNvPr id="10" name="ocr-text-p02-008"/>
          <p:cNvSpPr/>
          <p:nvPr/>
        </p:nvSpPr>
        <p:spPr>
          <a:xfrm>
            <a:off x="5838562" y="1607714"/>
            <a:ext cx="1350285" cy="346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999" b="1" dirty="0">
                <a:solidFill>
                  <a:srgbClr val="3196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文创视听</a:t>
            </a:r>
            <a:endParaRPr lang="zh-CN" sz="1999" dirty="0"/>
          </a:p>
        </p:txBody>
      </p:sp>
      <p:sp>
        <p:nvSpPr>
          <p:cNvPr id="11" name="ocr-text-p02-009"/>
          <p:cNvSpPr/>
          <p:nvPr/>
        </p:nvSpPr>
        <p:spPr>
          <a:xfrm>
            <a:off x="4981513" y="2255851"/>
            <a:ext cx="1304082" cy="28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624" dirty="0">
                <a:solidFill>
                  <a:srgbClr val="D7D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视频智能体</a:t>
            </a:r>
            <a:endParaRPr lang="zh-CN" sz="1624" dirty="0"/>
          </a:p>
        </p:txBody>
      </p:sp>
      <p:sp>
        <p:nvSpPr>
          <p:cNvPr id="12" name="ocr-text-p02-010"/>
          <p:cNvSpPr/>
          <p:nvPr/>
        </p:nvSpPr>
        <p:spPr>
          <a:xfrm>
            <a:off x="4981675" y="2637466"/>
            <a:ext cx="1303693" cy="259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93" dirty="0">
                <a:solidFill>
                  <a:srgbClr val="DCE0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剧幕智能体</a:t>
            </a:r>
            <a:endParaRPr lang="zh-CN" sz="1493" dirty="0"/>
          </a:p>
        </p:txBody>
      </p:sp>
      <p:sp>
        <p:nvSpPr>
          <p:cNvPr id="13" name="ocr-text-p02-011"/>
          <p:cNvSpPr/>
          <p:nvPr/>
        </p:nvSpPr>
        <p:spPr>
          <a:xfrm>
            <a:off x="4981956" y="3019806"/>
            <a:ext cx="155448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DCE0E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数字人智能体</a:t>
            </a:r>
            <a:endParaRPr lang="zh-CN" sz="1599" dirty="0"/>
          </a:p>
        </p:txBody>
      </p:sp>
      <p:sp>
        <p:nvSpPr>
          <p:cNvPr id="14" name="ocr-text-p02-012"/>
          <p:cNvSpPr/>
          <p:nvPr/>
        </p:nvSpPr>
        <p:spPr>
          <a:xfrm>
            <a:off x="4543806" y="3457956"/>
            <a:ext cx="338328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722" dirty="0">
                <a:solidFill>
                  <a:srgbClr val="EBEEF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三层技术体系（管理层口径）</a:t>
            </a:r>
            <a:endParaRPr lang="zh-CN" sz="1722" dirty="0"/>
          </a:p>
        </p:txBody>
      </p:sp>
      <p:sp>
        <p:nvSpPr>
          <p:cNvPr id="15" name="ocr-text-p02-013"/>
          <p:cNvSpPr/>
          <p:nvPr/>
        </p:nvSpPr>
        <p:spPr>
          <a:xfrm>
            <a:off x="5362215" y="3891995"/>
            <a:ext cx="1624838" cy="286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652" dirty="0">
                <a:solidFill>
                  <a:srgbClr val="F8F8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自进化大模型</a:t>
            </a:r>
            <a:endParaRPr lang="zh-CN" sz="1652" dirty="0"/>
          </a:p>
        </p:txBody>
      </p:sp>
      <p:sp>
        <p:nvSpPr>
          <p:cNvPr id="16" name="ocr-text-p02-014"/>
          <p:cNvSpPr/>
          <p:nvPr/>
        </p:nvSpPr>
        <p:spPr>
          <a:xfrm>
            <a:off x="5267706" y="4524756"/>
            <a:ext cx="18516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F7F8F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自进化 AI 框架</a:t>
            </a:r>
            <a:endParaRPr lang="zh-CN" sz="1599" dirty="0"/>
          </a:p>
        </p:txBody>
      </p:sp>
      <p:sp>
        <p:nvSpPr>
          <p:cNvPr id="17" name="ocr-text-p02-015"/>
          <p:cNvSpPr/>
          <p:nvPr/>
        </p:nvSpPr>
        <p:spPr>
          <a:xfrm>
            <a:off x="5210556" y="5134356"/>
            <a:ext cx="20345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722" dirty="0">
                <a:solidFill>
                  <a:srgbClr val="F8F8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自进化算法优化</a:t>
            </a:r>
            <a:endParaRPr lang="zh-CN" sz="1722" dirty="0"/>
          </a:p>
        </p:txBody>
      </p:sp>
      <p:sp>
        <p:nvSpPr>
          <p:cNvPr id="18" name="ocr-text-p02-016"/>
          <p:cNvSpPr/>
          <p:nvPr/>
        </p:nvSpPr>
        <p:spPr>
          <a:xfrm>
            <a:off x="9458706" y="1610106"/>
            <a:ext cx="1371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968" b="1" dirty="0">
                <a:solidFill>
                  <a:srgbClr val="2F93F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算法优化</a:t>
            </a:r>
            <a:endParaRPr lang="zh-CN" sz="1968" dirty="0"/>
          </a:p>
        </p:txBody>
      </p:sp>
      <p:sp>
        <p:nvSpPr>
          <p:cNvPr id="19" name="ocr-text-p02-017"/>
          <p:cNvSpPr/>
          <p:nvPr/>
        </p:nvSpPr>
        <p:spPr>
          <a:xfrm>
            <a:off x="8772199" y="2255225"/>
            <a:ext cx="1076117" cy="283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632" dirty="0">
                <a:solidFill>
                  <a:srgbClr val="CFD5E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算法工厂</a:t>
            </a:r>
            <a:endParaRPr lang="zh-CN" sz="1632" dirty="0"/>
          </a:p>
        </p:txBody>
      </p:sp>
      <p:sp>
        <p:nvSpPr>
          <p:cNvPr id="20" name="ocr-text-p02-018"/>
          <p:cNvSpPr/>
          <p:nvPr/>
        </p:nvSpPr>
        <p:spPr>
          <a:xfrm>
            <a:off x="8715756" y="263880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FE3E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自进化算法优化</a:t>
            </a:r>
            <a:endParaRPr lang="zh-CN" sz="1476" dirty="0"/>
          </a:p>
        </p:txBody>
      </p:sp>
      <p:sp>
        <p:nvSpPr>
          <p:cNvPr id="21" name="ocr-text-p02-019"/>
          <p:cNvSpPr/>
          <p:nvPr/>
        </p:nvSpPr>
        <p:spPr>
          <a:xfrm>
            <a:off x="8772906" y="3038856"/>
            <a:ext cx="24003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D9DFE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VEQPy 可选求解扩展</a:t>
            </a:r>
            <a:endParaRPr lang="zh-CN" sz="1599" dirty="0"/>
          </a:p>
        </p:txBody>
      </p:sp>
      <p:sp>
        <p:nvSpPr>
          <p:cNvPr id="22" name="ocr-text-p02-020"/>
          <p:cNvSpPr/>
          <p:nvPr/>
        </p:nvSpPr>
        <p:spPr>
          <a:xfrm>
            <a:off x="1189676" y="5776890"/>
            <a:ext cx="11002324" cy="44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551" dirty="0">
                <a:solidFill>
                  <a:srgbClr val="F7F4F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关键判断：产品矩阵可核对，技术权属、测试结果与业务资产归属仍需专项核实</a:t>
            </a:r>
            <a:endParaRPr lang="zh-CN" sz="2551" dirty="0"/>
          </a:p>
        </p:txBody>
      </p:sp>
      <p:sp>
        <p:nvSpPr>
          <p:cNvPr id="23" name="ocr-text-p02-021"/>
          <p:cNvSpPr/>
          <p:nvPr/>
        </p:nvSpPr>
        <p:spPr>
          <a:xfrm>
            <a:off x="181356" y="6525006"/>
            <a:ext cx="60807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A1B2C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来源：公司官网、华为云、项目会议纪要、算法工厂技术材料</a:t>
            </a:r>
            <a:endParaRPr lang="zh-CN" sz="159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3" descr="第 3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3-001"/>
          <p:cNvSpPr/>
          <p:nvPr/>
        </p:nvSpPr>
        <p:spPr>
          <a:xfrm>
            <a:off x="238506" y="238506"/>
            <a:ext cx="118803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3070" b="1" dirty="0">
                <a:solidFill>
                  <a:srgbClr val="0F76E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3070" dirty="0"/>
          </a:p>
        </p:txBody>
      </p:sp>
      <p:sp>
        <p:nvSpPr>
          <p:cNvPr id="4" name="ocr-text-p03-002"/>
          <p:cNvSpPr/>
          <p:nvPr/>
        </p:nvSpPr>
        <p:spPr>
          <a:xfrm>
            <a:off x="1208632" y="267229"/>
            <a:ext cx="10910216" cy="57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3452" b="1" dirty="0">
                <a:solidFill>
                  <a:srgbClr val="FAFA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商业化信号已出现，</a:t>
            </a:r>
            <a:endParaRPr lang="zh-CN" sz="3452" dirty="0"/>
          </a:p>
        </p:txBody>
      </p:sp>
      <p:sp>
        <p:nvSpPr>
          <p:cNvPr id="5" name="ocr-text-p03-003"/>
          <p:cNvSpPr/>
          <p:nvPr/>
        </p:nvSpPr>
        <p:spPr>
          <a:xfrm>
            <a:off x="4562856" y="257556"/>
            <a:ext cx="75559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3198" b="1" dirty="0">
                <a:solidFill>
                  <a:srgbClr val="FAFAF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但合同、验收与回款仍需穿透核实</a:t>
            </a:r>
            <a:endParaRPr lang="zh-CN" sz="3198" dirty="0"/>
          </a:p>
        </p:txBody>
      </p:sp>
      <p:sp>
        <p:nvSpPr>
          <p:cNvPr id="6" name="ocr-text-p03-004"/>
          <p:cNvSpPr/>
          <p:nvPr/>
        </p:nvSpPr>
        <p:spPr>
          <a:xfrm>
            <a:off x="1819656" y="20101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ECF4F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Demo</a:t>
            </a:r>
            <a:endParaRPr lang="zh-CN" sz="1476" dirty="0"/>
          </a:p>
        </p:txBody>
      </p:sp>
      <p:sp>
        <p:nvSpPr>
          <p:cNvPr id="7" name="ocr-text-p03-005"/>
          <p:cNvSpPr/>
          <p:nvPr/>
        </p:nvSpPr>
        <p:spPr>
          <a:xfrm>
            <a:off x="695706" y="3248406"/>
            <a:ext cx="361188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722" dirty="0">
                <a:solidFill>
                  <a:srgbClr val="F669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FDE｜ 2026年5月启动商业化</a:t>
            </a:r>
            <a:endParaRPr lang="zh-CN" sz="1722" dirty="0"/>
          </a:p>
        </p:txBody>
      </p:sp>
      <p:sp>
        <p:nvSpPr>
          <p:cNvPr id="8" name="ocr-text-p03-006"/>
          <p:cNvSpPr/>
          <p:nvPr/>
        </p:nvSpPr>
        <p:spPr>
          <a:xfrm>
            <a:off x="657606" y="3705606"/>
            <a:ext cx="4023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D2D3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集鑫：60万元，流程推进中，已完成Demo</a:t>
            </a:r>
            <a:endParaRPr lang="zh-CN" sz="1599" dirty="0"/>
          </a:p>
        </p:txBody>
      </p:sp>
      <p:sp>
        <p:nvSpPr>
          <p:cNvPr id="9" name="ocr-text-p03-007"/>
          <p:cNvSpPr/>
          <p:nvPr/>
        </p:nvSpPr>
        <p:spPr>
          <a:xfrm>
            <a:off x="657606" y="4048506"/>
            <a:ext cx="4251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D3D5D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广博股份、海程邦达：单客潜在规模约200万元</a:t>
            </a:r>
            <a:endParaRPr lang="zh-CN" sz="1599" dirty="0"/>
          </a:p>
        </p:txBody>
      </p:sp>
      <p:sp>
        <p:nvSpPr>
          <p:cNvPr id="10" name="ocr-text-p03-008"/>
          <p:cNvSpPr/>
          <p:nvPr/>
        </p:nvSpPr>
        <p:spPr>
          <a:xfrm>
            <a:off x="657606" y="4410456"/>
            <a:ext cx="39090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D2D3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济南病虫害：沟通规模1000万-2000万元</a:t>
            </a:r>
            <a:endParaRPr lang="zh-CN" sz="1599" dirty="0"/>
          </a:p>
        </p:txBody>
      </p:sp>
      <p:sp>
        <p:nvSpPr>
          <p:cNvPr id="11" name="ocr-text-p03-009"/>
          <p:cNvSpPr/>
          <p:nvPr/>
        </p:nvSpPr>
        <p:spPr>
          <a:xfrm>
            <a:off x="5039106" y="3229356"/>
            <a:ext cx="24003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968" b="1" dirty="0">
                <a:solidFill>
                  <a:srgbClr val="F567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算法优化｜在谈项目</a:t>
            </a:r>
            <a:endParaRPr lang="zh-CN" sz="1968" dirty="0"/>
          </a:p>
        </p:txBody>
      </p:sp>
      <p:sp>
        <p:nvSpPr>
          <p:cNvPr id="12" name="ocr-text-p03-010"/>
          <p:cNvSpPr/>
          <p:nvPr/>
        </p:nvSpPr>
        <p:spPr>
          <a:xfrm>
            <a:off x="5020056" y="3686556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7D4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成泰科技：约180万元</a:t>
            </a:r>
            <a:endParaRPr lang="zh-CN" sz="1476" dirty="0"/>
          </a:p>
        </p:txBody>
      </p:sp>
      <p:sp>
        <p:nvSpPr>
          <p:cNvPr id="13" name="ocr-text-p03-011"/>
          <p:cNvSpPr/>
          <p:nvPr/>
        </p:nvSpPr>
        <p:spPr>
          <a:xfrm>
            <a:off x="5001006" y="4067556"/>
            <a:ext cx="2491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CDCC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华为超聚变：约180万元</a:t>
            </a:r>
            <a:endParaRPr lang="zh-CN" sz="1476" dirty="0"/>
          </a:p>
        </p:txBody>
      </p:sp>
      <p:sp>
        <p:nvSpPr>
          <p:cNvPr id="14" name="ocr-text-p03-012"/>
          <p:cNvSpPr/>
          <p:nvPr/>
        </p:nvSpPr>
        <p:spPr>
          <a:xfrm>
            <a:off x="5001006" y="4410456"/>
            <a:ext cx="23088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D9D7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首个商业签单仍待确认</a:t>
            </a:r>
            <a:endParaRPr lang="zh-CN" sz="1599" dirty="0"/>
          </a:p>
        </p:txBody>
      </p:sp>
      <p:sp>
        <p:nvSpPr>
          <p:cNvPr id="15" name="ocr-text-p03-013"/>
          <p:cNvSpPr/>
          <p:nvPr/>
        </p:nvSpPr>
        <p:spPr>
          <a:xfrm>
            <a:off x="8333035" y="1943957"/>
            <a:ext cx="2473011" cy="46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700" b="1" dirty="0">
                <a:solidFill>
                  <a:srgbClr val="117B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5000分钟/20天</a:t>
            </a:r>
            <a:endParaRPr lang="zh-CN" sz="2700" dirty="0"/>
          </a:p>
        </p:txBody>
      </p:sp>
      <p:sp>
        <p:nvSpPr>
          <p:cNvPr id="16" name="ocr-text-p03-014"/>
          <p:cNvSpPr/>
          <p:nvPr/>
        </p:nvSpPr>
        <p:spPr>
          <a:xfrm>
            <a:off x="10695645" y="2042480"/>
            <a:ext cx="1283307" cy="290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674" dirty="0">
                <a:solidFill>
                  <a:srgbClr val="D3D8D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当前交付节奏</a:t>
            </a:r>
            <a:endParaRPr lang="zh-CN" sz="1674" dirty="0"/>
          </a:p>
        </p:txBody>
      </p:sp>
      <p:sp>
        <p:nvSpPr>
          <p:cNvPr id="17" name="ocr-text-p03-015"/>
          <p:cNvSpPr/>
          <p:nvPr/>
        </p:nvSpPr>
        <p:spPr>
          <a:xfrm>
            <a:off x="8315706" y="2676906"/>
            <a:ext cx="203454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706" b="1" dirty="0">
                <a:solidFill>
                  <a:srgbClr val="107B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10000分钟</a:t>
            </a:r>
            <a:endParaRPr lang="zh-CN" sz="2706" dirty="0"/>
          </a:p>
        </p:txBody>
      </p:sp>
      <p:sp>
        <p:nvSpPr>
          <p:cNvPr id="18" name="ocr-text-p03-016"/>
          <p:cNvSpPr/>
          <p:nvPr/>
        </p:nvSpPr>
        <p:spPr>
          <a:xfrm>
            <a:off x="10695593" y="2785866"/>
            <a:ext cx="1054830" cy="26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45" dirty="0">
                <a:solidFill>
                  <a:srgbClr val="C6CA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下一轮计划</a:t>
            </a:r>
            <a:endParaRPr lang="zh-CN" sz="1545" dirty="0"/>
          </a:p>
        </p:txBody>
      </p:sp>
      <p:sp>
        <p:nvSpPr>
          <p:cNvPr id="19" name="ocr-text-p03-017"/>
          <p:cNvSpPr/>
          <p:nvPr/>
        </p:nvSpPr>
        <p:spPr>
          <a:xfrm>
            <a:off x="8333938" y="3416481"/>
            <a:ext cx="1967922" cy="455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627" b="1" dirty="0">
                <a:solidFill>
                  <a:srgbClr val="1079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500元/分钟</a:t>
            </a:r>
            <a:endParaRPr lang="zh-CN" sz="2627" dirty="0"/>
          </a:p>
        </p:txBody>
      </p:sp>
      <p:sp>
        <p:nvSpPr>
          <p:cNvPr id="20" name="ocr-text-p03-018"/>
          <p:cNvSpPr/>
          <p:nvPr/>
        </p:nvSpPr>
        <p:spPr>
          <a:xfrm>
            <a:off x="10677906" y="3534156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6D9D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制作费</a:t>
            </a:r>
            <a:endParaRPr lang="zh-CN" sz="1476" dirty="0"/>
          </a:p>
        </p:txBody>
      </p:sp>
      <p:sp>
        <p:nvSpPr>
          <p:cNvPr id="21" name="ocr-text-p03-019"/>
          <p:cNvSpPr/>
          <p:nvPr/>
        </p:nvSpPr>
        <p:spPr>
          <a:xfrm>
            <a:off x="8334756" y="4143756"/>
            <a:ext cx="196596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706" b="1" dirty="0">
                <a:solidFill>
                  <a:srgbClr val="117A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330元/分钟</a:t>
            </a:r>
            <a:endParaRPr lang="zh-CN" sz="2706" dirty="0"/>
          </a:p>
        </p:txBody>
      </p:sp>
      <p:sp>
        <p:nvSpPr>
          <p:cNvPr id="22" name="ocr-text-p03-020"/>
          <p:cNvSpPr/>
          <p:nvPr/>
        </p:nvSpPr>
        <p:spPr>
          <a:xfrm>
            <a:off x="10696956" y="425805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4D8D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当前成本</a:t>
            </a:r>
            <a:endParaRPr lang="zh-CN" sz="1476" dirty="0"/>
          </a:p>
        </p:txBody>
      </p:sp>
      <p:sp>
        <p:nvSpPr>
          <p:cNvPr id="23" name="ocr-text-p03-021"/>
          <p:cNvSpPr/>
          <p:nvPr/>
        </p:nvSpPr>
        <p:spPr>
          <a:xfrm>
            <a:off x="9363456" y="4810506"/>
            <a:ext cx="219456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722" dirty="0">
                <a:solidFill>
                  <a:srgbClr val="F6741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Q3目标150元/分钟</a:t>
            </a:r>
            <a:endParaRPr lang="zh-CN" sz="1722" dirty="0"/>
          </a:p>
        </p:txBody>
      </p:sp>
      <p:sp>
        <p:nvSpPr>
          <p:cNvPr id="24" name="ocr-text-p03-022"/>
          <p:cNvSpPr/>
          <p:nvPr/>
        </p:nvSpPr>
        <p:spPr>
          <a:xfrm>
            <a:off x="8239506" y="5343906"/>
            <a:ext cx="395249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C4C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状态说明：以上订单、单价、成本与目标均为管理层口径</a:t>
            </a:r>
            <a:endParaRPr lang="zh-CN" sz="1353" dirty="0"/>
          </a:p>
        </p:txBody>
      </p:sp>
      <p:sp>
        <p:nvSpPr>
          <p:cNvPr id="25" name="ocr-text-p03-023"/>
          <p:cNvSpPr/>
          <p:nvPr/>
        </p:nvSpPr>
        <p:spPr>
          <a:xfrm>
            <a:off x="1362456" y="5896356"/>
            <a:ext cx="97612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460" dirty="0">
                <a:solidFill>
                  <a:srgbClr val="FCEE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投资影响：合同、验收、开票、回款与毛利底稿决定商业化质量</a:t>
            </a:r>
            <a:endParaRPr lang="zh-CN" sz="2460" dirty="0"/>
          </a:p>
        </p:txBody>
      </p:sp>
      <p:sp>
        <p:nvSpPr>
          <p:cNvPr id="26" name="ocr-text-p03-024"/>
          <p:cNvSpPr/>
          <p:nvPr/>
        </p:nvSpPr>
        <p:spPr>
          <a:xfrm>
            <a:off x="695706" y="6486906"/>
            <a:ext cx="349758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BFC5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来源：2026年6月30日项目会议纪要</a:t>
            </a:r>
            <a:endParaRPr lang="zh-CN" sz="135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4" descr="第 4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4-001"/>
          <p:cNvSpPr/>
          <p:nvPr/>
        </p:nvSpPr>
        <p:spPr>
          <a:xfrm>
            <a:off x="257556" y="333756"/>
            <a:ext cx="118612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686" b="1" dirty="0">
                <a:solidFill>
                  <a:srgbClr val="F8FAF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2686" dirty="0"/>
          </a:p>
        </p:txBody>
      </p:sp>
      <p:sp>
        <p:nvSpPr>
          <p:cNvPr id="4" name="ocr-text-p04-002"/>
          <p:cNvSpPr/>
          <p:nvPr/>
        </p:nvSpPr>
        <p:spPr>
          <a:xfrm>
            <a:off x="1267206" y="314706"/>
            <a:ext cx="108516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3070" b="1" dirty="0">
                <a:solidFill>
                  <a:srgbClr val="F9F9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高人力成本叠加交易口径冲突，现金流安全边界尚不清晰</a:t>
            </a:r>
            <a:endParaRPr lang="zh-CN" sz="3070" dirty="0"/>
          </a:p>
        </p:txBody>
      </p:sp>
      <p:sp>
        <p:nvSpPr>
          <p:cNvPr id="5" name="ocr-text-p04-003"/>
          <p:cNvSpPr/>
          <p:nvPr/>
        </p:nvSpPr>
        <p:spPr>
          <a:xfrm>
            <a:off x="1305306" y="1286256"/>
            <a:ext cx="11658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460" b="1" dirty="0">
                <a:solidFill>
                  <a:srgbClr val="FAF9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138人</a:t>
            </a:r>
            <a:endParaRPr lang="zh-CN" sz="2460" dirty="0"/>
          </a:p>
        </p:txBody>
      </p:sp>
      <p:sp>
        <p:nvSpPr>
          <p:cNvPr id="6" name="ocr-text-p04-004"/>
          <p:cNvSpPr/>
          <p:nvPr/>
        </p:nvSpPr>
        <p:spPr>
          <a:xfrm>
            <a:off x="1285838" y="1760289"/>
            <a:ext cx="1441184" cy="260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05" dirty="0">
                <a:solidFill>
                  <a:srgbClr val="C5C6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当前人员规模</a:t>
            </a:r>
            <a:endParaRPr lang="zh-CN" sz="1505" dirty="0"/>
          </a:p>
        </p:txBody>
      </p:sp>
      <p:sp>
        <p:nvSpPr>
          <p:cNvPr id="7" name="ocr-text-p04-005"/>
          <p:cNvSpPr/>
          <p:nvPr/>
        </p:nvSpPr>
        <p:spPr>
          <a:xfrm>
            <a:off x="962406" y="2429256"/>
            <a:ext cx="3863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845" b="1" dirty="0">
                <a:solidFill>
                  <a:srgbClr val="1F86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现金流安排（管理层口径）</a:t>
            </a:r>
            <a:endParaRPr lang="zh-CN" sz="1845" dirty="0"/>
          </a:p>
        </p:txBody>
      </p:sp>
      <p:sp>
        <p:nvSpPr>
          <p:cNvPr id="8" name="ocr-text-p04-006"/>
          <p:cNvSpPr/>
          <p:nvPr/>
        </p:nvSpPr>
        <p:spPr>
          <a:xfrm>
            <a:off x="1457706" y="313410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C5C8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老股东拟提供1000万元借款</a:t>
            </a:r>
            <a:endParaRPr lang="zh-CN" sz="1476" dirty="0"/>
          </a:p>
        </p:txBody>
      </p:sp>
      <p:sp>
        <p:nvSpPr>
          <p:cNvPr id="9" name="ocr-text-p04-007"/>
          <p:cNvSpPr/>
          <p:nvPr/>
        </p:nvSpPr>
        <p:spPr>
          <a:xfrm>
            <a:off x="1457706" y="3800856"/>
            <a:ext cx="33147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C7CB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管理层称可覆盖约半年现金需求</a:t>
            </a:r>
            <a:endParaRPr lang="zh-CN" sz="1599" dirty="0"/>
          </a:p>
        </p:txBody>
      </p:sp>
      <p:sp>
        <p:nvSpPr>
          <p:cNvPr id="10" name="ocr-text-p04-008"/>
          <p:cNvSpPr/>
          <p:nvPr/>
        </p:nvSpPr>
        <p:spPr>
          <a:xfrm>
            <a:off x="1457706" y="4524756"/>
            <a:ext cx="4023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BDC1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借款协议、期限、利率与提款条件尚待核实</a:t>
            </a:r>
            <a:endParaRPr lang="zh-CN" sz="1599" dirty="0"/>
          </a:p>
        </p:txBody>
      </p:sp>
      <p:sp>
        <p:nvSpPr>
          <p:cNvPr id="11" name="ocr-text-p04-009"/>
          <p:cNvSpPr/>
          <p:nvPr/>
        </p:nvSpPr>
        <p:spPr>
          <a:xfrm>
            <a:off x="4200906" y="130530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214" b="1" dirty="0">
                <a:solidFill>
                  <a:srgbClr val="F9F9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约200万元/月</a:t>
            </a:r>
            <a:endParaRPr lang="zh-CN" sz="2214" dirty="0"/>
          </a:p>
        </p:txBody>
      </p:sp>
      <p:sp>
        <p:nvSpPr>
          <p:cNvPr id="12" name="ocr-text-p04-010"/>
          <p:cNvSpPr/>
          <p:nvPr/>
        </p:nvSpPr>
        <p:spPr>
          <a:xfrm>
            <a:off x="4219956" y="17625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CBCD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基础人力成本</a:t>
            </a:r>
            <a:endParaRPr lang="zh-CN" sz="1476" dirty="0"/>
          </a:p>
        </p:txBody>
      </p:sp>
      <p:sp>
        <p:nvSpPr>
          <p:cNvPr id="13" name="ocr-text-p04-011"/>
          <p:cNvSpPr/>
          <p:nvPr/>
        </p:nvSpPr>
        <p:spPr>
          <a:xfrm>
            <a:off x="5628977" y="3493601"/>
            <a:ext cx="984608" cy="26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08" dirty="0">
                <a:solidFill>
                  <a:srgbClr val="CACF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项目记录</a:t>
            </a:r>
            <a:endParaRPr lang="zh-CN" sz="1508" dirty="0"/>
          </a:p>
        </p:txBody>
      </p:sp>
      <p:sp>
        <p:nvSpPr>
          <p:cNvPr id="14" name="ocr-text-p04-012"/>
          <p:cNvSpPr/>
          <p:nvPr/>
        </p:nvSpPr>
        <p:spPr>
          <a:xfrm>
            <a:off x="5628978" y="3912702"/>
            <a:ext cx="984607" cy="261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08" dirty="0">
                <a:solidFill>
                  <a:srgbClr val="C8CBD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会议口径</a:t>
            </a:r>
            <a:endParaRPr lang="zh-CN" sz="1508" dirty="0"/>
          </a:p>
        </p:txBody>
      </p:sp>
      <p:sp>
        <p:nvSpPr>
          <p:cNvPr id="15" name="ocr-text-p04-013"/>
          <p:cNvSpPr/>
          <p:nvPr/>
        </p:nvSpPr>
        <p:spPr>
          <a:xfrm>
            <a:off x="7038168" y="1299203"/>
            <a:ext cx="2197412" cy="419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416" b="1" dirty="0">
                <a:solidFill>
                  <a:srgbClr val="F9F9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约2400万元/年</a:t>
            </a:r>
            <a:endParaRPr lang="zh-CN" sz="2416" dirty="0"/>
          </a:p>
        </p:txBody>
      </p:sp>
      <p:sp>
        <p:nvSpPr>
          <p:cNvPr id="16" name="ocr-text-p04-014"/>
          <p:cNvSpPr/>
          <p:nvPr/>
        </p:nvSpPr>
        <p:spPr>
          <a:xfrm>
            <a:off x="7058406" y="17625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C8CB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年度人力成本</a:t>
            </a:r>
            <a:endParaRPr lang="zh-CN" sz="1476" dirty="0"/>
          </a:p>
        </p:txBody>
      </p:sp>
      <p:sp>
        <p:nvSpPr>
          <p:cNvPr id="17" name="ocr-text-p04-015"/>
          <p:cNvSpPr/>
          <p:nvPr/>
        </p:nvSpPr>
        <p:spPr>
          <a:xfrm>
            <a:off x="7363206" y="2429256"/>
            <a:ext cx="210312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091" b="1" dirty="0">
                <a:solidFill>
                  <a:srgbClr val="1E84E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交易口径冲突</a:t>
            </a:r>
            <a:endParaRPr lang="zh-CN" sz="2091" dirty="0"/>
          </a:p>
        </p:txBody>
      </p:sp>
      <p:sp>
        <p:nvSpPr>
          <p:cNvPr id="18" name="ocr-text-p04-016"/>
          <p:cNvSpPr/>
          <p:nvPr/>
        </p:nvSpPr>
        <p:spPr>
          <a:xfrm>
            <a:off x="7229856" y="3038856"/>
            <a:ext cx="982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F3F4F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融资金额</a:t>
            </a:r>
            <a:endParaRPr lang="zh-CN" sz="1476" dirty="0"/>
          </a:p>
        </p:txBody>
      </p:sp>
      <p:sp>
        <p:nvSpPr>
          <p:cNvPr id="19" name="ocr-text-p04-017"/>
          <p:cNvSpPr/>
          <p:nvPr/>
        </p:nvSpPr>
        <p:spPr>
          <a:xfrm>
            <a:off x="7172706" y="3515106"/>
            <a:ext cx="107442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C5C8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1000万元</a:t>
            </a:r>
            <a:endParaRPr lang="zh-CN" sz="1353" dirty="0"/>
          </a:p>
        </p:txBody>
      </p:sp>
      <p:sp>
        <p:nvSpPr>
          <p:cNvPr id="20" name="ocr-text-p04-018"/>
          <p:cNvSpPr/>
          <p:nvPr/>
        </p:nvSpPr>
        <p:spPr>
          <a:xfrm>
            <a:off x="7229602" y="3914373"/>
            <a:ext cx="915009" cy="279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609" dirty="0">
                <a:solidFill>
                  <a:srgbClr val="B8BDC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约1亿元</a:t>
            </a:r>
            <a:endParaRPr lang="zh-CN" sz="1609" dirty="0"/>
          </a:p>
        </p:txBody>
      </p:sp>
      <p:sp>
        <p:nvSpPr>
          <p:cNvPr id="21" name="ocr-text-p04-019"/>
          <p:cNvSpPr/>
          <p:nvPr/>
        </p:nvSpPr>
        <p:spPr>
          <a:xfrm>
            <a:off x="10180892" y="1298513"/>
            <a:ext cx="1695753" cy="420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425" b="1" dirty="0">
                <a:solidFill>
                  <a:srgbClr val="FAFA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130人左右</a:t>
            </a:r>
            <a:endParaRPr lang="zh-CN" sz="2425" dirty="0"/>
          </a:p>
        </p:txBody>
      </p:sp>
      <p:sp>
        <p:nvSpPr>
          <p:cNvPr id="22" name="ocr-text-p04-020"/>
          <p:cNvSpPr/>
          <p:nvPr/>
        </p:nvSpPr>
        <p:spPr>
          <a:xfrm>
            <a:off x="10182606" y="1762506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C8CB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优化后计划</a:t>
            </a:r>
            <a:endParaRPr lang="zh-CN" sz="1476" dirty="0"/>
          </a:p>
        </p:txBody>
      </p:sp>
      <p:sp>
        <p:nvSpPr>
          <p:cNvPr id="23" name="ocr-text-p04-021"/>
          <p:cNvSpPr/>
          <p:nvPr/>
        </p:nvSpPr>
        <p:spPr>
          <a:xfrm>
            <a:off x="8867442" y="3036473"/>
            <a:ext cx="984694" cy="28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630" dirty="0">
                <a:solidFill>
                  <a:srgbClr val="F8F8F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估值口径</a:t>
            </a:r>
            <a:endParaRPr lang="zh-CN" sz="1630" dirty="0"/>
          </a:p>
        </p:txBody>
      </p:sp>
      <p:sp>
        <p:nvSpPr>
          <p:cNvPr id="24" name="ocr-text-p04-022"/>
          <p:cNvSpPr/>
          <p:nvPr/>
        </p:nvSpPr>
        <p:spPr>
          <a:xfrm>
            <a:off x="9001506" y="3496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C0C3C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1亿元</a:t>
            </a:r>
            <a:endParaRPr lang="zh-CN" sz="1476" dirty="0"/>
          </a:p>
        </p:txBody>
      </p:sp>
      <p:sp>
        <p:nvSpPr>
          <p:cNvPr id="25" name="ocr-text-p04-023"/>
          <p:cNvSpPr/>
          <p:nvPr/>
        </p:nvSpPr>
        <p:spPr>
          <a:xfrm>
            <a:off x="8658606" y="39342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BBBCC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10亿-15亿元</a:t>
            </a:r>
            <a:endParaRPr lang="zh-CN" sz="1476" dirty="0"/>
          </a:p>
        </p:txBody>
      </p:sp>
      <p:sp>
        <p:nvSpPr>
          <p:cNvPr id="26" name="ocr-text-p04-024"/>
          <p:cNvSpPr/>
          <p:nvPr/>
        </p:nvSpPr>
        <p:spPr>
          <a:xfrm>
            <a:off x="10487406" y="3038856"/>
            <a:ext cx="98298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F5F6F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核实状态</a:t>
            </a:r>
            <a:endParaRPr lang="zh-CN" sz="1599" dirty="0"/>
          </a:p>
        </p:txBody>
      </p:sp>
      <p:sp>
        <p:nvSpPr>
          <p:cNvPr id="27" name="ocr-text-p04-025"/>
          <p:cNvSpPr/>
          <p:nvPr/>
        </p:nvSpPr>
        <p:spPr>
          <a:xfrm>
            <a:off x="10485795" y="3490144"/>
            <a:ext cx="986845" cy="26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52" dirty="0">
                <a:solidFill>
                  <a:srgbClr val="F3722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存在冲突</a:t>
            </a:r>
            <a:endParaRPr lang="zh-CN" sz="1552" dirty="0"/>
          </a:p>
        </p:txBody>
      </p:sp>
      <p:sp>
        <p:nvSpPr>
          <p:cNvPr id="28" name="ocr-text-p04-026"/>
          <p:cNvSpPr/>
          <p:nvPr/>
        </p:nvSpPr>
        <p:spPr>
          <a:xfrm>
            <a:off x="10392156" y="3915156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C3C7C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管理层沟通</a:t>
            </a:r>
            <a:endParaRPr lang="zh-CN" sz="1476" dirty="0"/>
          </a:p>
        </p:txBody>
      </p:sp>
      <p:sp>
        <p:nvSpPr>
          <p:cNvPr id="29" name="ocr-text-p04-027"/>
          <p:cNvSpPr/>
          <p:nvPr/>
        </p:nvSpPr>
        <p:spPr>
          <a:xfrm>
            <a:off x="6525006" y="503910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845" b="1" dirty="0">
                <a:solidFill>
                  <a:srgbClr val="F1752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差异达到数量级，不能直接用于交易定价</a:t>
            </a:r>
            <a:endParaRPr lang="zh-CN" sz="1845" dirty="0"/>
          </a:p>
        </p:txBody>
      </p:sp>
      <p:sp>
        <p:nvSpPr>
          <p:cNvPr id="30" name="ocr-text-p04-028"/>
          <p:cNvSpPr/>
          <p:nvPr/>
        </p:nvSpPr>
        <p:spPr>
          <a:xfrm>
            <a:off x="238506" y="6467856"/>
            <a:ext cx="3954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969BA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来源：项目会议纪要、投资中台项目记录</a:t>
            </a:r>
            <a:endParaRPr lang="zh-CN" sz="1476" dirty="0"/>
          </a:p>
        </p:txBody>
      </p:sp>
      <p:sp>
        <p:nvSpPr>
          <p:cNvPr id="31" name="ocr-text-p04-029"/>
          <p:cNvSpPr/>
          <p:nvPr/>
        </p:nvSpPr>
        <p:spPr>
          <a:xfrm>
            <a:off x="1457706" y="5896356"/>
            <a:ext cx="10734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214" dirty="0">
                <a:solidFill>
                  <a:srgbClr val="F7F5F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投资影响：审计财务、现金流水平和正式条款明确前，估值合理性无法判断</a:t>
            </a:r>
            <a:endParaRPr lang="zh-CN" sz="221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5" descr="第 5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5-001"/>
          <p:cNvSpPr/>
          <p:nvPr/>
        </p:nvSpPr>
        <p:spPr>
          <a:xfrm>
            <a:off x="295656" y="276606"/>
            <a:ext cx="118231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558" b="1" dirty="0">
                <a:solidFill>
                  <a:srgbClr val="0290F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zh-CN" sz="2558" dirty="0"/>
          </a:p>
        </p:txBody>
      </p:sp>
      <p:sp>
        <p:nvSpPr>
          <p:cNvPr id="4" name="ocr-text-p05-002"/>
          <p:cNvSpPr/>
          <p:nvPr/>
        </p:nvSpPr>
        <p:spPr>
          <a:xfrm>
            <a:off x="1229106" y="295656"/>
            <a:ext cx="108897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3198" b="1" dirty="0">
                <a:solidFill>
                  <a:srgbClr val="FAFAF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暂不形成确定性投资结论，五项事实决定交易是否成立</a:t>
            </a:r>
            <a:endParaRPr lang="zh-CN" sz="3198" dirty="0"/>
          </a:p>
        </p:txBody>
      </p:sp>
      <p:sp>
        <p:nvSpPr>
          <p:cNvPr id="5" name="ocr-text-p05-003"/>
          <p:cNvSpPr/>
          <p:nvPr/>
        </p:nvSpPr>
        <p:spPr>
          <a:xfrm>
            <a:off x="1266597" y="1398276"/>
            <a:ext cx="1190182" cy="30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751" dirty="0">
                <a:solidFill>
                  <a:srgbClr val="01ECC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支持因素</a:t>
            </a:r>
            <a:endParaRPr lang="zh-CN" sz="1751" dirty="0"/>
          </a:p>
        </p:txBody>
      </p:sp>
      <p:sp>
        <p:nvSpPr>
          <p:cNvPr id="6" name="ocr-text-p05-004"/>
          <p:cNvSpPr/>
          <p:nvPr/>
        </p:nvSpPr>
        <p:spPr>
          <a:xfrm>
            <a:off x="1229106" y="2086356"/>
            <a:ext cx="19431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D5D8D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官方产品矩阵已形成</a:t>
            </a:r>
            <a:endParaRPr lang="zh-CN" sz="1353" dirty="0"/>
          </a:p>
        </p:txBody>
      </p:sp>
      <p:sp>
        <p:nvSpPr>
          <p:cNvPr id="7" name="ocr-text-p05-005"/>
          <p:cNvSpPr/>
          <p:nvPr/>
        </p:nvSpPr>
        <p:spPr>
          <a:xfrm>
            <a:off x="5763006" y="1133856"/>
            <a:ext cx="29718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3D9AF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1353" dirty="0"/>
          </a:p>
        </p:txBody>
      </p:sp>
      <p:sp>
        <p:nvSpPr>
          <p:cNvPr id="8" name="ocr-text-p05-006"/>
          <p:cNvSpPr/>
          <p:nvPr/>
        </p:nvSpPr>
        <p:spPr>
          <a:xfrm>
            <a:off x="6334506" y="15529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E3E4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主体与股权</a:t>
            </a:r>
            <a:endParaRPr lang="zh-CN" sz="1476" dirty="0"/>
          </a:p>
        </p:txBody>
      </p:sp>
      <p:sp>
        <p:nvSpPr>
          <p:cNvPr id="9" name="ocr-text-p05-007"/>
          <p:cNvSpPr/>
          <p:nvPr/>
        </p:nvSpPr>
        <p:spPr>
          <a:xfrm>
            <a:off x="9820157" y="1398655"/>
            <a:ext cx="1212777" cy="30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747" dirty="0">
                <a:solidFill>
                  <a:srgbClr val="F9772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主要反证</a:t>
            </a:r>
            <a:endParaRPr lang="zh-CN" sz="1747" dirty="0"/>
          </a:p>
        </p:txBody>
      </p:sp>
      <p:sp>
        <p:nvSpPr>
          <p:cNvPr id="10" name="ocr-text-p05-008"/>
          <p:cNvSpPr/>
          <p:nvPr/>
        </p:nvSpPr>
        <p:spPr>
          <a:xfrm>
            <a:off x="9801606" y="1991106"/>
            <a:ext cx="16916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230" dirty="0">
                <a:solidFill>
                  <a:srgbClr val="D3D6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经营数据主要来自</a:t>
            </a:r>
            <a:endParaRPr lang="zh-CN" sz="1230" dirty="0"/>
          </a:p>
        </p:txBody>
      </p:sp>
      <p:sp>
        <p:nvSpPr>
          <p:cNvPr id="11" name="ocr-text-p05-009"/>
          <p:cNvSpPr/>
          <p:nvPr/>
        </p:nvSpPr>
        <p:spPr>
          <a:xfrm>
            <a:off x="9801090" y="2255353"/>
            <a:ext cx="1075657" cy="218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262" dirty="0">
                <a:solidFill>
                  <a:srgbClr val="CDD0D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管理层交流</a:t>
            </a:r>
            <a:endParaRPr lang="zh-CN" sz="1262" dirty="0"/>
          </a:p>
        </p:txBody>
      </p:sp>
      <p:sp>
        <p:nvSpPr>
          <p:cNvPr id="12" name="ocr-text-p05-010"/>
          <p:cNvSpPr/>
          <p:nvPr/>
        </p:nvSpPr>
        <p:spPr>
          <a:xfrm>
            <a:off x="1229106" y="2943606"/>
            <a:ext cx="21717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D5D9D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FDE、视频与算法优化</a:t>
            </a:r>
            <a:endParaRPr lang="zh-CN" sz="1599" dirty="0"/>
          </a:p>
        </p:txBody>
      </p:sp>
      <p:sp>
        <p:nvSpPr>
          <p:cNvPr id="13" name="ocr-text-p05-011"/>
          <p:cNvSpPr/>
          <p:nvPr/>
        </p:nvSpPr>
        <p:spPr>
          <a:xfrm>
            <a:off x="1229106" y="3229356"/>
            <a:ext cx="173736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D2D6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均出现商业化信号</a:t>
            </a:r>
            <a:endParaRPr lang="zh-CN" sz="1353" dirty="0"/>
          </a:p>
        </p:txBody>
      </p:sp>
      <p:sp>
        <p:nvSpPr>
          <p:cNvPr id="14" name="ocr-text-p05-012"/>
          <p:cNvSpPr/>
          <p:nvPr/>
        </p:nvSpPr>
        <p:spPr>
          <a:xfrm>
            <a:off x="4029456" y="239115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3E97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zh-CN" sz="1476" dirty="0"/>
          </a:p>
        </p:txBody>
      </p:sp>
      <p:sp>
        <p:nvSpPr>
          <p:cNvPr id="15" name="ocr-text-p05-013"/>
          <p:cNvSpPr/>
          <p:nvPr/>
        </p:nvSpPr>
        <p:spPr>
          <a:xfrm>
            <a:off x="3381756" y="2753106"/>
            <a:ext cx="10515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230" dirty="0">
                <a:solidFill>
                  <a:srgbClr val="D4D6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正式融资与</a:t>
            </a:r>
            <a:endParaRPr lang="zh-CN" sz="1230" dirty="0"/>
          </a:p>
        </p:txBody>
      </p:sp>
      <p:sp>
        <p:nvSpPr>
          <p:cNvPr id="16" name="ocr-text-p05-014"/>
          <p:cNvSpPr/>
          <p:nvPr/>
        </p:nvSpPr>
        <p:spPr>
          <a:xfrm>
            <a:off x="3552128" y="2978152"/>
            <a:ext cx="894127" cy="26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22" dirty="0">
                <a:solidFill>
                  <a:srgbClr val="D9DAD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交易条款</a:t>
            </a:r>
            <a:endParaRPr lang="zh-CN" sz="1522" dirty="0"/>
          </a:p>
        </p:txBody>
      </p:sp>
      <p:sp>
        <p:nvSpPr>
          <p:cNvPr id="17" name="ocr-text-p05-015"/>
          <p:cNvSpPr/>
          <p:nvPr/>
        </p:nvSpPr>
        <p:spPr>
          <a:xfrm>
            <a:off x="7439406" y="239115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3E98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1476" dirty="0"/>
          </a:p>
        </p:txBody>
      </p:sp>
      <p:sp>
        <p:nvSpPr>
          <p:cNvPr id="18" name="ocr-text-p05-016"/>
          <p:cNvSpPr/>
          <p:nvPr/>
        </p:nvSpPr>
        <p:spPr>
          <a:xfrm>
            <a:off x="7458456" y="2753106"/>
            <a:ext cx="14401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230" dirty="0">
                <a:solidFill>
                  <a:srgbClr val="D2D5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审计财务与现金</a:t>
            </a:r>
            <a:endParaRPr lang="zh-CN" sz="1230" dirty="0"/>
          </a:p>
        </p:txBody>
      </p:sp>
      <p:sp>
        <p:nvSpPr>
          <p:cNvPr id="19" name="ocr-text-p05-017"/>
          <p:cNvSpPr/>
          <p:nvPr/>
        </p:nvSpPr>
        <p:spPr>
          <a:xfrm>
            <a:off x="5228989" y="3035696"/>
            <a:ext cx="1738841" cy="327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886" b="1" dirty="0">
                <a:solidFill>
                  <a:srgbClr val="F9F8F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交易是否成立</a:t>
            </a:r>
            <a:endParaRPr lang="zh-CN" sz="1886" dirty="0"/>
          </a:p>
        </p:txBody>
      </p:sp>
      <p:sp>
        <p:nvSpPr>
          <p:cNvPr id="20" name="ocr-text-p05-018"/>
          <p:cNvSpPr/>
          <p:nvPr/>
        </p:nvSpPr>
        <p:spPr>
          <a:xfrm>
            <a:off x="9801606" y="2981706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3D6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订单、验收、回款与</a:t>
            </a:r>
            <a:endParaRPr lang="zh-CN" sz="1476" dirty="0"/>
          </a:p>
        </p:txBody>
      </p:sp>
      <p:sp>
        <p:nvSpPr>
          <p:cNvPr id="21" name="ocr-text-p05-019"/>
          <p:cNvSpPr/>
          <p:nvPr/>
        </p:nvSpPr>
        <p:spPr>
          <a:xfrm>
            <a:off x="9801606" y="3267456"/>
            <a:ext cx="17145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D2D6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财务底稿尚未穿透</a:t>
            </a:r>
            <a:endParaRPr lang="zh-CN" sz="1353" dirty="0"/>
          </a:p>
        </p:txBody>
      </p:sp>
      <p:sp>
        <p:nvSpPr>
          <p:cNvPr id="22" name="ocr-text-p05-020"/>
          <p:cNvSpPr/>
          <p:nvPr/>
        </p:nvSpPr>
        <p:spPr>
          <a:xfrm>
            <a:off x="1229106" y="3953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2D6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技术材料显示算法优化</a:t>
            </a:r>
            <a:endParaRPr lang="zh-CN" sz="1476" dirty="0"/>
          </a:p>
        </p:txBody>
      </p:sp>
      <p:sp>
        <p:nvSpPr>
          <p:cNvPr id="23" name="ocr-text-p05-021"/>
          <p:cNvSpPr/>
          <p:nvPr/>
        </p:nvSpPr>
        <p:spPr>
          <a:xfrm>
            <a:off x="1229106" y="4258056"/>
            <a:ext cx="21717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D2D5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能力具备进一步核实价值</a:t>
            </a:r>
            <a:endParaRPr lang="zh-CN" sz="1353" dirty="0"/>
          </a:p>
        </p:txBody>
      </p:sp>
      <p:sp>
        <p:nvSpPr>
          <p:cNvPr id="24" name="ocr-text-p05-022"/>
          <p:cNvSpPr/>
          <p:nvPr/>
        </p:nvSpPr>
        <p:spPr>
          <a:xfrm>
            <a:off x="4353306" y="38770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3E9B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zh-CN" sz="1476" dirty="0"/>
          </a:p>
        </p:txBody>
      </p:sp>
      <p:sp>
        <p:nvSpPr>
          <p:cNvPr id="25" name="ocr-text-p05-023"/>
          <p:cNvSpPr/>
          <p:nvPr/>
        </p:nvSpPr>
        <p:spPr>
          <a:xfrm>
            <a:off x="3419254" y="4197404"/>
            <a:ext cx="1441623" cy="24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98" dirty="0">
                <a:solidFill>
                  <a:srgbClr val="CED0D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04知识产权与</a:t>
            </a:r>
            <a:endParaRPr lang="zh-CN" sz="1398" dirty="0"/>
          </a:p>
        </p:txBody>
      </p:sp>
      <p:sp>
        <p:nvSpPr>
          <p:cNvPr id="26" name="ocr-text-p05-024"/>
          <p:cNvSpPr/>
          <p:nvPr/>
        </p:nvSpPr>
        <p:spPr>
          <a:xfrm>
            <a:off x="3900286" y="4403790"/>
            <a:ext cx="919608" cy="29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726" dirty="0">
                <a:solidFill>
                  <a:srgbClr val="DCDEE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资产归属</a:t>
            </a:r>
            <a:endParaRPr lang="zh-CN" sz="1726" dirty="0"/>
          </a:p>
        </p:txBody>
      </p:sp>
      <p:sp>
        <p:nvSpPr>
          <p:cNvPr id="27" name="ocr-text-p05-025"/>
          <p:cNvSpPr/>
          <p:nvPr/>
        </p:nvSpPr>
        <p:spPr>
          <a:xfrm>
            <a:off x="7191756" y="389610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419A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1476" dirty="0"/>
          </a:p>
        </p:txBody>
      </p:sp>
      <p:sp>
        <p:nvSpPr>
          <p:cNvPr id="28" name="ocr-text-p05-026"/>
          <p:cNvSpPr/>
          <p:nvPr/>
        </p:nvSpPr>
        <p:spPr>
          <a:xfrm>
            <a:off x="7191756" y="42199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8DAD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合同验收与回款</a:t>
            </a:r>
            <a:endParaRPr lang="zh-CN" sz="1476" dirty="0"/>
          </a:p>
        </p:txBody>
      </p:sp>
      <p:sp>
        <p:nvSpPr>
          <p:cNvPr id="29" name="ocr-text-p05-027"/>
          <p:cNvSpPr/>
          <p:nvPr/>
        </p:nvSpPr>
        <p:spPr>
          <a:xfrm>
            <a:off x="9801606" y="3953256"/>
            <a:ext cx="2034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476" dirty="0">
                <a:solidFill>
                  <a:srgbClr val="D4D7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融资和估值口径存在</a:t>
            </a:r>
            <a:endParaRPr lang="zh-CN" sz="1476" dirty="0"/>
          </a:p>
        </p:txBody>
      </p:sp>
      <p:sp>
        <p:nvSpPr>
          <p:cNvPr id="30" name="ocr-text-p05-028"/>
          <p:cNvSpPr/>
          <p:nvPr/>
        </p:nvSpPr>
        <p:spPr>
          <a:xfrm>
            <a:off x="9801606" y="4258056"/>
            <a:ext cx="11430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353" dirty="0">
                <a:solidFill>
                  <a:srgbClr val="D3D6D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数量级冲突</a:t>
            </a:r>
            <a:endParaRPr lang="zh-CN" sz="1353" dirty="0"/>
          </a:p>
        </p:txBody>
      </p:sp>
      <p:sp>
        <p:nvSpPr>
          <p:cNvPr id="31" name="ocr-text-p05-029"/>
          <p:cNvSpPr/>
          <p:nvPr/>
        </p:nvSpPr>
        <p:spPr>
          <a:xfrm>
            <a:off x="960052" y="5262546"/>
            <a:ext cx="11231948" cy="64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2800" dirty="0">
                <a:solidFill>
                  <a:srgbClr val="FAFAF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结论：五项关键事实明确前，不对估值和投资金额作确定性判断</a:t>
            </a:r>
            <a:endParaRPr lang="zh-CN" sz="2800" dirty="0"/>
          </a:p>
        </p:txBody>
      </p:sp>
      <p:sp>
        <p:nvSpPr>
          <p:cNvPr id="32" name="ocr-text-p05-030"/>
          <p:cNvSpPr/>
          <p:nvPr/>
        </p:nvSpPr>
        <p:spPr>
          <a:xfrm>
            <a:off x="943356" y="6296406"/>
            <a:ext cx="55092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C2C6C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责任声明：本材料仅供内部审议，不构成最终投资决策</a:t>
            </a:r>
            <a:endParaRPr lang="zh-CN" sz="1599" dirty="0"/>
          </a:p>
        </p:txBody>
      </p:sp>
      <p:sp>
        <p:nvSpPr>
          <p:cNvPr id="33" name="ocr-text-p05-031"/>
          <p:cNvSpPr/>
          <p:nvPr/>
        </p:nvSpPr>
        <p:spPr>
          <a:xfrm>
            <a:off x="7134606" y="6296406"/>
            <a:ext cx="505739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zh-CN" sz="1599" dirty="0">
                <a:solidFill>
                  <a:srgbClr val="BCC1C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来源：公司官网、项目会议纪要、投资中台项目记录</a:t>
            </a:r>
            <a:endParaRPr lang="zh-CN" sz="159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Cybernaut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PDF template converted to editable PPTX</dc:subject>
  <dc:creator>Cybernaut</dc:creator>
  <cp:lastModifiedBy>Cybernaut</cp:lastModifiedBy>
  <cp:revision>1</cp:revision>
  <dcterms:created xsi:type="dcterms:W3CDTF">2026-08-06T08:00:42Z</dcterms:created>
  <dcterms:modified xsi:type="dcterms:W3CDTF">2026-08-06T08:00:42Z</dcterms:modified>
</cp:coreProperties>
</file>