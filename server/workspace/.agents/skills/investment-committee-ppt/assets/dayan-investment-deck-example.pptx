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f24498fc54b9a" /><Relationship Type="http://schemas.openxmlformats.org/officeDocument/2006/relationships/extended-properties" Target="/docProps/app.xml" Id="Rb5dc75f2973c4ba8" /><Relationship Type="http://schemas.openxmlformats.org/officeDocument/2006/relationships/officeDocument" Target="/ppt/presentation.xml" Id="R3d05cf4a1d1647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3138295ad04dd0"/>
  </p:sldMasterIdLst>
  <p:notesMasterIdLst>
    <p:notesMasterId xmlns:r="http://schemas.openxmlformats.org/officeDocument/2006/relationships" r:id="R8e18740ead4847dc"/>
  </p:notesMasterIdLst>
  <p:sldIdLst>
    <p:sldId xmlns:r="http://schemas.openxmlformats.org/officeDocument/2006/relationships" id="256" r:id="R23a0aca5e54a4cb5"/>
    <p:sldId xmlns:r="http://schemas.openxmlformats.org/officeDocument/2006/relationships" id="257" r:id="R40267e6ef6314ed3"/>
    <p:sldId xmlns:r="http://schemas.openxmlformats.org/officeDocument/2006/relationships" id="258" r:id="R2cb283f48fba4511"/>
    <p:sldId xmlns:r="http://schemas.openxmlformats.org/officeDocument/2006/relationships" id="259" r:id="Rdb1d8c347c744728"/>
    <p:sldId xmlns:r="http://schemas.openxmlformats.org/officeDocument/2006/relationships" id="260" r:id="R2770c440ed404087"/>
    <p:sldId xmlns:r="http://schemas.openxmlformats.org/officeDocument/2006/relationships" id="261" r:id="Rf03f79f0c5c2424a"/>
    <p:sldId xmlns:r="http://schemas.openxmlformats.org/officeDocument/2006/relationships" id="262" r:id="R8ae90b2f7ea44312"/>
    <p:sldId xmlns:r="http://schemas.openxmlformats.org/officeDocument/2006/relationships" id="263" r:id="Re21171a964bb45bc"/>
    <p:sldId xmlns:r="http://schemas.openxmlformats.org/officeDocument/2006/relationships" id="264" r:id="R5d45a4900b8a454c"/>
    <p:sldId xmlns:r="http://schemas.openxmlformats.org/officeDocument/2006/relationships" id="265" r:id="Rebb850fb28af4a95"/>
    <p:sldId xmlns:r="http://schemas.openxmlformats.org/officeDocument/2006/relationships" id="266" r:id="R98225bafe63a46c0"/>
    <p:sldId xmlns:r="http://schemas.openxmlformats.org/officeDocument/2006/relationships" id="267" r:id="R22738bec32a74154"/>
    <p:sldId xmlns:r="http://schemas.openxmlformats.org/officeDocument/2006/relationships" id="268" r:id="R78c4e6862cf9443e"/>
    <p:sldId xmlns:r="http://schemas.openxmlformats.org/officeDocument/2006/relationships" id="269" r:id="R36e2a43083a24ebb"/>
    <p:sldId xmlns:r="http://schemas.openxmlformats.org/officeDocument/2006/relationships" id="270" r:id="R8bd259ac4c484777"/>
    <p:sldId xmlns:r="http://schemas.openxmlformats.org/officeDocument/2006/relationships" id="271" r:id="R096f87b868264732"/>
    <p:sldId xmlns:r="http://schemas.openxmlformats.org/officeDocument/2006/relationships" id="272" r:id="R9725f4192fc14d63"/>
    <p:sldId xmlns:r="http://schemas.openxmlformats.org/officeDocument/2006/relationships" id="273" r:id="Rfb1fc3367d234d59"/>
    <p:sldId xmlns:r="http://schemas.openxmlformats.org/officeDocument/2006/relationships" id="274" r:id="Rb40fefd63b854701"/>
    <p:sldId xmlns:r="http://schemas.openxmlformats.org/officeDocument/2006/relationships" id="275" r:id="R79e765dca1ac4ff9"/>
    <p:sldId xmlns:r="http://schemas.openxmlformats.org/officeDocument/2006/relationships" id="276" r:id="R86ae01ad27ad4e1e"/>
    <p:sldId xmlns:r="http://schemas.openxmlformats.org/officeDocument/2006/relationships" id="277" r:id="R556bb3bc076f46ef"/>
    <p:sldId xmlns:r="http://schemas.openxmlformats.org/officeDocument/2006/relationships" id="278" r:id="R60a389a8e75f4d80"/>
    <p:sldId xmlns:r="http://schemas.openxmlformats.org/officeDocument/2006/relationships" id="279" r:id="Rfbdb89d91b7c4d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20b3d127fc4752" /><Relationship Type="http://schemas.openxmlformats.org/officeDocument/2006/relationships/slideMaster" Target="/ppt/slideMasters/slideMaster1.xml" Id="Rd23138295ad04dd0" /><Relationship Type="http://schemas.openxmlformats.org/officeDocument/2006/relationships/notesMaster" Target="/ppt/notesMasters/notesMaster1.xml" Id="R8e18740ead4847dc" /><Relationship Type="http://schemas.openxmlformats.org/officeDocument/2006/relationships/presProps" Target="/ppt/presProps.xml" Id="R0eb879a668d54bdd" /><Relationship Type="http://schemas.openxmlformats.org/officeDocument/2006/relationships/tableStyles" Target="/ppt/tableStyles.xml" Id="R7a17e61d07234167" /><Relationship Type="http://schemas.openxmlformats.org/officeDocument/2006/relationships/slide" Target="/ppt/slides/slide1.xml" Id="R23a0aca5e54a4cb5" /><Relationship Type="http://schemas.openxmlformats.org/officeDocument/2006/relationships/slide" Target="/ppt/slides/slide2.xml" Id="R40267e6ef6314ed3" /><Relationship Type="http://schemas.openxmlformats.org/officeDocument/2006/relationships/slide" Target="/ppt/slides/slide3.xml" Id="R2cb283f48fba4511" /><Relationship Type="http://schemas.openxmlformats.org/officeDocument/2006/relationships/slide" Target="/ppt/slides/slide4.xml" Id="Rdb1d8c347c744728" /><Relationship Type="http://schemas.openxmlformats.org/officeDocument/2006/relationships/slide" Target="/ppt/slides/slide5.xml" Id="R2770c440ed404087" /><Relationship Type="http://schemas.openxmlformats.org/officeDocument/2006/relationships/slide" Target="/ppt/slides/slide6.xml" Id="Rf03f79f0c5c2424a" /><Relationship Type="http://schemas.openxmlformats.org/officeDocument/2006/relationships/slide" Target="/ppt/slides/slide7.xml" Id="R8ae90b2f7ea44312" /><Relationship Type="http://schemas.openxmlformats.org/officeDocument/2006/relationships/slide" Target="/ppt/slides/slide8.xml" Id="Re21171a964bb45bc" /><Relationship Type="http://schemas.openxmlformats.org/officeDocument/2006/relationships/slide" Target="/ppt/slides/slide9.xml" Id="R5d45a4900b8a454c" /><Relationship Type="http://schemas.openxmlformats.org/officeDocument/2006/relationships/slide" Target="/ppt/slides/slide10.xml" Id="Rebb850fb28af4a95" /><Relationship Type="http://schemas.openxmlformats.org/officeDocument/2006/relationships/slide" Target="/ppt/slides/slide11.xml" Id="R98225bafe63a46c0" /><Relationship Type="http://schemas.openxmlformats.org/officeDocument/2006/relationships/slide" Target="/ppt/slides/slide12.xml" Id="R22738bec32a74154" /><Relationship Type="http://schemas.openxmlformats.org/officeDocument/2006/relationships/slide" Target="/ppt/slides/slide13.xml" Id="R78c4e6862cf9443e" /><Relationship Type="http://schemas.openxmlformats.org/officeDocument/2006/relationships/slide" Target="/ppt/slides/slide14.xml" Id="R36e2a43083a24ebb" /><Relationship Type="http://schemas.openxmlformats.org/officeDocument/2006/relationships/slide" Target="/ppt/slides/slide15.xml" Id="R8bd259ac4c484777" /><Relationship Type="http://schemas.openxmlformats.org/officeDocument/2006/relationships/slide" Target="/ppt/slides/slide16.xml" Id="R096f87b868264732" /><Relationship Type="http://schemas.openxmlformats.org/officeDocument/2006/relationships/slide" Target="/ppt/slides/slide17.xml" Id="R9725f4192fc14d63" /><Relationship Type="http://schemas.openxmlformats.org/officeDocument/2006/relationships/slide" Target="/ppt/slides/slide18.xml" Id="Rfb1fc3367d234d59" /><Relationship Type="http://schemas.openxmlformats.org/officeDocument/2006/relationships/slide" Target="/ppt/slides/slide19.xml" Id="Rb40fefd63b854701" /><Relationship Type="http://schemas.openxmlformats.org/officeDocument/2006/relationships/slide" Target="/ppt/slides/slide20.xml" Id="R79e765dca1ac4ff9" /><Relationship Type="http://schemas.openxmlformats.org/officeDocument/2006/relationships/slide" Target="/ppt/slides/slide21.xml" Id="R86ae01ad27ad4e1e" /><Relationship Type="http://schemas.openxmlformats.org/officeDocument/2006/relationships/slide" Target="/ppt/slides/slide22.xml" Id="R556bb3bc076f46ef" /><Relationship Type="http://schemas.openxmlformats.org/officeDocument/2006/relationships/slide" Target="/ppt/slides/slide23.xml" Id="R60a389a8e75f4d80" /><Relationship Type="http://schemas.openxmlformats.org/officeDocument/2006/relationships/slide" Target="/ppt/slides/slide24.xml" Id="Rfbdb89d91b7c4d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707aa0ebb449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3f894cac394bd1" /><Relationship Type="http://schemas.openxmlformats.org/officeDocument/2006/relationships/notesMaster" Target="/ppt/notesMasters/notesMaster1.xml" Id="R141c4cd7b7cd4b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290f092ff9400a" /><Relationship Type="http://schemas.openxmlformats.org/officeDocument/2006/relationships/notesMaster" Target="/ppt/notesMasters/notesMaster1.xml" Id="Rfbd39dfdf46747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483034407a4755" /><Relationship Type="http://schemas.openxmlformats.org/officeDocument/2006/relationships/notesMaster" Target="/ppt/notesMasters/notesMaster1.xml" Id="R89bb2b79160445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524de5d81442cc" /><Relationship Type="http://schemas.openxmlformats.org/officeDocument/2006/relationships/notesMaster" Target="/ppt/notesMasters/notesMaster1.xml" Id="Rfc3210dbed0e444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34ea9b2be8419c" /><Relationship Type="http://schemas.openxmlformats.org/officeDocument/2006/relationships/notesMaster" Target="/ppt/notesMasters/notesMaster1.xml" Id="R39146d1afdce47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b1535236f14162" /><Relationship Type="http://schemas.openxmlformats.org/officeDocument/2006/relationships/notesMaster" Target="/ppt/notesMasters/notesMaster1.xml" Id="Rd89db733817f4b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62c0615b9444d7" /><Relationship Type="http://schemas.openxmlformats.org/officeDocument/2006/relationships/notesMaster" Target="/ppt/notesMasters/notesMaster1.xml" Id="R12daffce6dd442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79607c955543d2" /><Relationship Type="http://schemas.openxmlformats.org/officeDocument/2006/relationships/notesMaster" Target="/ppt/notesMasters/notesMaster1.xml" Id="R681696f35e1948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9af6d03a224a12" /><Relationship Type="http://schemas.openxmlformats.org/officeDocument/2006/relationships/notesMaster" Target="/ppt/notesMasters/notesMaster1.xml" Id="R73cb96bad44c40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1813eeffc1c406e" /><Relationship Type="http://schemas.openxmlformats.org/officeDocument/2006/relationships/notesMaster" Target="/ppt/notesMasters/notesMaster1.xml" Id="R7af637ee3ec1482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7b5590982814318" /><Relationship Type="http://schemas.openxmlformats.org/officeDocument/2006/relationships/notesMaster" Target="/ppt/notesMasters/notesMaster1.xml" Id="R614443d3835f4d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4a15634e59f40e3" /><Relationship Type="http://schemas.openxmlformats.org/officeDocument/2006/relationships/notesMaster" Target="/ppt/notesMasters/notesMaster1.xml" Id="Rce74fd575f6c43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474b13c4e5a4f4c" /><Relationship Type="http://schemas.openxmlformats.org/officeDocument/2006/relationships/notesMaster" Target="/ppt/notesMasters/notesMaster1.xml" Id="Rb5290eb5e03d41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5da888ef2bb4867" /><Relationship Type="http://schemas.openxmlformats.org/officeDocument/2006/relationships/notesMaster" Target="/ppt/notesMasters/notesMaster1.xml" Id="R12638f600fdc44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2e574d8a0a4ed4" /><Relationship Type="http://schemas.openxmlformats.org/officeDocument/2006/relationships/notesMaster" Target="/ppt/notesMasters/notesMaster1.xml" Id="R72915f7b01704b5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ee25fc90bf49a1" /><Relationship Type="http://schemas.openxmlformats.org/officeDocument/2006/relationships/notesMaster" Target="/ppt/notesMasters/notesMaster1.xml" Id="R80436e5b4f9440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dc22e6114614ee6" /><Relationship Type="http://schemas.openxmlformats.org/officeDocument/2006/relationships/notesMaster" Target="/ppt/notesMasters/notesMaster1.xml" Id="R3fe8abca59a94e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6a39167a9b34d20" /><Relationship Type="http://schemas.openxmlformats.org/officeDocument/2006/relationships/notesMaster" Target="/ppt/notesMasters/notesMaster1.xml" Id="R0c5fba306c794d0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13ba00addee4ae9" /><Relationship Type="http://schemas.openxmlformats.org/officeDocument/2006/relationships/notesMaster" Target="/ppt/notesMasters/notesMaster1.xml" Id="Rbd11f3d950b44e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c4c0acb80a4a57" /><Relationship Type="http://schemas.openxmlformats.org/officeDocument/2006/relationships/notesMaster" Target="/ppt/notesMasters/notesMaster1.xml" Id="R96c0d3fbd91f4c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e9e276e24844bb5" /><Relationship Type="http://schemas.openxmlformats.org/officeDocument/2006/relationships/notesMaster" Target="/ppt/notesMasters/notesMaster1.xml" Id="R495f0e98d61f4b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7e3416901d34ba7" /><Relationship Type="http://schemas.openxmlformats.org/officeDocument/2006/relationships/notesMaster" Target="/ppt/notesMasters/notesMaster1.xml" Id="Rc6a4b417a5184a9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e19e4dd1b1c416f" /><Relationship Type="http://schemas.openxmlformats.org/officeDocument/2006/relationships/notesMaster" Target="/ppt/notesMasters/notesMaster1.xml" Id="R7ee2b43cc0b84d2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fc09dd5b85946c8" /><Relationship Type="http://schemas.openxmlformats.org/officeDocument/2006/relationships/notesMaster" Target="/ppt/notesMasters/notesMaster1.xml" Id="R415f34fbe08d4a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https://www.sohu.com/a/964257697_121123868（公司办公与研发现场）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内部资料：2025年财务报表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  <a:p xmlns:a="http://schemas.openxmlformats.org/drawingml/2006/main">
            <a:r>
              <a:t>- 内部材料：本轮投资文件/条款（内容由逐页框架转述，原件待归档）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https://ifr.org/news/global-robot-demand-in-factories-doubles-over-10-years/1st-quarterly-newsletter-2015</a:t>
            </a:r>
          </a:p>
          <a:p xmlns:a="http://schemas.openxmlformats.org/drawingml/2006/main">
            <a:r>
              <a:t>- https://www.miit.gov.cn/zwgk/zcwj/wjfb/tz/art/2026/art_f291ccd3da4c47ce95741de63cc088e6.html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https://www.36kr.com/p/3894821059918855（触觉手套公开产品图）</a:t>
            </a:r>
          </a:p>
          <a:p xmlns:a="http://schemas.openxmlformats.org/drawingml/2006/main">
            <a:r>
              <a:t>- 机器人触觉行业公开资料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公司材料：实验室、机器人种类与轨迹规模</a:t>
            </a:r>
          </a:p>
          <a:p xmlns:a="http://schemas.openxmlformats.org/drawingml/2006/main">
            <a:r>
              <a:t>- 客户及行业公开资料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https://www.36kr.com/p/3894821059918855（头戴式设备公开产品图）</a:t>
            </a:r>
          </a:p>
          <a:p xmlns:a="http://schemas.openxmlformats.org/drawingml/2006/main">
            <a:r>
              <a:t>- 公司材料：四层产品与商业化进展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  <a:p xmlns:a="http://schemas.openxmlformats.org/drawingml/2006/main">
            <a:r>
              <a:t>- https://investor.nvidia.com/news/press-release-details/2025/NVIDIA-Announces-Isaac-GR00T-N1--the-Worlds-First-Open-Humanoid-Robot-Foundation-Model--and-Simulation-Frameworks-to-Speed-Robot-Development/default.aspx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https://www.uottawa.ca/faculty-engineering/school-electrical-engineering-computer-science/directory/abdulmotaleb-el-saddik</a:t>
            </a:r>
          </a:p>
          <a:p xmlns:a="http://schemas.openxmlformats.org/drawingml/2006/main">
            <a:r>
              <a:t>- https://rsc-src.ca/en/find-rsc-member/results?combine=El+Saddik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  <a:p xmlns:a="http://schemas.openxmlformats.org/drawingml/2006/main">
            <a:r>
              <a:t>- 内部材料：本轮投资文件/条款（内容由逐页框架转述，原件待归档）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  <a:p xmlns:a="http://schemas.openxmlformats.org/drawingml/2006/main">
            <a:r>
              <a:t>- 内部材料：本轮投资文件/条款（内容由逐页框架转述，原件待归档）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  <a:p xmlns:a="http://schemas.openxmlformats.org/drawingml/2006/main">
            <a:r>
              <a:t>- https://eu.36kr.com/zh/p/3894821059918855（公司力触交互手套图片）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内部资料：2025年财务报表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内部资料：2025年财务报表。收入1,302.83万元、营业成本498.42万元、毛利804.41万元、研发费用599.33万元、净利润48.87万元。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内部资料：2025年财务报表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内部材料：本轮投资文件/条款（内容由逐页框架转述，原件待归档）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内部材料：本轮投资文件/条款（内容由逐页框架转述，原件待归档）</a:t>
            </a:r>
          </a:p>
          <a:p xmlns:a="http://schemas.openxmlformats.org/drawingml/2006/main">
            <a:r>
              <a:t>- https://zfgb.hangzhou.gov.cn/11/101220263/t104220263014/530113.shtml（杭州具身智能产业政策，逐页框架所列网址）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内部材料：《大衍科技投资报告逐页框架_20260818.docx》</a:t>
            </a:r>
          </a:p>
          <a:p xmlns:a="http://schemas.openxmlformats.org/drawingml/2006/main">
            <a:r>
              <a:t>- 内部材料：《20260812-大衍科技客户访谈纪要》（内容由逐页框架转述，原件待归档）</a:t>
            </a:r>
          </a:p>
          <a:p xmlns:a="http://schemas.openxmlformats.org/drawingml/2006/main">
            <a:r>
              <a:t>- 内部材料：《20260812-大衍科技高管访谈纪要》（内容由逐页框架转述，原件待归档）</a:t>
            </a:r>
          </a:p>
          <a:p xmlns:a="http://schemas.openxmlformats.org/drawingml/2006/main">
            <a:r>
              <a:t>- 内部材料：本轮投资文件/条款（内容由逐页框架转述，原件待归档）</a:t>
            </a:r>
          </a:p>
          <a:p xmlns:a="http://schemas.openxmlformats.org/drawingml/2006/main">
            <a:r>
              <a:t>- 资料边界：框架中引用的2026-08-12访谈和本轮投资文件原件当前未在项目文件夹归档；本版按逐页框架转述并在图面区分证据等级。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23e704644a4b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e252b3cc184e15" /><Relationship Type="http://schemas.openxmlformats.org/officeDocument/2006/relationships/slideLayout" Target="/ppt/slideLayouts/slideLayout1.xml" Id="R47ad38c90cde41c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ad38c90cde41c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KaiTi"/>
          <a:cs typeface="Times New Roman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KaiTi"/>
          <a:cs typeface="Times New Roman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KaiTi"/>
          <a:cs typeface="Times New Roman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KaiTi"/>
          <a:cs typeface="Times New Roman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KaiTi"/>
          <a:cs typeface="Times New Roman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KaiTi"/>
          <a:cs typeface="Times New Roman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KaiTi"/>
          <a:cs typeface="Times New Roman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KaiTi"/>
          <a:cs typeface="Times New Roman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KaiTi"/>
          <a:cs typeface="Times New Roman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KaiTi"/>
          <a:cs typeface="Times New Roman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Times New Roman"/>
          <a:ea typeface="KaiTi"/>
          <a:cs typeface="Times New Roman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a177884bb442e" /><Relationship Type="http://schemas.openxmlformats.org/officeDocument/2006/relationships/image" Target="/ppt/media/image.jpeg" Id="R911300d6434e4df3" /><Relationship Type="http://schemas.openxmlformats.org/officeDocument/2006/relationships/notesSlide" Target="/ppt/notesSlides/notesSlide1.xml" Id="Re0af3aa0d36748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f2941633f1431c" /><Relationship Type="http://schemas.openxmlformats.org/officeDocument/2006/relationships/notesSlide" Target="/ppt/notesSlides/notesSlide2.xml" Id="R2a4f96493f964dd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a811597608425b" /><Relationship Type="http://schemas.openxmlformats.org/officeDocument/2006/relationships/image" Target="/ppt/media/image2.jpeg" Id="R42d3aa3d0b934117" /><Relationship Type="http://schemas.openxmlformats.org/officeDocument/2006/relationships/notesSlide" Target="/ppt/notesSlides/notesSlide3.xml" Id="R607f9965cccb41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f67b747e049f2" /><Relationship Type="http://schemas.openxmlformats.org/officeDocument/2006/relationships/image" Target="/ppt/media/image3.jpeg" Id="Rbc65e7ac4a3246e6" /><Relationship Type="http://schemas.openxmlformats.org/officeDocument/2006/relationships/notesSlide" Target="/ppt/notesSlides/notesSlide4.xml" Id="Rb4708140ecb84d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c416b24a04e13" /><Relationship Type="http://schemas.openxmlformats.org/officeDocument/2006/relationships/notesSlide" Target="/ppt/notesSlides/notesSlide5.xml" Id="Rba624c71da084a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a6d34c0c149ac" /><Relationship Type="http://schemas.openxmlformats.org/officeDocument/2006/relationships/image" Target="/ppt/media/image4.jpeg" Id="R813f21c1378a479a" /><Relationship Type="http://schemas.openxmlformats.org/officeDocument/2006/relationships/notesSlide" Target="/ppt/notesSlides/notesSlide6.xml" Id="R102a73dda5c347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34c9d41a448ac" /><Relationship Type="http://schemas.openxmlformats.org/officeDocument/2006/relationships/notesSlide" Target="/ppt/notesSlides/notesSlide7.xml" Id="Ra3d8e51089454fd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4c3a797744eca" /><Relationship Type="http://schemas.openxmlformats.org/officeDocument/2006/relationships/image" Target="/ppt/media/image5.jpeg" Id="R83a103a44a2b409c" /><Relationship Type="http://schemas.openxmlformats.org/officeDocument/2006/relationships/notesSlide" Target="/ppt/notesSlides/notesSlide8.xml" Id="R440adf520640458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402c2516648bc" /><Relationship Type="http://schemas.openxmlformats.org/officeDocument/2006/relationships/image" Target="/ppt/media/image6.jpeg" Id="Rdd6070a787c8428c" /><Relationship Type="http://schemas.openxmlformats.org/officeDocument/2006/relationships/notesSlide" Target="/ppt/notesSlides/notesSlide9.xml" Id="Re711cba9372a4f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5a0908e524440" /><Relationship Type="http://schemas.openxmlformats.org/officeDocument/2006/relationships/image" Target="/ppt/media/image7.jpeg" Id="Re495b08839dd40e7" /><Relationship Type="http://schemas.openxmlformats.org/officeDocument/2006/relationships/notesSlide" Target="/ppt/notesSlides/notesSlide10.xml" Id="R065e0319c1d04ef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540b53039404e" /><Relationship Type="http://schemas.openxmlformats.org/officeDocument/2006/relationships/notesSlide" Target="/ppt/notesSlides/notesSlide11.xml" Id="R5845d7776fef45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e340bedbb49eb" /><Relationship Type="http://schemas.openxmlformats.org/officeDocument/2006/relationships/image" Target="/ppt/media/image.png" Id="R26460525469d4364" /><Relationship Type="http://schemas.openxmlformats.org/officeDocument/2006/relationships/notesSlide" Target="/ppt/notesSlides/notesSlide12.xml" Id="Rb8e3f6abe2ab42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db7bd317da43c9" /><Relationship Type="http://schemas.openxmlformats.org/officeDocument/2006/relationships/notesSlide" Target="/ppt/notesSlides/notesSlide13.xml" Id="Ra51f6f993d7341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deadfe17d44ee5" /><Relationship Type="http://schemas.openxmlformats.org/officeDocument/2006/relationships/notesSlide" Target="/ppt/notesSlides/notesSlide14.xml" Id="R537087a07f56422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84078de9f40eb" /><Relationship Type="http://schemas.openxmlformats.org/officeDocument/2006/relationships/notesSlide" Target="/ppt/notesSlides/notesSlide15.xml" Id="R890120e0a41a46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aa52cb18844ed" /><Relationship Type="http://schemas.openxmlformats.org/officeDocument/2006/relationships/notesSlide" Target="/ppt/notesSlides/notesSlide16.xml" Id="R845b69e6826d4ea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90b953ef74919" /><Relationship Type="http://schemas.openxmlformats.org/officeDocument/2006/relationships/notesSlide" Target="/ppt/notesSlides/notesSlide17.xml" Id="Rd671ace9272c433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e42f7284f405a" /><Relationship Type="http://schemas.openxmlformats.org/officeDocument/2006/relationships/notesSlide" Target="/ppt/notesSlides/notesSlide18.xml" Id="R2d3a88b9aa7542b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44f0127d346fc" /><Relationship Type="http://schemas.openxmlformats.org/officeDocument/2006/relationships/notesSlide" Target="/ppt/notesSlides/notesSlide19.xml" Id="R5a533b4439dc47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e2e83e740042de" /><Relationship Type="http://schemas.openxmlformats.org/officeDocument/2006/relationships/notesSlide" Target="/ppt/notesSlides/notesSlide20.xml" Id="R8f3e4eb010c6447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be6912d5fc4fee" /><Relationship Type="http://schemas.openxmlformats.org/officeDocument/2006/relationships/notesSlide" Target="/ppt/notesSlides/notesSlide21.xml" Id="Rcb699d4aeb1a437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2cbfb490c4184" /><Relationship Type="http://schemas.openxmlformats.org/officeDocument/2006/relationships/notesSlide" Target="/ppt/notesSlides/notesSlide22.xml" Id="Rd1e580d23908428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d25c7fc4c40f6" /><Relationship Type="http://schemas.openxmlformats.org/officeDocument/2006/relationships/notesSlide" Target="/ppt/notesSlides/notesSlide23.xml" Id="R17035f5171384c0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ff7e3a19e4393" /><Relationship Type="http://schemas.openxmlformats.org/officeDocument/2006/relationships/notesSlide" Target="/ppt/notesSlides/notesSlide24.xml" Id="Rd40a071c92af4e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300d6434e4df3"/>
          <a:srcRect xmlns:a="http://schemas.openxmlformats.org/drawingml/2006/main" l="18958" t="0" r="1895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15100" y="0"/>
            <a:ext cx="56769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328DBD-3418-4EA1-B8C1-881170CA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15100" y="0"/>
            <a:ext cx="5676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D47">
              <a:alpha val="10000"/>
            </a:srgbClr>
          </a:solidFill>
          <a:ln xmlns:a="http://schemas.openxmlformats.org/drawingml/2006/main" w="0">
            <a:solidFill>
              <a:srgbClr val="314D47">
                <a:alpha val="1000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9638A0-B3C6-4F52-8D88-78F9E5B1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0" y="0"/>
            <a:ext cx="381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C2F39F-8ED6-4E3F-A4D3-1BBD85A9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88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288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2B30E-23F0-42D0-AEE3-4A562C0F5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8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78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F3C54B-9EB1-4E6F-91FE-5EECD596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8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438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投资建议书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F874D4-EB50-4EBB-980E-4BAD9BF2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6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09555-05F1-447A-B2DA-C2B2137E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1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触觉与具身智能数据基础设施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5BEE9-5CF4-41C8-ACB1-312D5590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0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采集硬件 · 数据管线 · 数字孪生训练场 · 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9B66DE-F62B-4795-ACAC-E4A54CA5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0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浙江赛智伯乐投资管理有限公司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B11CCC-DEDA-4096-A584-006B7902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8864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0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2026年8月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C8690-DCF8-4024-8277-F8DD2EF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6191250"/>
            <a:ext cx="2724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713" b="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713" b="0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公司办公与研发现场｜公开报道图片</a:t>
            </a:r>
          </a:p>
        </p:txBody>
      </p:sp>
    </p:spTree>
    <p:extLst>
      <p:ext uri="{BB962C8B-B14F-4D97-AF65-F5344CB8AC3E}">
        <p14:creationId xmlns:p14="http://schemas.microsoft.com/office/powerpoint/2010/main" val="367761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2CF145-3DA3-4EBE-AC34-E723D54B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3B59BA-B6F6-4C29-A725-24931478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587EB7-9B8F-47E0-996E-417D08A0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投资结论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6D8DCE-1564-473A-B060-FDA1C1A7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资料来源：2025财务报表；客户访谈；本轮投资文件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A3F0A-B776-4CFE-A0FC-51019F53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E555F0-EFBA-449C-A672-06BAB14E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F02A27-68BB-4EAC-B2A0-E5AFAA766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24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建议投资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0BA0E-81F8-4548-B361-F3AEB378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84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284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触觉入口稀缺，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84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284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复购证明数据闭环能够商业化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8FF1A-2272-4463-B772-FD1C9904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670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83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大衍把触觉研究、采集硬件、自动化数据加工与仿真训练场组织在同一闭环；客户真机反馈继续进入下一轮数据与训练。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2CCB4-0791-48FF-B678-7132B380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91440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4214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4214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1,302.83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220336-89F7-49CC-8D18-B8D365B6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714500"/>
            <a:ext cx="2305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40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万元｜2025A收入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7A3CE6-A229-43E6-8638-5C3DD737F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152650"/>
            <a:ext cx="1390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61.7%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1968D-2209-4A44-AFAD-A09A96DE6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336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毛利率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CD10CF-9799-4B33-9EF8-F4746D4C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52650"/>
            <a:ext cx="1600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两家复购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80E27F-1BBE-42D3-AE6D-66540B6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33650"/>
            <a:ext cx="1295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客户验证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52037-2DDF-4146-90F2-3D035104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14650"/>
            <a:ext cx="1047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AA1199-DE00-451F-96FA-A8C157B4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为什么成立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AAE62-FF57-4456-941B-8A168699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4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5207B-CF77-4AC5-A760-41D0F57B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赛道换挡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C16611-9850-4D37-8343-02145557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43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真实作业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116E7E-0B83-43D1-9E25-FDD68A57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工业装配、配送和柔性操作需要视觉、动作与物理接触同时进入数据。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61B397-F685-43D2-A5BC-539A776B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543300"/>
            <a:ext cx="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B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A8617-BC73-442B-BD2A-DF337C6D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F6D99A-0DC8-4BD6-AF67-BF840B6B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05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供给稀缺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E28652-8D07-46F9-BDD2-D04674EB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943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四层覆盖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5C6F81-11CE-4892-B169-53CB4ADC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434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市场多停留在单一传感器、采集劳务或纯仿真；大衍覆盖硬件—数据—训练—模型。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559EA2-B884-4097-9BFF-A67B84AE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0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C8CB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B276A9-6874-43E9-B53E-099CFDD1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433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C3965-7740-4B11-933A-933FABAB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052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验证出现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41E4B2-B1DB-4AD4-9E75-299A21C9D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943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复购盈利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7C20F6-F77F-4ABC-B7D0-D4B92418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43400"/>
            <a:ext cx="295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2025年收入过千万元并盈利；客户给出复购、唯一供应商与问题解决证据。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189D60-70C9-4B29-B423-FE12FA5C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5429250"/>
            <a:ext cx="1047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FB3A114-1432-42CF-AC75-C28FDE9F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投资条件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380BCF-1AE4-46F1-B24A-6C36CC696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2450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33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33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2,500万元｜全部增资｜初始持股5.0%｜两期付款｜5人董事会1席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9876E2-9AD0-4781-A70F-56B72D52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55626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9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9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A｜财务报表 / 客户访谈 / 投资文件</a:t>
            </a:r>
          </a:p>
        </p:txBody>
      </p:sp>
    </p:spTree>
    <p:extLst>
      <p:ext uri="{BB962C8B-B14F-4D97-AF65-F5344CB8AC3E}">
        <p14:creationId xmlns:p14="http://schemas.microsoft.com/office/powerpoint/2010/main" val="1642850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9551CE-D42F-4E49-94C4-72784802B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BDCEAF-01E1-4A6A-9DCD-B35DC19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C47A5-1D61-494F-AF5E-48030171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行业背景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300FB-8617-482F-8701-D1EA7EC9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资料来源：IFR World Robotics 2025；工信部2026专项行动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1203B-7489-49F7-82FD-303DAB85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E092B-3664-4972-B6CF-8503D2A2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CF0F668-2639-47EA-8326-0B240E73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466万台机器人进入存量运营，产业瓶颈转向真实作业数据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FE637B-D573-4F1F-B185-23187E97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6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36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466.4万台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E13E7-9E5A-4991-9E26-21C1CD9F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431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3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2024年全球在役工业机器人｜同比增长9%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811F4-B449-4BC8-A388-BD27CCB8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0"/>
            <a:ext cx="4629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768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68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设备存量已经形成。下一阶段的问题，不再是机器人能否完成演示，而是能否在接触、柔性物体和长尾工况中稳定工作。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73E32D-08F1-402C-9C37-B8C9DE3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38600"/>
            <a:ext cx="462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87480C-AC29-43C6-AB8C-2DC28769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54.2万台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1BF1E3-39FF-47C0-A657-2F4407B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05350"/>
            <a:ext cx="200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新增装机｜连续4年超过50万台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596E5E-C64B-4564-B8F2-4ACFFCEE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29.5万台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F99EE-57D7-4D88-84C5-BEA4B1787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053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中国新增｜占全球54%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1DD542-6B53-4FB8-9030-166D13B1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959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结论｜存量运营将竞争焦点推向真实作业数据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3aa3d0b934117"/>
          <a:srcRect xmlns:a="http://schemas.openxmlformats.org/drawingml/2006/main" l="14812" t="0" r="148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91200" y="1466850"/>
            <a:ext cx="5219700" cy="417195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07ECCC-FE2B-47C1-ACD1-744CB800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1466850"/>
            <a:ext cx="5219700" cy="417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4D47">
              <a:alpha val="10000"/>
            </a:srgbClr>
          </a:solidFill>
          <a:ln xmlns:a="http://schemas.openxmlformats.org/drawingml/2006/main" w="0">
            <a:solidFill>
              <a:srgbClr val="314D47">
                <a:alpha val="1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F1AC5B-1231-4802-9B31-F6D8DCE9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81700" y="3943350"/>
            <a:ext cx="48387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54F">
              <a:alpha val="78000"/>
            </a:srgbClr>
          </a:solidFill>
          <a:ln xmlns:a="http://schemas.openxmlformats.org/drawingml/2006/main" w="0">
            <a:solidFill>
              <a:srgbClr val="40554F">
                <a:alpha val="78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43EB5-C511-4A53-978B-69D18E519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441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从‘演示可见’到‘作业可用’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A2B919-19D8-4B90-A1DE-35EACDBB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14850"/>
            <a:ext cx="441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1">
                <a:solidFill>
                  <a:srgbClr val="D8E8ED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D8E8ED"/>
                </a:solidFill>
                <a:latin typeface="Times New Roman"/>
                <a:ea typeface="KaiTi"/>
                <a:cs typeface="Times New Roman"/>
              </a:rPr>
              <a:t>安装 → 演示 → 部署 → 规模复制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792BA6-DBF8-48F9-A2D6-CBB163D6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14900"/>
            <a:ext cx="441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15" b="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515" b="0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政策目标：100+高价值场景、万台级应用能力；训练数据需覆盖全身轨迹、力位曲线、异常与边界工况。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184E23-C6E6-43A3-9BD4-536F7CB0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67350"/>
            <a:ext cx="441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38" b="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0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行业示意｜NVIDIA官方公开图，非公司产品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CA8A6-257D-48F4-ACA1-43CF09778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579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A56B84-AA19-4D8E-B8A1-5DD4F80E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483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国际机器人联合会/工信部</a:t>
            </a:r>
          </a:p>
        </p:txBody>
      </p:sp>
    </p:spTree>
    <p:extLst>
      <p:ext uri="{BB962C8B-B14F-4D97-AF65-F5344CB8AC3E}">
        <p14:creationId xmlns:p14="http://schemas.microsoft.com/office/powerpoint/2010/main" val="713165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EAF89E-897D-40AD-A851-39767DC5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0BDE9-32E2-46CA-A4B2-07592994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484155-4CB5-4610-8E1C-BD19451D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行业背景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3448DE-D34F-4688-80DC-2951959CE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资料来源：公司材料；机器人触觉行业公开资料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1AA6B-D4DE-4BFC-9531-707ACCD2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5CBE92-C209-4FF8-ACEA-7CB01C77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C27189F-0984-4E46-B28D-4CAFD800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视觉识别位置，触觉决定抓取是否稳定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42A1DA-49D8-40DD-8F2F-846FB339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机器人从“看见”走向“完成”，需要同步感知接触力、滑移、材料差异与物体形变。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5e7ac4a3246e6"/>
          <a:srcRect xmlns:a="http://schemas.openxmlformats.org/drawingml/2006/main" l="3144" t="0" r="314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28800"/>
            <a:ext cx="4810125" cy="36957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477D61-27C8-4928-8EEA-31ED9FF77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067300"/>
            <a:ext cx="48101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C3DC8B-6C2F-478F-A3AF-36B28BDE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3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873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触觉连接感知与动作，是柔性操作闭环的入口。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9FD534-4559-471C-84F6-53A3401E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84785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37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837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触觉补全视觉无法确认的物理状态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78C7D3-9020-478B-83B4-0AF131A18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33625"/>
            <a:ext cx="539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9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视觉回答“在哪里、长什么样、如何运动”；触觉回答“是否接触、用了多大力、是否滑移、物体如何形变”。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132D6D-4942-4A31-B2CA-43B78083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238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B5855D-4707-42D0-8712-7FEE0757A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0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力与压力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C84EC8-B0EE-4362-B384-0BBF11F26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337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抓取是否稳定、是否损伤物体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7BBBA-CB9F-4640-8B35-4F05A539D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385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DAFE4B-C715-4B32-9992-9B5DCBAC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2004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滑移与摩擦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6DA21-CE83-455B-9937-FA0D4E0D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5337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物体是否将要脱落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42A034-84A2-4714-9052-828D9AF6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229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996BC8-2D28-492E-9F0A-91C3FB495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材质与柔顺性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7EC113-70DC-4CC3-AC25-F1B0DB36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24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刚性与柔性物体的接触差异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3EEFDF-770C-4287-ADF2-28791A006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2291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23EEFD-737F-4E8E-B4D7-BAE0F925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910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形变与安全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37315-9490-4AC1-A0FC-7A03CD3D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524375"/>
            <a:ext cx="2047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柔性装配及人机协作边界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D4BCBE-CA01-4CAD-88D0-E6D43889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5362575"/>
            <a:ext cx="539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5F37DD-3A7A-4430-A991-D202BA01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505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硬件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13F081-4B54-4527-9611-A2648CF3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721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持续获取接触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2A8460-14C6-4E6F-80A0-23DF29C0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55149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E977C8-0C98-44A7-A89C-DAC7FE70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505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数据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E50B3B-FFA8-49D5-ACE3-384B19FF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7721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同步标定与加工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6C7991-6C6F-48F7-B9BE-D9ADBCD8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14975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9BCC69-C806-49D8-AA0F-EAB6EB27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5054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算法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D36CCE-A0B6-45D2-B3BE-7A155CE2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5772150"/>
            <a:ext cx="1381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将接触转化为技能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09CE47-24A1-48F3-998E-5887B1CF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19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AEEE573-01A2-43E4-8720-236624C2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102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公司公开产品图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9650C7-5DE2-487C-82AD-6604BC80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6019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A35036-5632-4F4D-A391-9B34F8D8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60102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公司材料及行业资料</a:t>
            </a:r>
          </a:p>
        </p:txBody>
      </p:sp>
    </p:spTree>
    <p:extLst>
      <p:ext uri="{BB962C8B-B14F-4D97-AF65-F5344CB8AC3E}">
        <p14:creationId xmlns:p14="http://schemas.microsoft.com/office/powerpoint/2010/main" val="1468934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6F3C19-68E7-4A42-BB0F-D29E1346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8792F8-06A6-4B1C-8273-02525736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E7774-5998-47E6-8CF0-F3EF93FB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行业痛点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2AB25-3D52-45B9-B73C-AC8912D2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资料来源：客户/行业公开资料；公司材料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B3AD9A-4803-444B-8D60-0E46DEDE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0E0479-521D-4639-92EF-2D6F9C367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88A6AE-5D27-4ABE-B9BD-EA9EAC50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机器人训练同时面临“数量不足”与“可用性不足”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414008-462F-4E5E-8D3A-66930CC6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常规任务轨迹可以积累，但越接近真实接触与故障边界，样本越稀缺、加工成本越高。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CB842A-32CD-4597-A8FC-902F5D3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95" b="0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595" b="0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33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22BA26-9049-406F-AF78-259F474E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个实验室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289998-12AE-4B47-94C6-69BDE131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479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多场景采集与验证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F62D9-E2F9-4FE6-9504-F4221999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2405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95" b="0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595" b="0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22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399A9C-C382-4242-B377-43109A71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种机器人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7FF34-21A4-4CF8-A694-9F30FE58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479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覆盖多类本体与任务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80D4C2-5079-4760-9CE1-17ABF461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24050"/>
            <a:ext cx="1571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265" b="0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265" b="0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100万+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492C10-7069-4F46-8DDE-9C8E5119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669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条轨迹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8D9B39-C47D-4A9F-A3E7-FBF8F367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479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形成规模化数据基础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7D461-87F0-4B56-85E2-8BC5E7FC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2882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43" b="1">
                <a:solidFill>
                  <a:srgbClr val="B56250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1">
                <a:solidFill>
                  <a:srgbClr val="B56250"/>
                </a:solidFill>
                <a:latin typeface="Times New Roman"/>
                <a:ea typeface="KaiTi"/>
                <a:cs typeface="Times New Roman"/>
              </a:rPr>
              <a:t>仍不能覆盖真实接触与故障边界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D0CD24-6BD0-48BF-9405-BD3F2221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00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1C6A71-5BAC-42FC-9502-A37B2B9B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数据数量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2DEF19-4844-4694-B8DD-A474FE3A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480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常规成功任务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369648-F15B-4D89-9A18-DBC9C7DA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3629025"/>
            <a:ext cx="3714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88892-F1FE-48C6-8DF0-0147333C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099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40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较多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38ABC8-AD28-4215-B2B2-C2892456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异常／边界工况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128F66-D761-4440-8FDC-BDFAC30B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276725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B4644A-A8BB-4440-974B-D16384BA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2576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不足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B00E27-1F4A-4687-852D-0FD53DC29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4347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触觉接触片段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FABE25-4616-4E44-8151-6B6E13F9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9244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C0BCBF-EE24-43B3-AC2D-3FFADEE6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905375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稀缺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D20B62-DCBF-4269-BEE0-D4A77F4D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19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3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越接近真实接触与故障边界，样本越稀缺。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4E560A-FFA7-415D-AA50-20078F1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数据可用性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B4130B3-7A5A-4AAF-B577-AA08C6ED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48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原始视频或单一轨迹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2C5F06-A04A-4065-A65D-03ADB187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718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14" b="1">
                <a:solidFill>
                  <a:srgbClr val="B56250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B56250"/>
                </a:solidFill>
                <a:latin typeface="Times New Roman"/>
                <a:ea typeface="KaiTi"/>
                <a:cs typeface="Times New Roman"/>
              </a:rPr>
              <a:t>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4C005C7-DE24-4D98-8A52-4EEB511E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480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训练资产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341202-3838-4ED7-85AA-743A90ED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71950"/>
            <a:ext cx="476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66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视觉、动作、力触信号必须完成时空对齐、语义标注、物理校验与真机反馈，才能形成可复用标准数据包。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55A359-9BF7-4FA2-A304-8B883868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1970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纯真机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B841BE-4C8A-45EF-B8C8-5572B7700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197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可信、但难扩量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F96835D-04D8-4864-BC6E-783A6D20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19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纯仿真／生成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DF0A8DB-1E19-4606-AEE3-D7BF6DBA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534025"/>
            <a:ext cx="2324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可扩量但需真实闭环校验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AD406C-3C4E-4155-99EB-C11D7D55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953125"/>
            <a:ext cx="10820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D3C4B4-523B-4986-9248-972191D7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62650"/>
            <a:ext cx="10363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8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行业缺口不是“再多一批数据”，而是把少量高质量真实数据转化为可扩量、可验证、可回流的训练资产。</a:t>
            </a:r>
          </a:p>
        </p:txBody>
      </p:sp>
    </p:spTree>
    <p:extLst>
      <p:ext uri="{BB962C8B-B14F-4D97-AF65-F5344CB8AC3E}">
        <p14:creationId xmlns:p14="http://schemas.microsoft.com/office/powerpoint/2010/main" val="150170523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2A37C9-F29C-406D-AD53-A3E020248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B814E6-A458-49FB-8D75-609338906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F1E6D9-759C-400C-9249-30DC7AC9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公司与产品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36717D-207D-46D6-8F59-92835ED3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资料来源：公司材料；公司公开产品图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79E25-DE1D-448B-BBD6-6237A6A5A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07820-8893-42A3-A22F-BFEA87BA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05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898275-C6AD-4F3D-8129-7DC3C44B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大衍以触觉为入口，把一次采集沉淀为可复用训练资产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CCDBD-17E6-4997-960D-8D566E0F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硬件负责获取真实接触，数据负责结构化沉淀，训练与模型层把数据转化为可复用能力。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f21c1378a479a"/>
          <a:srcRect xmlns:a="http://schemas.openxmlformats.org/drawingml/2006/main" l="15347" t="0" r="15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876425"/>
            <a:ext cx="4343400" cy="3429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28B781-F9E2-4E42-A425-7B422F5E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4572000"/>
            <a:ext cx="43434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17F4C-40AA-4FD0-A81F-C47CC17F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81550"/>
            <a:ext cx="3619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37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837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入口不是单件硬件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7E6CDA-8A27-487E-B1B6-F7E78745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3752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25" b="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每次采集产生触觉、动作与环境数据，随后进入加工、训练与模型复用。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57C7B-915C-4305-95E3-636516AC0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526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372B3F-65A5-4389-9F94-4096C68A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9145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模型层｜在研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5076EC-AB54-4CC4-A9C8-6C3E4B51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860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视觉—触觉基础模型、专用世界模型与技能库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285248-9115-41E4-98C4-98B02C31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240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模型授权／能力复用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3B5DAE-130E-4271-B9AD-79C75742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597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371FA8-6187-4688-BF19-7D176524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4797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6515B2-C3B6-44A9-BFF9-B74B2C98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8098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训练层｜测试交付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628514-FBF1-4AD7-A6C0-023FAB82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813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数字孪生训练、模型评测、合成数据批量生成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EFEA96-9B00-439E-89EA-41BF3FEC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194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训练场／项目交付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75E49A-6DC0-4C91-958F-618C29A6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619500"/>
            <a:ext cx="597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E6F126-FD07-4B59-8276-A81F01F6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4332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11F9A-2B5E-40A1-8CC5-854D3B1B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7052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数据层｜已商业化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3F330C-E882-4AEB-8F41-4D694BA9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767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真实异构数据、自动清洗标注、受约束合成数据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DAE295-F202-47F2-B170-70E238F5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1477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数据包／持续复购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1326D-FECF-415A-A4C1-6B05BC8B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514850"/>
            <a:ext cx="597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8E9C43-6CA9-478F-B77B-0DA8EA9A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38675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95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713CE4-9E32-4635-853A-3E323F91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600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采集层｜已商业化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29B575-4F23-4758-B5B2-43698881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7205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触觉手套、第一视角动捕、同步记录力、动作和环境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0BDD2C-7857-42E5-95F8-CF17A0DF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101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硬件销售／数据入口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A268EF-D824-4835-A8F1-368344AD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648325"/>
            <a:ext cx="5972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8A3C146-00BC-46C8-9F43-2228E76B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810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6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硬件入口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EB2EA9-483F-47B0-8EDA-688E265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791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0B35266-9E55-42FA-B0CF-D39860FC9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810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数据复购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B334DA-2435-4A8A-BF7C-CF6C7AA6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791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E4AB42-013B-413B-A063-74C91CDE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810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训练复用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3031DC-CC21-42F4-9924-DEB73EC3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91200"/>
            <a:ext cx="247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064B80-1645-4CC8-A186-7009E2F8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模型授权</a:t>
            </a:r>
          </a:p>
        </p:txBody>
      </p:sp>
    </p:spTree>
    <p:extLst>
      <p:ext uri="{BB962C8B-B14F-4D97-AF65-F5344CB8AC3E}">
        <p14:creationId xmlns:p14="http://schemas.microsoft.com/office/powerpoint/2010/main" val="12560551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3CFF7A-809A-42FB-BA73-854D40BD3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2BB16-D278-4054-B1AF-DD91EE12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15EF2-0E2F-47E1-A9B2-A93EB8C0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211E05-ABD5-4FD7-80E2-7810A474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资料来源：公司材料；客户访谈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F53C9-993F-44AA-BB1E-B8C483DC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95A4D-7D04-416D-9C15-4DEA95CF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06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9C87FCC-32F1-4D4E-8ABB-F7FDED19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真实数据锚定物理规律，仿真负责规模化扩展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A2C5D8-0C6F-4E1C-B27A-DC21DCAD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Real–Sim–Real不是单向数据生产线：真机失败会回到下一轮场景、数据和训练规则。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432343-7EFF-40A3-9377-FF633C51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1581150"/>
            <a:ext cx="30099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EB"/>
          </a:solidFill>
          <a:ln xmlns:a="http://schemas.openxmlformats.org/drawingml/2006/main" w="0">
            <a:solidFill>
              <a:srgbClr val="EDF0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651486-4506-4759-805A-2576CF09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716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3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33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REAL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FE3B45-4758-4A60-AB8C-519B924F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1750"/>
            <a:ext cx="2686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种子数据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BD137-AE21-4E5A-BFE7-C10EDFCA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099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触觉 · 动作 · 环境 · 语义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1821F-995F-47C6-A168-815E1F97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9050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REBUILD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7B216-2F3A-48A2-BBD8-115D6AAE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050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几何 · 拓扑 · 时序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984DD1-23B6-472F-99D0-F89AAF983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4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34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A5D354-9251-49AE-8AF0-07CDF769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716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33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33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SIM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4DBD38-A594-4AF6-AA1F-4AA19F22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受约束生成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39F55C-8B56-4CF0-BA63-562CC7CC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9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52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52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视角 · 物体 · 任务 · 极端工况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FCDBF-1F98-4854-9C0A-BE34D5A3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0500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TRAIN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D2C28F-87D3-4B5B-BA31-985013F9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305050"/>
            <a:ext cx="1409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策略训练 · 评测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1B609-9F01-426A-BC10-C6CC3DAA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81300"/>
            <a:ext cx="647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4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34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65BB0-DE62-4238-9ECC-06F55165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771650"/>
            <a:ext cx="2590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3000"/>
              </a:lnSpc>
              <a:buNone/>
              <a:defRPr sz="33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33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REAL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F1A78-5EA8-465E-828D-B0E5C684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7175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真机验证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BE691C-271B-4FBB-99A0-1C6B516B8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微调 · 现场反馈 · 质量闸门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346447-6198-4095-BF46-1A763441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4095750"/>
            <a:ext cx="113538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A"/>
          </a:solidFill>
          <a:ln xmlns:a="http://schemas.openxmlformats.org/drawingml/2006/main" w="0">
            <a:solidFill>
              <a:srgbClr val="F7F2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066E55-E8DD-4D5E-8C4C-DDE6E2A5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362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56250"/>
          </a:solidFill>
          <a:ln xmlns:a="http://schemas.openxmlformats.org/drawingml/2006/main" w="0">
            <a:solidFill>
              <a:srgbClr val="B5625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527432C-0DDE-43BA-82DF-E17CBF2B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2343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B56250"/>
                </a:solidFill>
                <a:latin typeface="Times New Roman"/>
                <a:ea typeface="KaiTi"/>
                <a:cs typeface="Times New Roman"/>
              </a:defRPr>
            </a:pPr>
            <a:r>
              <a:rPr sz="1705" b="1">
                <a:solidFill>
                  <a:srgbClr val="B56250"/>
                </a:solidFill>
                <a:latin typeface="Times New Roman"/>
                <a:ea typeface="KaiTi"/>
                <a:cs typeface="Times New Roman"/>
              </a:rPr>
              <a:t>现场失败不是终点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EFC58-1A41-4FA2-99EA-07357B4FB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8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失败样本回流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7AB36-CE4D-4B40-AF9C-8DE1F5A2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2862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0F168B-B4CD-4A93-8F1C-A051D6A6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定向生成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AD3DE7-118F-479E-881E-B01B62A0C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862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0CEA47-A784-4F68-98BF-DA6AC05B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重新训练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204211-9C82-4EA5-B0A6-78AC8D2F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28625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725C5-27AB-4D72-86FC-9A80B878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286250"/>
            <a:ext cx="1790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更新质量规则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26278D-7F73-41F9-BD0B-5B57F2878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48200"/>
            <a:ext cx="7448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50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真机反馈持续回到场景、生成与训练规则。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13561C-2769-40FD-9F44-EFE4C653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C063C3-6E9C-4473-980C-DCB36B88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017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663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3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一次项目不只交付数据：客户问题沉淀为场景资产，再生成数据、训练模型并支持跨客户复用。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FDA93B-79EA-48F5-9FBA-7092D642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DB029C-8425-452A-9218-12A5B66D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293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公司路线 / 行之途案例验证</a:t>
            </a:r>
          </a:p>
        </p:txBody>
      </p:sp>
    </p:spTree>
    <p:extLst>
      <p:ext uri="{BB962C8B-B14F-4D97-AF65-F5344CB8AC3E}">
        <p14:creationId xmlns:p14="http://schemas.microsoft.com/office/powerpoint/2010/main" val="979227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2711C7-59D3-49C8-8153-1EBFF97C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646F2C-DDE9-4E75-BF93-A80F103F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AF65C-5A88-4966-9732-78F14067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54638-72F5-4DCA-8AA4-D031EA72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资料来源：普罗宇宙访谈；NVIDIA GR00T N1公开实验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80D68-F7AC-47DD-ACB9-4903F3FF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33AC0-B926-4AA1-8769-456C63003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07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365ED9-E7BB-4ECB-9F6A-A2442C46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40/30/30覆盖通用训练，10–20小时真机数据完成现场微调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E4388-01F2-4195-AEFE-F06E75B5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0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普罗宇宙客户数据配方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C4D57A-EA5E-485C-8B35-82CC208F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62100"/>
            <a:ext cx="3638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4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一条连续配方，不是三类数据并列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8F6B9-F360-45A6-9183-71F54AE5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2038350"/>
            <a:ext cx="27432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62EDE-0454-45C8-A79F-63756313D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57550" y="20383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779B0-55C5-41C0-9085-5194FF267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2038350"/>
            <a:ext cx="20574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ABEF6-0BB3-4A2E-A65C-EECD2972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40%  仿真数据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79A41D-21D2-4833-A59F-4186573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526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30%  异构数据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325ED-DA74-45BB-A915-433A028E8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5265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30%  真机数据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FBA8F-E498-4B6C-A308-BA9C5392F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0"/>
            <a:ext cx="2743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扩充通用场景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565D2-396F-4A3D-8844-10B9AD61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670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跨源多模态样本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3C4FF-3FF5-47B8-9579-487F901E7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667000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现场锚定与验证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29088-9E04-47EB-A3C7-892F881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67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12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现场真机数据没有被替代，而是被集中用于最后一公里。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5F516-BD56-4778-92F1-AE2854DE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66850"/>
            <a:ext cx="0" cy="2419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48000-C2C5-4D2F-B69C-FCC6100A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5811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6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306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60%–70%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FAC91-720E-4E3E-AD58-A6F026A4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09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通用任务完成度｜客户判断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5DF1E-20E3-4F64-8BC4-90E9FA94B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527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仿真与异构数据先覆盖通用任务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D1EA8A-8524-4C6E-9472-5B7FFFBD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8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8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10–20小时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0647F2-77AE-451B-B0DD-64CEDEA4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004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真机微调｜锁具、鞋包工艺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2401DC-9A6E-4FE9-AED7-F66EA033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0420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1F1A3-39D5-48A5-83AF-FFEB7C3D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外部实验基准｜非大衍测试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103a44a2b409c"/>
          <a:srcRect xmlns:a="http://schemas.openxmlformats.org/drawingml/2006/main" l="0" t="3012" r="0" b="30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4610100"/>
            <a:ext cx="1581150" cy="99060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9629C2-A6ED-4534-89CC-148757DD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648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78万条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8FAA07-EAD8-43EF-A37F-63B073C3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863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合成轨迹 / 11小时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D55B98-A31D-4A23-9068-F5863C77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291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C8CB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2C5010-9567-41F7-A9F1-DB8E3DB6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≈6,500小时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40C077-D132-46BE-BF48-661EB9F40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真人示教等效量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FD24B3-76F0-459A-8523-02887283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29150"/>
            <a:ext cx="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C8CBC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94AEFA-ED7F-4BE3-8A67-C513B844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64820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+40%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AB15D58-139E-45F0-BC60-40700BA3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086350"/>
            <a:ext cx="1695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真实+合成 vs 仅真实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9A9DC0-ADDE-4091-9357-ABF33B5D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629150"/>
            <a:ext cx="2438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637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37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大衍的增量不是重复仿真，而是加入触觉、可变形物体耦合与客户场景定制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EDBF34-6F42-4A7B-A28E-0E66A99B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C265C0-69DB-41CF-8CB0-EBC0D42A4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客户访谈/外部公开实验</a:t>
            </a:r>
          </a:p>
        </p:txBody>
      </p:sp>
    </p:spTree>
    <p:extLst>
      <p:ext uri="{BB962C8B-B14F-4D97-AF65-F5344CB8AC3E}">
        <p14:creationId xmlns:p14="http://schemas.microsoft.com/office/powerpoint/2010/main" val="2032194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5DED39-E4F5-4254-AF57-FAF680AE8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1CE64-B9FC-4E45-8E8A-33DA1A592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FCBF68-E4F0-4133-81A5-01DC747E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技术团队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53370-B995-44B0-ADD7-7057E086C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资料来源：核心团队访谈；公司材料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F1E2D-2916-41CD-9B31-88B621E3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0E951-3B65-4778-B7A6-093E23B8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08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242395-211B-438B-BFB7-81BB9FA1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977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世界级触觉研究、复杂系统工程化与商业交付在同一团队完成闭环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6070a787c8428c"/>
          <a:srcRect xmlns:a="http://schemas.openxmlformats.org/drawingml/2006/main" l="0" t="5463" r="0" b="5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6572250" cy="32956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A0755A-F846-4CFD-B247-B2C5DE0A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6572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9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9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公司办公与研发现场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4D2335-83E0-4CD8-8118-F89C42E9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" y="5105400"/>
            <a:ext cx="6572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030C25-9883-4DC1-B227-628CF505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7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研究不是顾问式挂名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18764-DF40-4F98-BF8E-FFB6553E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617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学术、工程和商业团队围绕同一条产品链协作；研究成果直接进入采集硬件、数据管线与客户交付。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9FAED8-B2EF-44F9-A94F-CE5F29885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5049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C02A4-6FF0-45E3-9294-8FD6B270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859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研究源头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BFB54F-8B36-406F-BB4F-9BFFF594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8288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210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萨迪克院士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21010C-008F-4075-BB50-BAA05E79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288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触觉数字化 · 多模态 · 数字孪生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DC501-6D60-4F61-B78B-F3398FCB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0985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E24009-6D69-4D39-9CB1-1DB17EEF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622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335D73-4BD5-4038-B694-40527490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432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工程转化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8313E-E4EA-47E9-9D97-E7AE60445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861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210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董海巍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1554A-4FD9-4D9F-AA1D-73DFF5AD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861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系统工程 · 产品研发 · 团队管理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60A4CA-4709-4DEA-B4CD-34A8F793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6715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698193-043C-4278-A0EF-0982C845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19550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F18E4-99D2-4DEF-BE2F-E943B6A25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005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商业执行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2B3A19-1885-45FF-A4D7-6A316ED05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43400"/>
            <a:ext cx="335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37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37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杨林 / 刘岩鑫 / 王剑雄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BC7782-5B21-40C3-956F-4BF5AD84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7434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战略决策 · 交付回款 · 客户拓展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230FF9-E90A-445D-9CA6-E2CD27BD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2578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DD4B7-37EF-4AFA-8761-D50D8F40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4102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轻组织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675671-80EF-4684-85E5-B7012488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102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研发总量控制在30人以内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791EE1-B1E0-4A78-9807-EBF1F4E3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71500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跨境协作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AD49DA-5623-457B-8F2E-DFD343610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715000"/>
            <a:ext cx="2419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国内全职＋加拿大远程研究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FD3146-10D5-4A55-8463-7D6F20F4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019800"/>
            <a:ext cx="422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33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33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研究 → 产品 → 交付 → 回款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8B4C6D-179E-4C9A-B80A-134F83D4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9ABF56-78DE-4497-BE40-35D9EE9D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02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高管访谈/管理层口径</a:t>
            </a:r>
          </a:p>
        </p:txBody>
      </p:sp>
    </p:spTree>
    <p:extLst>
      <p:ext uri="{BB962C8B-B14F-4D97-AF65-F5344CB8AC3E}">
        <p14:creationId xmlns:p14="http://schemas.microsoft.com/office/powerpoint/2010/main" val="20042515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1B962A-A234-40DB-A70C-39DAE78A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457D87-93FF-48B4-AC59-053CC6E57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81B6C-AB08-4AE7-A5D1-626FA58C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技术团队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8AB52-BEB2-4435-8FF0-66326768B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资料来源：渥太华大学；加拿大皇家学会；院士访谈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B44F3-E047-4864-BEF5-935BD2E3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3AE69B-EA25-4DFA-BD70-2D2F780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09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6E97C1-A5AE-491B-8A81-7118A44E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El Saddik教授构成公司触觉技术的学术源头与国际连接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5b08839dd40e7"/>
          <a:srcRect xmlns:a="http://schemas.openxmlformats.org/drawingml/2006/main" l="0" t="6395" r="0" b="63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66850"/>
            <a:ext cx="3028950" cy="3448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67B13-BBCD-4A42-BE93-63831D83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67300"/>
            <a:ext cx="3028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Abdulmotaleb El Saddik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AE33A5-FB39-4016-BA24-3FDDBACE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3028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渥太华大学 Distinguished Professor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IEEE Fellow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加拿大皇家学会院士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634382-5449-4AB4-BECD-949D0B73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4668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研究积累如何进入公司产品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73EC9-C8ED-4523-AD78-6D38A8D21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9431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6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触觉数字化与通信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B1E20B-BDE1-4818-8FFB-473A09E8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1CA50A-7A95-4852-8667-9F5B2572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9431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力触采集手套 / 触觉数据标准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EE0D8B-A0B2-4ACB-BE87-1BD8D584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6A4C0-E16E-4FFD-B8DD-8AE346F8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5908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6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多模态交互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24501-A9CA-4F3A-8B59-AD47FBB3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908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12539-4AD0-4360-9218-85FBAD1E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908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视觉、动作、力触的同步管线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F5E102-243A-45DB-A258-B164F52F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02895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62C09-9DCE-419A-BBEC-257A6FA6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2385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6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数字孪生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312016-CCB8-4E2B-A366-00FCF09E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2385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70527F-E5CC-47F2-BA16-55E19263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385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训练场、场景复现与模型评测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93AE0C-C095-4921-A374-FFAC1798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7BD02-6B41-4B50-9F73-A01D7CC7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8862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6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触觉安全与体验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E9D439-4365-4F4D-ACB6-CC62CFFFD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D8FA56-06C9-4C64-9E70-E49ED04E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421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质量闸门、触觉模型与客户验证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396A4C-2217-4671-A004-0DC01377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43450"/>
            <a:ext cx="678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C08508-DAC4-439D-9EAF-FECEDDBA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9149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350+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6B257C-859B-444A-BE65-D744698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2578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学术成果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FA180F-0D76-4DCE-8D77-D94D9E3FC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149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$1,700万+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52F95C-5CE5-4D88-8B99-1D8246F6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2578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科研经费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DF45B0-8C29-4733-B9BE-0AF6DCA4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100+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0F7DC0-59FB-4F08-99B0-322A18B63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2578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指导研究人员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A4F31-30D2-4895-988D-40C69669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14900"/>
            <a:ext cx="1466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&lt;0.1%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1A3A78-032B-4909-A403-E9276DBB0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57800"/>
            <a:ext cx="1466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IEEE Fellow比例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07DB6A-3EC2-46DD-83EA-3A8FC841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619750"/>
            <a:ext cx="678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公司访谈：5名学生参与基础模型与数据管线；投资文件口径：教授实际享有16.4667%权益。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9B7A53-B123-4FCD-8494-09B4CD1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9B6EB45-FF41-44DD-A9AA-15BF3DDB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674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官方履历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5940F3-8F49-4C62-BBE1-D5B0EA7D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076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8E4C0A-7F0C-4B4C-98D2-16D9320B4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0674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人才/股权为框架口径</a:t>
            </a:r>
          </a:p>
        </p:txBody>
      </p:sp>
    </p:spTree>
    <p:extLst>
      <p:ext uri="{BB962C8B-B14F-4D97-AF65-F5344CB8AC3E}">
        <p14:creationId xmlns:p14="http://schemas.microsoft.com/office/powerpoint/2010/main" val="16508774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76D9A0-4773-4559-BA9F-766C04C1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56E10F-66B5-4816-92CA-69FF9E58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FD872D-49A1-46D9-99DD-DCEB99F6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技术团队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A30AF-5588-48E6-8381-14D7DC68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资料来源：核心团队访谈；投资文件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CA580-AE72-4C89-87E4-B9EF2E87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8730C1-059E-4973-92D4-DDD4DF6E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10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B60C0B-F715-4E0B-ADD8-8A0558A6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董海巍与杨林把研究成果转化为产品、产线和客户订单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A71E0-E8F8-4489-AC2F-A4DD7FD2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94304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95107-F4A9-415C-87BF-4DB2C9C7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62784"/>
            <a:ext cx="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EF11-5A32-4FAB-B16F-7D3847C5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462784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1AA473-C33F-42BC-8AAF-14928A69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62784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6146D-89E0-4DD2-ACA2-EFD052D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62784"/>
            <a:ext cx="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B8A3A-1295-4DE5-AB88-4D0B3504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94304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7B80C8-B2AB-4379-8118-4995A551B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94304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C3C753-8ABC-4F57-8C8F-D6DFF61A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62784"/>
            <a:ext cx="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41B4C7-B3BE-41AA-A573-6BDD4A20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62784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E6C71-8A0C-4967-AB06-32F4D9CD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62784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4C4130-6373-4D53-8BBA-403A8E52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462784"/>
            <a:ext cx="0" cy="7315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7608E8-4322-4C0F-9DEC-E32B562E0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94304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6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A7BAE7-6EC2-42F7-9CC2-71EA0C97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194304"/>
            <a:ext cx="0" cy="148132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E6F6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78A680-D1CF-450F-A2F8-30E8373C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75632"/>
            <a:ext cx="862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6D5833-742F-40D5-B2C3-48E42097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7300" y="2883408"/>
            <a:ext cx="304800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D91A74-219B-4B14-A4FB-1C82FE8A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47416"/>
            <a:ext cx="3429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2732E-155F-4E0A-8F13-712B76A1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476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研究源头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6658E0-C7BE-47F5-A500-3DE59929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57251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萨迪克院士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824D9B-F956-4E24-A5FF-5ABC04BE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40608"/>
            <a:ext cx="1981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触觉、多模态、数字孪生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与国际研究连接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79990E-4A84-4BFA-8CE7-2A4DB4EB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14700" y="2151888"/>
            <a:ext cx="304800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F21BB2-B503-46C0-AC36-78420AF39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15896"/>
            <a:ext cx="3429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043ECA-48AF-4B92-8A12-A07FB27A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0324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工程转化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21B60F-EBC4-4871-A3DB-B79F8EDC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4099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董海巍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98C091-0F7F-495A-AFD5-3B4F27072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09088"/>
            <a:ext cx="1981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技术路线｜产品研发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产业对接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A127CA-E52A-40E5-8508-E0632EF4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2883408"/>
            <a:ext cx="304800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2E0EF6-5240-453D-96ED-2FBAB834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947416"/>
            <a:ext cx="3429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CFE41F-BFBA-4A1F-B17B-08D8CB3A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33476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商业执行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F8BFFE-1925-4415-98CD-F09FE683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57251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杨林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4A774A-19B7-43DF-9C41-DC4AFD3E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40608"/>
            <a:ext cx="1981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战略统筹｜客户交付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组织协调｜最终拍板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2DF4F5-254E-4CF9-9CC8-8F9EF92E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2151888"/>
            <a:ext cx="304800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3F7AE1-6F26-4151-BD31-494FAD5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15896"/>
            <a:ext cx="3429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6EEAA2-FC3C-4DE7-BD17-AD41917B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0324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交付协同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075C00-992C-4484-9943-FCA103ADE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4099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刘岩鑫 / 王剑雄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D8B9C2-2D95-4527-A0AB-53BB10EE1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09088"/>
            <a:ext cx="1981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运营商务财务融资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客户支持与项目交付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D37007-E411-40AC-A780-BC4B0999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6950" y="2883408"/>
            <a:ext cx="304800" cy="2926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60E9C6-156A-43B6-A0AA-3DB9D8C1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47416"/>
            <a:ext cx="34290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E2B1A82-121A-4F81-B7FA-FBF01DBF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4768"/>
            <a:ext cx="1600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反馈迭代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61D12D-CEF9-4325-8775-7F93E11D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572512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客户问题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7B3BF4C-A5DD-48DB-8EEB-7407FCDFD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40608"/>
            <a:ext cx="1981200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回到产品、数据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49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与模型迭代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4C60F6-AA9C-4EB3-A32D-38BCBFA1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529328"/>
            <a:ext cx="86296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从研究输入到订单回款，再把现场问题送回下一轮产品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37DA33-9463-4982-A6EF-9ABE5115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2832"/>
            <a:ext cx="104965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团队价值不在单点履历，而在研究—工程—商业—交付的连续接力。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B48169D-EAD6-4309-BDAD-31F3A2B1B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0032"/>
            <a:ext cx="104965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8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治理边界｜刘岩鑫负责运营、商务、财务与融资，但不作为本轮回购责任主体。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A880AA-DDF3-4927-B15D-F97FE68D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6526EF-A073-4D7C-A681-7065F425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团队访谈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C247EF-2BC6-4316-A726-1AB661158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049EC4-0698-4828-9A68-2F70016D9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责任边界/投资文件</a:t>
            </a:r>
          </a:p>
        </p:txBody>
      </p:sp>
    </p:spTree>
    <p:extLst>
      <p:ext uri="{BB962C8B-B14F-4D97-AF65-F5344CB8AC3E}">
        <p14:creationId xmlns:p14="http://schemas.microsoft.com/office/powerpoint/2010/main" val="8015565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D427359-CB74-4DB4-A14F-EDF9C05B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8CE58-AC60-4BD7-9CBB-29B07EFF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B1F22-6542-456D-A924-D96CB2FE1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技术优势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CACD10-1D8A-471C-92B6-2FBD40D17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资料来源：最新产品口径；客户访谈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1C8D2-82A8-4BB7-84C8-081F41C5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F59C82-1703-4180-BC91-4CE4F66D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11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68145C-115C-4742-8C63-566D2259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力触采集硬件同步记录动作与物理接触，为高质量数据提供入口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60525469d4364"/>
          <a:stretch xmlns:a="http://schemas.openxmlformats.org/drawingml/2006/main"/>
        </p:blipFill>
        <p:spPr>
          <a:xfrm xmlns:a="http://schemas.openxmlformats.org/drawingml/2006/main">
            <a:off x="514350" y="1486352"/>
            <a:ext cx="6191250" cy="413294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4F516-2E7A-47E8-A52C-C53590F1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4668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一只手套同时记录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1610F4-C410-492C-9C0A-C2ECDD6E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240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25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动作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708161-A3B2-4285-9AD4-2A79173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角度与姿态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FC6EBC-5417-48F6-8F6C-51AC0568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5745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082D9A-D978-4E32-9754-6523588E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479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5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接触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6BA09D-2FE0-4CB7-B698-252A292E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81300"/>
            <a:ext cx="1962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力、滑移与材质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F8E496-F70F-4BCD-BA16-C3697A840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8135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4010B1-0AAF-45D3-8FDB-503CB306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5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5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形变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2086DE-FFB8-458D-B140-419E16F3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5052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柔性物体与安全边界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C6469-9BB8-4BBD-93CC-EF1DFAAE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0525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97D849-C6E2-4B7B-8D1C-157E3739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719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0.1°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B7FA2-EC56-4D54-9F46-8F6AA166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104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0–40N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890025-0DDA-4E1D-8DDB-9C5698E0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71950"/>
            <a:ext cx="990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0.01N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094AF-DE08-47A8-A2EA-18FD21C1A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171950"/>
            <a:ext cx="819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18万次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76D37B-D758-490B-A8C9-E05FA4A46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33900"/>
            <a:ext cx="895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角度分辨率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0821F1-4F59-488E-B29C-6BCFDBE52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39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触力量程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8E5402-7CC5-4255-BBE9-8EDE9538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53390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单点分辨率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0720FC-E879-4AC2-BB86-872D699F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533900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弯折耐久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C04198-FF41-4E25-9728-A0619CC8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3638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04570E-9DE6-41FD-8E4E-B47D03E3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商业含义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C7EA8-8689-4AB2-A815-8287B774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29250"/>
            <a:ext cx="3638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硬件持续形成数据入口并带动训练复购；第二批采购已发生，近500套为意向、不计收入。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0AF397-7400-4180-B87A-5DB72EEB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626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5711D2-E6FE-4FD4-9430-C3B250FD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9531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客户采购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A41F8A-3B9A-46B9-9957-06586C61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626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BBAFA9-FED9-43EB-87BC-9E6808C4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9531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产品参数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8DCB5C4-2386-4328-BE74-6D14B517B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9626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9A6B3E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9A6B3E"/>
                </a:solidFill>
                <a:latin typeface="Times New Roman"/>
                <a:ea typeface="KaiTi"/>
                <a:cs typeface="Times New Roman"/>
              </a:rPr>
              <a:t>[C]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9FD01C-BB65-4D70-9851-C0243BA8A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近500套意向</a:t>
            </a:r>
          </a:p>
        </p:txBody>
      </p:sp>
    </p:spTree>
    <p:extLst>
      <p:ext uri="{BB962C8B-B14F-4D97-AF65-F5344CB8AC3E}">
        <p14:creationId xmlns:p14="http://schemas.microsoft.com/office/powerpoint/2010/main" val="15879726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24E51F-8532-4EF5-9FBA-F772B5F0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BCD2C-55F2-423D-A11F-D33E7F7B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0A1F9-DC9E-49F3-8901-043A2E7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技术优势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8A5EE-7ADB-457D-8D96-E828BA08D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资料来源：高管访谈；运营访谈；公司材料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E8491-ADDB-451E-997B-8598A9B1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F993A-FD9E-4E89-A166-EC6806BF7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12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934396-B2CE-4996-8C1D-61F42379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自动加工与重建约束把异构裸数据价值提升约5倍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DB0C01-1C1A-4BFD-8F25-B1823AA5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496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数据从采集成本穿过三道质量闸门，最终成为可训练、可验证、可回流的成品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0A54B-96A0-41CB-B328-C71DCC69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8839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F2727E-B797-4DC3-89D0-5A96A7FD7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3190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860A64-F468-4905-81AA-D334F4FA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7241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裸数据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A4163-A94E-4928-B139-E731034D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36766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6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60–70元 / 小时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E83F2-236C-4CAF-AD17-02B41868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" y="4229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采集完成 ≠ 可训练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9710A7-1285-46AB-9A52-03218E05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3181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E8790"/>
          </a:solidFill>
          <a:ln xmlns:a="http://schemas.openxmlformats.org/drawingml/2006/main" w="0">
            <a:solidFill>
              <a:srgbClr val="6E879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14A2C-F8CA-42D0-B1F1-C586755D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241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6E8790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6E8790"/>
                </a:solidFill>
                <a:latin typeface="Times New Roman"/>
                <a:ea typeface="KaiTi"/>
                <a:cs typeface="Times New Roman"/>
              </a:rPr>
              <a:t>切片 / 对齐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DAA606-2ACE-45B7-B978-71A4C715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766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统一时间戳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坐标系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8A355D-02CD-4312-94E6-8DC3DD46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多模态同步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38F3D2-7052-4BBF-B14F-1472DD2B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19675" y="31718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4E7367-251D-47EB-B2C6-34630138B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语义标注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8C3E6B-1A46-4307-814C-D1AA8170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766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动作、事件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失败样本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32000D-3E33-4D18-8806-EBEE4154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29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形成任务语义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4D849B-24DC-4DD0-9771-F3FC5BE9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D7DC5-C889-45B3-9D6F-31C91D6E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52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重建 / 约束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B2C839-7B73-4D90-837B-989F8A23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多视角、触觉</a:t>
            </a:r>
          </a:p>
          <a:p xmlns:a="http://schemas.openxmlformats.org/drawingml/2006/main">
            <a:pPr algn="ctr">
              <a:lnSpc>
                <a:spcPct val="102000"/>
              </a:lnSpc>
              <a:buNone/>
              <a:def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物理校验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DACF60-E391-47A7-BBD4-1F1415DA5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29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约束生成覆盖长尾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FB38B2-2129-40CB-90B3-1DBB35D8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4075" y="3133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8ABAD2-C555-4AD3-9EC3-EC9095AE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24150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37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37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训练成品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8B1B61-0E52-423C-BB8F-5B624D16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676650"/>
            <a:ext cx="1943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66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300–400元 / 小时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62FE23-DD52-4394-B711-F4741A02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2910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可训练｜可验证｜可回流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C54092-FDBA-4BA7-A945-8F7ACECA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574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38584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5C8D1A-D8A0-4B1B-B201-A9D2EA92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924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01  时空对齐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782AA2-93BD-4B2C-AC24-BAF45133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90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3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03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真机采集保留为物理种子与验证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1CA674-73FA-408E-9D3E-426F06F7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4574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E6F6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CC6953-51C0-463D-AA67-B5B87414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924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02  任务语义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5ABB76-D574-44CD-ADDD-B83B019B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90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3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03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仿真在规则范围内扩量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F67B85-D89D-4CCC-BF42-21CD3595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57450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E6F6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FF3827C-7A02-4ED2-A67D-68CD7050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240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03  物理校验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FDA35B-9EF8-4C73-A03F-E243C943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1907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3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03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生成不脱离物理边界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C7DC82-4D90-47F8-9E09-DE2EF9238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29150"/>
            <a:ext cx="2362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0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≈5倍价值提升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6E7701-6CBE-4E9E-A60F-69E7562B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9700"/>
            <a:ext cx="1049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加工价值来自可回流的训练成品，不是裸数据。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177185-56E7-49C5-9C68-60E5590F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1AF640D-6AE7-488B-AC71-E3B6CC4A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02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管理层/运营访谈</a:t>
            </a:r>
          </a:p>
        </p:txBody>
      </p:sp>
    </p:spTree>
    <p:extLst>
      <p:ext uri="{BB962C8B-B14F-4D97-AF65-F5344CB8AC3E}">
        <p14:creationId xmlns:p14="http://schemas.microsoft.com/office/powerpoint/2010/main" val="14777557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68B3B81-F19C-494D-B259-71584C3E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E3B29-7D6B-43A5-938B-3E5BEE12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5587A-D00A-4FB2-9AAB-851F2532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客户验证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F7ED1-E6B7-4DF4-B54D-DA99E77B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资料来源：普罗宇宙与行之途客户访谈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067BD-BB4A-4B73-888C-D520C882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B26C7-7F2C-4D67-8AFD-157D243CB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13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36B0F65-6FC2-4B86-8046-B8669590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客户复购来自问题被解释、复现并重新验证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D418B4-B00A-4384-81D7-D705CC77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59626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一个真实问题如何变成可复用资产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A670C-F7D5-440A-8C65-91DDAF3A2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8736"/>
            <a:ext cx="619125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33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33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昆明校园配送场景：坡道、潮湿与减速带共同造成抓地力不足和侧翻。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44517-73D7-4D86-9D3A-A808D52B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4848"/>
            <a:ext cx="0" cy="585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BD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D98ABF-86AB-4099-B087-6687DC6E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773680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77531-ADBC-4F3F-B375-506CC70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18816"/>
            <a:ext cx="4000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550A88-5DFD-4104-A219-F3707B19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691384"/>
            <a:ext cx="1447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现场记录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43204-8E03-47EF-B9D6-26B0602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09672"/>
            <a:ext cx="37147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坡道 + 潮湿 + 减速带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FAA152-7F01-4710-AE6B-ABABFFDA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8352"/>
            <a:ext cx="0" cy="585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BD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30882-C533-4C86-AFC9-59E2D898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377184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EA972F-14CE-4F77-8F24-F9F0ED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22320"/>
            <a:ext cx="4000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54B9D3-C8AD-4EDE-8E28-80FF6B653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94888"/>
            <a:ext cx="1447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场景复现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652490-C390-4F58-AAEC-F5E91DAF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13176"/>
            <a:ext cx="37147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生成抓地力不足与侧翻工况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F3DE4-83AC-4C3E-884F-D62858A4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81856"/>
            <a:ext cx="0" cy="585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BD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52F687-13F9-4B30-9099-A7A2A5CF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980688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365B3-EF94-4E17-9C38-A48C3533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5824"/>
            <a:ext cx="4000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32220-D50D-475D-8920-B4D058A77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898392"/>
            <a:ext cx="1447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原因定位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80044-12EE-46E0-A5D1-3CC868C9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16680"/>
            <a:ext cx="37147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识别控制逻辑与硬件边界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F1579C-B401-4A22-B29C-6EA43D84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85360"/>
            <a:ext cx="0" cy="5852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6BDC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469F27-F68E-4176-8763-6C174E5F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584192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A970C2-E546-4935-A14D-4968B880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29328"/>
            <a:ext cx="4000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F0C8DA-1457-48F9-8674-75E6044F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01896"/>
            <a:ext cx="1447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方案改进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84B78A-20E4-42CE-9982-243BACC1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520184"/>
            <a:ext cx="37147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更新算法并加装ABS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EEC50B-767F-4AC4-854C-28CFFBFE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87696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97836-E6CB-4793-AF54-E16CFCB84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32832"/>
            <a:ext cx="4000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E4564D-2F4B-4F4F-B30B-E8806E8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105400"/>
            <a:ext cx="14478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真机验证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7E6B69-3EE4-40E7-912D-34F74A8E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23688"/>
            <a:ext cx="371475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侧翻问题消失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A45B6A-BF8B-4A93-9F8E-80A9D803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0" cy="400507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1E987A-AEC7-41E0-88C6-4ED23607E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676400"/>
            <a:ext cx="5715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782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3782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E2C3D1D-522D-43FD-A994-9D0F0102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51888"/>
            <a:ext cx="3181350" cy="969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9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9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复购不是设备的重复采购，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9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而是现场问题被解释、复现，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9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9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再回到真机重新验证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64A373E-711D-4196-9E16-979DD687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22320"/>
            <a:ext cx="3048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0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客户采购的三种直接价值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3609DB-4B9A-40BA-8A3F-14DAD9FF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61232"/>
            <a:ext cx="9906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触觉验证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94C8C2-8433-44B7-A33D-262C1673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761232"/>
            <a:ext cx="22288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接触力、滑移、抓取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9236C8-A14E-438F-BD68-E54CE006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145280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E9A518D-86F2-4883-A771-4F41142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328160"/>
            <a:ext cx="9906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变形耦合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16D1B4-BD20-4F6D-AC5B-374F39F8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328160"/>
            <a:ext cx="22288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鞋包 / 柔性装配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9210B9-02D8-45BE-9F7A-B9A5686F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12208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212D2D-A5EE-41FC-8497-35978380D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895088"/>
            <a:ext cx="9906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失败复现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98582D4-8AF5-4A8E-B4B5-4D02E718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95088"/>
            <a:ext cx="222885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控制逻辑 / 硬件边界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ECF39A-8B33-4AB6-B4F0-EF70066D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79136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B73154-10DC-4632-824A-BBABEAF7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443728"/>
            <a:ext cx="316230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37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37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复购机制｜问题沉淀为场景资产，进入数据与模型复用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D5ED56-5E97-4FCC-9041-1C385AEAF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85DCED-B775-4419-B629-28238995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客户访谈</a:t>
            </a:r>
          </a:p>
        </p:txBody>
      </p:sp>
    </p:spTree>
    <p:extLst>
      <p:ext uri="{BB962C8B-B14F-4D97-AF65-F5344CB8AC3E}">
        <p14:creationId xmlns:p14="http://schemas.microsoft.com/office/powerpoint/2010/main" val="14888401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47CD808-684A-4E18-AAF9-FA7CBF5E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34ADE-42D8-4549-BEFC-BD6BED18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CD334-B25E-485A-BC57-165B7302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商业化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215820-A8A9-4D68-B228-40DA9525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资料来源：2025财务报表；管理层预算与规划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12CF9-E11D-418B-AAD5-056D902E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13F7B-5151-4D48-B99E-52E34E2E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14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E83A5D-98AC-44F2-80B8-F4E291DD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三条产品线共同驱动收入从项目制向标准化数据产品迁移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44333E-3859-4881-83D5-20F3F8CE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28575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收入结构迁移（万元）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100A38-B150-443D-81B9-11AB8299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20955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2025A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01F42-B18F-4592-958E-2A7E4C72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7920"/>
            <a:ext cx="209550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21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1,302.83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B774B-D7B1-41D2-8E6B-73BBBD10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4538472"/>
            <a:ext cx="121920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AD09D4-EB64-4504-8786-60AC15B0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79136"/>
            <a:ext cx="20955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自动驾驶数据、工具链与项目交付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DAF3E1-6CE2-4C36-8AFB-05B597BE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33600"/>
            <a:ext cx="20955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2026E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A4192-BFF4-4E50-9253-1D07812AF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7920"/>
            <a:ext cx="209550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21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4,000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9455F6-0D3C-4C5A-BD68-C6F658C0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4447032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4C182-99ED-4F93-B1EE-F7B7DD39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3761232"/>
            <a:ext cx="1219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F8A6EC-60FE-4DAC-A7C0-81D66401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81450" y="3304032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67A4B-5D65-4D8D-88B6-5AFF269B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279136"/>
            <a:ext cx="20955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1,500 / 1,500 / 1,000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CD2851-FA5C-4D7F-B6D3-A97DE35E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33600"/>
            <a:ext cx="20955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2027E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9FB1C-E7EC-49EE-9BA8-2B40FFDD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7920"/>
            <a:ext cx="209550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21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8,000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087CD8-99B4-48D0-A674-1FD54E4BE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4218432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933C0-1554-40A6-977C-8F181F37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3304032"/>
            <a:ext cx="1219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78D971-681C-4B62-9651-F30E4D429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572512"/>
            <a:ext cx="1219200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E9D6B-94EF-4F1E-8F96-E031B579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1566672"/>
            <a:ext cx="1219200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2B45F-72CD-4FAB-A257-8E652722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79136"/>
            <a:ext cx="209550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叠加训练场与模型收费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5302DE-C9CE-471B-87A0-C0DD8B28A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77568"/>
            <a:ext cx="12192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2027E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6EACCA-8C34-4B01-8BC5-C60BBF70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51888"/>
            <a:ext cx="12192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37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837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8,000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FDE14-5A40-4955-81F5-819D8A29B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09488"/>
            <a:ext cx="116205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自动驾驶数据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A99806-651D-43DA-AAAB-B2260F25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9100" y="5846064"/>
            <a:ext cx="76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496A94-0DFE-4177-BBA9-D6162130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809488"/>
            <a:ext cx="876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具身数据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3E36B5-1436-4303-B896-26E7743F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0700" y="5846064"/>
            <a:ext cx="76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4106BB-F2C3-4F00-86F8-79F4687CD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809488"/>
            <a:ext cx="876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触觉硬件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D23CA1-120D-4555-B5F8-9C081A24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5846064"/>
            <a:ext cx="76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BE7BE0-5444-44C2-8EB7-0622FAA4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809488"/>
            <a:ext cx="11049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训练场/模型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FF58A4-E99A-43A3-BD2D-DA69652C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4300" y="5846064"/>
            <a:ext cx="7620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D59588-9708-4E71-B176-B01F8660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0" cy="387705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55AA1B-3588-4ED4-AB33-B8969090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676400"/>
            <a:ext cx="17145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硬件增长支撑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0E4BE0-E29D-4D43-8866-9F42B4793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1616"/>
            <a:ext cx="18478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近500套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EC6A73-A1BF-4101-987E-5096B1EF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599944"/>
            <a:ext cx="18478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2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手套意向在手订单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653540-4DC6-4E65-AD77-74250DB0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46832"/>
            <a:ext cx="18478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B/C｜非确认收入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7948A4-D9FA-4A68-976A-5D9FF8EE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304032"/>
            <a:ext cx="184785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3–4万元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97A7B1-A882-4FED-884E-8AC1BE82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42360"/>
            <a:ext cx="184785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2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管理层口径单价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6783983-F04A-4B88-9F65-66C95C71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9248"/>
            <a:ext cx="18478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对应约1,500–2,000万空间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F8D67D-45A9-41E2-90D1-F55E313E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383024"/>
            <a:ext cx="4953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1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短期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3053F4-BB19-4410-B67F-2F610072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83024"/>
            <a:ext cx="139065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硬件+真实异构数据形成现金流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7648FF-0025-41B0-8273-8226CCEC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31664"/>
            <a:ext cx="4953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1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中期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B9DC3BA-B078-4E05-B6A3-52BB48E5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31664"/>
            <a:ext cx="139065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合成数据与训练场提高复用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A92975-B2F4-4BA9-BDD0-DCCD66D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480304"/>
            <a:ext cx="4953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01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长期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F6EF06-F122-4689-A644-0584CECD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480304"/>
            <a:ext cx="1390650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模型和技能库扩大平台弹性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F8430B1-54D6-4F4E-AEC8-F900EA73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3808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A4CCFB-A5B3-48AE-B623-8D90B955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74664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2025实际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E146754-D75B-4138-BDFF-977AE64C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83808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807E7D-13BC-4AEA-B9A5-4D8DC797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74664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2026–2027管理层目标</a:t>
            </a:r>
          </a:p>
        </p:txBody>
      </p:sp>
    </p:spTree>
    <p:extLst>
      <p:ext uri="{BB962C8B-B14F-4D97-AF65-F5344CB8AC3E}">
        <p14:creationId xmlns:p14="http://schemas.microsoft.com/office/powerpoint/2010/main" val="3448932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851B00-9CB0-4F09-90CD-182BBE72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F2F92E-ED1F-45FB-9A9A-71059058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97DD7-907D-4565-97BC-18AC9B59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商业化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E8DDB-F9D0-4941-B36D-0E668D72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资料来源：项目测算；客户访谈；管理层口径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52BA9-27F3-404F-9F29-8E100C4F4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A6DB68-6149-4892-9ED0-719EF453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15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8FE8F5C-BC85-4D5C-8701-E810B68D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高毛利、预付款和复购共同改善项目型业务的现金与质量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B79DB-162D-44D9-AEA2-0F6A33CF2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43150"/>
            <a:ext cx="16764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CB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9B53E2-35B5-488D-BFAC-71A2F076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71850"/>
            <a:ext cx="93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CB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326638-E4CE-4FAD-B9B5-D1709A74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CB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EF92D-F75C-4D7B-A103-94854551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1051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CB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5939D5-6D33-488A-8F6A-0739183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40055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CB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1E5A90-08A2-47E4-8509-6FD5A8FC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CB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5D0818-5D1E-4F6E-8908-CE1AFFE0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05150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C8CB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5D221D-62A2-439D-B383-EB007B20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40D3D-B84F-4FCF-8831-86B2429E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05150"/>
            <a:ext cx="895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4B525-2868-415E-BDCA-F04B8B79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86150"/>
            <a:ext cx="0" cy="1295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2E6F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DDC927-E8C2-4877-BE62-1381CE0C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81550"/>
            <a:ext cx="727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4A824B-6226-46BF-9B14-DD1864350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90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自动驾驶合成数据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94331-2495-4E17-97CE-B9A59D3C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300万帧 / 185万元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03678-06CD-4E0A-A1F2-C33C9D4B2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6" b="0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65.7%毛利｜A/B测算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CD9C05-D8AC-47CB-9708-7CB80FB5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0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触觉手套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607982-276B-4267-85D3-EAA54452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956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3–4万元 / 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93E0CD-D0A2-4480-9B1A-E3E6DABC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6" b="0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约70%毛利｜管理层口径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081164-A9C2-4874-A935-59E96F4A2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0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0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异构数据加工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543C7-8DDA-4443-A7E4-BB8A07AA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24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300–400元 / 小时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7E3046-5AD5-4CDE-9BA2-5AB3A071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482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6" b="0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加工增值｜访谈口径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86B12B-F103-4BA8-9CF5-2BAFB2E4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0" y="2209800"/>
            <a:ext cx="1943100" cy="1790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ECE8"/>
          </a:solidFill>
          <a:ln xmlns:a="http://schemas.openxmlformats.org/drawingml/2006/main" w="13335">
            <a:solidFill>
              <a:srgbClr val="2E6F6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948E6A-168C-40F8-8968-92FC7631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14600"/>
            <a:ext cx="148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0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现金质量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E78931-B4F8-4C87-BFFC-A078293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9908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30%–40% 预付款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13D1C5-CF2F-49B7-9175-5203C10A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147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分批交付验收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6F67AA-8938-45AA-AFE6-FBFA2E4B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195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约3个月回款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8AB899D-AB61-4A25-BF8B-C57416B2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431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2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产线良率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8097F1-A19F-45D0-A3BB-2677AD2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667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513" b="1">
                <a:solidFill>
                  <a:srgbClr val="9A6B3E"/>
                </a:solidFill>
                <a:latin typeface="Times New Roman"/>
                <a:ea typeface="KaiTi"/>
                <a:cs typeface="Times New Roman"/>
              </a:defRPr>
            </a:pPr>
            <a:r>
              <a:rPr sz="2513" b="1">
                <a:solidFill>
                  <a:srgbClr val="9A6B3E"/>
                </a:solidFill>
                <a:latin typeface="Times New Roman"/>
                <a:ea typeface="KaiTi"/>
                <a:cs typeface="Times New Roman"/>
              </a:rPr>
              <a:t>80%+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2AD6F3-042E-45D5-98DE-B60298A9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当前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2E3C36-E309-4084-A6FB-34AE67BD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51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51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95%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AB1E7B5-0566-4BDC-AA09-BA546C64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规模交付目标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F52484-CC17-4B19-A05E-E9E4D669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5295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复购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0C58F6-0D35-4FDD-9220-982CEA06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9720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98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客户场景变化继续产生硬件与数据需求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B9EC29-C58B-4577-8279-401792620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86400"/>
            <a:ext cx="1049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一次性交付 → 硬件入口 → 数据复购 → 训练平台 / 模型收费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48BEA1-36F4-414F-B9D5-A69DBB33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EB4426E-7E18-4DC7-8AE6-AE078E4EA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674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项目/客户证据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AD33B9-83A1-4A58-B8EB-D955970C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76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B0A4085-C47D-4FA2-AE7B-8B782B47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0674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手套毛利/良率</a:t>
            </a:r>
          </a:p>
        </p:txBody>
      </p:sp>
    </p:spTree>
    <p:extLst>
      <p:ext uri="{BB962C8B-B14F-4D97-AF65-F5344CB8AC3E}">
        <p14:creationId xmlns:p14="http://schemas.microsoft.com/office/powerpoint/2010/main" val="13924781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674E88-AA4D-4FDD-92DA-6A96F95A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17918F-D5DE-4232-B647-C6112F8A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BD05C-77AA-45EF-AD65-A1F759FF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客户评价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3A8B9B-AAF8-436E-A1C5-424EBD54E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资料来源：2026-08-12普罗宇宙客户访谈（逐页框架转述）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87184-E5DC-4432-B37E-E373E4C7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3F2DC4-B3C3-4C2C-A87A-DBE3FDD0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16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42EA4C-0404-4BA3-9A05-50706C73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普罗宇宙：从仿真数据供应商扩展为异构数据与触觉硬件合作方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462FEA-A4B3-4299-92EB-751FD313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47625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合作演进｜从一次交付到全产品线组合采购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EB72F6-1CCE-4A6B-9F71-D85A786D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16480"/>
            <a:ext cx="0" cy="29077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3991-10A6-4272-A281-FDFAC6F7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2243328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6B3D6-8694-40A6-8CC3-89C24D54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7608"/>
            <a:ext cx="7810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选型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A6ED8-12D1-41B7-9E86-B04303A2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7608"/>
            <a:ext cx="21907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比较国地中心等供应商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F600D-6C07-4BD8-9A1D-A1FAD4F8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7608"/>
            <a:ext cx="21907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触觉验证与柔性物体耦合形成差异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834700-2AAE-4D4C-B31D-17DFB30A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084576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6D6F6F-A3B7-4768-9633-3F00C062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38856"/>
            <a:ext cx="7810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首单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04976A-1598-4E29-BD08-A1C79C62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38856"/>
            <a:ext cx="21907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仿真数据交付完成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180B23-D645-46AF-ADA6-40E1B2A2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38856"/>
            <a:ext cx="21907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客户反馈效果符合预期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4903AC-A4BE-4003-89F4-08325999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3925824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4B3511-87B9-402B-8027-AE4325FA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0104"/>
            <a:ext cx="7810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复购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7ED57F-8128-48EE-A518-531E68DA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80104"/>
            <a:ext cx="21907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异构数据+触觉手套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F0685-A70C-4C2B-984D-D0F9555F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80104"/>
            <a:ext cx="21907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第二批正在交付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7F9B7-C0FA-4721-A4EB-8CF94E91C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" y="4767072"/>
            <a:ext cx="152400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325682-522F-4EFD-A260-8CBEC650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21352"/>
            <a:ext cx="7810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443BDF-796D-4E8D-B78F-BDCF798E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21352"/>
            <a:ext cx="21907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全产品线组合采购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82006-74FF-47E7-8198-717A2A8F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721352"/>
            <a:ext cx="219075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数据、硬件与专家模型协同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583A60-AE4F-4158-9B7C-EB9D92F7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72300" y="1767840"/>
            <a:ext cx="47625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5C8E6A-2079-4A39-80DB-BECDB57D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77568"/>
            <a:ext cx="23812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客户访谈要点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7B2D7C-0120-4C6B-991D-65FCAFD7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71344"/>
            <a:ext cx="32194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当前唯一数据供应商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CE4B29-C74D-411F-87F1-48E90724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82240"/>
            <a:ext cx="34290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客户仅与大衍开展数据业务；唯一地位来自前期选型比较。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735245-35FB-4640-81FA-BBF22908E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49168"/>
            <a:ext cx="33337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触觉验证与可变形固体耦合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AAD187-E238-4ED5-BD72-B6EA1547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0064"/>
            <a:ext cx="34290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工业长时任务需稳定接触；鞋包装等柔性物体还需同步处理形变与控制。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AA8B94-C7DA-4D7E-803F-EC1637E3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91584"/>
            <a:ext cx="32194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数据配方可落地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903146-5850-45E2-BB5D-023E575D4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0248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40%仿真＋30%异构＋30%真机；现场10–20小时完成微调。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2FAC4D-60E7-4BCF-93DD-14A61072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69408"/>
            <a:ext cx="34290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40" b="1">
                <a:solidFill>
                  <a:srgbClr val="9A6B3E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9A6B3E"/>
                </a:solidFill>
                <a:latin typeface="Times New Roman"/>
                <a:ea typeface="KaiTi"/>
                <a:cs typeface="Times New Roman"/>
              </a:rPr>
              <a:t>客户判断｜垂直模型需20–30万小时级数据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40" b="1">
                <a:solidFill>
                  <a:srgbClr val="9A6B3E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9A6B3E"/>
                </a:solidFill>
                <a:latin typeface="Times New Roman"/>
                <a:ea typeface="KaiTi"/>
                <a:cs typeface="Times New Roman"/>
              </a:rPr>
              <a:t>仅作需求判断，不计订单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F29838-79ED-4160-AF89-920104F6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5617464"/>
            <a:ext cx="476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62A538-727A-49FD-9A99-F5F01A1E9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8320"/>
            <a:ext cx="577215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746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复购证据来自第二批交付与合作扩围，不依赖Demo或口头意向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E454A1-54FD-4A30-82A7-09217D72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DE6D61-4F69-47B3-8C0A-79F00235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客户访谈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4956B2-FB22-48F7-ABBC-2F179198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9A6B3E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9A6B3E"/>
                </a:solidFill>
                <a:latin typeface="Times New Roman"/>
                <a:ea typeface="KaiTi"/>
                <a:cs typeface="Times New Roman"/>
              </a:rPr>
              <a:t>[C]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46AE2DE-159E-4991-9F63-6131C4AA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需求规模为客户判断</a:t>
            </a:r>
          </a:p>
        </p:txBody>
      </p:sp>
    </p:spTree>
    <p:extLst>
      <p:ext uri="{BB962C8B-B14F-4D97-AF65-F5344CB8AC3E}">
        <p14:creationId xmlns:p14="http://schemas.microsoft.com/office/powerpoint/2010/main" val="3802244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911A883-ED7A-42F1-932D-C98CEE0F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19488-DB81-4382-BCC8-6750A3B2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03322F-B735-4389-B4BE-8842F7AA4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客户评价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41EBBF-B8AC-432C-A2FA-EBE5275D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资料来源：2026-08-12行之途客户访谈（逐页框架转述）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B74D14-96CF-4F95-9C4A-17C8CE67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553F84-F3F9-409F-9C73-5C3CE3BA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17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A74C7A9-15CB-4D66-9C6B-040B7850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行之途复购来自长尾故障解决：坡道侧翻经仿真复现后消失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FE9B6C-6D0D-44A1-95F0-B0ABA2C0F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62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故障解决链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3EED6-7938-4566-8D7F-DD1F1B7F9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716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12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昆明校园的坡道、潮湿和减速带共同触发侧翻。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12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真实问题被转成可控仿真工况，再回到车辆验证。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A7B50D-85A7-4035-A724-026E172BA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194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6CD53-9C87-4547-837D-9244F62E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26670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98459-1A32-4B29-A275-F80D9343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289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B3A4D-D193-49C1-98D2-3E8E6059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908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现场问题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1520A2-AC62-47D0-BF06-63EE344B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6193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坡道＋潮湿＋减速带侧翻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5DDE04-C57D-40CB-A176-87BA5FA3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27188B-5DB3-4B20-805B-3AECAEAA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219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B74613-1273-4F53-B4D6-81AF2AD5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8F638-ACC8-4F6A-A668-8A815EF2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场景复现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9DDE11-685E-4BF8-9F6E-E946A009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71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生成长尾工况与传感器数据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F0BFBF-CE39-4D2E-95CF-E6E98541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27E90E-E8A9-402E-BC57-876CA78D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771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E15D4A-24DB-4D38-967B-A8F6022E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C26E97-E18A-4398-8494-B6119494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原因定位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CE53A-137C-4115-A328-642CF62A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7242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抓地力不足，控制与硬件边界暴露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794E9E-57C3-4D33-A6A2-721DB2D5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B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B973D9-8953-40AF-B80B-1EBD52F9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3243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98B54D-B357-4DF9-9AC1-A9BDB496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17FE9-D05E-4CD3-B1D2-0E90B2C4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方案改进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AAC222-9E02-40FD-8D84-D81404C2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767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更新控制逻辑并加装ABS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F53E9E-1011-4D42-8392-D4BA210F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4876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C5FFAA-DA6B-4356-A603-D1D3AB48C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3870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E81BB9-CAEB-4EB6-B893-E6D78623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00600"/>
            <a:ext cx="1485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再次验证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8E5D23-58A2-412E-8CB1-244D47B9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8291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同类侧翻问题消失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5F63E3-8222-4D91-BAE3-0A408234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29250"/>
            <a:ext cx="716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8544305-1C1D-4BA5-AC0E-031069B2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高校 → 小区 → 医院 → 园区 → 写字楼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B0BAC9C-A5B5-43E3-858D-5BD36A86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619750"/>
            <a:ext cx="2914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37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37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场景扩张持续产生新的长尾工况，因此形成复购。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21C8B5-A554-411D-849A-EA6FD74FE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67700" y="1562100"/>
            <a:ext cx="47625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7AA892-4A95-4E16-9628-D69220D6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52600"/>
            <a:ext cx="2171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210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0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问题已解决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905E1DC-681F-4EE7-BBFA-A69222B0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86000"/>
            <a:ext cx="2171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以客户确认结果作为证据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不虚构节省金额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1788E9-089F-4AFE-898C-208F6DB7B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26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300–400万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7317D8-D307-4C0B-A8A5-12AEAB10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385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累计合作规模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3C64B8-064C-409D-8747-8A942216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按月结算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F3CCE2-1880-4779-99AD-2BBA51D7F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框架合同｜单期约百万元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39E3287-0180-48FF-A362-5E26F1B2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3395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唯一供应商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6C1C9D-427D-4F90-A2EC-BE7B8BAA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3149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合成数据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3DEAEA-DB59-47E2-A10D-854C0FFA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388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59A059A-9554-4BB5-B76A-F29FB61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293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客户访谈</a:t>
            </a:r>
          </a:p>
        </p:txBody>
      </p:sp>
    </p:spTree>
    <p:extLst>
      <p:ext uri="{BB962C8B-B14F-4D97-AF65-F5344CB8AC3E}">
        <p14:creationId xmlns:p14="http://schemas.microsoft.com/office/powerpoint/2010/main" val="2012909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38789F-4D5A-47E5-9F8E-EC3EC573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7C094-2DB6-4E23-8B05-1CF41272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75DEE-D6FB-461A-972D-6F43338C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财务与订单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83105-FBFE-4BFB-A4E1-F8E1BB5F1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资料来源：2025年财务报表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D9C9CA-ECB2-45CD-BFA8-90B9ECFB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C8CF0-D87F-4A84-B8DA-82082266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18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0969A6-0A6D-4D0B-BA40-3E29365D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2025年收入1,302.83万元，毛利率61.7%，研发投入占比46.0%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428B9-1424-4B53-9A64-6634BDF3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2025A经营桥（万元）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70EC8-0743-41EB-8FE2-4F747677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66850"/>
            <a:ext cx="691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92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592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收入先形成804.41万元毛利，再以高研发投入换取产品与数据能力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264AC4-96FE-4E69-BE4B-32CF86A69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3E2721-7411-4A3F-86A4-6E4826ED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1333500" cy="990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9A6B3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262F6-5749-47F7-B679-9D83FC4E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19500"/>
            <a:ext cx="1466850" cy="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C9B8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329160-177A-4162-968A-1C35E131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86300"/>
            <a:ext cx="152400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6F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A60D7-81EC-4886-9535-30F89A22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2095500"/>
            <a:ext cx="146685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E69"/>
          </a:solidFill>
          <a:ln xmlns:a="http://schemas.openxmlformats.org/drawingml/2006/main" w="0">
            <a:solidFill>
              <a:srgbClr val="425E6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58507-1F23-42E3-AF16-28720654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9050" y="3257550"/>
            <a:ext cx="114300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E9E99"/>
          </a:solidFill>
          <a:ln xmlns:a="http://schemas.openxmlformats.org/drawingml/2006/main" w="0">
            <a:solidFill>
              <a:srgbClr val="6E9E9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E13A8-6743-4E3E-B854-B2B76F59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733800"/>
            <a:ext cx="11049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B6AF"/>
          </a:solidFill>
          <a:ln xmlns:a="http://schemas.openxmlformats.org/drawingml/2006/main" w="0">
            <a:solidFill>
              <a:srgbClr val="88B6A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8B599-9DED-41AE-9DF6-26FC671E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7800" y="50101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3AD25C-F426-403D-B74F-BFBC6F7D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17716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26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226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1,302.83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FB6634-C5AA-47CC-90D8-73A756B9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营业收入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E323D4-5BF1-4A61-BE51-A189067C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8003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26" b="1">
                <a:solidFill>
                  <a:srgbClr val="9A6B3E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9A6B3E"/>
                </a:solidFill>
                <a:latin typeface="Times New Roman"/>
                <a:ea typeface="KaiTi"/>
                <a:cs typeface="Times New Roman"/>
              </a:rPr>
              <a:t>–498.42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39F9B-A35A-45AB-A41A-8AB5B194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432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营业成本｜38.3%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F47B4-6391-4EEE-838D-D20F9F52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0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804.41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3C181E-0ABF-4CF6-9F87-4236E54D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2578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毛利｜61.7%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00E2DE-5D25-4230-B456-0C2C2E6D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29050"/>
            <a:ext cx="1371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26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926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–599.33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562055-DF58-4D0E-8400-D18A5A4C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91000"/>
            <a:ext cx="1371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研发费用｜收入46.0%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2A7726-F414-4C24-B45B-27A39078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578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研发后经营余量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115EC4-E952-4D2D-BC89-6BD5B17E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6245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其他费用、收益及税项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89A507-CCDE-4DB9-8E97-D3B81926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514850"/>
            <a:ext cx="1485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43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43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48.87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717D5E-0B29-495A-B138-B331ADED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57800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净利润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04EDD8-567C-4689-ABD6-EE433D9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0"/>
            <a:ext cx="1049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高毛利覆盖研发投入后仍实现盈利，收入并非纯低毛利交付。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4E105A-331C-41BA-A3FB-FB9F0018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E4D538-7FFC-4DD6-BA0E-333C2F9D5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674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财务报表</a:t>
            </a:r>
          </a:p>
        </p:txBody>
      </p:sp>
    </p:spTree>
    <p:extLst>
      <p:ext uri="{BB962C8B-B14F-4D97-AF65-F5344CB8AC3E}">
        <p14:creationId xmlns:p14="http://schemas.microsoft.com/office/powerpoint/2010/main" val="131906499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0174BD-FA11-41EB-AE70-2698B9EE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DBDD7-0099-4997-9A56-2687213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83ECEA-0829-4841-9AA7-349A7057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财务与订单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65B2C-51B2-40C0-A91D-F33FC2CE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资料来源：2025财务报表；管理层2026预算与2027规划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EE79A-A04D-4F12-8393-9515C22F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C5825-45A5-4BAC-99C3-1D45B6FD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19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287841-666C-490C-B909-484CA103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929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2026年4,000万元目标由自动化数据、具身数据与力触设备三条线构成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DC91A3-BB90-476D-83D7-63AE1B318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01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01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2025A实际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F004D-53C4-4CF6-B990-64A03EE1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76400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1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2026E目标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FF058-08AB-432A-8A6F-A914E3D6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764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1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2027E规划｜目标再翻倍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B5384-9173-4B5A-B064-5C906907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962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3DC37-B633-4F20-A9DA-13B00F9A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3886200"/>
            <a:ext cx="1143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E192E-D6C4-486A-9137-9A81B3EA4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67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3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2103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1,302.83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902901-06DD-41DE-A064-35690739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673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万元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C439D-3DB6-43F2-81E7-0C86B137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384810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80A6B-AC15-449F-9627-7B3CBCAC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672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自动驾驶数据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5C2B07-E965-4CF9-85AF-BA54B5DD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14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1,500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90DB81-CB2E-4D24-B420-B0E4271E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2743200"/>
            <a:ext cx="3429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29EB7A-FFB3-45C5-9CB0-20B277FB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62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具身数据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5F589-DB36-4FDC-8AC7-21C3F024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33725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14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1,500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E069A8-E8C6-4564-BCC2-7639A421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2000250"/>
            <a:ext cx="342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8F60BC-D3E4-4B26-B023-0F3EA64D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383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触觉硬件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DA9216-5940-4B73-AADB-BD35FE48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83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2014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2014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1,000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E1454F-8665-4B6C-AA71-6A192B89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67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1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4,000万元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650557-D370-4D4C-B6C8-D20F4422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67300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约+207%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D82DC2-95F3-457D-BE5A-C3B32917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2000250"/>
            <a:ext cx="15621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DF"/>
          </a:solidFill>
          <a:ln xmlns:a="http://schemas.openxmlformats.org/drawingml/2006/main" w="11430">
            <a:solidFill>
              <a:srgbClr val="2E6F6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BF4463-C279-4D5C-AC36-BEE6AB62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38400"/>
            <a:ext cx="1562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3000"/>
              </a:lnSpc>
              <a:buNone/>
              <a:defRPr sz="251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251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8,000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AB55B8-1C64-48F2-BD07-697ED33E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933700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54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万元｜2027E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4728A1-0292-4C35-985A-4DBC97E04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38550"/>
            <a:ext cx="1295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2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722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叠加训练场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22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722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与模型收费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56906-C39A-47B3-BE38-BA1DC09D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81250"/>
            <a:ext cx="0" cy="2190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B6E3E3-9733-4EA4-812C-F1DA8B15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8CB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5484E-02F8-40E0-8545-4FF4E12C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2764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5,000 乐观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E1152B-0A34-4ABB-8D16-EB0D209A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956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E6F6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92286C-36AA-4E1B-B1B7-13CD7CF6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1908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4,000 基准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EB1853-CC4D-48D5-B8F3-B1E30928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100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C8CB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9AB352-5E9E-4DE3-A0C0-3693D116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052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3,000 保守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B26D96A-CDA0-47D1-942C-A6C1E9F1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467350"/>
            <a:ext cx="1049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三条收入线合计4,000万元，并非在2025收入基础上累加。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8F814C-FCA6-43FC-B1A6-3E7F94D5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53100"/>
            <a:ext cx="1049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22" b="0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22" b="0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增长路径｜硬件扩容 → 数据复购 → 训练 / 模型收费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167522-B385-493A-8ACF-179B38F3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76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965F3F-5D01-41D6-AC26-802E6726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674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2025A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6A5EC7D-9D6C-49B4-AB11-48AC6813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07695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[B]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8DD6E4-2323-456C-BCE4-FEDF91100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06742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2026E/2027E管理层目标</a:t>
            </a:r>
          </a:p>
        </p:txBody>
      </p:sp>
    </p:spTree>
    <p:extLst>
      <p:ext uri="{BB962C8B-B14F-4D97-AF65-F5344CB8AC3E}">
        <p14:creationId xmlns:p14="http://schemas.microsoft.com/office/powerpoint/2010/main" val="197532502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811C58-014E-4B35-AEEA-6B1BBF5E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BAE981-5106-4DF5-B427-8005EF47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53116-C744-41AE-9D92-7CF90FEF0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财务与订单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D1854-8E2D-4660-A8FD-D2F33E09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资料来源：客户访谈；高管访谈；管理层确认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2D4F4-7A0D-47C4-AC0A-235388D00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5C5E9-DF3A-4FC2-961C-F0768EDA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20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E6991F2-51B8-4B52-AE45-7761B26F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复购客户与近500套手套意向构成下一阶段收入的订单基础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84C7A-EFE1-4D47-BAF1-E0CB4BB2C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4965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订单证据不是同一确定性：已复购收入为锚，测试、意向与储备依次向后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823B12-FF99-44FF-94CC-413326A4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225040"/>
            <a:ext cx="1034415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2"/>
          </a:solidFill>
          <a:ln xmlns:a="http://schemas.openxmlformats.org/drawingml/2006/main" w="14288">
            <a:solidFill>
              <a:srgbClr val="3858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EDEB5-CEC7-425F-BAB3-98BBA4E5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6480"/>
            <a:ext cx="17716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A｜已发生合作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27D0A-4DC1-493A-8E60-F3EB2867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2512"/>
            <a:ext cx="241935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普罗宇宙 / 行之途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E7CBF-CE06-4BE2-823C-BAAE52C0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07920"/>
            <a:ext cx="71628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9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两批订单｜累计300–400万元｜按月采购｜存量订单延续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35C5A-362C-4875-BC69-C36B0C9C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3121152"/>
            <a:ext cx="912495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5"/>
          </a:solidFill>
          <a:ln xmlns:a="http://schemas.openxmlformats.org/drawingml/2006/main" w="7620">
            <a:solidFill>
              <a:srgbClr val="2E6F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578095-ECE8-45AE-AEB8-A2D7EF92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12592"/>
            <a:ext cx="17716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B｜客户测试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E1EC6-917F-40CF-A896-68186A15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68624"/>
            <a:ext cx="241935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无问智行等3家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B974F-236E-474A-A1BD-362EA818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304032"/>
            <a:ext cx="59436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5–10套测试样机进入验证，硬件由样机向批量采购推进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DD8D5-364D-48FC-B3D8-90C563C5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2600" y="3907536"/>
            <a:ext cx="7905750" cy="6217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E6"/>
          </a:solidFill>
          <a:ln xmlns:a="http://schemas.openxmlformats.org/drawingml/2006/main" w="7620">
            <a:solidFill>
              <a:srgbClr val="2E6F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F142A7-DB6E-41AE-8CA4-ACA71759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998976"/>
            <a:ext cx="17716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B/C｜管理层意向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F2DA2-1454-433B-A477-2A109A42C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55008"/>
            <a:ext cx="241935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近500套力触手套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90C9EF-B6E7-4DEC-AD8E-F98BC5C9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090416"/>
            <a:ext cx="47244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3–4万元/套｜潜在1,500–2,000万元｜非确认收入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6BE963-F031-4F2A-9911-71490382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62200" y="4620768"/>
            <a:ext cx="668655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B"/>
          </a:solidFill>
          <a:ln xmlns:a="http://schemas.openxmlformats.org/drawingml/2006/main" w="7620">
            <a:solidFill>
              <a:srgbClr val="7C9B8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E83C0E-8F7A-443B-960C-53895314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712208"/>
            <a:ext cx="177165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6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746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C｜项目储备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CCA5C9-0BC5-4F27-83FD-E8A1768E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968240"/>
            <a:ext cx="241935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台州湾 / 阿里前置仓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88CB6B-5E90-43F4-9ECC-92E11E08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803648"/>
            <a:ext cx="3505200" cy="4023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数字孪生招投标与无人化测试｜待招采/测试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0D7C5-4941-4709-BFCE-CA4FA87D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79136"/>
            <a:ext cx="1676400" cy="2011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66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确定性递减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95AC58-3DFA-4EF5-B1F6-58E2A457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70576"/>
            <a:ext cx="750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1A8860-453B-417C-B36F-7A7D2096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260848"/>
            <a:ext cx="69913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触觉硬件  →  异构数据  →  训练场  →  模型 / 技能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1184C0-8F91-4196-B734-1E97A073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90032"/>
            <a:ext cx="1049655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订单储备既是硬件收入，也是后续数据与训练服务入口。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7DF198-F59E-40E7-A10A-92FFED5A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4C2438-EB5C-432F-86E3-13DFE614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复购证据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3CC1ED-5CCD-4292-9B5A-77188BE5C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9A6B3E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9A6B3E"/>
                </a:solidFill>
                <a:latin typeface="Times New Roman"/>
                <a:ea typeface="KaiTi"/>
                <a:cs typeface="Times New Roman"/>
              </a:rPr>
              <a:t>[C]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5F35A4-47C4-4447-A7B9-330385C7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测试/意向/项目储备</a:t>
            </a:r>
          </a:p>
        </p:txBody>
      </p:sp>
    </p:spTree>
    <p:extLst>
      <p:ext uri="{BB962C8B-B14F-4D97-AF65-F5344CB8AC3E}">
        <p14:creationId xmlns:p14="http://schemas.microsoft.com/office/powerpoint/2010/main" val="61063763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0B33ED-04D4-4725-85B6-1B16449C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BF8AD-6FE3-47B9-AA57-1B2D816D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FA3EB4-A7CC-49B6-9053-BDA7E05A7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投资方案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B11A-77FB-4615-AE08-D13E696A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资料来源：本轮投资文件/条款（逐页框架转述）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AB7846-5E4C-4659-9B2F-5748E3DC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EEE4D-E0B2-4BCB-943C-843257DBA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21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B520119-5AB0-4028-A6F6-6A55736E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赛智伯乐拟领投2,500万元，全部用于增资，投后持股5.0%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E637ED-532E-42C0-8690-134665B93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496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4.5亿元投前  +  5,000万元融资  =  5.0亿元投后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EE75D3-F7CE-41B3-BE40-D000C239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10496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8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98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我方2,500万元 + 其他投资人2,500万元｜全部资金进入公司｜无老股转让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13CC1-6310-4370-A0F5-32EABAAC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8724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3481D1-8383-4CF1-AD06-6440E773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3450" y="2952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AB4B2-17D3-447D-8BDA-B9E697F5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7F1AB3-D839-48C7-8BC3-E64D665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22669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投资签约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A739BA-9716-44CD-852C-89D255E0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714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2,500万元增资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初始持股5.0%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B1D1C1-2160-40A1-ACEF-60830F47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952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FB705-9D75-4E62-999C-FC5C4AD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F02CC6-A0D0-4380-AD5F-9627ED04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669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首期拨付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D4A308-6025-4848-BD94-BFB47581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714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1,250万元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资金进入公司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1968EB-B57D-4024-A890-6ECE4F76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550" y="2952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9A8682-11BA-43B1-ABB1-F40EF948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8CDE8-FDFC-438E-AD4C-85B53A58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669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90日迁址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A20E7-C923-4855-882E-046A3422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14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主体 / 总部 / 研发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经营场所迁滨江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20147-47EF-4462-9A23-3517D3E7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91600" y="2952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A9B5D-CE0D-4AF1-87FC-BE4C8B37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051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661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0CED9C-8A9B-4490-BE4F-09724974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二期 + 治理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D0A4A0-1C4F-4ECF-A61A-2865CD6F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247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再付1,250万元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5人董事会提名1席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57590C-9C51-4194-B826-D4450C2D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3181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47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747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原股东90%｜本轮投资人10%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30FA3B-F63A-4941-B75B-541ABBC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629150"/>
            <a:ext cx="3962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4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重大事项至少4票且必须包含我方董事赞成票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830373-B36F-4AF6-9A44-0AAD33F5A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049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9705A0-1595-4C40-8BEB-72D9E2F1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增资进入公司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E9B476-0FE0-424D-AF88-C8BBA988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5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分期拨付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4AD9BA-D025-4DD7-9313-ECDB5BF8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5257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迁址约束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A666E3-9DBB-44B0-9F14-331BD1EC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2578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66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董事席位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447D81-EE12-4C0D-92C5-D1BC20D7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049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12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12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交易结构把资金拨付、产业落地和治理权放在同一条执行路径上。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FA5740-A03C-47CC-88F6-3FB8FD8B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19800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D7212BB-7B8A-4D1E-92EF-B535D575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10275"/>
            <a:ext cx="201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投资文件/条款</a:t>
            </a:r>
          </a:p>
        </p:txBody>
      </p:sp>
    </p:spTree>
    <p:extLst>
      <p:ext uri="{BB962C8B-B14F-4D97-AF65-F5344CB8AC3E}">
        <p14:creationId xmlns:p14="http://schemas.microsoft.com/office/powerpoint/2010/main" val="20028821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E647FF4-8D15-438A-A61A-C7FA912B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005AFB-42D7-45F1-B613-BD33F187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7F1B9-CA72-4F50-8F4A-AA861865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投资方案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D08E6-1F19-4B42-8675-10EECEC7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资料来源：本轮投资文件/条款；杭州市政策文件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A9945-F603-495C-B9B7-E346B651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E3A10-653E-4030-BEB3-51DA40CA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22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F97A62-9656-42B5-BC25-39A054AB9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收入联动估值、分期付款、滨江迁址与治理权利共同约束执行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FF552-A815-4BC5-9253-C7912903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76400"/>
            <a:ext cx="104965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收入兑现决定估值与持股；资金、迁址和治理四把“执行锁”贴在兑现路径上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3B24F-3136-4531-B7CF-E71CE4C4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8432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6EA594-44A4-4F42-86E0-F7AB6874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68624"/>
            <a:ext cx="0" cy="7498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CF6842-96DC-4DF9-875C-9BEE9B25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68624"/>
            <a:ext cx="238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D08CC4-2445-4BCA-B98D-FDDD3731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8816"/>
            <a:ext cx="0" cy="74980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EFF463-3FF3-4262-9C6E-0F6FED60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18816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B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11BB5B-C16D-4642-8574-5F1D2649F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4035552"/>
            <a:ext cx="19050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C920EF-2813-4971-9D2B-77533083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1776"/>
            <a:ext cx="17335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≤3,000万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892F6-9FDC-4146-9CAD-B6C52E41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36720"/>
            <a:ext cx="1524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投后3亿元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7F358-3B5F-4E02-8B2C-56BAFCE6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1040"/>
            <a:ext cx="1524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持股8.3333%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95EE30-75FF-4433-BECA-420834D3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71850" y="3285744"/>
            <a:ext cx="19050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F7F96A-0E9C-4C11-88A4-E2391163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91968"/>
            <a:ext cx="17335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4,000万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2A26C6-D665-4FF7-A32C-1DCE5275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912"/>
            <a:ext cx="1524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投后4亿元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1C1FC2-FE9C-46B0-8AED-F75F3B7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61232"/>
            <a:ext cx="1524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持股6.2500%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1EC43B-783B-4B6E-A5D6-C4B406EE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53100" y="2535936"/>
            <a:ext cx="19050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C49C80-15BC-4CEE-AB5E-ABF18C17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42160"/>
            <a:ext cx="17335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958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≥5,000万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79AFD-945B-4D73-A98D-6C1B6967D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37104"/>
            <a:ext cx="1524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1783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投后5亿元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27F098-D11B-4ADF-B1B4-B1C848919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11424"/>
            <a:ext cx="15240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持股5.0000%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534C8C-98D3-4B47-9473-D553D358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14544"/>
            <a:ext cx="676275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收入 × 10倍｜投后估值3–5亿元线性计算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8D8048-A528-447E-BA9B-931EA65E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35936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BC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AC5794-772A-4506-80C1-52E352F9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35936"/>
            <a:ext cx="0" cy="841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BC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E3AB7C-3BDC-4DFB-B2B4-1AE2A8A13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108704"/>
            <a:ext cx="0" cy="548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B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40D95B-8255-4B67-8C9F-2945256B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657344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C8CB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2034A8-BD64-409D-95AC-FCF4CA30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86800" y="3377184"/>
            <a:ext cx="85725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CE7"/>
          </a:solidFill>
          <a:ln xmlns:a="http://schemas.openxmlformats.org/drawingml/2006/main" w="11430">
            <a:solidFill>
              <a:srgbClr val="2E6F6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6BB230-8F90-45EB-ABFE-649A06DC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5052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兑现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机制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742C60-0558-4C77-919A-16562FC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2334768"/>
            <a:ext cx="419100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E19B92-1C89-4CF1-AF88-DA1FDF8E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44496"/>
            <a:ext cx="381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64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8033F64-6E56-4DBE-A587-43D3E550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42160"/>
            <a:ext cx="14478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估值锁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E9EA6E-6C76-4BB4-BE85-01823DA3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46832"/>
            <a:ext cx="17526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收入兑现决定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估值与持股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70AD1BF-90CB-4D77-B23E-2452344C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2334768"/>
            <a:ext cx="419100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4910C9-8806-470C-8AAB-D908932A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44496"/>
            <a:ext cx="381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64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02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AEC832-A6CD-4039-8A49-30E6DB1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42160"/>
            <a:ext cx="14478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资金锁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64B6316-3590-412B-BEF3-D757FD2E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46832"/>
            <a:ext cx="17526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首付1,250万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迁址后再付1,250万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373A3F-C233-4255-93A1-1493BC98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0" y="4456176"/>
            <a:ext cx="419100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5D26EE-E531-4F31-8AF8-D0A66AFC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65904"/>
            <a:ext cx="381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64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3FCB58-941C-47EC-89ED-6424388E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968240"/>
            <a:ext cx="14478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产业锁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90FB26-F2C3-4AC4-A8F1-FE603B79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7696"/>
            <a:ext cx="17526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90日内迁滨江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主体 / 总部 / 研发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B8AB8E-51B9-4940-B211-01F59928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0" y="4456176"/>
            <a:ext cx="419100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E8CD071-DD95-48A1-B964-72EE146B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565904"/>
            <a:ext cx="3810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64" b="1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FFFFFF"/>
                </a:solidFill>
                <a:latin typeface="Times New Roman"/>
                <a:ea typeface="KaiTi"/>
                <a:cs typeface="Times New Roman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98AB4F-0F4C-41D2-A762-B3498E06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968240"/>
            <a:ext cx="144780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00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治理锁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004303C-CF81-491B-A16E-18723931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87696"/>
            <a:ext cx="175260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5人董事会1席</a:t>
            </a:r>
          </a:p>
          <a:p xmlns:a="http://schemas.openxmlformats.org/drawingml/2006/main">
            <a:pPr algn="ctr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重大事项需我方赞成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F3CF669-DF8D-4FD2-A5E8-D679F299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3184"/>
            <a:ext cx="10496550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9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估值随兑现，资金留闸门，产业与治理权同步落地。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CAAB2F-C1EA-417F-83E8-CE5A66C5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A10652-B350-4AC5-9181-BF65AEA1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投资文件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917ECE-805F-44E4-9B39-0D822D8D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47232"/>
            <a:ext cx="285750" cy="164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938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[A]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F3F5BE-9699-4C6C-824C-18A7DF246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038088"/>
            <a:ext cx="201930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967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滨江产业协同</a:t>
            </a:r>
          </a:p>
        </p:txBody>
      </p:sp>
    </p:spTree>
    <p:extLst>
      <p:ext uri="{BB962C8B-B14F-4D97-AF65-F5344CB8AC3E}">
        <p14:creationId xmlns:p14="http://schemas.microsoft.com/office/powerpoint/2010/main" val="12601463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9D0F4E8-A21A-44BA-A58E-FFA29CC9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52400"/>
            <a:ext cx="2038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749" b="1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大衍科技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45D3A2-D96C-4669-AD83-B4A0A91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19100"/>
            <a:ext cx="20383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878" b="1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DAYAN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6E91DD-1233-42AC-B9DA-AF49FBE3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"/>
            <a:ext cx="2667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364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风险与决策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AFF03-5B26-4942-802D-FD1737FB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48400"/>
            <a:ext cx="9829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8C9396"/>
                </a:solidFill>
                <a:latin typeface="Times New Roman"/>
                <a:ea typeface="KaiTi"/>
                <a:cs typeface="Times New Roman"/>
              </a:rPr>
              <a:t>资料来源：客户访谈；管理层目标；本轮投资文件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DEE11-A816-4203-B0BF-11F934EE0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543675"/>
            <a:ext cx="11334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AD31D7-A792-4F4F-AD5A-D64588C1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610350"/>
            <a:ext cx="419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defRPr>
            </a:pPr>
            <a:r>
              <a:rPr sz="878" b="0">
                <a:solidFill>
                  <a:srgbClr val="9AA8B2"/>
                </a:solidFill>
                <a:latin typeface="Times New Roman"/>
                <a:ea typeface="KaiTi"/>
                <a:cs typeface="Times New Roman"/>
              </a:rPr>
              <a:t>23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0F7D854-C49F-41F3-8D56-C5712F20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525" tIns="0" rIns="952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defRPr>
            </a:pPr>
            <a:r>
              <a:rPr sz="3000" b="1">
                <a:solidFill>
                  <a:srgbClr val="202522"/>
                </a:solidFill>
                <a:latin typeface="Times New Roman"/>
                <a:ea typeface="KaiTi"/>
                <a:cs typeface="Times New Roman"/>
              </a:rPr>
              <a:t>按新交易方案推进，投后用四张交付清单管理兑现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7ABCD9-7C8A-49C4-88DA-779AAA34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57300"/>
            <a:ext cx="1082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643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交易条件已把资金拨付、治理权和经营兑现拆开；后续审议以量产、数据、平台、团队/IP四类可核验交付物为准。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8DD51-EE80-4629-97AD-6E4C96D8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0496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9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2,500万元增资｜两期付款｜初始持股5.0%｜5人董事会提名1席｜估值与收入联动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DCD6B-0171-4ADD-8093-81178AED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907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D022C5-DABE-4FB2-A556-3EA6B145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2124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316E27-DB1C-4BEB-9BD6-6CE1957A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847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6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T0｜签约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D8E6B7-D928-4E5C-8195-53C81A7E7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124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AD5624-F2E8-4A14-BC2C-0CB84D91C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1847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90日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2BA299-85FD-43B3-9F4C-026350A3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53275" y="2124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E0D67-CA40-4D5E-86CA-961DFFA3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847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量产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9647C-0DFD-4F14-AD8F-9A75FB4B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21240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6A330A-8A0F-45AB-B7A0-32BCF332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8478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76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复购 / 平台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6C7DBD-D53C-43F4-92B8-8EC4053A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量产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5B4E50-5C51-45DC-A4EA-6AAC455FA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527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152D6-D85F-4C50-9EE0-3DFE8284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E919D-F352-45B1-890B-A8A7E12A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80%+良率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近500套意向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9FE901-E189-4829-BF5C-CF475F10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2FC76E-A7AB-4F4B-87D4-E3A89CDB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7051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产线迁移与验证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C78FB7-A6CB-4F3F-BCD6-68FE87C9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A57D60-EF68-406B-BED4-3009430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95%良率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规模批量交付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AFD39C-9BBA-4701-A70A-2E65E5E1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2876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584F"/>
          </a:solidFill>
          <a:ln xmlns:a="http://schemas.openxmlformats.org/drawingml/2006/main" w="0">
            <a:solidFill>
              <a:srgbClr val="38584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F22CD6-A121-4621-AF4B-E2FCFF74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289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验收与交付记录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FFD99B-3D50-4E1D-83B8-CC6F3635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479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33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B/C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2388C8-1E35-419A-AA57-1CBB30B67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数据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8FFFC2-9BA4-4FF1-9ECC-DFF26B4A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69570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8A5955-C4A0-467F-8996-80F8C89E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3619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9F7EB7-E84E-4571-B918-ABB6D502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099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异构 / 触觉数据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已有客户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DD59ED-8955-40DC-A76E-A1BA9261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619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6D3790-2F7B-449C-8968-1CDCF300C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4480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扩充标准数据包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27DDBD-B411-4743-8E10-2790F1FA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3619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F81245-725D-4EA2-95F7-539178E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480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跨客户复用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553FDC-120F-4A35-B761-2B84859C7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36195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485CD4-A3C6-4EB4-A0B6-EC5D2D7A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718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复购合同与项目复用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38AAA1-DF9A-43F3-86C3-1A55C053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909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B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A5323C-FFB6-4CCD-A911-25862977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平台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08FF5E-5A7E-4B9F-BACA-9C4D6821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3865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B8E2B8-C693-4D39-AD1A-2218D17E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4362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022C27-E8F5-45DF-BD90-CA0490FA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5290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场景与失败样本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已经沉淀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E46BD4-B9F9-4A54-8D08-19F353F8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362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370783F-0718-42BE-AB83-3365AC5C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9100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训练评测生成闭环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42E462-9CC0-4EFD-A0C7-DB04F44F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4362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07776E-8AE7-4863-A523-70BB2990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910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模型 / 技能复售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21D511F-D1BB-4647-B483-8469F439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43624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9B8E"/>
          </a:solidFill>
          <a:ln xmlns:a="http://schemas.openxmlformats.org/drawingml/2006/main" w="0">
            <a:solidFill>
              <a:srgbClr val="7C9B8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4D70C9-BC21-4094-A784-FAF181EE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1480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版本、评测与复售订单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5AFD04-6994-43C3-81B8-201CAFEB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3387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33" b="1">
                <a:solidFill>
                  <a:srgbClr val="7C9B8E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7C9B8E"/>
                </a:solidFill>
                <a:latin typeface="Times New Roman"/>
                <a:ea typeface="KaiTi"/>
                <a:cs typeface="Times New Roman"/>
              </a:rPr>
              <a:t>B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502DB38-4ECA-41DD-A2D6-2A270DB2F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10150"/>
            <a:ext cx="1257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852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团队 / IP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7C789A6-99A6-4638-B5FE-1558590F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81600"/>
            <a:ext cx="859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239">
            <a:solidFill>
              <a:srgbClr val="DDD7CD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E9DD45-0EC3-4B84-8AC3-D2A88D49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95500" y="5105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6B5BB00-687A-46D1-B10A-0ED840D4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895850"/>
            <a:ext cx="1847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院士参与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57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博士团队研发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7426343-CFA3-406E-8445-DFBC38AC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105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C77AA5-16ED-42A2-B198-417E217FC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33950"/>
            <a:ext cx="180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专利与成果归属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C4E0527-CEFF-4B86-9929-D511B5AC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5105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2416286-C7DC-4DFD-84D2-251A214F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625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长期服务安排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744D94A-B505-4F19-AD44-668FF71E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25050" y="51054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6F65"/>
          </a:solidFill>
          <a:ln xmlns:a="http://schemas.openxmlformats.org/drawingml/2006/main" w="0">
            <a:solidFill>
              <a:srgbClr val="2E6F6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62BFC3B-0A79-4A87-A06B-CA9E14ED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57750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defRPr>
            </a:pPr>
            <a:r>
              <a:rPr sz="1266" b="0">
                <a:solidFill>
                  <a:srgbClr val="505854"/>
                </a:solidFill>
                <a:latin typeface="Times New Roman"/>
                <a:ea typeface="KaiTi"/>
                <a:cs typeface="Times New Roman"/>
              </a:rPr>
              <a:t>协议、清单与人员安排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75A2F2-B803-4251-826C-4091820E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76825"/>
            <a:ext cx="342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defRPr>
            </a:pPr>
            <a:r>
              <a:rPr sz="1233" b="1">
                <a:solidFill>
                  <a:srgbClr val="2E6F65"/>
                </a:solidFill>
                <a:latin typeface="Times New Roman"/>
                <a:ea typeface="KaiTi"/>
                <a:cs typeface="Times New Roman"/>
              </a:rPr>
              <a:t>A/B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3BE35F-1E80-432E-B762-9DDDE9F9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3405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defRPr>
            </a:pPr>
            <a:r>
              <a:rPr sz="1665" b="1">
                <a:solidFill>
                  <a:srgbClr val="38584F"/>
                </a:solidFill>
                <a:latin typeface="Times New Roman"/>
                <a:ea typeface="KaiTi"/>
                <a:cs typeface="Times New Roman"/>
              </a:rPr>
              <a:t>决策不是一次性下注，而是把资金拨付与可核验交付物绑定。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4120F8-AD40-48DD-96AB-24A68C5C0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72150"/>
            <a:ext cx="320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0" rIns="9525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defRPr>
            </a:pPr>
            <a:r>
              <a:rPr sz="1200" b="0">
                <a:solidFill>
                  <a:srgbClr val="6D746F"/>
                </a:solidFill>
                <a:latin typeface="Times New Roman"/>
                <a:ea typeface="KaiTi"/>
                <a:cs typeface="Times New Roman"/>
              </a:rPr>
              <a:t>A / B / C = 投资文件 / 客户验证 / 管理层目标</a:t>
            </a:r>
          </a:p>
        </p:txBody>
      </p:sp>
    </p:spTree>
    <p:extLst>
      <p:ext uri="{BB962C8B-B14F-4D97-AF65-F5344CB8AC3E}">
        <p14:creationId xmlns:p14="http://schemas.microsoft.com/office/powerpoint/2010/main" val="750172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2026-08-19T18:57:34.6700000Z</dcterms:created>
  <dcterms:modified xsi:type="dcterms:W3CDTF">2026-08-19T18:57:34.6700000Z</dcterms:modified>
</coreProperties>
</file>