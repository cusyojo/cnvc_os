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1097280" cy="3108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09728"/>
            <a:ext cx="384048" cy="31089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94960"/>
            <a:ext cx="12188952" cy="14630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20240" y="141732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00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业务验收示例项目</a:t>
            </a:r>
            <a:endParaRPr lang="zh-CN" sz="3000" dirty="0"/>
          </a:p>
        </p:txBody>
      </p:sp>
      <p:sp>
        <p:nvSpPr>
          <p:cNvPr id="6" name="Text 1"/>
          <p:cNvSpPr/>
          <p:nvPr/>
        </p:nvSpPr>
        <p:spPr>
          <a:xfrm>
            <a:off x="3383280" y="22677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投资建议书</a:t>
            </a:r>
            <a:endParaRPr lang="zh-CN" sz="2200" dirty="0"/>
          </a:p>
        </p:txBody>
      </p:sp>
      <p:sp>
        <p:nvSpPr>
          <p:cNvPr id="7" name="Text 2"/>
          <p:cNvSpPr/>
          <p:nvPr/>
        </p:nvSpPr>
        <p:spPr>
          <a:xfrm>
            <a:off x="429768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rgbClr val="66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辅助初稿</a:t>
            </a:r>
            <a:endParaRPr lang="zh-CN" sz="1300" dirty="0"/>
          </a:p>
        </p:txBody>
      </p:sp>
      <p:sp>
        <p:nvSpPr>
          <p:cNvPr id="8" name="Text 3"/>
          <p:cNvSpPr/>
          <p:nvPr/>
        </p:nvSpPr>
        <p:spPr>
          <a:xfrm>
            <a:off x="3886200" y="3794760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050" dirty="0">
                <a:solidFill>
                  <a:srgbClr val="5555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资料截止：2026-07-24</a:t>
            </a:r>
            <a:endParaRPr lang="zh-CN" sz="1050" dirty="0"/>
          </a:p>
          <a:p>
            <a:pPr algn="ctr" indent="0" marL="0">
              <a:buNone/>
            </a:pPr>
            <a:r>
              <a:rPr lang="zh-CN" altLang="en-US" sz="1050" dirty="0">
                <a:solidFill>
                  <a:srgbClr val="5555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仅限内部讨论，不构成最终投资决策</a:t>
            </a:r>
            <a:endParaRPr lang="zh-CN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74520" cy="475488"/>
          </a:xfrm>
          <a:prstGeom prst="parallelogram">
            <a:avLst/>
          </a:prstGeom>
          <a:solidFill>
            <a:srgbClr val="3E3AAE"/>
          </a:solidFill>
          <a:ln w="12700">
            <a:solidFill>
              <a:srgbClr val="3E3AA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1887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项目概览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项目核心信息</a:t>
            </a:r>
            <a:endParaRPr lang="zh-CN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10652760" cy="0"/>
          </a:xfrm>
          <a:prstGeom prst="line">
            <a:avLst/>
          </a:prstGeom>
          <a:noFill/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7620">
            <a:solidFill>
              <a:srgbClr val="B8B8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2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来源：项目档案与已授权资料　|　资料截止：2026-07-24</a:t>
            </a:r>
            <a:endParaRPr lang="zh-CN" sz="72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0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zh-CN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20" dirty="0">
                <a:solidFill>
                  <a:srgbClr val="5555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以下信息均为可编辑原生表格；待核验项须以正式底稿和交易文件为准。</a:t>
            </a:r>
            <a:endParaRPr lang="zh-CN" sz="112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83080"/>
          <a:ext cx="10835640" cy="1993392"/>
        </p:xfrm>
        <a:graphic>
          <a:graphicData uri="http://schemas.openxmlformats.org/drawingml/2006/table">
            <a:tbl>
              <a:tblPr/>
              <a:tblGrid>
                <a:gridCol w="1234440"/>
                <a:gridCol w="3886200"/>
                <a:gridCol w="1234440"/>
                <a:gridCol w="448056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sz="11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公司主体</a:t>
                      </a:r>
                      <a:endParaRPr lang="zh-CN" sz="11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5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sz="1120" dirty="0">
                          <a:solidFill>
                            <a:srgbClr val="2020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杭州示例科技有限公司</a:t>
                      </a:r>
                      <a:endParaRPr lang="zh-CN" sz="11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sz="11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所属行业</a:t>
                      </a:r>
                      <a:endParaRPr lang="zh-CN" sz="11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5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sz="1120" dirty="0">
                          <a:solidFill>
                            <a:srgbClr val="2020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企业服务与人工智能</a:t>
                      </a:r>
                      <a:endParaRPr lang="zh-CN" sz="11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sz="11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项目阶段</a:t>
                      </a:r>
                      <a:endParaRPr lang="zh-CN" sz="11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5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sz="1120" dirty="0">
                          <a:solidFill>
                            <a:srgbClr val="2020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尽调</a:t>
                      </a:r>
                      <a:endParaRPr lang="zh-CN" sz="11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sz="11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融资安排</a:t>
                      </a:r>
                      <a:endParaRPr lang="zh-CN" sz="11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5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sz="1120" dirty="0">
                          <a:solidFill>
                            <a:srgbClr val="2020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拟进行 A 轮融资；金额及用途以正式交易文件为准</a:t>
                      </a:r>
                      <a:endParaRPr lang="zh-CN" sz="11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sz="11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估值口径</a:t>
                      </a:r>
                      <a:endParaRPr lang="zh-CN" sz="11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5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sz="1120" dirty="0">
                          <a:solidFill>
                            <a:srgbClr val="2020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估值尚待交易文件及可比公司分析核验</a:t>
                      </a:r>
                      <a:endParaRPr lang="zh-CN" sz="11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sz="11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资料截止日</a:t>
                      </a:r>
                      <a:endParaRPr lang="zh-CN" sz="11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5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sz="1120" dirty="0">
                          <a:solidFill>
                            <a:srgbClr val="2020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2026-07-24</a:t>
                      </a:r>
                      <a:endParaRPr lang="zh-CN" sz="11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8B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58368" y="4206240"/>
            <a:ext cx="10835640" cy="1115568"/>
          </a:xfrm>
          <a:prstGeom prst="rect">
            <a:avLst/>
          </a:prstGeom>
          <a:solidFill>
            <a:srgbClr val="F3F3FA"/>
          </a:solidFill>
          <a:ln w="10160">
            <a:solidFill>
              <a:srgbClr val="C9C8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45079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初步判断</a:t>
            </a:r>
            <a:endParaRPr lang="zh-CN" sz="1200" dirty="0"/>
          </a:p>
        </p:txBody>
      </p:sp>
      <p:sp>
        <p:nvSpPr>
          <p:cNvPr id="13" name="Text 10"/>
          <p:cNvSpPr/>
          <p:nvPr/>
        </p:nvSpPr>
        <p:spPr>
          <a:xfrm>
            <a:off x="2057400" y="4416552"/>
            <a:ext cx="89154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2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本初稿采用公司标准模板，依据截至 2026-07-24 的脱敏证据形成。资料记载、AI 推断、待核验事项及资料缺口已分开标识，所有结论仍须业务审核。</a:t>
            </a:r>
            <a:endParaRPr lang="zh-CN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74520" cy="475488"/>
          </a:xfrm>
          <a:prstGeom prst="parallelogram">
            <a:avLst/>
          </a:prstGeom>
          <a:solidFill>
            <a:srgbClr val="3E3AAE"/>
          </a:solidFill>
          <a:ln w="12700">
            <a:solidFill>
              <a:srgbClr val="3E3AA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1887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投资建议书内容框架</a:t>
            </a:r>
            <a:endParaRPr lang="zh-CN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10652760" cy="0"/>
          </a:xfrm>
          <a:prstGeom prst="line">
            <a:avLst/>
          </a:prstGeom>
          <a:noFill/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7620">
            <a:solidFill>
              <a:srgbClr val="B8B8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2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来源：项目档案与已授权资料　|　资料截止：2026-07-24</a:t>
            </a:r>
            <a:endParaRPr lang="zh-CN" sz="72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0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zh-CN" sz="8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25F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zh-CN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14904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2525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投资结论</a:t>
            </a:r>
            <a:endParaRPr lang="zh-CN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21671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25F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zh-CN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1488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2525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项目概览</a:t>
            </a:r>
            <a:endParaRPr lang="zh-CN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28254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25F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zh-CN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28072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2525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行业与市场</a:t>
            </a:r>
            <a:endParaRPr lang="zh-CN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348386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25F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zh-CN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346557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2525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产品与技术</a:t>
            </a:r>
            <a:endParaRPr lang="zh-CN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4142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25F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zh-CN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412394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2525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商业模式与客户</a:t>
            </a:r>
            <a:endParaRPr lang="zh-CN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4800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25F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zh-CN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478231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2525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endParaRPr lang="zh-CN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15087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25F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zh-CN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14904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2525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竞争分析</a:t>
            </a:r>
            <a:endParaRPr lang="zh-CN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21671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25F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zh-CN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21488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2525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财务与估值</a:t>
            </a:r>
            <a:endParaRPr lang="zh-CN" sz="1250" dirty="0"/>
          </a:p>
        </p:txBody>
      </p:sp>
      <p:sp>
        <p:nvSpPr>
          <p:cNvPr id="25" name="Text 23"/>
          <p:cNvSpPr/>
          <p:nvPr/>
        </p:nvSpPr>
        <p:spPr>
          <a:xfrm>
            <a:off x="6400800" y="28254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25F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zh-CN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28072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2525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投资方案</a:t>
            </a:r>
            <a:endParaRPr lang="zh-CN" sz="1250" dirty="0"/>
          </a:p>
        </p:txBody>
      </p:sp>
      <p:sp>
        <p:nvSpPr>
          <p:cNvPr id="27" name="Text 25"/>
          <p:cNvSpPr/>
          <p:nvPr/>
        </p:nvSpPr>
        <p:spPr>
          <a:xfrm>
            <a:off x="6400800" y="348386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25F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zh-CN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346557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2525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核心风险</a:t>
            </a:r>
            <a:endParaRPr lang="zh-CN" sz="1250" dirty="0"/>
          </a:p>
        </p:txBody>
      </p:sp>
      <p:sp>
        <p:nvSpPr>
          <p:cNvPr id="29" name="Text 27"/>
          <p:cNvSpPr/>
          <p:nvPr/>
        </p:nvSpPr>
        <p:spPr>
          <a:xfrm>
            <a:off x="6400800" y="4142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25F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zh-CN" sz="1100" dirty="0"/>
          </a:p>
        </p:txBody>
      </p:sp>
      <p:sp>
        <p:nvSpPr>
          <p:cNvPr id="30" name="Text 28"/>
          <p:cNvSpPr/>
          <p:nvPr/>
        </p:nvSpPr>
        <p:spPr>
          <a:xfrm>
            <a:off x="6995160" y="412394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2525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尽调缺口</a:t>
            </a:r>
            <a:endParaRPr lang="zh-CN" sz="1250" dirty="0"/>
          </a:p>
        </p:txBody>
      </p:sp>
      <p:sp>
        <p:nvSpPr>
          <p:cNvPr id="31" name="Text 29"/>
          <p:cNvSpPr/>
          <p:nvPr/>
        </p:nvSpPr>
        <p:spPr>
          <a:xfrm>
            <a:off x="6400800" y="4800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b="1" dirty="0">
                <a:solidFill>
                  <a:srgbClr val="625F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zh-CN" sz="1100" dirty="0"/>
          </a:p>
        </p:txBody>
      </p:sp>
      <p:sp>
        <p:nvSpPr>
          <p:cNvPr id="32" name="Text 30"/>
          <p:cNvSpPr/>
          <p:nvPr/>
        </p:nvSpPr>
        <p:spPr>
          <a:xfrm>
            <a:off x="6995160" y="478231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2525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下一步建议</a:t>
            </a:r>
            <a:endParaRPr lang="zh-CN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74520" cy="475488"/>
          </a:xfrm>
          <a:prstGeom prst="parallelogram">
            <a:avLst/>
          </a:prstGeom>
          <a:solidFill>
            <a:srgbClr val="3E3AAE"/>
          </a:solidFill>
          <a:ln w="12700">
            <a:solidFill>
              <a:srgbClr val="3E3AA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1887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项目概览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投资结论</a:t>
            </a:r>
            <a:endParaRPr lang="zh-CN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10652760" cy="0"/>
          </a:xfrm>
          <a:prstGeom prst="line">
            <a:avLst/>
          </a:prstGeom>
          <a:noFill/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7620">
            <a:solidFill>
              <a:srgbClr val="B8B8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2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来源：项目档案（脱敏验收数据）、示例项目商业计划书（脱敏）　|　资料截止：2026-07-24</a:t>
            </a:r>
            <a:endParaRPr lang="zh-CN" sz="72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0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zh-CN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10744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45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投资结论按照 docs 中可编辑主样本提炼的章节结构生成。</a:t>
            </a:r>
            <a:endParaRPr lang="zh-CN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084832"/>
            <a:ext cx="1024128" cy="292608"/>
          </a:xfrm>
          <a:prstGeom prst="rect">
            <a:avLst/>
          </a:prstGeom>
          <a:solidFill>
            <a:srgbClr val="EBEBFF"/>
          </a:solidFill>
          <a:ln w="7620">
            <a:solidFill>
              <a:srgbClr val="625F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144268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资料记载</a:t>
            </a:r>
            <a:endParaRPr lang="zh-CN" sz="850" dirty="0"/>
          </a:p>
        </p:txBody>
      </p:sp>
      <p:sp>
        <p:nvSpPr>
          <p:cNvPr id="12" name="Text 10"/>
          <p:cNvSpPr/>
          <p:nvPr/>
        </p:nvSpPr>
        <p:spPr>
          <a:xfrm>
            <a:off x="1993392" y="2048256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本节已根据脱敏项目档案与样本证据整理；第 1 项事实须回到原始资料复核。</a:t>
            </a:r>
            <a:endParaRPr lang="zh-CN" sz="1150" dirty="0"/>
          </a:p>
        </p:txBody>
      </p:sp>
      <p:sp>
        <p:nvSpPr>
          <p:cNvPr id="13" name="Text 11"/>
          <p:cNvSpPr/>
          <p:nvPr/>
        </p:nvSpPr>
        <p:spPr>
          <a:xfrm>
            <a:off x="1993392" y="2560320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4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来源：项目档案（脱敏验收数据）</a:t>
            </a:r>
            <a:endParaRPr lang="zh-CN" sz="740" dirty="0"/>
          </a:p>
        </p:txBody>
      </p:sp>
      <p:sp>
        <p:nvSpPr>
          <p:cNvPr id="14" name="Shape 12"/>
          <p:cNvSpPr/>
          <p:nvPr/>
        </p:nvSpPr>
        <p:spPr>
          <a:xfrm>
            <a:off x="731520" y="2944368"/>
            <a:ext cx="1024128" cy="292608"/>
          </a:xfrm>
          <a:prstGeom prst="rect">
            <a:avLst/>
          </a:prstGeom>
          <a:solidFill>
            <a:srgbClr val="EEF4FB"/>
          </a:solidFill>
          <a:ln w="7620">
            <a:solidFill>
              <a:srgbClr val="1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003804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1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AI推断</a:t>
            </a:r>
            <a:endParaRPr lang="zh-CN" sz="850" dirty="0"/>
          </a:p>
        </p:txBody>
      </p:sp>
      <p:sp>
        <p:nvSpPr>
          <p:cNvPr id="16" name="Text 14"/>
          <p:cNvSpPr/>
          <p:nvPr/>
        </p:nvSpPr>
        <p:spPr>
          <a:xfrm>
            <a:off x="1993392" y="2907792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基于现有证据形成的分析判断不等同于经审计事实，投资团队应完成交叉验证。</a:t>
            </a:r>
            <a:endParaRPr lang="zh-CN" sz="1150" dirty="0"/>
          </a:p>
        </p:txBody>
      </p:sp>
      <p:sp>
        <p:nvSpPr>
          <p:cNvPr id="17" name="Text 15"/>
          <p:cNvSpPr/>
          <p:nvPr/>
        </p:nvSpPr>
        <p:spPr>
          <a:xfrm>
            <a:off x="1993392" y="3419856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4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来源：项目档案（脱敏验收数据）、示例项目商业计划书（脱敏）</a:t>
            </a:r>
            <a:endParaRPr lang="zh-CN" sz="740" dirty="0"/>
          </a:p>
        </p:txBody>
      </p:sp>
      <p:sp>
        <p:nvSpPr>
          <p:cNvPr id="18" name="Shape 16"/>
          <p:cNvSpPr/>
          <p:nvPr/>
        </p:nvSpPr>
        <p:spPr>
          <a:xfrm>
            <a:off x="731520" y="3803904"/>
            <a:ext cx="1024128" cy="292608"/>
          </a:xfrm>
          <a:prstGeom prst="rect">
            <a:avLst/>
          </a:prstGeom>
          <a:solidFill>
            <a:srgbClr val="FFF5D9"/>
          </a:solidFill>
          <a:ln w="7620">
            <a:solidFill>
              <a:srgbClr val="A06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863340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A063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待核验</a:t>
            </a:r>
            <a:endParaRPr lang="zh-CN" sz="850" dirty="0"/>
          </a:p>
        </p:txBody>
      </p:sp>
      <p:sp>
        <p:nvSpPr>
          <p:cNvPr id="20" name="Text 18"/>
          <p:cNvSpPr/>
          <p:nvPr/>
        </p:nvSpPr>
        <p:spPr>
          <a:xfrm>
            <a:off x="1993392" y="3767328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合同、财务、客户及法律资质原件尚未在本次脱敏验收数据中提供。</a:t>
            </a:r>
            <a:endParaRPr lang="zh-CN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74520" cy="475488"/>
          </a:xfrm>
          <a:prstGeom prst="parallelogram">
            <a:avLst/>
          </a:prstGeom>
          <a:solidFill>
            <a:srgbClr val="3E3AAE"/>
          </a:solidFill>
          <a:ln w="12700">
            <a:solidFill>
              <a:srgbClr val="3E3AA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1887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项目概览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项目概览</a:t>
            </a:r>
            <a:endParaRPr lang="zh-CN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10652760" cy="0"/>
          </a:xfrm>
          <a:prstGeom prst="line">
            <a:avLst/>
          </a:prstGeom>
          <a:noFill/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7620">
            <a:solidFill>
              <a:srgbClr val="B8B8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2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来源：示例项目商业计划书（脱敏）、项目档案（脱敏验收数据）　|　资料截止：2026-07-24</a:t>
            </a:r>
            <a:endParaRPr lang="zh-CN" sz="72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0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zh-CN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10744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45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项目概览按照 docs 中可编辑主样本提炼的章节结构生成。</a:t>
            </a:r>
            <a:endParaRPr lang="zh-CN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084832"/>
            <a:ext cx="1024128" cy="292608"/>
          </a:xfrm>
          <a:prstGeom prst="rect">
            <a:avLst/>
          </a:prstGeom>
          <a:solidFill>
            <a:srgbClr val="EBEBFF"/>
          </a:solidFill>
          <a:ln w="7620">
            <a:solidFill>
              <a:srgbClr val="625F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144268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资料记载</a:t>
            </a:r>
            <a:endParaRPr lang="zh-CN" sz="850" dirty="0"/>
          </a:p>
        </p:txBody>
      </p:sp>
      <p:sp>
        <p:nvSpPr>
          <p:cNvPr id="12" name="Text 10"/>
          <p:cNvSpPr/>
          <p:nvPr/>
        </p:nvSpPr>
        <p:spPr>
          <a:xfrm>
            <a:off x="1993392" y="2048256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本节已根据脱敏项目档案与样本证据整理；第 2 项事实须回到原始资料复核。</a:t>
            </a:r>
            <a:endParaRPr lang="zh-CN" sz="1150" dirty="0"/>
          </a:p>
        </p:txBody>
      </p:sp>
      <p:sp>
        <p:nvSpPr>
          <p:cNvPr id="13" name="Text 11"/>
          <p:cNvSpPr/>
          <p:nvPr/>
        </p:nvSpPr>
        <p:spPr>
          <a:xfrm>
            <a:off x="1993392" y="2560320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4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来源：示例项目商业计划书（脱敏）</a:t>
            </a:r>
            <a:endParaRPr lang="zh-CN" sz="740" dirty="0"/>
          </a:p>
        </p:txBody>
      </p:sp>
      <p:sp>
        <p:nvSpPr>
          <p:cNvPr id="14" name="Shape 12"/>
          <p:cNvSpPr/>
          <p:nvPr/>
        </p:nvSpPr>
        <p:spPr>
          <a:xfrm>
            <a:off x="731520" y="2944368"/>
            <a:ext cx="1024128" cy="292608"/>
          </a:xfrm>
          <a:prstGeom prst="rect">
            <a:avLst/>
          </a:prstGeom>
          <a:solidFill>
            <a:srgbClr val="EEF4FB"/>
          </a:solidFill>
          <a:ln w="7620">
            <a:solidFill>
              <a:srgbClr val="1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003804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1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AI推断</a:t>
            </a:r>
            <a:endParaRPr lang="zh-CN" sz="850" dirty="0"/>
          </a:p>
        </p:txBody>
      </p:sp>
      <p:sp>
        <p:nvSpPr>
          <p:cNvPr id="16" name="Text 14"/>
          <p:cNvSpPr/>
          <p:nvPr/>
        </p:nvSpPr>
        <p:spPr>
          <a:xfrm>
            <a:off x="1993392" y="2907792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基于现有证据形成的分析判断不等同于经审计事实，投资团队应完成交叉验证。</a:t>
            </a:r>
            <a:endParaRPr lang="zh-CN" sz="1150" dirty="0"/>
          </a:p>
        </p:txBody>
      </p:sp>
      <p:sp>
        <p:nvSpPr>
          <p:cNvPr id="17" name="Text 15"/>
          <p:cNvSpPr/>
          <p:nvPr/>
        </p:nvSpPr>
        <p:spPr>
          <a:xfrm>
            <a:off x="1993392" y="3419856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4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来源：项目档案（脱敏验收数据）、示例项目商业计划书（脱敏）</a:t>
            </a:r>
            <a:endParaRPr lang="zh-CN" sz="740" dirty="0"/>
          </a:p>
        </p:txBody>
      </p:sp>
      <p:sp>
        <p:nvSpPr>
          <p:cNvPr id="18" name="Shape 16"/>
          <p:cNvSpPr/>
          <p:nvPr/>
        </p:nvSpPr>
        <p:spPr>
          <a:xfrm>
            <a:off x="731520" y="3803904"/>
            <a:ext cx="1024128" cy="292608"/>
          </a:xfrm>
          <a:prstGeom prst="rect">
            <a:avLst/>
          </a:prstGeom>
          <a:solidFill>
            <a:srgbClr val="FDECEC"/>
          </a:solidFill>
          <a:ln w="7620">
            <a:solidFill>
              <a:srgbClr val="A13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863340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A13B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资料缺口</a:t>
            </a:r>
            <a:endParaRPr lang="zh-CN" sz="850" dirty="0"/>
          </a:p>
        </p:txBody>
      </p:sp>
      <p:sp>
        <p:nvSpPr>
          <p:cNvPr id="20" name="Text 18"/>
          <p:cNvSpPr/>
          <p:nvPr/>
        </p:nvSpPr>
        <p:spPr>
          <a:xfrm>
            <a:off x="1993392" y="3767328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合同、财务、客户及法律资质原件尚未在本次脱敏验收数据中提供。</a:t>
            </a:r>
            <a:endParaRPr lang="zh-CN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74520" cy="475488"/>
          </a:xfrm>
          <a:prstGeom prst="parallelogram">
            <a:avLst/>
          </a:prstGeom>
          <a:solidFill>
            <a:srgbClr val="3E3AAE"/>
          </a:solidFill>
          <a:ln w="12700">
            <a:solidFill>
              <a:srgbClr val="3E3AA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1887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行业研究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行业与市场</a:t>
            </a:r>
            <a:endParaRPr lang="zh-CN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10652760" cy="0"/>
          </a:xfrm>
          <a:prstGeom prst="line">
            <a:avLst/>
          </a:prstGeom>
          <a:noFill/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7620">
            <a:solidFill>
              <a:srgbClr val="B8B8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2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来源：管理层访谈纪要（脱敏）、项目档案（脱敏验收数据）、示例项目商业计划书（脱敏）　|　资料截止：2026-07-24</a:t>
            </a:r>
            <a:endParaRPr lang="zh-CN" sz="72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0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zh-CN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10744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45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行业与市场按照 docs 中可编辑主样本提炼的章节结构生成。</a:t>
            </a:r>
            <a:endParaRPr lang="zh-CN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084832"/>
            <a:ext cx="1024128" cy="292608"/>
          </a:xfrm>
          <a:prstGeom prst="rect">
            <a:avLst/>
          </a:prstGeom>
          <a:solidFill>
            <a:srgbClr val="EBEBFF"/>
          </a:solidFill>
          <a:ln w="7620">
            <a:solidFill>
              <a:srgbClr val="625F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144268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资料记载</a:t>
            </a:r>
            <a:endParaRPr lang="zh-CN" sz="850" dirty="0"/>
          </a:p>
        </p:txBody>
      </p:sp>
      <p:sp>
        <p:nvSpPr>
          <p:cNvPr id="12" name="Text 10"/>
          <p:cNvSpPr/>
          <p:nvPr/>
        </p:nvSpPr>
        <p:spPr>
          <a:xfrm>
            <a:off x="1993392" y="2048256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本节已根据脱敏项目档案与样本证据整理；第 3 项事实须回到原始资料复核。</a:t>
            </a:r>
            <a:endParaRPr lang="zh-CN" sz="1150" dirty="0"/>
          </a:p>
        </p:txBody>
      </p:sp>
      <p:sp>
        <p:nvSpPr>
          <p:cNvPr id="13" name="Text 11"/>
          <p:cNvSpPr/>
          <p:nvPr/>
        </p:nvSpPr>
        <p:spPr>
          <a:xfrm>
            <a:off x="1993392" y="2560320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4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来源：管理层访谈纪要（脱敏）</a:t>
            </a:r>
            <a:endParaRPr lang="zh-CN" sz="740" dirty="0"/>
          </a:p>
        </p:txBody>
      </p:sp>
      <p:sp>
        <p:nvSpPr>
          <p:cNvPr id="14" name="Shape 12"/>
          <p:cNvSpPr/>
          <p:nvPr/>
        </p:nvSpPr>
        <p:spPr>
          <a:xfrm>
            <a:off x="731520" y="2944368"/>
            <a:ext cx="1024128" cy="292608"/>
          </a:xfrm>
          <a:prstGeom prst="rect">
            <a:avLst/>
          </a:prstGeom>
          <a:solidFill>
            <a:srgbClr val="EEF4FB"/>
          </a:solidFill>
          <a:ln w="7620">
            <a:solidFill>
              <a:srgbClr val="1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003804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1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AI推断</a:t>
            </a:r>
            <a:endParaRPr lang="zh-CN" sz="850" dirty="0"/>
          </a:p>
        </p:txBody>
      </p:sp>
      <p:sp>
        <p:nvSpPr>
          <p:cNvPr id="16" name="Text 14"/>
          <p:cNvSpPr/>
          <p:nvPr/>
        </p:nvSpPr>
        <p:spPr>
          <a:xfrm>
            <a:off x="1993392" y="2907792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基于现有证据形成的分析判断不等同于经审计事实，投资团队应完成交叉验证。</a:t>
            </a:r>
            <a:endParaRPr lang="zh-CN" sz="1150" dirty="0"/>
          </a:p>
        </p:txBody>
      </p:sp>
      <p:sp>
        <p:nvSpPr>
          <p:cNvPr id="17" name="Text 15"/>
          <p:cNvSpPr/>
          <p:nvPr/>
        </p:nvSpPr>
        <p:spPr>
          <a:xfrm>
            <a:off x="1993392" y="3419856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4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来源：项目档案（脱敏验收数据）、示例项目商业计划书（脱敏）</a:t>
            </a:r>
            <a:endParaRPr lang="zh-CN" sz="740" dirty="0"/>
          </a:p>
        </p:txBody>
      </p:sp>
      <p:sp>
        <p:nvSpPr>
          <p:cNvPr id="18" name="Shape 16"/>
          <p:cNvSpPr/>
          <p:nvPr/>
        </p:nvSpPr>
        <p:spPr>
          <a:xfrm>
            <a:off x="731520" y="3803904"/>
            <a:ext cx="1024128" cy="292608"/>
          </a:xfrm>
          <a:prstGeom prst="rect">
            <a:avLst/>
          </a:prstGeom>
          <a:solidFill>
            <a:srgbClr val="FFF5D9"/>
          </a:solidFill>
          <a:ln w="7620">
            <a:solidFill>
              <a:srgbClr val="A06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863340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A063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待核验</a:t>
            </a:r>
            <a:endParaRPr lang="zh-CN" sz="850" dirty="0"/>
          </a:p>
        </p:txBody>
      </p:sp>
      <p:sp>
        <p:nvSpPr>
          <p:cNvPr id="20" name="Text 18"/>
          <p:cNvSpPr/>
          <p:nvPr/>
        </p:nvSpPr>
        <p:spPr>
          <a:xfrm>
            <a:off x="1993392" y="3767328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合同、财务、客户及法律资质原件尚未在本次脱敏验收数据中提供。</a:t>
            </a:r>
            <a:endParaRPr lang="zh-CN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74520" cy="475488"/>
          </a:xfrm>
          <a:prstGeom prst="parallelogram">
            <a:avLst/>
          </a:prstGeom>
          <a:solidFill>
            <a:srgbClr val="3E3AAE"/>
          </a:solidFill>
          <a:ln w="12700">
            <a:solidFill>
              <a:srgbClr val="3E3AA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1887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技术分析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产品与技术</a:t>
            </a:r>
            <a:endParaRPr lang="zh-CN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10652760" cy="0"/>
          </a:xfrm>
          <a:prstGeom prst="line">
            <a:avLst/>
          </a:prstGeom>
          <a:noFill/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7620">
            <a:solidFill>
              <a:srgbClr val="B8B8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2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来源：项目档案（脱敏验收数据）、示例项目商业计划书（脱敏）　|　资料截止：2026-07-24</a:t>
            </a:r>
            <a:endParaRPr lang="zh-CN" sz="72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0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zh-CN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10744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45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产品与技术按照 docs 中可编辑主样本提炼的章节结构生成。</a:t>
            </a:r>
            <a:endParaRPr lang="zh-CN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084832"/>
            <a:ext cx="1024128" cy="292608"/>
          </a:xfrm>
          <a:prstGeom prst="rect">
            <a:avLst/>
          </a:prstGeom>
          <a:solidFill>
            <a:srgbClr val="EBEBFF"/>
          </a:solidFill>
          <a:ln w="7620">
            <a:solidFill>
              <a:srgbClr val="625F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144268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资料记载</a:t>
            </a:r>
            <a:endParaRPr lang="zh-CN" sz="850" dirty="0"/>
          </a:p>
        </p:txBody>
      </p:sp>
      <p:sp>
        <p:nvSpPr>
          <p:cNvPr id="12" name="Text 10"/>
          <p:cNvSpPr/>
          <p:nvPr/>
        </p:nvSpPr>
        <p:spPr>
          <a:xfrm>
            <a:off x="1993392" y="2048256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本节已根据脱敏项目档案与样本证据整理；第 4 项事实须回到原始资料复核。</a:t>
            </a:r>
            <a:endParaRPr lang="zh-CN" sz="1150" dirty="0"/>
          </a:p>
        </p:txBody>
      </p:sp>
      <p:sp>
        <p:nvSpPr>
          <p:cNvPr id="13" name="Text 11"/>
          <p:cNvSpPr/>
          <p:nvPr/>
        </p:nvSpPr>
        <p:spPr>
          <a:xfrm>
            <a:off x="1993392" y="2560320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4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来源：项目档案（脱敏验收数据）</a:t>
            </a:r>
            <a:endParaRPr lang="zh-CN" sz="740" dirty="0"/>
          </a:p>
        </p:txBody>
      </p:sp>
      <p:sp>
        <p:nvSpPr>
          <p:cNvPr id="14" name="Shape 12"/>
          <p:cNvSpPr/>
          <p:nvPr/>
        </p:nvSpPr>
        <p:spPr>
          <a:xfrm>
            <a:off x="731520" y="2944368"/>
            <a:ext cx="1024128" cy="292608"/>
          </a:xfrm>
          <a:prstGeom prst="rect">
            <a:avLst/>
          </a:prstGeom>
          <a:solidFill>
            <a:srgbClr val="EEF4FB"/>
          </a:solidFill>
          <a:ln w="7620">
            <a:solidFill>
              <a:srgbClr val="1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003804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1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AI推断</a:t>
            </a:r>
            <a:endParaRPr lang="zh-CN" sz="850" dirty="0"/>
          </a:p>
        </p:txBody>
      </p:sp>
      <p:sp>
        <p:nvSpPr>
          <p:cNvPr id="16" name="Text 14"/>
          <p:cNvSpPr/>
          <p:nvPr/>
        </p:nvSpPr>
        <p:spPr>
          <a:xfrm>
            <a:off x="1993392" y="2907792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基于现有证据形成的分析判断不等同于经审计事实，投资团队应完成交叉验证。</a:t>
            </a:r>
            <a:endParaRPr lang="zh-CN" sz="1150" dirty="0"/>
          </a:p>
        </p:txBody>
      </p:sp>
      <p:sp>
        <p:nvSpPr>
          <p:cNvPr id="17" name="Text 15"/>
          <p:cNvSpPr/>
          <p:nvPr/>
        </p:nvSpPr>
        <p:spPr>
          <a:xfrm>
            <a:off x="1993392" y="3419856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4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来源：项目档案（脱敏验收数据）、示例项目商业计划书（脱敏）</a:t>
            </a:r>
            <a:endParaRPr lang="zh-CN" sz="740" dirty="0"/>
          </a:p>
        </p:txBody>
      </p:sp>
      <p:sp>
        <p:nvSpPr>
          <p:cNvPr id="18" name="Shape 16"/>
          <p:cNvSpPr/>
          <p:nvPr/>
        </p:nvSpPr>
        <p:spPr>
          <a:xfrm>
            <a:off x="731520" y="3803904"/>
            <a:ext cx="1024128" cy="292608"/>
          </a:xfrm>
          <a:prstGeom prst="rect">
            <a:avLst/>
          </a:prstGeom>
          <a:solidFill>
            <a:srgbClr val="FDECEC"/>
          </a:solidFill>
          <a:ln w="7620">
            <a:solidFill>
              <a:srgbClr val="A13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863340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A13B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资料缺口</a:t>
            </a:r>
            <a:endParaRPr lang="zh-CN" sz="850" dirty="0"/>
          </a:p>
        </p:txBody>
      </p:sp>
      <p:sp>
        <p:nvSpPr>
          <p:cNvPr id="20" name="Text 18"/>
          <p:cNvSpPr/>
          <p:nvPr/>
        </p:nvSpPr>
        <p:spPr>
          <a:xfrm>
            <a:off x="1993392" y="3767328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合同、财务、客户及法律资质原件尚未在本次脱敏验收数据中提供。</a:t>
            </a:r>
            <a:endParaRPr lang="zh-CN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74520" cy="475488"/>
          </a:xfrm>
          <a:prstGeom prst="parallelogram">
            <a:avLst/>
          </a:prstGeom>
          <a:solidFill>
            <a:srgbClr val="3E3AAE"/>
          </a:solidFill>
          <a:ln w="12700">
            <a:solidFill>
              <a:srgbClr val="3E3AA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1887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项目概览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商业模式与客户</a:t>
            </a:r>
            <a:endParaRPr lang="zh-CN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10652760" cy="0"/>
          </a:xfrm>
          <a:prstGeom prst="line">
            <a:avLst/>
          </a:prstGeom>
          <a:noFill/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7620">
            <a:solidFill>
              <a:srgbClr val="B8B8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2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来源：示例项目商业计划书（脱敏）、项目档案（脱敏验收数据）　|　资料截止：2026-07-24</a:t>
            </a:r>
            <a:endParaRPr lang="zh-CN" sz="72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0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zh-CN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10744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45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商业模式与客户按照 docs 中可编辑主样本提炼的章节结构生成。</a:t>
            </a:r>
            <a:endParaRPr lang="zh-CN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084832"/>
            <a:ext cx="1024128" cy="292608"/>
          </a:xfrm>
          <a:prstGeom prst="rect">
            <a:avLst/>
          </a:prstGeom>
          <a:solidFill>
            <a:srgbClr val="EBEBFF"/>
          </a:solidFill>
          <a:ln w="7620">
            <a:solidFill>
              <a:srgbClr val="625F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144268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资料记载</a:t>
            </a:r>
            <a:endParaRPr lang="zh-CN" sz="850" dirty="0"/>
          </a:p>
        </p:txBody>
      </p:sp>
      <p:sp>
        <p:nvSpPr>
          <p:cNvPr id="12" name="Text 10"/>
          <p:cNvSpPr/>
          <p:nvPr/>
        </p:nvSpPr>
        <p:spPr>
          <a:xfrm>
            <a:off x="1993392" y="2048256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本节已根据脱敏项目档案与样本证据整理；第 5 项事实须回到原始资料复核。</a:t>
            </a:r>
            <a:endParaRPr lang="zh-CN" sz="1150" dirty="0"/>
          </a:p>
        </p:txBody>
      </p:sp>
      <p:sp>
        <p:nvSpPr>
          <p:cNvPr id="13" name="Text 11"/>
          <p:cNvSpPr/>
          <p:nvPr/>
        </p:nvSpPr>
        <p:spPr>
          <a:xfrm>
            <a:off x="1993392" y="2560320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4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来源：示例项目商业计划书（脱敏）</a:t>
            </a:r>
            <a:endParaRPr lang="zh-CN" sz="740" dirty="0"/>
          </a:p>
        </p:txBody>
      </p:sp>
      <p:sp>
        <p:nvSpPr>
          <p:cNvPr id="14" name="Shape 12"/>
          <p:cNvSpPr/>
          <p:nvPr/>
        </p:nvSpPr>
        <p:spPr>
          <a:xfrm>
            <a:off x="731520" y="2944368"/>
            <a:ext cx="1024128" cy="292608"/>
          </a:xfrm>
          <a:prstGeom prst="rect">
            <a:avLst/>
          </a:prstGeom>
          <a:solidFill>
            <a:srgbClr val="EEF4FB"/>
          </a:solidFill>
          <a:ln w="7620">
            <a:solidFill>
              <a:srgbClr val="1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003804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1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AI推断</a:t>
            </a:r>
            <a:endParaRPr lang="zh-CN" sz="850" dirty="0"/>
          </a:p>
        </p:txBody>
      </p:sp>
      <p:sp>
        <p:nvSpPr>
          <p:cNvPr id="16" name="Text 14"/>
          <p:cNvSpPr/>
          <p:nvPr/>
        </p:nvSpPr>
        <p:spPr>
          <a:xfrm>
            <a:off x="1993392" y="2907792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基于现有证据形成的分析判断不等同于经审计事实，投资团队应完成交叉验证。</a:t>
            </a:r>
            <a:endParaRPr lang="zh-CN" sz="1150" dirty="0"/>
          </a:p>
        </p:txBody>
      </p:sp>
      <p:sp>
        <p:nvSpPr>
          <p:cNvPr id="17" name="Text 15"/>
          <p:cNvSpPr/>
          <p:nvPr/>
        </p:nvSpPr>
        <p:spPr>
          <a:xfrm>
            <a:off x="1993392" y="3419856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4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来源：项目档案（脱敏验收数据）、示例项目商业计划书（脱敏）</a:t>
            </a:r>
            <a:endParaRPr lang="zh-CN" sz="740" dirty="0"/>
          </a:p>
        </p:txBody>
      </p:sp>
      <p:sp>
        <p:nvSpPr>
          <p:cNvPr id="18" name="Shape 16"/>
          <p:cNvSpPr/>
          <p:nvPr/>
        </p:nvSpPr>
        <p:spPr>
          <a:xfrm>
            <a:off x="731520" y="3803904"/>
            <a:ext cx="1024128" cy="292608"/>
          </a:xfrm>
          <a:prstGeom prst="rect">
            <a:avLst/>
          </a:prstGeom>
          <a:solidFill>
            <a:srgbClr val="FFF5D9"/>
          </a:solidFill>
          <a:ln w="7620">
            <a:solidFill>
              <a:srgbClr val="A06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863340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A063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待核验</a:t>
            </a:r>
            <a:endParaRPr lang="zh-CN" sz="850" dirty="0"/>
          </a:p>
        </p:txBody>
      </p:sp>
      <p:sp>
        <p:nvSpPr>
          <p:cNvPr id="20" name="Text 18"/>
          <p:cNvSpPr/>
          <p:nvPr/>
        </p:nvSpPr>
        <p:spPr>
          <a:xfrm>
            <a:off x="1993392" y="3767328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合同、财务、客户及法律资质原件尚未在本次脱敏验收数据中提供。</a:t>
            </a:r>
            <a:endParaRPr lang="zh-CN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74520" cy="475488"/>
          </a:xfrm>
          <a:prstGeom prst="parallelogram">
            <a:avLst/>
          </a:prstGeom>
          <a:solidFill>
            <a:srgbClr val="3E3AAE"/>
          </a:solidFill>
          <a:ln w="12700">
            <a:solidFill>
              <a:srgbClr val="3E3AA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1887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项目分析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endParaRPr lang="zh-CN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10652760" cy="0"/>
          </a:xfrm>
          <a:prstGeom prst="line">
            <a:avLst/>
          </a:prstGeom>
          <a:noFill/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7620">
            <a:solidFill>
              <a:srgbClr val="B8B8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2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来源：管理层访谈纪要（脱敏）、项目档案（脱敏验收数据）、示例项目商业计划书（脱敏）　|　资料截止：2026-07-24</a:t>
            </a:r>
            <a:endParaRPr lang="zh-CN" sz="72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0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zh-CN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10744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45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团队按照 docs 中可编辑主样本提炼的章节结构生成。</a:t>
            </a:r>
            <a:endParaRPr lang="zh-CN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084832"/>
            <a:ext cx="1024128" cy="292608"/>
          </a:xfrm>
          <a:prstGeom prst="rect">
            <a:avLst/>
          </a:prstGeom>
          <a:solidFill>
            <a:srgbClr val="EBEBFF"/>
          </a:solidFill>
          <a:ln w="7620">
            <a:solidFill>
              <a:srgbClr val="625F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144268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资料记载</a:t>
            </a:r>
            <a:endParaRPr lang="zh-CN" sz="850" dirty="0"/>
          </a:p>
        </p:txBody>
      </p:sp>
      <p:sp>
        <p:nvSpPr>
          <p:cNvPr id="12" name="Text 10"/>
          <p:cNvSpPr/>
          <p:nvPr/>
        </p:nvSpPr>
        <p:spPr>
          <a:xfrm>
            <a:off x="1993392" y="2048256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本节已根据脱敏项目档案与样本证据整理；第 6 项事实须回到原始资料复核。</a:t>
            </a:r>
            <a:endParaRPr lang="zh-CN" sz="1150" dirty="0"/>
          </a:p>
        </p:txBody>
      </p:sp>
      <p:sp>
        <p:nvSpPr>
          <p:cNvPr id="13" name="Text 11"/>
          <p:cNvSpPr/>
          <p:nvPr/>
        </p:nvSpPr>
        <p:spPr>
          <a:xfrm>
            <a:off x="1993392" y="2560320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4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来源：管理层访谈纪要（脱敏）</a:t>
            </a:r>
            <a:endParaRPr lang="zh-CN" sz="740" dirty="0"/>
          </a:p>
        </p:txBody>
      </p:sp>
      <p:sp>
        <p:nvSpPr>
          <p:cNvPr id="14" name="Shape 12"/>
          <p:cNvSpPr/>
          <p:nvPr/>
        </p:nvSpPr>
        <p:spPr>
          <a:xfrm>
            <a:off x="731520" y="2944368"/>
            <a:ext cx="1024128" cy="292608"/>
          </a:xfrm>
          <a:prstGeom prst="rect">
            <a:avLst/>
          </a:prstGeom>
          <a:solidFill>
            <a:srgbClr val="EEF4FB"/>
          </a:solidFill>
          <a:ln w="7620">
            <a:solidFill>
              <a:srgbClr val="1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003804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1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AI推断</a:t>
            </a:r>
            <a:endParaRPr lang="zh-CN" sz="850" dirty="0"/>
          </a:p>
        </p:txBody>
      </p:sp>
      <p:sp>
        <p:nvSpPr>
          <p:cNvPr id="16" name="Text 14"/>
          <p:cNvSpPr/>
          <p:nvPr/>
        </p:nvSpPr>
        <p:spPr>
          <a:xfrm>
            <a:off x="1993392" y="2907792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基于现有证据形成的分析判断不等同于经审计事实，投资团队应完成交叉验证。</a:t>
            </a:r>
            <a:endParaRPr lang="zh-CN" sz="1150" dirty="0"/>
          </a:p>
        </p:txBody>
      </p:sp>
      <p:sp>
        <p:nvSpPr>
          <p:cNvPr id="17" name="Text 15"/>
          <p:cNvSpPr/>
          <p:nvPr/>
        </p:nvSpPr>
        <p:spPr>
          <a:xfrm>
            <a:off x="1993392" y="3419856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4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来源：项目档案（脱敏验收数据）、示例项目商业计划书（脱敏）</a:t>
            </a:r>
            <a:endParaRPr lang="zh-CN" sz="740" dirty="0"/>
          </a:p>
        </p:txBody>
      </p:sp>
      <p:sp>
        <p:nvSpPr>
          <p:cNvPr id="18" name="Shape 16"/>
          <p:cNvSpPr/>
          <p:nvPr/>
        </p:nvSpPr>
        <p:spPr>
          <a:xfrm>
            <a:off x="731520" y="3803904"/>
            <a:ext cx="1024128" cy="292608"/>
          </a:xfrm>
          <a:prstGeom prst="rect">
            <a:avLst/>
          </a:prstGeom>
          <a:solidFill>
            <a:srgbClr val="FDECEC"/>
          </a:solidFill>
          <a:ln w="7620">
            <a:solidFill>
              <a:srgbClr val="A13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863340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A13B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资料缺口</a:t>
            </a:r>
            <a:endParaRPr lang="zh-CN" sz="850" dirty="0"/>
          </a:p>
        </p:txBody>
      </p:sp>
      <p:sp>
        <p:nvSpPr>
          <p:cNvPr id="20" name="Text 18"/>
          <p:cNvSpPr/>
          <p:nvPr/>
        </p:nvSpPr>
        <p:spPr>
          <a:xfrm>
            <a:off x="1993392" y="3767328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合同、财务、客户及法律资质原件尚未在本次脱敏验收数据中提供。</a:t>
            </a:r>
            <a:endParaRPr lang="zh-CN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74520" cy="475488"/>
          </a:xfrm>
          <a:prstGeom prst="parallelogram">
            <a:avLst/>
          </a:prstGeom>
          <a:solidFill>
            <a:srgbClr val="3E3AAE"/>
          </a:solidFill>
          <a:ln w="12700">
            <a:solidFill>
              <a:srgbClr val="3E3AA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1887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行业研究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竞争分析</a:t>
            </a:r>
            <a:endParaRPr lang="zh-CN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10652760" cy="0"/>
          </a:xfrm>
          <a:prstGeom prst="line">
            <a:avLst/>
          </a:prstGeom>
          <a:noFill/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7620">
            <a:solidFill>
              <a:srgbClr val="B8B8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2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来源：项目档案（脱敏验收数据）、示例项目商业计划书（脱敏）　|　资料截止：2026-07-24</a:t>
            </a:r>
            <a:endParaRPr lang="zh-CN" sz="72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0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zh-CN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10744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45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竞争分析按照 docs 中可编辑主样本提炼的章节结构生成。</a:t>
            </a:r>
            <a:endParaRPr lang="zh-CN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084832"/>
            <a:ext cx="1024128" cy="292608"/>
          </a:xfrm>
          <a:prstGeom prst="rect">
            <a:avLst/>
          </a:prstGeom>
          <a:solidFill>
            <a:srgbClr val="EBEBFF"/>
          </a:solidFill>
          <a:ln w="7620">
            <a:solidFill>
              <a:srgbClr val="625F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144268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资料记载</a:t>
            </a:r>
            <a:endParaRPr lang="zh-CN" sz="850" dirty="0"/>
          </a:p>
        </p:txBody>
      </p:sp>
      <p:sp>
        <p:nvSpPr>
          <p:cNvPr id="12" name="Text 10"/>
          <p:cNvSpPr/>
          <p:nvPr/>
        </p:nvSpPr>
        <p:spPr>
          <a:xfrm>
            <a:off x="1993392" y="2048256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本节已根据脱敏项目档案与样本证据整理；第 7 项事实须回到原始资料复核。</a:t>
            </a:r>
            <a:endParaRPr lang="zh-CN" sz="1150" dirty="0"/>
          </a:p>
        </p:txBody>
      </p:sp>
      <p:sp>
        <p:nvSpPr>
          <p:cNvPr id="13" name="Text 11"/>
          <p:cNvSpPr/>
          <p:nvPr/>
        </p:nvSpPr>
        <p:spPr>
          <a:xfrm>
            <a:off x="1993392" y="2560320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4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来源：项目档案（脱敏验收数据）</a:t>
            </a:r>
            <a:endParaRPr lang="zh-CN" sz="740" dirty="0"/>
          </a:p>
        </p:txBody>
      </p:sp>
      <p:sp>
        <p:nvSpPr>
          <p:cNvPr id="14" name="Shape 12"/>
          <p:cNvSpPr/>
          <p:nvPr/>
        </p:nvSpPr>
        <p:spPr>
          <a:xfrm>
            <a:off x="731520" y="2944368"/>
            <a:ext cx="1024128" cy="292608"/>
          </a:xfrm>
          <a:prstGeom prst="rect">
            <a:avLst/>
          </a:prstGeom>
          <a:solidFill>
            <a:srgbClr val="EEF4FB"/>
          </a:solidFill>
          <a:ln w="7620">
            <a:solidFill>
              <a:srgbClr val="1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003804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1B5E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AI推断</a:t>
            </a:r>
            <a:endParaRPr lang="zh-CN" sz="850" dirty="0"/>
          </a:p>
        </p:txBody>
      </p:sp>
      <p:sp>
        <p:nvSpPr>
          <p:cNvPr id="16" name="Text 14"/>
          <p:cNvSpPr/>
          <p:nvPr/>
        </p:nvSpPr>
        <p:spPr>
          <a:xfrm>
            <a:off x="1993392" y="2907792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基于现有证据形成的分析判断不等同于经审计事实，投资团队应完成交叉验证。</a:t>
            </a:r>
            <a:endParaRPr lang="zh-CN" sz="1150" dirty="0"/>
          </a:p>
        </p:txBody>
      </p:sp>
      <p:sp>
        <p:nvSpPr>
          <p:cNvPr id="17" name="Text 15"/>
          <p:cNvSpPr/>
          <p:nvPr/>
        </p:nvSpPr>
        <p:spPr>
          <a:xfrm>
            <a:off x="1993392" y="3419856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4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来源：项目档案（脱敏验收数据）、示例项目商业计划书（脱敏）</a:t>
            </a:r>
            <a:endParaRPr lang="zh-CN" sz="740" dirty="0"/>
          </a:p>
        </p:txBody>
      </p:sp>
      <p:sp>
        <p:nvSpPr>
          <p:cNvPr id="18" name="Shape 16"/>
          <p:cNvSpPr/>
          <p:nvPr/>
        </p:nvSpPr>
        <p:spPr>
          <a:xfrm>
            <a:off x="731520" y="3803904"/>
            <a:ext cx="1024128" cy="292608"/>
          </a:xfrm>
          <a:prstGeom prst="rect">
            <a:avLst/>
          </a:prstGeom>
          <a:solidFill>
            <a:srgbClr val="FFF5D9"/>
          </a:solidFill>
          <a:ln w="7620">
            <a:solidFill>
              <a:srgbClr val="A06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863340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dirty="0">
                <a:solidFill>
                  <a:srgbClr val="A063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待核验</a:t>
            </a:r>
            <a:endParaRPr lang="zh-CN" sz="850" dirty="0"/>
          </a:p>
        </p:txBody>
      </p:sp>
      <p:sp>
        <p:nvSpPr>
          <p:cNvPr id="20" name="Text 18"/>
          <p:cNvSpPr/>
          <p:nvPr/>
        </p:nvSpPr>
        <p:spPr>
          <a:xfrm>
            <a:off x="1993392" y="3767328"/>
            <a:ext cx="8915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合同、财务、客户及法律资质原件尚未在本次脱敏验收数据中提供。</a:t>
            </a:r>
            <a:endParaRPr lang="zh-CN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74520" cy="475488"/>
          </a:xfrm>
          <a:prstGeom prst="parallelogram">
            <a:avLst/>
          </a:prstGeom>
          <a:solidFill>
            <a:srgbClr val="3E3AAE"/>
          </a:solidFill>
          <a:ln w="12700">
            <a:solidFill>
              <a:srgbClr val="3E3AA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1887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投资结论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投资判断仍取决于关键证据闭环</a:t>
            </a:r>
            <a:endParaRPr lang="zh-CN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10652760" cy="0"/>
          </a:xfrm>
          <a:prstGeom prst="line">
            <a:avLst/>
          </a:prstGeom>
          <a:noFill/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7620">
            <a:solidFill>
              <a:srgbClr val="B8B8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altLang="en-US" sz="72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来源：项目档案与已授权资料　|　资料截止：2026-07-24</a:t>
            </a:r>
            <a:endParaRPr lang="zh-CN" sz="72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00" dirty="0">
                <a:solidFill>
                  <a:srgbClr val="777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zh-CN" sz="800" dirty="0"/>
          </a:p>
        </p:txBody>
      </p:sp>
      <p:sp>
        <p:nvSpPr>
          <p:cNvPr id="9" name="Shape 7"/>
          <p:cNvSpPr/>
          <p:nvPr/>
        </p:nvSpPr>
        <p:spPr>
          <a:xfrm>
            <a:off x="713232" y="1572768"/>
            <a:ext cx="3401568" cy="4251960"/>
          </a:xfrm>
          <a:prstGeom prst="rect">
            <a:avLst/>
          </a:prstGeom>
          <a:solidFill>
            <a:srgbClr val="F2F8F4"/>
          </a:solidFill>
          <a:ln w="10160">
            <a:solidFill>
              <a:srgbClr val="C9C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8470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226B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投资亮点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2788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CN" altLang="en-US" sz="108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产品定位较清晰，但商业证据仍需补强</a:t>
            </a:r>
            <a:endParaRPr lang="zh-CN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CN" altLang="en-US" sz="108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业务模式具备可讨论基础，尚不能作为已核验结论</a:t>
            </a:r>
            <a:endParaRPr lang="zh-CN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CN" altLang="en-US" sz="108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任务产物保留模板版本和来源定位</a:t>
            </a:r>
            <a:endParaRPr lang="zh-CN" sz="1080" dirty="0"/>
          </a:p>
        </p:txBody>
      </p:sp>
      <p:sp>
        <p:nvSpPr>
          <p:cNvPr id="12" name="Shape 10"/>
          <p:cNvSpPr/>
          <p:nvPr/>
        </p:nvSpPr>
        <p:spPr>
          <a:xfrm>
            <a:off x="4507992" y="1572768"/>
            <a:ext cx="3401568" cy="4251960"/>
          </a:xfrm>
          <a:prstGeom prst="rect">
            <a:avLst/>
          </a:prstGeom>
          <a:solidFill>
            <a:srgbClr val="FBF2F2"/>
          </a:solidFill>
          <a:ln w="10160">
            <a:solidFill>
              <a:srgbClr val="C9C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8470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9B3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主要风险</a:t>
            </a:r>
            <a:endParaRPr lang="zh-CN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2788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CN" altLang="en-US" sz="108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关键财务及客户数据尚未经独立核验</a:t>
            </a:r>
            <a:endParaRPr lang="zh-CN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CN" altLang="en-US" sz="108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法律合规结论必须由法务审核</a:t>
            </a:r>
            <a:endParaRPr lang="zh-CN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CN" altLang="en-US" sz="108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模型生成内容不得替代最终投资决策</a:t>
            </a:r>
            <a:endParaRPr lang="zh-CN" sz="1080" dirty="0"/>
          </a:p>
        </p:txBody>
      </p:sp>
      <p:sp>
        <p:nvSpPr>
          <p:cNvPr id="15" name="Shape 13"/>
          <p:cNvSpPr/>
          <p:nvPr/>
        </p:nvSpPr>
        <p:spPr>
          <a:xfrm>
            <a:off x="8302752" y="1572768"/>
            <a:ext cx="3401568" cy="4251960"/>
          </a:xfrm>
          <a:prstGeom prst="rect">
            <a:avLst/>
          </a:prstGeom>
          <a:solidFill>
            <a:srgbClr val="FFF8E8"/>
          </a:solidFill>
          <a:ln w="10160">
            <a:solidFill>
              <a:srgbClr val="C9C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31352" y="18470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9A62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资料缺口</a:t>
            </a:r>
            <a:endParaRPr lang="zh-CN" sz="1400" dirty="0"/>
          </a:p>
        </p:txBody>
      </p:sp>
      <p:sp>
        <p:nvSpPr>
          <p:cNvPr id="17" name="Text 15"/>
          <p:cNvSpPr/>
          <p:nvPr/>
        </p:nvSpPr>
        <p:spPr>
          <a:xfrm>
            <a:off x="8549640" y="2331720"/>
            <a:ext cx="2788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CN" altLang="en-US" sz="108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审计口径财务底稿</a:t>
            </a:r>
            <a:endParaRPr lang="zh-CN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CN" altLang="en-US" sz="108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核心客户合同及访谈记录</a:t>
            </a:r>
            <a:endParaRPr lang="zh-CN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CN" altLang="en-US" sz="1080" dirty="0">
                <a:solidFill>
                  <a:srgbClr val="202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工商、知识产权及合规原件</a:t>
            </a:r>
            <a:endParaRPr lang="zh-CN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1097280" cy="3108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09728"/>
            <a:ext cx="384048" cy="31089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94960"/>
            <a:ext cx="12188952" cy="14630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383280" y="22402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3000" b="1" dirty="0">
                <a:solidFill>
                  <a:srgbClr val="3E3A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谢谢观看！</a:t>
            </a:r>
            <a:endParaRPr lang="zh-CN" sz="3000" dirty="0"/>
          </a:p>
        </p:txBody>
      </p:sp>
      <p:sp>
        <p:nvSpPr>
          <p:cNvPr id="6" name="Text 1"/>
          <p:cNvSpPr/>
          <p:nvPr/>
        </p:nvSpPr>
        <p:spPr>
          <a:xfrm>
            <a:off x="2880360" y="3154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00" dirty="0">
                <a:solidFill>
                  <a:srgbClr val="5555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本演示文稿由 AI 基于已授权资料生成，仅供内部讨论，不构成最终投资决策。</a:t>
            </a:r>
            <a:endParaRPr lang="zh-CN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浙江赛智伯乐股权投资管理有限公司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业务验收示例项目投资建议书（PPT）</dc:title>
  <dc:subject>业务验收示例项目投资建议书</dc:subject>
  <dc:creator>浙江赛智伯乐股权投资管理有限公司投资中台</dc:creator>
  <cp:lastModifiedBy>浙江赛智伯乐股权投资管理有限公司投资中台</cp:lastModifiedBy>
  <cp:revision>1</cp:revision>
  <dcterms:created xsi:type="dcterms:W3CDTF">2026-07-24T06:34:05Z</dcterms:created>
  <dcterms:modified xsi:type="dcterms:W3CDTF">2026-07-24T06:34:05Z</dcterms:modified>
</cp:coreProperties>
</file>