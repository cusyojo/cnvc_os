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media/image31.svg" ContentType="image/svg+xml"/>
  <Override PartName="/ppt/media/image37.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2.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0.svg" ContentType="image/svg+xml"/>
  <Override PartName="/ppt/media/image82.svg" ContentType="image/svg+xml"/>
  <Override PartName="/ppt/media/image8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41"/>
  </p:handoutMasterIdLst>
  <p:sldIdLst>
    <p:sldId id="550" r:id="rId3"/>
    <p:sldId id="858" r:id="rId5"/>
    <p:sldId id="649" r:id="rId6"/>
    <p:sldId id="868" r:id="rId7"/>
    <p:sldId id="891" r:id="rId8"/>
    <p:sldId id="899" r:id="rId9"/>
    <p:sldId id="894" r:id="rId10"/>
    <p:sldId id="897" r:id="rId11"/>
    <p:sldId id="898" r:id="rId12"/>
    <p:sldId id="895" r:id="rId13"/>
    <p:sldId id="896" r:id="rId14"/>
    <p:sldId id="900" r:id="rId15"/>
    <p:sldId id="901" r:id="rId16"/>
    <p:sldId id="903" r:id="rId17"/>
    <p:sldId id="902" r:id="rId18"/>
    <p:sldId id="904" r:id="rId19"/>
    <p:sldId id="877" r:id="rId20"/>
    <p:sldId id="878" r:id="rId21"/>
    <p:sldId id="880" r:id="rId22"/>
    <p:sldId id="882" r:id="rId23"/>
    <p:sldId id="884" r:id="rId24"/>
    <p:sldId id="883" r:id="rId25"/>
    <p:sldId id="881" r:id="rId26"/>
    <p:sldId id="892" r:id="rId27"/>
    <p:sldId id="885" r:id="rId28"/>
    <p:sldId id="886" r:id="rId29"/>
    <p:sldId id="887" r:id="rId30"/>
    <p:sldId id="888" r:id="rId31"/>
    <p:sldId id="875" r:id="rId32"/>
    <p:sldId id="698" r:id="rId33"/>
    <p:sldId id="893" r:id="rId34"/>
    <p:sldId id="864" r:id="rId35"/>
    <p:sldId id="866" r:id="rId36"/>
    <p:sldId id="855" r:id="rId37"/>
    <p:sldId id="843" r:id="rId38"/>
    <p:sldId id="746" r:id="rId39"/>
    <p:sldId id="863" r:id="rId40"/>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52" userDrawn="1">
          <p15:clr>
            <a:srgbClr val="A4A3A4"/>
          </p15:clr>
        </p15:guide>
        <p15:guide id="2" pos="150" userDrawn="1">
          <p15:clr>
            <a:srgbClr val="A4A3A4"/>
          </p15:clr>
        </p15:guide>
        <p15:guide id="3" orient="horz" pos="170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83810881" name="WPS_1679281038" initials="W" lastIdx="1" clrIdx="2"/>
  <p:cmAuthor id="7" name="lenovo" initials="l" lastIdx="0" clrIdx="6"/>
  <p:cmAuthor id="1" name="Betty Li" initials="BL" lastIdx="1" clrIdx="0"/>
  <p:cmAuthor id="8" name="Cathy.Lv" initials="C" lastIdx="0" clrIdx="7"/>
  <p:cmAuthor id="2" name="Shelley Kong" initials="SK" lastIdx="2" clrIdx="1"/>
  <p:cmAuthor id="9" name="WPS" initials="W" lastIdx="0" clrIdx="8"/>
  <p:cmAuthor id="3" name="Alan Hao ZX" initials="AH" lastIdx="6" clrIdx="2"/>
  <p:cmAuthor id="10" name="作者" initials="A" lastIdx="0" clrIdx="9"/>
  <p:cmAuthor id="4" name="TG MW" initials="E" lastIdx="1" clrIdx="3"/>
  <p:cmAuthor id="6" name="ASUS"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53B5"/>
    <a:srgbClr val="6161E1"/>
    <a:srgbClr val="365483"/>
    <a:srgbClr val="005A9C"/>
    <a:srgbClr val="F7AB2C"/>
    <a:srgbClr val="9E9EEA"/>
    <a:srgbClr val="E67E22"/>
    <a:srgbClr val="777BE3"/>
    <a:srgbClr val="888BEB"/>
    <a:srgbClr val="8080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20" autoAdjust="0"/>
    <p:restoredTop sz="95968" autoAdjust="0"/>
  </p:normalViewPr>
  <p:slideViewPr>
    <p:cSldViewPr snapToGrid="0" showGuides="1">
      <p:cViewPr varScale="1">
        <p:scale>
          <a:sx n="77" d="100"/>
          <a:sy n="77" d="100"/>
        </p:scale>
        <p:origin x="192" y="968"/>
      </p:cViewPr>
      <p:guideLst>
        <p:guide orient="horz" pos="452"/>
        <p:guide pos="150"/>
        <p:guide orient="horz" pos="1708"/>
      </p:guideLst>
    </p:cSldViewPr>
  </p:slideViewPr>
  <p:notesTextViewPr>
    <p:cViewPr>
      <p:scale>
        <a:sx n="3" d="2"/>
        <a:sy n="3" d="2"/>
      </p:scale>
      <p:origin x="0" y="0"/>
    </p:cViewPr>
  </p:notesTextViewPr>
  <p:sorterViewPr>
    <p:cViewPr>
      <p:scale>
        <a:sx n="75" d="100"/>
        <a:sy n="75" d="100"/>
      </p:scale>
      <p:origin x="0" y="0"/>
    </p:cViewPr>
  </p:sorterViewPr>
  <p:notesViewPr>
    <p:cSldViewPr snapToGrid="0">
      <p:cViewPr varScale="1">
        <p:scale>
          <a:sx n="80" d="100"/>
          <a:sy n="80" d="100"/>
        </p:scale>
        <p:origin x="3204"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45.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F9C1A87-648F-4FA3-8298-F7FF69248063}" type="doc">
      <dgm:prSet loTypeId="urn:microsoft.com/office/officeart/2005/8/layout/hProcess9#1" loCatId="process" qsTypeId="urn:microsoft.com/office/officeart/2005/8/quickstyle/simple1#1" qsCatId="simple" csTypeId="urn:microsoft.com/office/officeart/2005/8/colors/accent1_2#1" csCatId="accent1" phldr="1"/>
      <dgm:spPr/>
      <dgm:t>
        <a:bodyPr/>
        <a:lstStyle/>
        <a:p>
          <a:endParaRPr lang="zh-CN" altLang="en-US"/>
        </a:p>
      </dgm:t>
    </dgm:pt>
    <dgm:pt modelId="{220DFBB3-6A2B-48E2-96FE-229E7135E226}">
      <dgm:prSet phldrT="[文本]" phldr="0" custT="0"/>
      <dgm:spPr/>
      <dgm:t>
        <a:bodyPr vert="horz" wrap="square"/>
        <a:lstStyle/>
        <a:p>
          <a:pPr>
            <a:lnSpc>
              <a:spcPct val="100000"/>
            </a:lnSpc>
            <a:spcBef>
              <a:spcPct val="0"/>
            </a:spcBef>
            <a:spcAft>
              <a:spcPct val="35000"/>
            </a:spcAft>
          </a:pPr>
          <a:r>
            <a:rPr lang="en-US" altLang="zh-CN" dirty="0"/>
            <a:t>2020</a:t>
          </a:r>
        </a:p>
      </dgm:t>
    </dgm:pt>
    <dgm:pt modelId="{6799A159-375E-48BE-AABD-9A2FE821DAF2}" cxnId="{64886BA1-48A4-4EFC-B380-4ADDB87D3BFF}" type="parTrans">
      <dgm:prSet/>
      <dgm:spPr/>
      <dgm:t>
        <a:bodyPr/>
        <a:lstStyle/>
        <a:p>
          <a:endParaRPr lang="zh-CN" altLang="en-US"/>
        </a:p>
      </dgm:t>
    </dgm:pt>
    <dgm:pt modelId="{3E8FE182-047D-4DBF-B997-A26D7EF167CE}" cxnId="{64886BA1-48A4-4EFC-B380-4ADDB87D3BFF}" type="sibTrans">
      <dgm:prSet/>
      <dgm:spPr/>
      <dgm:t>
        <a:bodyPr/>
        <a:lstStyle/>
        <a:p>
          <a:endParaRPr lang="zh-CN" altLang="en-US"/>
        </a:p>
      </dgm:t>
    </dgm:pt>
    <dgm:pt modelId="{2BAA06EE-C86F-49AF-99BB-79BA0A7024A5}">
      <dgm:prSet phldrT="[文本]" phldr="0" custT="0"/>
      <dgm:spPr/>
      <dgm:t>
        <a:bodyPr vert="horz" wrap="square"/>
        <a:lstStyle/>
        <a:p>
          <a:pPr>
            <a:lnSpc>
              <a:spcPct val="100000"/>
            </a:lnSpc>
            <a:spcBef>
              <a:spcPct val="0"/>
            </a:spcBef>
            <a:spcAft>
              <a:spcPct val="35000"/>
            </a:spcAft>
          </a:pPr>
          <a:r>
            <a:rPr lang="en-US" altLang="zh-CN"/>
            <a:t>2021</a:t>
          </a:r>
          <a:endParaRPr lang="en-US" altLang="zh-CN" dirty="0"/>
        </a:p>
      </dgm:t>
    </dgm:pt>
    <dgm:pt modelId="{A5CFD625-30CE-461F-8B81-D06F77FA42EF}" cxnId="{A9676F14-5AF6-4149-AB80-83FE2B89E63C}" type="parTrans">
      <dgm:prSet/>
      <dgm:spPr/>
      <dgm:t>
        <a:bodyPr/>
        <a:lstStyle/>
        <a:p>
          <a:endParaRPr lang="zh-CN" altLang="en-US"/>
        </a:p>
      </dgm:t>
    </dgm:pt>
    <dgm:pt modelId="{C409FDE6-5B12-4918-B71D-6D01D512B111}" cxnId="{A9676F14-5AF6-4149-AB80-83FE2B89E63C}" type="sibTrans">
      <dgm:prSet/>
      <dgm:spPr/>
      <dgm:t>
        <a:bodyPr/>
        <a:lstStyle/>
        <a:p>
          <a:endParaRPr lang="zh-CN" altLang="en-US"/>
        </a:p>
      </dgm:t>
    </dgm:pt>
    <dgm:pt modelId="{4551803D-CCA6-4A7B-9BB0-3F77E7AC5D8D}">
      <dgm:prSet phldr="0" custT="0"/>
      <dgm:spPr/>
      <dgm:t>
        <a:bodyPr vert="horz" wrap="square"/>
        <a:lstStyle/>
        <a:p>
          <a:pPr>
            <a:lnSpc>
              <a:spcPct val="100000"/>
            </a:lnSpc>
            <a:spcBef>
              <a:spcPct val="0"/>
            </a:spcBef>
            <a:spcAft>
              <a:spcPct val="35000"/>
            </a:spcAft>
          </a:pPr>
          <a:r>
            <a:rPr>
              <a:sym typeface="+mn-ea"/>
            </a:rPr>
            <a:t>2</a:t>
          </a:r>
          <a:r>
            <a:rPr lang="en-US" altLang="zh-CN">
              <a:sym typeface="+mn-ea"/>
            </a:rPr>
            <a:t>022</a:t>
          </a:r>
          <a:endParaRPr lang="en-US" altLang="zh-CN" dirty="0"/>
        </a:p>
      </dgm:t>
    </dgm:pt>
    <dgm:pt modelId="{4720A562-5510-4856-B71B-88C6DCB10245}" cxnId="{471F8328-2F24-4494-A01D-97BDC1633459}" type="parTrans">
      <dgm:prSet/>
      <dgm:spPr/>
      <dgm:t>
        <a:bodyPr/>
        <a:lstStyle/>
        <a:p>
          <a:endParaRPr lang="zh-CN" altLang="en-US"/>
        </a:p>
      </dgm:t>
    </dgm:pt>
    <dgm:pt modelId="{177823ED-30D7-42AD-B2CD-AEE7C76ADD6E}" cxnId="{471F8328-2F24-4494-A01D-97BDC1633459}" type="sibTrans">
      <dgm:prSet/>
      <dgm:spPr/>
      <dgm:t>
        <a:bodyPr/>
        <a:lstStyle/>
        <a:p>
          <a:endParaRPr lang="zh-CN" altLang="en-US"/>
        </a:p>
      </dgm:t>
    </dgm:pt>
    <dgm:pt modelId="{6AE717F5-CC40-4BD3-ACD2-D3C3D707F3B2}">
      <dgm:prSet phldr="0" custT="0"/>
      <dgm:spPr/>
      <dgm:t>
        <a:bodyPr vert="horz" wrap="square"/>
        <a:lstStyle/>
        <a:p>
          <a:pPr>
            <a:lnSpc>
              <a:spcPct val="100000"/>
            </a:lnSpc>
            <a:spcBef>
              <a:spcPct val="0"/>
            </a:spcBef>
            <a:spcAft>
              <a:spcPct val="35000"/>
            </a:spcAft>
          </a:pPr>
          <a:r>
            <a:rPr dirty="0">
              <a:sym typeface="+mn-ea"/>
            </a:rPr>
            <a:t>2</a:t>
          </a:r>
          <a:r>
            <a:rPr lang="en-US" altLang="zh-CN" dirty="0">
              <a:sym typeface="+mn-ea"/>
            </a:rPr>
            <a:t>023</a:t>
          </a:r>
          <a:endParaRPr lang="en-US" altLang="zh-CN" dirty="0"/>
        </a:p>
      </dgm:t>
    </dgm:pt>
    <dgm:pt modelId="{03C118D9-4001-459A-9601-37E98635A48B}" cxnId="{F16184F6-C623-4F30-BDD4-64D6149FD046}" type="parTrans">
      <dgm:prSet/>
      <dgm:spPr/>
      <dgm:t>
        <a:bodyPr/>
        <a:lstStyle/>
        <a:p>
          <a:endParaRPr lang="zh-CN" altLang="en-US"/>
        </a:p>
      </dgm:t>
    </dgm:pt>
    <dgm:pt modelId="{6CA1D0AF-B4C4-4686-B13E-E68E2F7F895B}" cxnId="{F16184F6-C623-4F30-BDD4-64D6149FD046}" type="sibTrans">
      <dgm:prSet/>
      <dgm:spPr/>
      <dgm:t>
        <a:bodyPr/>
        <a:lstStyle/>
        <a:p>
          <a:endParaRPr lang="zh-CN" altLang="en-US"/>
        </a:p>
      </dgm:t>
    </dgm:pt>
    <dgm:pt modelId="{F3610FD5-CB40-4155-A302-E1ED46CA7965}">
      <dgm:prSet phldrT="[文本]" phldr="0" custT="0"/>
      <dgm:spPr/>
      <dgm:t>
        <a:bodyPr vert="horz" wrap="square"/>
        <a:lstStyle/>
        <a:p>
          <a:pPr>
            <a:lnSpc>
              <a:spcPct val="100000"/>
            </a:lnSpc>
            <a:spcBef>
              <a:spcPct val="0"/>
            </a:spcBef>
            <a:spcAft>
              <a:spcPct val="35000"/>
            </a:spcAft>
          </a:pPr>
          <a:r>
            <a:rPr lang="en-US" altLang="zh-CN"/>
            <a:t>2024</a:t>
          </a:r>
          <a:endParaRPr lang="en-US" altLang="zh-CN" dirty="0"/>
        </a:p>
      </dgm:t>
    </dgm:pt>
    <dgm:pt modelId="{5412155B-9E11-4BF1-82F9-EADF6AFF0F60}" cxnId="{83DDB850-61AF-4265-B1DA-82F661EDCAE3}" type="parTrans">
      <dgm:prSet/>
      <dgm:spPr/>
      <dgm:t>
        <a:bodyPr/>
        <a:lstStyle/>
        <a:p>
          <a:endParaRPr lang="zh-CN" altLang="en-US"/>
        </a:p>
      </dgm:t>
    </dgm:pt>
    <dgm:pt modelId="{0E659347-3E53-4D9E-9630-9B59FF0356FD}" cxnId="{83DDB850-61AF-4265-B1DA-82F661EDCAE3}" type="sibTrans">
      <dgm:prSet/>
      <dgm:spPr/>
      <dgm:t>
        <a:bodyPr/>
        <a:lstStyle/>
        <a:p>
          <a:endParaRPr lang="zh-CN" altLang="en-US"/>
        </a:p>
      </dgm:t>
    </dgm:pt>
    <dgm:pt modelId="{07FCBC87-F5B1-4C5D-B834-DE8D9376C463}">
      <dgm:prSet phldr="0" custT="0"/>
      <dgm:spPr/>
      <dgm:t>
        <a:bodyPr vert="horz" wrap="square"/>
        <a:lstStyle/>
        <a:p>
          <a:pPr>
            <a:lnSpc>
              <a:spcPct val="100000"/>
            </a:lnSpc>
            <a:spcBef>
              <a:spcPct val="0"/>
            </a:spcBef>
            <a:spcAft>
              <a:spcPct val="35000"/>
            </a:spcAft>
          </a:pPr>
          <a:r>
            <a:rPr lang="en-US" dirty="0"/>
            <a:t>2026</a:t>
          </a:r>
          <a:endParaRPr/>
        </a:p>
      </dgm:t>
    </dgm:pt>
    <dgm:pt modelId="{EA598FA5-C260-483E-8625-84C63932EEBD}" cxnId="{8116BB0F-99C0-4290-841B-D6B9ECB6F01E}" type="parTrans">
      <dgm:prSet/>
      <dgm:spPr/>
      <dgm:t>
        <a:bodyPr/>
        <a:lstStyle/>
        <a:p>
          <a:endParaRPr lang="zh-CN" altLang="en-US"/>
        </a:p>
      </dgm:t>
    </dgm:pt>
    <dgm:pt modelId="{F1A2B239-86D0-4FB9-9D6E-36D52DBB152E}" cxnId="{8116BB0F-99C0-4290-841B-D6B9ECB6F01E}" type="sibTrans">
      <dgm:prSet/>
      <dgm:spPr/>
      <dgm:t>
        <a:bodyPr/>
        <a:lstStyle/>
        <a:p>
          <a:endParaRPr lang="zh-CN" altLang="en-US"/>
        </a:p>
      </dgm:t>
    </dgm:pt>
    <dgm:pt modelId="{FF5EBCE2-33A1-4410-8CCE-241621ACBF4A}" type="pres">
      <dgm:prSet presAssocID="{0F9C1A87-648F-4FA3-8298-F7FF69248063}" presName="CompostProcess" presStyleCnt="0">
        <dgm:presLayoutVars>
          <dgm:dir/>
          <dgm:resizeHandles val="exact"/>
        </dgm:presLayoutVars>
      </dgm:prSet>
      <dgm:spPr/>
    </dgm:pt>
    <dgm:pt modelId="{5C766BF9-8E89-4CF9-B19C-78006AB9D0FF}" type="pres">
      <dgm:prSet presAssocID="{0F9C1A87-648F-4FA3-8298-F7FF69248063}" presName="arrow" presStyleLbl="bgShp" presStyleIdx="0" presStyleCnt="1"/>
      <dgm:spPr/>
    </dgm:pt>
    <dgm:pt modelId="{44C3D485-6283-4E5E-8A42-8B1B6385595E}" type="pres">
      <dgm:prSet presAssocID="{0F9C1A87-648F-4FA3-8298-F7FF69248063}" presName="linearProcess" presStyleCnt="0"/>
      <dgm:spPr/>
    </dgm:pt>
    <dgm:pt modelId="{88977C2E-9DA8-43F7-869A-FA4A7946B9D0}" type="pres">
      <dgm:prSet presAssocID="{220DFBB3-6A2B-48E2-96FE-229E7135E226}" presName="textNode" presStyleLbl="node1" presStyleIdx="0" presStyleCnt="6">
        <dgm:presLayoutVars>
          <dgm:bulletEnabled val="1"/>
        </dgm:presLayoutVars>
      </dgm:prSet>
      <dgm:spPr/>
    </dgm:pt>
    <dgm:pt modelId="{409696F9-775D-4DF9-8C31-B566981A86A8}" type="pres">
      <dgm:prSet presAssocID="{3E8FE182-047D-4DBF-B997-A26D7EF167CE}" presName="sibTrans" presStyleCnt="0"/>
      <dgm:spPr/>
    </dgm:pt>
    <dgm:pt modelId="{B0141BFD-552C-43F6-9DD9-B107954BE5A0}" type="pres">
      <dgm:prSet presAssocID="{2BAA06EE-C86F-49AF-99BB-79BA0A7024A5}" presName="textNode" presStyleLbl="node1" presStyleIdx="1" presStyleCnt="6">
        <dgm:presLayoutVars>
          <dgm:bulletEnabled val="1"/>
        </dgm:presLayoutVars>
      </dgm:prSet>
      <dgm:spPr/>
    </dgm:pt>
    <dgm:pt modelId="{1B3EEB7B-99F3-4351-A080-D5700D4E3F26}" type="pres">
      <dgm:prSet presAssocID="{C409FDE6-5B12-4918-B71D-6D01D512B111}" presName="sibTrans" presStyleCnt="0"/>
      <dgm:spPr/>
    </dgm:pt>
    <dgm:pt modelId="{72A8898E-FA3D-4980-AE39-AC3DB8658BDD}" type="pres">
      <dgm:prSet presAssocID="{4551803D-CCA6-4A7B-9BB0-3F77E7AC5D8D}" presName="textNode" presStyleLbl="node1" presStyleIdx="2" presStyleCnt="6">
        <dgm:presLayoutVars>
          <dgm:bulletEnabled val="1"/>
        </dgm:presLayoutVars>
      </dgm:prSet>
      <dgm:spPr/>
    </dgm:pt>
    <dgm:pt modelId="{A0B6ACC1-D02A-4E35-8046-CB15594D49C9}" type="pres">
      <dgm:prSet presAssocID="{177823ED-30D7-42AD-B2CD-AEE7C76ADD6E}" presName="sibTrans" presStyleCnt="0"/>
      <dgm:spPr/>
    </dgm:pt>
    <dgm:pt modelId="{E32DB6D3-B6A8-4BA0-9578-4CB6B8485609}" type="pres">
      <dgm:prSet presAssocID="{6AE717F5-CC40-4BD3-ACD2-D3C3D707F3B2}" presName="textNode" presStyleLbl="node1" presStyleIdx="3" presStyleCnt="6">
        <dgm:presLayoutVars>
          <dgm:bulletEnabled val="1"/>
        </dgm:presLayoutVars>
      </dgm:prSet>
      <dgm:spPr/>
    </dgm:pt>
    <dgm:pt modelId="{C6DC33CD-5A22-4B19-9482-395D5B328D65}" type="pres">
      <dgm:prSet presAssocID="{6CA1D0AF-B4C4-4686-B13E-E68E2F7F895B}" presName="sibTrans" presStyleCnt="0"/>
      <dgm:spPr/>
    </dgm:pt>
    <dgm:pt modelId="{42404743-5237-4B72-A3D1-12E21DAAED91}" type="pres">
      <dgm:prSet presAssocID="{F3610FD5-CB40-4155-A302-E1ED46CA7965}" presName="textNode" presStyleLbl="node1" presStyleIdx="4" presStyleCnt="6">
        <dgm:presLayoutVars>
          <dgm:bulletEnabled val="1"/>
        </dgm:presLayoutVars>
      </dgm:prSet>
      <dgm:spPr/>
    </dgm:pt>
    <dgm:pt modelId="{445E1DE0-40B7-4E4F-B35E-722B7FF4389F}" type="pres">
      <dgm:prSet presAssocID="{0E659347-3E53-4D9E-9630-9B59FF0356FD}" presName="sibTrans" presStyleCnt="0"/>
      <dgm:spPr/>
    </dgm:pt>
    <dgm:pt modelId="{6AFA1AC6-8EF1-487F-A86E-B3872D59923E}" type="pres">
      <dgm:prSet presAssocID="{07FCBC87-F5B1-4C5D-B834-DE8D9376C463}" presName="textNode" presStyleLbl="node1" presStyleIdx="5" presStyleCnt="6">
        <dgm:presLayoutVars>
          <dgm:bulletEnabled val="1"/>
        </dgm:presLayoutVars>
      </dgm:prSet>
      <dgm:spPr/>
    </dgm:pt>
  </dgm:ptLst>
  <dgm:cxnLst>
    <dgm:cxn modelId="{8116BB0F-99C0-4290-841B-D6B9ECB6F01E}" srcId="{0F9C1A87-648F-4FA3-8298-F7FF69248063}" destId="{07FCBC87-F5B1-4C5D-B834-DE8D9376C463}" srcOrd="5" destOrd="0" parTransId="{EA598FA5-C260-483E-8625-84C63932EEBD}" sibTransId="{F1A2B239-86D0-4FB9-9D6E-36D52DBB152E}"/>
    <dgm:cxn modelId="{A9676F14-5AF6-4149-AB80-83FE2B89E63C}" srcId="{0F9C1A87-648F-4FA3-8298-F7FF69248063}" destId="{2BAA06EE-C86F-49AF-99BB-79BA0A7024A5}" srcOrd="1" destOrd="0" parTransId="{A5CFD625-30CE-461F-8B81-D06F77FA42EF}" sibTransId="{C409FDE6-5B12-4918-B71D-6D01D512B111}"/>
    <dgm:cxn modelId="{471F8328-2F24-4494-A01D-97BDC1633459}" srcId="{0F9C1A87-648F-4FA3-8298-F7FF69248063}" destId="{4551803D-CCA6-4A7B-9BB0-3F77E7AC5D8D}" srcOrd="2" destOrd="0" parTransId="{4720A562-5510-4856-B71B-88C6DCB10245}" sibTransId="{177823ED-30D7-42AD-B2CD-AEE7C76ADD6E}"/>
    <dgm:cxn modelId="{83DDB850-61AF-4265-B1DA-82F661EDCAE3}" srcId="{0F9C1A87-648F-4FA3-8298-F7FF69248063}" destId="{F3610FD5-CB40-4155-A302-E1ED46CA7965}" srcOrd="4" destOrd="0" parTransId="{5412155B-9E11-4BF1-82F9-EADF6AFF0F60}" sibTransId="{0E659347-3E53-4D9E-9630-9B59FF0356FD}"/>
    <dgm:cxn modelId="{9B64D067-127A-4156-951B-0D14A13A9431}" type="presOf" srcId="{0F9C1A87-648F-4FA3-8298-F7FF69248063}" destId="{FF5EBCE2-33A1-4410-8CCE-241621ACBF4A}" srcOrd="0" destOrd="0" presId="urn:microsoft.com/office/officeart/2005/8/layout/hProcess9#1"/>
    <dgm:cxn modelId="{02285D75-8A93-46F4-8060-2933B4B61B4E}" type="presOf" srcId="{2BAA06EE-C86F-49AF-99BB-79BA0A7024A5}" destId="{B0141BFD-552C-43F6-9DD9-B107954BE5A0}" srcOrd="0" destOrd="0" presId="urn:microsoft.com/office/officeart/2005/8/layout/hProcess9#1"/>
    <dgm:cxn modelId="{3EC8657E-EADB-4128-9ED7-A1F57D931A26}" type="presOf" srcId="{220DFBB3-6A2B-48E2-96FE-229E7135E226}" destId="{88977C2E-9DA8-43F7-869A-FA4A7946B9D0}" srcOrd="0" destOrd="0" presId="urn:microsoft.com/office/officeart/2005/8/layout/hProcess9#1"/>
    <dgm:cxn modelId="{64886BA1-48A4-4EFC-B380-4ADDB87D3BFF}" srcId="{0F9C1A87-648F-4FA3-8298-F7FF69248063}" destId="{220DFBB3-6A2B-48E2-96FE-229E7135E226}" srcOrd="0" destOrd="0" parTransId="{6799A159-375E-48BE-AABD-9A2FE821DAF2}" sibTransId="{3E8FE182-047D-4DBF-B997-A26D7EF167CE}"/>
    <dgm:cxn modelId="{EF8A4DAC-8A90-4CB7-B5C6-5883B3F2BF79}" type="presOf" srcId="{F3610FD5-CB40-4155-A302-E1ED46CA7965}" destId="{42404743-5237-4B72-A3D1-12E21DAAED91}" srcOrd="0" destOrd="0" presId="urn:microsoft.com/office/officeart/2005/8/layout/hProcess9#1"/>
    <dgm:cxn modelId="{306AACC6-E692-414F-95FB-77F69563B2AD}" type="presOf" srcId="{6AE717F5-CC40-4BD3-ACD2-D3C3D707F3B2}" destId="{E32DB6D3-B6A8-4BA0-9578-4CB6B8485609}" srcOrd="0" destOrd="0" presId="urn:microsoft.com/office/officeart/2005/8/layout/hProcess9#1"/>
    <dgm:cxn modelId="{D00148D9-F94F-4AC3-87C6-493E26B1BDBA}" type="presOf" srcId="{07FCBC87-F5B1-4C5D-B834-DE8D9376C463}" destId="{6AFA1AC6-8EF1-487F-A86E-B3872D59923E}" srcOrd="0" destOrd="0" presId="urn:microsoft.com/office/officeart/2005/8/layout/hProcess9#1"/>
    <dgm:cxn modelId="{A6DB21F4-0A62-408C-BC97-E98258CCE1A9}" type="presOf" srcId="{4551803D-CCA6-4A7B-9BB0-3F77E7AC5D8D}" destId="{72A8898E-FA3D-4980-AE39-AC3DB8658BDD}" srcOrd="0" destOrd="0" presId="urn:microsoft.com/office/officeart/2005/8/layout/hProcess9#1"/>
    <dgm:cxn modelId="{F16184F6-C623-4F30-BDD4-64D6149FD046}" srcId="{0F9C1A87-648F-4FA3-8298-F7FF69248063}" destId="{6AE717F5-CC40-4BD3-ACD2-D3C3D707F3B2}" srcOrd="3" destOrd="0" parTransId="{03C118D9-4001-459A-9601-37E98635A48B}" sibTransId="{6CA1D0AF-B4C4-4686-B13E-E68E2F7F895B}"/>
    <dgm:cxn modelId="{108C747A-4C76-46FB-ADF5-21BC1C1849A1}" type="presParOf" srcId="{FF5EBCE2-33A1-4410-8CCE-241621ACBF4A}" destId="{5C766BF9-8E89-4CF9-B19C-78006AB9D0FF}" srcOrd="0" destOrd="0" presId="urn:microsoft.com/office/officeart/2005/8/layout/hProcess9#1"/>
    <dgm:cxn modelId="{1D8447C0-E511-44CE-A98C-3368325EA255}" type="presParOf" srcId="{FF5EBCE2-33A1-4410-8CCE-241621ACBF4A}" destId="{44C3D485-6283-4E5E-8A42-8B1B6385595E}" srcOrd="1" destOrd="0" presId="urn:microsoft.com/office/officeart/2005/8/layout/hProcess9#1"/>
    <dgm:cxn modelId="{0F9F855B-3268-4A3B-8896-5497A69F25BA}" type="presParOf" srcId="{44C3D485-6283-4E5E-8A42-8B1B6385595E}" destId="{88977C2E-9DA8-43F7-869A-FA4A7946B9D0}" srcOrd="0" destOrd="0" presId="urn:microsoft.com/office/officeart/2005/8/layout/hProcess9#1"/>
    <dgm:cxn modelId="{EDD09CE8-9DBB-4CA8-9081-F046D907CBEC}" type="presParOf" srcId="{44C3D485-6283-4E5E-8A42-8B1B6385595E}" destId="{409696F9-775D-4DF9-8C31-B566981A86A8}" srcOrd="1" destOrd="0" presId="urn:microsoft.com/office/officeart/2005/8/layout/hProcess9#1"/>
    <dgm:cxn modelId="{11ED3258-399E-43CF-A6D0-D16F39F88A64}" type="presParOf" srcId="{44C3D485-6283-4E5E-8A42-8B1B6385595E}" destId="{B0141BFD-552C-43F6-9DD9-B107954BE5A0}" srcOrd="2" destOrd="0" presId="urn:microsoft.com/office/officeart/2005/8/layout/hProcess9#1"/>
    <dgm:cxn modelId="{A3260948-F9B3-4660-A230-17BE14D2EE08}" type="presParOf" srcId="{44C3D485-6283-4E5E-8A42-8B1B6385595E}" destId="{1B3EEB7B-99F3-4351-A080-D5700D4E3F26}" srcOrd="3" destOrd="0" presId="urn:microsoft.com/office/officeart/2005/8/layout/hProcess9#1"/>
    <dgm:cxn modelId="{AC0A3CFF-3312-412D-8339-1699FFACCDED}" type="presParOf" srcId="{44C3D485-6283-4E5E-8A42-8B1B6385595E}" destId="{72A8898E-FA3D-4980-AE39-AC3DB8658BDD}" srcOrd="4" destOrd="0" presId="urn:microsoft.com/office/officeart/2005/8/layout/hProcess9#1"/>
    <dgm:cxn modelId="{B877C1D4-F3A4-475F-B158-0084B110F406}" type="presParOf" srcId="{44C3D485-6283-4E5E-8A42-8B1B6385595E}" destId="{A0B6ACC1-D02A-4E35-8046-CB15594D49C9}" srcOrd="5" destOrd="0" presId="urn:microsoft.com/office/officeart/2005/8/layout/hProcess9#1"/>
    <dgm:cxn modelId="{7863EF34-6409-4234-BA37-F9BE28549F21}" type="presParOf" srcId="{44C3D485-6283-4E5E-8A42-8B1B6385595E}" destId="{E32DB6D3-B6A8-4BA0-9578-4CB6B8485609}" srcOrd="6" destOrd="0" presId="urn:microsoft.com/office/officeart/2005/8/layout/hProcess9#1"/>
    <dgm:cxn modelId="{2E9A0948-593A-470D-BED5-ACD8CA3E9F47}" type="presParOf" srcId="{44C3D485-6283-4E5E-8A42-8B1B6385595E}" destId="{C6DC33CD-5A22-4B19-9482-395D5B328D65}" srcOrd="7" destOrd="0" presId="urn:microsoft.com/office/officeart/2005/8/layout/hProcess9#1"/>
    <dgm:cxn modelId="{8C6D2B63-6228-4BC7-9267-D9E3825E45C7}" type="presParOf" srcId="{44C3D485-6283-4E5E-8A42-8B1B6385595E}" destId="{42404743-5237-4B72-A3D1-12E21DAAED91}" srcOrd="8" destOrd="0" presId="urn:microsoft.com/office/officeart/2005/8/layout/hProcess9#1"/>
    <dgm:cxn modelId="{FECE6CCC-8E0A-4400-8825-27101FCD2A0B}" type="presParOf" srcId="{44C3D485-6283-4E5E-8A42-8B1B6385595E}" destId="{445E1DE0-40B7-4E4F-B35E-722B7FF4389F}" srcOrd="9" destOrd="0" presId="urn:microsoft.com/office/officeart/2005/8/layout/hProcess9#1"/>
    <dgm:cxn modelId="{6DC30635-3F13-467A-B25E-5868CCFD3ADE}" type="presParOf" srcId="{44C3D485-6283-4E5E-8A42-8B1B6385595E}" destId="{6AFA1AC6-8EF1-487F-A86E-B3872D59923E}" srcOrd="10" destOrd="0" presId="urn:microsoft.com/office/officeart/2005/8/layout/hProcess9#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191A80-03CC-4037-9069-469BDBA43539}" type="doc">
      <dgm:prSet loTypeId="urn:microsoft.com/office/officeart/2005/8/layout/hProcess11#2" loCatId="process" qsTypeId="urn:microsoft.com/office/officeart/2005/8/quickstyle/simple1#4" qsCatId="simple" csTypeId="urn:microsoft.com/office/officeart/2005/8/colors/colorful5#2" csCatId="colorful" phldr="1"/>
      <dgm:spPr/>
    </dgm:pt>
    <dgm:pt modelId="{E633BD3F-9467-49A2-9167-D8D0C959159A}">
      <dgm:prSet phldrT="[文本]" custT="1"/>
      <dgm:spPr/>
      <dgm:t>
        <a:bodyPr/>
        <a:lstStyle/>
        <a:p>
          <a:r>
            <a:rPr lang="zh-CN" altLang="en-US" sz="1200" dirty="0">
              <a:latin typeface="彩虹粗仿宋" panose="03000509000000000000" pitchFamily="65" charset="-122"/>
              <a:ea typeface="彩虹粗仿宋" panose="03000509000000000000" pitchFamily="65" charset="-122"/>
            </a:rPr>
            <a:t>实验室研发</a:t>
          </a:r>
        </a:p>
      </dgm:t>
    </dgm:pt>
    <dgm:pt modelId="{BF399DB1-B4C8-4A5B-9C29-31FF0D452E04}" cxnId="{1EBD985B-ADA3-405B-9EDF-16EB28860902}" type="parTrans">
      <dgm:prSet/>
      <dgm:spPr/>
      <dgm:t>
        <a:bodyPr/>
        <a:lstStyle/>
        <a:p>
          <a:endParaRPr lang="zh-CN" altLang="en-US" sz="1200">
            <a:latin typeface="彩虹粗仿宋" panose="03000509000000000000" pitchFamily="65" charset="-122"/>
            <a:ea typeface="彩虹粗仿宋" panose="03000509000000000000" pitchFamily="65" charset="-122"/>
          </a:endParaRPr>
        </a:p>
      </dgm:t>
    </dgm:pt>
    <dgm:pt modelId="{8C57B15A-54B3-42CF-9002-3938D31EF849}" cxnId="{1EBD985B-ADA3-405B-9EDF-16EB28860902}" type="sibTrans">
      <dgm:prSet/>
      <dgm:spPr/>
      <dgm:t>
        <a:bodyPr/>
        <a:lstStyle/>
        <a:p>
          <a:endParaRPr lang="zh-CN" altLang="en-US" sz="1200">
            <a:latin typeface="彩虹粗仿宋" panose="03000509000000000000" pitchFamily="65" charset="-122"/>
            <a:ea typeface="彩虹粗仿宋" panose="03000509000000000000" pitchFamily="65" charset="-122"/>
          </a:endParaRPr>
        </a:p>
      </dgm:t>
    </dgm:pt>
    <dgm:pt modelId="{428B5F35-846B-4617-8B51-F8823D92567C}">
      <dgm:prSet phldrT="[文本]" custT="1"/>
      <dgm:spPr/>
      <dgm:t>
        <a:bodyPr/>
        <a:lstStyle/>
        <a:p>
          <a:r>
            <a:rPr lang="zh-CN" altLang="en-US" sz="1200" dirty="0">
              <a:latin typeface="彩虹粗仿宋" panose="03000509000000000000" pitchFamily="65" charset="-122"/>
              <a:ea typeface="彩虹粗仿宋" panose="03000509000000000000" pitchFamily="65" charset="-122"/>
            </a:rPr>
            <a:t>临床研发</a:t>
          </a:r>
        </a:p>
      </dgm:t>
    </dgm:pt>
    <dgm:pt modelId="{3543A591-AD49-41A0-BB85-CB01B0C9771B}" cxnId="{8F3C9FA8-1883-473F-8896-4FB2202F8B69}" type="parTrans">
      <dgm:prSet/>
      <dgm:spPr/>
      <dgm:t>
        <a:bodyPr/>
        <a:lstStyle/>
        <a:p>
          <a:endParaRPr lang="zh-CN" altLang="en-US" sz="1200">
            <a:latin typeface="彩虹粗仿宋" panose="03000509000000000000" pitchFamily="65" charset="-122"/>
            <a:ea typeface="彩虹粗仿宋" panose="03000509000000000000" pitchFamily="65" charset="-122"/>
          </a:endParaRPr>
        </a:p>
      </dgm:t>
    </dgm:pt>
    <dgm:pt modelId="{3E527276-22CF-404F-96A5-949F6492D4B1}" cxnId="{8F3C9FA8-1883-473F-8896-4FB2202F8B69}" type="sibTrans">
      <dgm:prSet/>
      <dgm:spPr/>
      <dgm:t>
        <a:bodyPr/>
        <a:lstStyle/>
        <a:p>
          <a:endParaRPr lang="zh-CN" altLang="en-US" sz="1200">
            <a:latin typeface="彩虹粗仿宋" panose="03000509000000000000" pitchFamily="65" charset="-122"/>
            <a:ea typeface="彩虹粗仿宋" panose="03000509000000000000" pitchFamily="65" charset="-122"/>
          </a:endParaRPr>
        </a:p>
      </dgm:t>
    </dgm:pt>
    <dgm:pt modelId="{5F3B9D7E-9FF2-42B9-8600-92A90F32A7BE}">
      <dgm:prSet phldrT="[文本]" custT="1"/>
      <dgm:spPr/>
      <dgm:t>
        <a:bodyPr/>
        <a:lstStyle/>
        <a:p>
          <a:r>
            <a:rPr lang="zh-CN" altLang="en-US" sz="1200" dirty="0">
              <a:latin typeface="彩虹粗仿宋" panose="03000509000000000000" pitchFamily="65" charset="-122"/>
              <a:ea typeface="彩虹粗仿宋" panose="03000509000000000000" pitchFamily="65" charset="-122"/>
            </a:rPr>
            <a:t>市场开拓</a:t>
          </a:r>
        </a:p>
      </dgm:t>
    </dgm:pt>
    <dgm:pt modelId="{540E310D-B769-41C1-B795-9BE6883CDF2F}" cxnId="{8B4C5B70-1B9D-42AB-AC7B-B189441F1674}" type="parTrans">
      <dgm:prSet/>
      <dgm:spPr/>
      <dgm:t>
        <a:bodyPr/>
        <a:lstStyle/>
        <a:p>
          <a:endParaRPr lang="zh-CN" altLang="en-US" sz="1200">
            <a:latin typeface="彩虹粗仿宋" panose="03000509000000000000" pitchFamily="65" charset="-122"/>
            <a:ea typeface="彩虹粗仿宋" panose="03000509000000000000" pitchFamily="65" charset="-122"/>
          </a:endParaRPr>
        </a:p>
      </dgm:t>
    </dgm:pt>
    <dgm:pt modelId="{396DECC5-7806-4AEC-84F4-8B98EE69BB94}" cxnId="{8B4C5B70-1B9D-42AB-AC7B-B189441F1674}" type="sibTrans">
      <dgm:prSet/>
      <dgm:spPr/>
      <dgm:t>
        <a:bodyPr/>
        <a:lstStyle/>
        <a:p>
          <a:endParaRPr lang="zh-CN" altLang="en-US" sz="1200">
            <a:latin typeface="彩虹粗仿宋" panose="03000509000000000000" pitchFamily="65" charset="-122"/>
            <a:ea typeface="彩虹粗仿宋" panose="03000509000000000000" pitchFamily="65" charset="-122"/>
          </a:endParaRPr>
        </a:p>
      </dgm:t>
    </dgm:pt>
    <dgm:pt modelId="{44522988-DFBA-408C-AD87-290BA5F48F31}" type="pres">
      <dgm:prSet presAssocID="{82191A80-03CC-4037-9069-469BDBA43539}" presName="Name0" presStyleCnt="0">
        <dgm:presLayoutVars>
          <dgm:dir/>
          <dgm:resizeHandles val="exact"/>
        </dgm:presLayoutVars>
      </dgm:prSet>
      <dgm:spPr/>
    </dgm:pt>
    <dgm:pt modelId="{7F1B8087-14D4-46E9-BDA3-689B278788F1}" type="pres">
      <dgm:prSet presAssocID="{82191A80-03CC-4037-9069-469BDBA43539}" presName="arrow" presStyleLbl="bgShp" presStyleIdx="0" presStyleCnt="1" custLinFactNeighborX="-268" custLinFactNeighborY="-2322"/>
      <dgm:spPr/>
    </dgm:pt>
    <dgm:pt modelId="{D69BDBB7-9844-453B-AFBF-B3CBB1605A49}" type="pres">
      <dgm:prSet presAssocID="{82191A80-03CC-4037-9069-469BDBA43539}" presName="points" presStyleCnt="0"/>
      <dgm:spPr/>
    </dgm:pt>
    <dgm:pt modelId="{365901D0-F2DC-468D-9C30-C232561217D3}" type="pres">
      <dgm:prSet presAssocID="{E633BD3F-9467-49A2-9167-D8D0C959159A}" presName="compositeA" presStyleCnt="0"/>
      <dgm:spPr/>
    </dgm:pt>
    <dgm:pt modelId="{709F0686-C608-4838-801A-A9A8436C1259}" type="pres">
      <dgm:prSet presAssocID="{E633BD3F-9467-49A2-9167-D8D0C959159A}" presName="textA" presStyleLbl="revTx" presStyleIdx="0" presStyleCnt="3" custScaleX="51795" custScaleY="56631" custLinFactY="51295" custLinFactNeighborX="74255" custLinFactNeighborY="100000">
        <dgm:presLayoutVars>
          <dgm:bulletEnabled val="1"/>
        </dgm:presLayoutVars>
      </dgm:prSet>
      <dgm:spPr/>
    </dgm:pt>
    <dgm:pt modelId="{015A70E7-75A7-463D-B466-30353DD6DE2B}" type="pres">
      <dgm:prSet presAssocID="{E633BD3F-9467-49A2-9167-D8D0C959159A}" presName="circleA" presStyleLbl="node1" presStyleIdx="0" presStyleCnt="3" custLinFactX="720022" custLinFactNeighborX="800000" custLinFactNeighborY="43318"/>
      <dgm:spPr/>
    </dgm:pt>
    <dgm:pt modelId="{B428FA85-D5EA-45C8-A0BC-C63CD7F871B4}" type="pres">
      <dgm:prSet presAssocID="{E633BD3F-9467-49A2-9167-D8D0C959159A}" presName="spaceA" presStyleCnt="0"/>
      <dgm:spPr/>
    </dgm:pt>
    <dgm:pt modelId="{7F6F9BEA-050D-4C18-9414-3B5CA732D471}" type="pres">
      <dgm:prSet presAssocID="{8C57B15A-54B3-42CF-9002-3938D31EF849}" presName="space" presStyleCnt="0"/>
      <dgm:spPr/>
    </dgm:pt>
    <dgm:pt modelId="{B6AE241F-4817-40DD-B248-264AB17814AA}" type="pres">
      <dgm:prSet presAssocID="{428B5F35-846B-4617-8B51-F8823D92567C}" presName="compositeB" presStyleCnt="0"/>
      <dgm:spPr/>
    </dgm:pt>
    <dgm:pt modelId="{EE8D55E4-734A-4545-978A-75C7F9151FC7}" type="pres">
      <dgm:prSet presAssocID="{428B5F35-846B-4617-8B51-F8823D92567C}" presName="textB" presStyleLbl="revTx" presStyleIdx="1" presStyleCnt="3" custScaleY="51602" custLinFactNeighborX="56158" custLinFactNeighborY="-45610">
        <dgm:presLayoutVars>
          <dgm:bulletEnabled val="1"/>
        </dgm:presLayoutVars>
      </dgm:prSet>
      <dgm:spPr/>
    </dgm:pt>
    <dgm:pt modelId="{FA3A1612-BACA-4025-917B-FC63CC0646AD}" type="pres">
      <dgm:prSet presAssocID="{428B5F35-846B-4617-8B51-F8823D92567C}" presName="circleB" presStyleLbl="node1" presStyleIdx="1" presStyleCnt="3" custLinFactX="549367" custLinFactNeighborX="600000" custLinFactNeighborY="-60573"/>
      <dgm:spPr/>
    </dgm:pt>
    <dgm:pt modelId="{56986574-B31F-40F6-998B-B153F3481D45}" type="pres">
      <dgm:prSet presAssocID="{428B5F35-846B-4617-8B51-F8823D92567C}" presName="spaceB" presStyleCnt="0"/>
      <dgm:spPr/>
    </dgm:pt>
    <dgm:pt modelId="{9BEB4F16-728B-4A84-8DA6-806228788489}" type="pres">
      <dgm:prSet presAssocID="{3E527276-22CF-404F-96A5-949F6492D4B1}" presName="space" presStyleCnt="0"/>
      <dgm:spPr/>
    </dgm:pt>
    <dgm:pt modelId="{56ABA641-7BCD-498D-BEAA-9B63EE447F7A}" type="pres">
      <dgm:prSet presAssocID="{5F3B9D7E-9FF2-42B9-8600-92A90F32A7BE}" presName="compositeA" presStyleCnt="0"/>
      <dgm:spPr/>
    </dgm:pt>
    <dgm:pt modelId="{B6EEC69C-BED1-43AC-915F-4ED3B0C0E3A3}" type="pres">
      <dgm:prSet presAssocID="{5F3B9D7E-9FF2-42B9-8600-92A90F32A7BE}" presName="textA" presStyleLbl="revTx" presStyleIdx="2" presStyleCnt="3" custScaleY="43703" custLinFactY="46937" custLinFactNeighborX="32465" custLinFactNeighborY="100000">
        <dgm:presLayoutVars>
          <dgm:bulletEnabled val="1"/>
        </dgm:presLayoutVars>
      </dgm:prSet>
      <dgm:spPr/>
    </dgm:pt>
    <dgm:pt modelId="{6B2C18A5-B79F-40C0-9422-3C4980C8C14A}" type="pres">
      <dgm:prSet presAssocID="{5F3B9D7E-9FF2-42B9-8600-92A90F32A7BE}" presName="circleA" presStyleLbl="node1" presStyleIdx="2" presStyleCnt="3" custLinFactX="300000" custLinFactNeighborX="358761" custLinFactNeighborY="44720"/>
      <dgm:spPr/>
    </dgm:pt>
    <dgm:pt modelId="{3C092AF1-6764-4366-A319-782D8BE16BB7}" type="pres">
      <dgm:prSet presAssocID="{5F3B9D7E-9FF2-42B9-8600-92A90F32A7BE}" presName="spaceA" presStyleCnt="0"/>
      <dgm:spPr/>
    </dgm:pt>
  </dgm:ptLst>
  <dgm:cxnLst>
    <dgm:cxn modelId="{10990C0F-87FB-4D76-868E-3C5AF4882B2D}" type="presOf" srcId="{428B5F35-846B-4617-8B51-F8823D92567C}" destId="{EE8D55E4-734A-4545-978A-75C7F9151FC7}" srcOrd="0" destOrd="0" presId="urn:microsoft.com/office/officeart/2005/8/layout/hProcess11#2"/>
    <dgm:cxn modelId="{13641B39-DCC2-49CB-B290-34C1C77988FD}" type="presOf" srcId="{E633BD3F-9467-49A2-9167-D8D0C959159A}" destId="{709F0686-C608-4838-801A-A9A8436C1259}" srcOrd="0" destOrd="0" presId="urn:microsoft.com/office/officeart/2005/8/layout/hProcess11#2"/>
    <dgm:cxn modelId="{1EBD985B-ADA3-405B-9EDF-16EB28860902}" srcId="{82191A80-03CC-4037-9069-469BDBA43539}" destId="{E633BD3F-9467-49A2-9167-D8D0C959159A}" srcOrd="0" destOrd="0" parTransId="{BF399DB1-B4C8-4A5B-9C29-31FF0D452E04}" sibTransId="{8C57B15A-54B3-42CF-9002-3938D31EF849}"/>
    <dgm:cxn modelId="{8B4C5B70-1B9D-42AB-AC7B-B189441F1674}" srcId="{82191A80-03CC-4037-9069-469BDBA43539}" destId="{5F3B9D7E-9FF2-42B9-8600-92A90F32A7BE}" srcOrd="2" destOrd="0" parTransId="{540E310D-B769-41C1-B795-9BE6883CDF2F}" sibTransId="{396DECC5-7806-4AEC-84F4-8B98EE69BB94}"/>
    <dgm:cxn modelId="{8F3C9FA8-1883-473F-8896-4FB2202F8B69}" srcId="{82191A80-03CC-4037-9069-469BDBA43539}" destId="{428B5F35-846B-4617-8B51-F8823D92567C}" srcOrd="1" destOrd="0" parTransId="{3543A591-AD49-41A0-BB85-CB01B0C9771B}" sibTransId="{3E527276-22CF-404F-96A5-949F6492D4B1}"/>
    <dgm:cxn modelId="{0323B4AE-67C5-479E-A288-3676E23FACDA}" type="presOf" srcId="{82191A80-03CC-4037-9069-469BDBA43539}" destId="{44522988-DFBA-408C-AD87-290BA5F48F31}" srcOrd="0" destOrd="0" presId="urn:microsoft.com/office/officeart/2005/8/layout/hProcess11#2"/>
    <dgm:cxn modelId="{62C45AB2-F0EB-4FBF-ACBB-D7FEA12FD886}" type="presOf" srcId="{5F3B9D7E-9FF2-42B9-8600-92A90F32A7BE}" destId="{B6EEC69C-BED1-43AC-915F-4ED3B0C0E3A3}" srcOrd="0" destOrd="0" presId="urn:microsoft.com/office/officeart/2005/8/layout/hProcess11#2"/>
    <dgm:cxn modelId="{57853767-DF6D-4372-B0E9-358B08556B3F}" type="presParOf" srcId="{44522988-DFBA-408C-AD87-290BA5F48F31}" destId="{7F1B8087-14D4-46E9-BDA3-689B278788F1}" srcOrd="0" destOrd="0" presId="urn:microsoft.com/office/officeart/2005/8/layout/hProcess11#2"/>
    <dgm:cxn modelId="{7FC30806-EF3B-4AE6-86D0-834364FD0635}" type="presParOf" srcId="{44522988-DFBA-408C-AD87-290BA5F48F31}" destId="{D69BDBB7-9844-453B-AFBF-B3CBB1605A49}" srcOrd="1" destOrd="0" presId="urn:microsoft.com/office/officeart/2005/8/layout/hProcess11#2"/>
    <dgm:cxn modelId="{1CC2C82D-2B4F-4024-915B-F8ED8F0F6EF0}" type="presParOf" srcId="{D69BDBB7-9844-453B-AFBF-B3CBB1605A49}" destId="{365901D0-F2DC-468D-9C30-C232561217D3}" srcOrd="0" destOrd="0" presId="urn:microsoft.com/office/officeart/2005/8/layout/hProcess11#2"/>
    <dgm:cxn modelId="{118388FA-4FE7-45BC-B24F-12A6F302C751}" type="presParOf" srcId="{365901D0-F2DC-468D-9C30-C232561217D3}" destId="{709F0686-C608-4838-801A-A9A8436C1259}" srcOrd="0" destOrd="0" presId="urn:microsoft.com/office/officeart/2005/8/layout/hProcess11#2"/>
    <dgm:cxn modelId="{3C9CE032-82DB-46B4-8630-31B7AABDA5BD}" type="presParOf" srcId="{365901D0-F2DC-468D-9C30-C232561217D3}" destId="{015A70E7-75A7-463D-B466-30353DD6DE2B}" srcOrd="1" destOrd="0" presId="urn:microsoft.com/office/officeart/2005/8/layout/hProcess11#2"/>
    <dgm:cxn modelId="{DBF9EB5A-D164-4A93-8EF4-A183A285E34D}" type="presParOf" srcId="{365901D0-F2DC-468D-9C30-C232561217D3}" destId="{B428FA85-D5EA-45C8-A0BC-C63CD7F871B4}" srcOrd="2" destOrd="0" presId="urn:microsoft.com/office/officeart/2005/8/layout/hProcess11#2"/>
    <dgm:cxn modelId="{19C4A7C8-A673-441C-84E9-B0294B879BCC}" type="presParOf" srcId="{D69BDBB7-9844-453B-AFBF-B3CBB1605A49}" destId="{7F6F9BEA-050D-4C18-9414-3B5CA732D471}" srcOrd="1" destOrd="0" presId="urn:microsoft.com/office/officeart/2005/8/layout/hProcess11#2"/>
    <dgm:cxn modelId="{529317DB-6196-4789-846B-586806C5F592}" type="presParOf" srcId="{D69BDBB7-9844-453B-AFBF-B3CBB1605A49}" destId="{B6AE241F-4817-40DD-B248-264AB17814AA}" srcOrd="2" destOrd="0" presId="urn:microsoft.com/office/officeart/2005/8/layout/hProcess11#2"/>
    <dgm:cxn modelId="{58BC6A81-97DE-4CF4-A17D-2101C68CEAE2}" type="presParOf" srcId="{B6AE241F-4817-40DD-B248-264AB17814AA}" destId="{EE8D55E4-734A-4545-978A-75C7F9151FC7}" srcOrd="0" destOrd="0" presId="urn:microsoft.com/office/officeart/2005/8/layout/hProcess11#2"/>
    <dgm:cxn modelId="{8326EB71-30F7-49BC-BCB3-990BFC647FD3}" type="presParOf" srcId="{B6AE241F-4817-40DD-B248-264AB17814AA}" destId="{FA3A1612-BACA-4025-917B-FC63CC0646AD}" srcOrd="1" destOrd="0" presId="urn:microsoft.com/office/officeart/2005/8/layout/hProcess11#2"/>
    <dgm:cxn modelId="{4DB2A8CF-4866-4C9F-A72B-1502993BAFFD}" type="presParOf" srcId="{B6AE241F-4817-40DD-B248-264AB17814AA}" destId="{56986574-B31F-40F6-998B-B153F3481D45}" srcOrd="2" destOrd="0" presId="urn:microsoft.com/office/officeart/2005/8/layout/hProcess11#2"/>
    <dgm:cxn modelId="{3FF48773-8CFF-4F7D-A17A-DF40E075C0A2}" type="presParOf" srcId="{D69BDBB7-9844-453B-AFBF-B3CBB1605A49}" destId="{9BEB4F16-728B-4A84-8DA6-806228788489}" srcOrd="3" destOrd="0" presId="urn:microsoft.com/office/officeart/2005/8/layout/hProcess11#2"/>
    <dgm:cxn modelId="{6C352A1B-999D-4DA9-96C4-DDCE0B670281}" type="presParOf" srcId="{D69BDBB7-9844-453B-AFBF-B3CBB1605A49}" destId="{56ABA641-7BCD-498D-BEAA-9B63EE447F7A}" srcOrd="4" destOrd="0" presId="urn:microsoft.com/office/officeart/2005/8/layout/hProcess11#2"/>
    <dgm:cxn modelId="{8EE69FF5-D202-4EEF-9FD6-941809D589CF}" type="presParOf" srcId="{56ABA641-7BCD-498D-BEAA-9B63EE447F7A}" destId="{B6EEC69C-BED1-43AC-915F-4ED3B0C0E3A3}" srcOrd="0" destOrd="0" presId="urn:microsoft.com/office/officeart/2005/8/layout/hProcess11#2"/>
    <dgm:cxn modelId="{80D8FEF4-68FE-4FBA-844F-247A92BD621D}" type="presParOf" srcId="{56ABA641-7BCD-498D-BEAA-9B63EE447F7A}" destId="{6B2C18A5-B79F-40C0-9422-3C4980C8C14A}" srcOrd="1" destOrd="0" presId="urn:microsoft.com/office/officeart/2005/8/layout/hProcess11#2"/>
    <dgm:cxn modelId="{99AA691F-B370-47C9-9583-442B25E6D5E2}" type="presParOf" srcId="{56ABA641-7BCD-498D-BEAA-9B63EE447F7A}" destId="{3C092AF1-6764-4366-A319-782D8BE16BB7}" srcOrd="2" destOrd="0" presId="urn:microsoft.com/office/officeart/2005/8/layout/hProcess11#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484479" cy="1765737"/>
        <a:chOff x="0" y="0"/>
        <a:chExt cx="11484479" cy="1765737"/>
      </a:xfrm>
    </dsp:grpSpPr>
    <dsp:sp modelId="{5C766BF9-8E89-4CF9-B19C-78006AB9D0FF}">
      <dsp:nvSpPr>
        <dsp:cNvPr id="3" name="右箭头 2"/>
        <dsp:cNvSpPr/>
      </dsp:nvSpPr>
      <dsp:spPr bwMode="white">
        <a:xfrm>
          <a:off x="861336" y="0"/>
          <a:ext cx="9761807" cy="1765737"/>
        </a:xfrm>
        <a:prstGeom prst="rightArrow">
          <a:avLst/>
        </a:prstGeom>
      </dsp:spPr>
      <dsp:style>
        <a:lnRef idx="0">
          <a:schemeClr val="accent1"/>
        </a:lnRef>
        <a:fillRef idx="1">
          <a:schemeClr val="accent1">
            <a:tint val="40000"/>
          </a:schemeClr>
        </a:fillRef>
        <a:effectRef idx="0">
          <a:scrgbClr r="0" g="0" b="0"/>
        </a:effectRef>
        <a:fontRef idx="minor"/>
      </dsp:style>
      <dsp:txXfrm>
        <a:off x="861336" y="0"/>
        <a:ext cx="9761807" cy="1765737"/>
      </dsp:txXfrm>
    </dsp:sp>
    <dsp:sp modelId="{88977C2E-9DA8-43F7-869A-FA4A7946B9D0}">
      <dsp:nvSpPr>
        <dsp:cNvPr id="4" name="圆角矩形 3"/>
        <dsp:cNvSpPr/>
      </dsp:nvSpPr>
      <dsp:spPr bwMode="white">
        <a:xfrm>
          <a:off x="0" y="529721"/>
          <a:ext cx="1680655" cy="706295"/>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US" altLang="zh-CN" dirty="0"/>
            <a:t>2020</a:t>
          </a:r>
        </a:p>
      </dsp:txBody>
      <dsp:txXfrm>
        <a:off x="0" y="529721"/>
        <a:ext cx="1680655" cy="706295"/>
      </dsp:txXfrm>
    </dsp:sp>
    <dsp:sp modelId="{B0141BFD-552C-43F6-9DD9-B107954BE5A0}">
      <dsp:nvSpPr>
        <dsp:cNvPr id="5" name="圆角矩形 4"/>
        <dsp:cNvSpPr/>
      </dsp:nvSpPr>
      <dsp:spPr bwMode="white">
        <a:xfrm>
          <a:off x="1960765" y="529721"/>
          <a:ext cx="1680655" cy="706295"/>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US" altLang="zh-CN"/>
            <a:t>2021</a:t>
          </a:r>
          <a:endParaRPr lang="en-US" altLang="zh-CN" dirty="0"/>
        </a:p>
      </dsp:txBody>
      <dsp:txXfrm>
        <a:off x="1960765" y="529721"/>
        <a:ext cx="1680655" cy="706295"/>
      </dsp:txXfrm>
    </dsp:sp>
    <dsp:sp modelId="{72A8898E-FA3D-4980-AE39-AC3DB8658BDD}">
      <dsp:nvSpPr>
        <dsp:cNvPr id="6" name="圆角矩形 5"/>
        <dsp:cNvSpPr/>
      </dsp:nvSpPr>
      <dsp:spPr bwMode="white">
        <a:xfrm>
          <a:off x="3921529" y="529721"/>
          <a:ext cx="1680655" cy="706295"/>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a:sym typeface="+mn-ea"/>
            </a:rPr>
            <a:t>2</a:t>
          </a:r>
          <a:r>
            <a:rPr lang="en-US" altLang="zh-CN">
              <a:sym typeface="+mn-ea"/>
            </a:rPr>
            <a:t>022</a:t>
          </a:r>
          <a:endParaRPr lang="en-US" altLang="zh-CN" dirty="0"/>
        </a:p>
      </dsp:txBody>
      <dsp:txXfrm>
        <a:off x="3921529" y="529721"/>
        <a:ext cx="1680655" cy="706295"/>
      </dsp:txXfrm>
    </dsp:sp>
    <dsp:sp modelId="{E32DB6D3-B6A8-4BA0-9578-4CB6B8485609}">
      <dsp:nvSpPr>
        <dsp:cNvPr id="7" name="圆角矩形 6"/>
        <dsp:cNvSpPr/>
      </dsp:nvSpPr>
      <dsp:spPr bwMode="white">
        <a:xfrm>
          <a:off x="5882294" y="529721"/>
          <a:ext cx="1680655" cy="706295"/>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dirty="0">
              <a:sym typeface="+mn-ea"/>
            </a:rPr>
            <a:t>2</a:t>
          </a:r>
          <a:r>
            <a:rPr lang="en-US" altLang="zh-CN" dirty="0">
              <a:sym typeface="+mn-ea"/>
            </a:rPr>
            <a:t>023</a:t>
          </a:r>
          <a:endParaRPr lang="en-US" altLang="zh-CN" dirty="0"/>
        </a:p>
      </dsp:txBody>
      <dsp:txXfrm>
        <a:off x="5882294" y="529721"/>
        <a:ext cx="1680655" cy="706295"/>
      </dsp:txXfrm>
    </dsp:sp>
    <dsp:sp modelId="{42404743-5237-4B72-A3D1-12E21DAAED91}">
      <dsp:nvSpPr>
        <dsp:cNvPr id="8" name="圆角矩形 7"/>
        <dsp:cNvSpPr/>
      </dsp:nvSpPr>
      <dsp:spPr bwMode="white">
        <a:xfrm>
          <a:off x="7843059" y="529721"/>
          <a:ext cx="1680655" cy="706295"/>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US" altLang="zh-CN"/>
            <a:t>2024</a:t>
          </a:r>
          <a:endParaRPr lang="en-US" altLang="zh-CN" dirty="0"/>
        </a:p>
      </dsp:txBody>
      <dsp:txXfrm>
        <a:off x="7843059" y="529721"/>
        <a:ext cx="1680655" cy="706295"/>
      </dsp:txXfrm>
    </dsp:sp>
    <dsp:sp modelId="{6AFA1AC6-8EF1-487F-A86E-B3872D59923E}">
      <dsp:nvSpPr>
        <dsp:cNvPr id="9" name="圆角矩形 8"/>
        <dsp:cNvSpPr/>
      </dsp:nvSpPr>
      <dsp:spPr bwMode="white">
        <a:xfrm>
          <a:off x="9803824" y="529721"/>
          <a:ext cx="1680655" cy="706295"/>
        </a:xfrm>
        <a:prstGeom prst="roundRect">
          <a:avLst/>
        </a:prstGeom>
      </dsp:spPr>
      <dsp:style>
        <a:lnRef idx="2">
          <a:schemeClr val="lt1"/>
        </a:lnRef>
        <a:fillRef idx="1">
          <a:schemeClr val="accent1"/>
        </a:fillRef>
        <a:effectRef idx="0">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US" dirty="0"/>
            <a:t>2026</a:t>
          </a:r>
        </a:p>
      </dsp:txBody>
      <dsp:txXfrm>
        <a:off x="9803824" y="529721"/>
        <a:ext cx="1680655" cy="70629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300920" cy="1579362"/>
        <a:chOff x="0" y="0"/>
        <a:chExt cx="11300920" cy="1579362"/>
      </a:xfrm>
    </dsp:grpSpPr>
    <dsp:sp modelId="{7F1B8087-14D4-46E9-BDA3-689B278788F1}">
      <dsp:nvSpPr>
        <dsp:cNvPr id="3" name="燕尾形箭头 2"/>
        <dsp:cNvSpPr/>
      </dsp:nvSpPr>
      <dsp:spPr bwMode="white">
        <a:xfrm>
          <a:off x="0" y="459139"/>
          <a:ext cx="11300920" cy="631745"/>
        </a:xfrm>
        <a:prstGeom prst="notchedRightArrow">
          <a:avLst/>
        </a:prstGeom>
      </dsp:spPr>
      <dsp:style>
        <a:lnRef idx="0">
          <a:schemeClr val="dk1"/>
        </a:lnRef>
        <a:fillRef idx="1">
          <a:schemeClr val="accent5">
            <a:tint val="40000"/>
          </a:schemeClr>
        </a:fillRef>
        <a:effectRef idx="0">
          <a:scrgbClr r="0" g="0" b="0"/>
        </a:effectRef>
        <a:fontRef idx="minor"/>
      </dsp:style>
      <dsp:txXfrm>
        <a:off x="0" y="459139"/>
        <a:ext cx="11300920" cy="631745"/>
      </dsp:txXfrm>
    </dsp:sp>
    <dsp:sp modelId="{709F0686-C608-4838-801A-A9A8436C1259}">
      <dsp:nvSpPr>
        <dsp:cNvPr id="4" name="矩形 3"/>
        <dsp:cNvSpPr/>
      </dsp:nvSpPr>
      <dsp:spPr bwMode="white">
        <a:xfrm>
          <a:off x="4703623" y="947617"/>
          <a:ext cx="3280912" cy="63174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5344" tIns="85344" rIns="85344" bIns="85344" anchor="b"/>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dirty="0">
              <a:solidFill>
                <a:schemeClr val="tx1"/>
              </a:solidFill>
              <a:latin typeface="彩虹粗仿宋" panose="03000509000000000000" pitchFamily="65" charset="-122"/>
              <a:ea typeface="彩虹粗仿宋" panose="03000509000000000000" pitchFamily="65" charset="-122"/>
            </a:rPr>
            <a:t>实验室研发</a:t>
          </a:r>
          <a:endParaRPr>
            <a:solidFill>
              <a:schemeClr val="tx1"/>
            </a:solidFill>
          </a:endParaRPr>
        </a:p>
      </dsp:txBody>
      <dsp:txXfrm>
        <a:off x="4703623" y="947617"/>
        <a:ext cx="3280912" cy="631745"/>
      </dsp:txXfrm>
    </dsp:sp>
    <dsp:sp modelId="{015A70E7-75A7-463D-B466-30353DD6DE2B}">
      <dsp:nvSpPr>
        <dsp:cNvPr id="5" name="椭圆 4"/>
        <dsp:cNvSpPr/>
      </dsp:nvSpPr>
      <dsp:spPr bwMode="white">
        <a:xfrm>
          <a:off x="3962153" y="779128"/>
          <a:ext cx="157936" cy="157936"/>
        </a:xfrm>
        <a:prstGeom prst="ellipse">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Xfrm>
        <a:off x="3962153" y="779128"/>
        <a:ext cx="157936" cy="157936"/>
      </dsp:txXfrm>
    </dsp:sp>
    <dsp:sp modelId="{EE8D55E4-734A-4545-978A-75C7F9151FC7}">
      <dsp:nvSpPr>
        <dsp:cNvPr id="6" name="矩形 5"/>
        <dsp:cNvSpPr/>
      </dsp:nvSpPr>
      <dsp:spPr bwMode="white">
        <a:xfrm>
          <a:off x="5287453" y="389230"/>
          <a:ext cx="3280912" cy="63174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5344" tIns="85344" rIns="85344" bIns="85344"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dirty="0">
              <a:solidFill>
                <a:schemeClr val="tx1"/>
              </a:solidFill>
              <a:latin typeface="彩虹粗仿宋" panose="03000509000000000000" pitchFamily="65" charset="-122"/>
              <a:ea typeface="彩虹粗仿宋" panose="03000509000000000000" pitchFamily="65" charset="-122"/>
            </a:rPr>
            <a:t>临床研发</a:t>
          </a:r>
          <a:endParaRPr>
            <a:solidFill>
              <a:schemeClr val="tx1"/>
            </a:solidFill>
          </a:endParaRPr>
        </a:p>
      </dsp:txBody>
      <dsp:txXfrm>
        <a:off x="5287453" y="389230"/>
        <a:ext cx="3280912" cy="631745"/>
      </dsp:txXfrm>
    </dsp:sp>
    <dsp:sp modelId="{FA3A1612-BACA-4025-917B-FC63CC0646AD}">
      <dsp:nvSpPr>
        <dsp:cNvPr id="7" name="椭圆 6"/>
        <dsp:cNvSpPr/>
      </dsp:nvSpPr>
      <dsp:spPr bwMode="white">
        <a:xfrm>
          <a:off x="6821712" y="615046"/>
          <a:ext cx="157936" cy="157936"/>
        </a:xfrm>
        <a:prstGeom prst="ellipse">
          <a:avLst/>
        </a:prstGeom>
      </dsp:spPr>
      <dsp:style>
        <a:lnRef idx="2">
          <a:schemeClr val="lt1"/>
        </a:lnRef>
        <a:fillRef idx="1">
          <a:schemeClr val="accent5">
            <a:hueOff val="0"/>
            <a:satOff val="0"/>
            <a:lumOff val="7059"/>
            <a:alpha val="100000"/>
          </a:schemeClr>
        </a:fillRef>
        <a:effectRef idx="0">
          <a:scrgbClr r="0" g="0" b="0"/>
        </a:effectRef>
        <a:fontRef idx="minor">
          <a:schemeClr val="lt1"/>
        </a:fontRef>
      </dsp:style>
      <dsp:txXfrm>
        <a:off x="6821712" y="615046"/>
        <a:ext cx="157936" cy="157936"/>
      </dsp:txXfrm>
    </dsp:sp>
    <dsp:sp modelId="{B6EEC69C-BED1-43AC-915F-4ED3B0C0E3A3}">
      <dsp:nvSpPr>
        <dsp:cNvPr id="8" name="矩形 7"/>
        <dsp:cNvSpPr/>
      </dsp:nvSpPr>
      <dsp:spPr bwMode="white">
        <a:xfrm>
          <a:off x="7955064" y="947617"/>
          <a:ext cx="3280912" cy="63174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85344" tIns="85344" rIns="85344" bIns="85344" anchor="b"/>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dirty="0">
              <a:solidFill>
                <a:schemeClr val="tx1"/>
              </a:solidFill>
              <a:latin typeface="彩虹粗仿宋" panose="03000509000000000000" pitchFamily="65" charset="-122"/>
              <a:ea typeface="彩虹粗仿宋" panose="03000509000000000000" pitchFamily="65" charset="-122"/>
            </a:rPr>
            <a:t>市场开拓</a:t>
          </a:r>
          <a:endParaRPr>
            <a:solidFill>
              <a:schemeClr val="tx1"/>
            </a:solidFill>
          </a:endParaRPr>
        </a:p>
      </dsp:txBody>
      <dsp:txXfrm>
        <a:off x="7955064" y="947617"/>
        <a:ext cx="3280912" cy="631745"/>
      </dsp:txXfrm>
    </dsp:sp>
    <dsp:sp modelId="{6B2C18A5-B79F-40C0-9422-3C4980C8C14A}">
      <dsp:nvSpPr>
        <dsp:cNvPr id="9" name="椭圆 8"/>
        <dsp:cNvSpPr/>
      </dsp:nvSpPr>
      <dsp:spPr bwMode="white">
        <a:xfrm>
          <a:off x="9491826" y="781342"/>
          <a:ext cx="157936" cy="157936"/>
        </a:xfrm>
        <a:prstGeom prst="ellipse">
          <a:avLst/>
        </a:prstGeom>
      </dsp:spPr>
      <dsp:style>
        <a:lnRef idx="2">
          <a:schemeClr val="lt1"/>
        </a:lnRef>
        <a:fillRef idx="1">
          <a:schemeClr val="accent5">
            <a:hueOff val="0"/>
            <a:satOff val="0"/>
            <a:lumOff val="14118"/>
            <a:alpha val="100000"/>
          </a:schemeClr>
        </a:fillRef>
        <a:effectRef idx="0">
          <a:scrgbClr r="0" g="0" b="0"/>
        </a:effectRef>
        <a:fontRef idx="minor">
          <a:schemeClr val="lt1"/>
        </a:fontRef>
      </dsp:style>
      <dsp:txXfrm>
        <a:off x="9491826" y="781342"/>
        <a:ext cx="157936" cy="15793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2">
  <dgm:title val=""/>
  <dgm:desc val=""/>
  <dgm:catLst>
    <dgm:cat type="process" pri="8000"/>
    <dgm:cat type="convert" pri="14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type="notchedRightArrow" r:blip="" rot="180">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HorzCh" val="ctr"/>
                  <dgm:param type="txAnchorVertCh" val="b"/>
                  <dgm:param type="txAnchorVert" val="b"/>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HorzCh" val="ctr"/>
                  <dgm:param type="txAnchorVertCh" val="t"/>
                  <dgm:param type="txAnchorVert" val="t"/>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78E0E4-DC06-4041-AFA7-BB6F527FFA3F}"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4B7432-8BB0-4EFA-A417-EFCDC17B281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ChimericAntigenReceptor</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ChimericAntigenReceptor</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2024</a:t>
            </a:r>
            <a:r>
              <a:rPr lang="zh-CN" altLang="en-US"/>
              <a:t>年疗效不够，是失败的，但是安全性特别好。</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高灵敏度的电位采集与电极阵列：能够捕获颅内微弱而纯净的神经信号。</a:t>
            </a:r>
            <a:endParaRPr lang="zh-CN" altLang="en-US" dirty="0"/>
          </a:p>
          <a:p>
            <a:r>
              <a:rPr lang="zh-CN" altLang="en-US" dirty="0"/>
              <a:t>精密的脑电识别算法：用于解析复杂的脑电模式，例如识别癫痫发作前兆。</a:t>
            </a:r>
            <a:endParaRPr lang="zh-CN" altLang="en-US" dirty="0"/>
          </a:p>
          <a:p>
            <a:r>
              <a:rPr lang="zh-CN" altLang="en-US" dirty="0"/>
              <a:t>控制芯片：负责设备内部的信号处理和控制逻辑。</a:t>
            </a:r>
            <a:endParaRPr lang="zh-CN" altLang="en-US" dirty="0"/>
          </a:p>
          <a:p>
            <a:r>
              <a:rPr lang="zh-CN" altLang="en-US" dirty="0"/>
              <a:t>高效的输出刺激系统：根据识别结果，精准地对神经系统进行调控干预。</a:t>
            </a:r>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智能脑深部电刺激系统</a:t>
            </a:r>
            <a:endParaRPr lang="zh-CN" altLang="en-US" dirty="0"/>
          </a:p>
          <a:p>
            <a:r>
              <a:rPr lang="en-US" altLang="zh-CN" dirty="0"/>
              <a:t>intelligent Smart Brain Stimulation</a:t>
            </a:r>
            <a:r>
              <a:rPr lang="zh-CN" altLang="en-US" dirty="0"/>
              <a:t>全频段感知可同时覆盖</a:t>
            </a:r>
            <a:r>
              <a:rPr lang="en-US" altLang="zh-CN" dirty="0"/>
              <a:t> θ</a:t>
            </a:r>
            <a:r>
              <a:rPr lang="zh-CN" altLang="en-US" dirty="0"/>
              <a:t>、</a:t>
            </a:r>
            <a:r>
              <a:rPr lang="en-US" altLang="zh-CN" dirty="0"/>
              <a:t>δ</a:t>
            </a:r>
            <a:r>
              <a:rPr lang="zh-CN" altLang="en-US" dirty="0"/>
              <a:t>、</a:t>
            </a:r>
            <a:r>
              <a:rPr lang="en-US" altLang="zh-CN" dirty="0"/>
              <a:t>α</a:t>
            </a:r>
            <a:r>
              <a:rPr lang="zh-CN" altLang="en-US" dirty="0"/>
              <a:t>、</a:t>
            </a:r>
            <a:r>
              <a:rPr lang="en-US" altLang="zh-CN" dirty="0"/>
              <a:t>β</a:t>
            </a:r>
            <a:r>
              <a:rPr lang="zh-CN" altLang="en-US" dirty="0"/>
              <a:t>、</a:t>
            </a:r>
            <a:r>
              <a:rPr lang="en-US" altLang="zh-CN" dirty="0"/>
              <a:t>γ </a:t>
            </a:r>
            <a:r>
              <a:rPr lang="zh-CN" altLang="en-US" dirty="0"/>
              <a:t>等多个脑电频段的能量变化。帕金森病的运动症状（如震颤、僵直）与</a:t>
            </a:r>
            <a:r>
              <a:rPr lang="en-US" altLang="zh-CN" dirty="0"/>
              <a:t> β </a:t>
            </a:r>
            <a:r>
              <a:rPr lang="zh-CN" altLang="en-US" dirty="0"/>
              <a:t>频段异常高度相关，而情绪、认知问题则与其他频段关联。全频段监测能更完整地反映患者的真实脑电状态。</a:t>
            </a:r>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Spinal Cord Epidural Electrical Stimulation</a:t>
            </a:r>
            <a:r>
              <a:rPr lang="zh-CN" altLang="en-US" dirty="0"/>
              <a:t>（脊髓硬膜外电刺激）</a:t>
            </a:r>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2024</a:t>
            </a:r>
            <a:r>
              <a:rPr lang="zh-CN" altLang="en-US"/>
              <a:t>年疗效不够，是失败的，但是安全性特别好。</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2024</a:t>
            </a:r>
            <a:r>
              <a:rPr lang="zh-CN" altLang="en-US"/>
              <a:t>年疗效不够，是失败的，但是安全性特别好。</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spTree>
      <p:nvGrpSpPr>
        <p:cNvPr id="1" name=""/>
        <p:cNvGrpSpPr/>
        <p:nvPr/>
      </p:nvGrpSpPr>
      <p:grpSpPr>
        <a:xfrm>
          <a:off x="0" y="0"/>
          <a:ext cx="0" cy="0"/>
          <a:chOff x="0" y="0"/>
          <a:chExt cx="0" cy="0"/>
        </a:xfrm>
      </p:grpSpPr>
      <p:sp>
        <p:nvSpPr>
          <p:cNvPr id="6" name="išḷïḓê"/>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 name="图片 6" descr="图片包含 户外, 自然, 骑, 波浪&#10;&#10;描述已自动生成"/>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6227" r="40592"/>
          <a:stretch>
            <a:fillRect/>
          </a:stretch>
        </p:blipFill>
        <p:spPr>
          <a:xfrm>
            <a:off x="5707970" y="0"/>
            <a:ext cx="6484030" cy="6858000"/>
          </a:xfrm>
          <a:prstGeom prst="rect">
            <a:avLst/>
          </a:prstGeom>
          <a:effectLst>
            <a:outerShdw blurRad="381000" dist="50800" dir="5400000" algn="ctr" rotWithShape="0">
              <a:srgbClr val="000000">
                <a:alpha val="30000"/>
              </a:srgbClr>
            </a:outerShdw>
          </a:effectLst>
        </p:spPr>
      </p:pic>
      <p:sp>
        <p:nvSpPr>
          <p:cNvPr id="9801" name="副标题 9800"/>
          <p:cNvSpPr>
            <a:spLocks noGrp="1"/>
          </p:cNvSpPr>
          <p:nvPr>
            <p:ph type="subTitle" idx="1"/>
          </p:nvPr>
        </p:nvSpPr>
        <p:spPr>
          <a:xfrm>
            <a:off x="673099" y="3710984"/>
            <a:ext cx="4572001" cy="436585"/>
          </a:xfrm>
          <a:solidFill>
            <a:schemeClr val="bg1"/>
          </a:solidFill>
        </p:spPr>
        <p:txBody>
          <a:bodyPr anchor="ctr">
            <a:normAutofit/>
          </a:bodyPr>
          <a:lstStyle>
            <a:lvl1pPr marL="0" indent="0" algn="ctr">
              <a:buFont typeface="Arial" panose="020B0604020202090204" pitchFamily="34" charset="0"/>
              <a:buNone/>
              <a:defRPr sz="1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9801"/>
          <p:cNvSpPr>
            <a:spLocks noGrp="1"/>
          </p:cNvSpPr>
          <p:nvPr>
            <p:ph type="ctrTitle"/>
          </p:nvPr>
        </p:nvSpPr>
        <p:spPr>
          <a:xfrm>
            <a:off x="673099" y="1773936"/>
            <a:ext cx="6484030" cy="1856677"/>
          </a:xfrm>
        </p:spPr>
        <p:txBody>
          <a:bodyPr anchor="b">
            <a:normAutofit/>
          </a:bodyPr>
          <a:lstStyle>
            <a:lvl1pPr marL="0" indent="0" algn="l" defTabSz="914400" rtl="0" eaLnBrk="1" latinLnBrk="0" hangingPunct="1">
              <a:lnSpc>
                <a:spcPct val="90000"/>
              </a:lnSpc>
              <a:spcBef>
                <a:spcPct val="0"/>
              </a:spcBef>
              <a:buFont typeface="Arial" panose="020B0604020202090204" pitchFamily="34" charset="0"/>
              <a:buNone/>
              <a:defRPr lang="zh-CN" altLang="en-US" sz="5400" b="1" kern="1200" dirty="0">
                <a:solidFill>
                  <a:schemeClr val="bg1"/>
                </a:solidFill>
                <a:latin typeface="+mj-lt"/>
                <a:ea typeface="+mj-ea"/>
                <a:cs typeface="+mj-cs"/>
              </a:defRPr>
            </a:lvl1pPr>
          </a:lstStyle>
          <a:p>
            <a:r>
              <a:rPr lang="en-US" dirty="0"/>
              <a:t>Click to edit Master title style</a:t>
            </a:r>
            <a:endParaRPr lang="zh-CN" altLang="en-US" dirty="0"/>
          </a:p>
        </p:txBody>
      </p:sp>
      <p:sp>
        <p:nvSpPr>
          <p:cNvPr id="12" name="文本占位符 11"/>
          <p:cNvSpPr>
            <a:spLocks noGrp="1"/>
          </p:cNvSpPr>
          <p:nvPr>
            <p:ph type="body" sz="quarter" idx="10" hasCustomPrompt="1"/>
          </p:nvPr>
        </p:nvSpPr>
        <p:spPr>
          <a:xfrm>
            <a:off x="673099" y="5846358"/>
            <a:ext cx="10334870" cy="296271"/>
          </a:xfrm>
        </p:spPr>
        <p:txBody>
          <a:bodyPr vert="horz" anchor="ctr">
            <a:noAutofit/>
          </a:bodyPr>
          <a:lstStyle>
            <a:lvl1pPr marL="0" indent="0" algn="l">
              <a:buFont typeface="Arial" panose="020B060402020209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2"/>
          <p:cNvSpPr>
            <a:spLocks noGrp="1"/>
          </p:cNvSpPr>
          <p:nvPr>
            <p:ph type="body" sz="quarter" idx="11" hasCustomPrompt="1"/>
          </p:nvPr>
        </p:nvSpPr>
        <p:spPr>
          <a:xfrm>
            <a:off x="673099" y="6142629"/>
            <a:ext cx="10334870" cy="296271"/>
          </a:xfrm>
        </p:spPr>
        <p:txBody>
          <a:bodyPr vert="horz" anchor="ctr">
            <a:noAutofit/>
          </a:bodyPr>
          <a:lstStyle>
            <a:lvl1pPr marL="0" indent="0" algn="l">
              <a:buFont typeface="Arial" panose="020B060402020209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grpSp>
        <p:nvGrpSpPr>
          <p:cNvPr id="8" name="组合 7"/>
          <p:cNvGrpSpPr/>
          <p:nvPr userDrawn="1"/>
        </p:nvGrpSpPr>
        <p:grpSpPr>
          <a:xfrm>
            <a:off x="11306913" y="6142629"/>
            <a:ext cx="203402" cy="203402"/>
            <a:chOff x="10833100" y="6137275"/>
            <a:chExt cx="296271" cy="296271"/>
          </a:xfrm>
        </p:grpSpPr>
        <p:sp>
          <p:nvSpPr>
            <p:cNvPr id="9" name="ïṡ1íḍê"/>
            <p:cNvSpPr/>
            <p:nvPr/>
          </p:nvSpPr>
          <p:spPr>
            <a:xfrm>
              <a:off x="10833100" y="6137275"/>
              <a:ext cx="296271" cy="29627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íšḻïḋe"/>
            <p:cNvSpPr>
              <a:spLocks noChangeAspect="1"/>
            </p:cNvSpPr>
            <p:nvPr/>
          </p:nvSpPr>
          <p:spPr bwMode="auto">
            <a:xfrm>
              <a:off x="10932611" y="6200129"/>
              <a:ext cx="121059" cy="170563"/>
            </a:xfrm>
            <a:prstGeom prst="chevron">
              <a:avLst>
                <a:gd name="adj" fmla="val 75059"/>
              </a:avLst>
            </a:prstGeom>
            <a:solidFill>
              <a:schemeClr val="bg1"/>
            </a:solidFill>
            <a:ln>
              <a:noFill/>
            </a:ln>
          </p:spPr>
        </p:sp>
      </p:grpSp>
      <p:grpSp>
        <p:nvGrpSpPr>
          <p:cNvPr id="11" name="组合 10"/>
          <p:cNvGrpSpPr/>
          <p:nvPr userDrawn="1"/>
        </p:nvGrpSpPr>
        <p:grpSpPr>
          <a:xfrm>
            <a:off x="5368340" y="4589378"/>
            <a:ext cx="788663" cy="815171"/>
            <a:chOff x="7496175" y="3329839"/>
            <a:chExt cx="1841896" cy="1903805"/>
          </a:xfrm>
          <a:solidFill>
            <a:schemeClr val="bg1"/>
          </a:solidFill>
        </p:grpSpPr>
        <p:grpSp>
          <p:nvGrpSpPr>
            <p:cNvPr id="14" name="组合 13"/>
            <p:cNvGrpSpPr/>
            <p:nvPr/>
          </p:nvGrpSpPr>
          <p:grpSpPr>
            <a:xfrm>
              <a:off x="7496175" y="3329839"/>
              <a:ext cx="1841896" cy="99161"/>
              <a:chOff x="7496175" y="3329839"/>
              <a:chExt cx="1841896" cy="99161"/>
            </a:xfrm>
            <a:grpFill/>
          </p:grpSpPr>
          <p:sp>
            <p:nvSpPr>
              <p:cNvPr id="63" name="îṧľíḓe"/>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íŝļïḋè"/>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íṥlïḓè"/>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î$ḻïḑe"/>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íṩḻidé"/>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ïṥļîḑè"/>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iŝ1îḍe"/>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7496175" y="3630613"/>
              <a:ext cx="1841896" cy="99161"/>
              <a:chOff x="7496175" y="3329839"/>
              <a:chExt cx="1841896" cy="99161"/>
            </a:xfrm>
            <a:grpFill/>
          </p:grpSpPr>
          <p:sp>
            <p:nvSpPr>
              <p:cNvPr id="56" name="iş1îḓê"/>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îṩ1îḍe"/>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iṣliďè"/>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i$ḷïdé"/>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ïŝḻîḓe"/>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išḷïḓé"/>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išļiḑé"/>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7496175" y="3931387"/>
              <a:ext cx="1841896" cy="99161"/>
              <a:chOff x="7496175" y="3329839"/>
              <a:chExt cx="1841896" cy="99161"/>
            </a:xfrm>
            <a:grpFill/>
          </p:grpSpPr>
          <p:sp>
            <p:nvSpPr>
              <p:cNvPr id="49" name="íślîḑê"/>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išḷïḍe"/>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íśḻîḑe"/>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ïşļiḋè"/>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i$ḻîḋe"/>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îsḷiḑê"/>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íṡ1ïḑê"/>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7496175" y="4232161"/>
              <a:ext cx="1841896" cy="99161"/>
              <a:chOff x="7496175" y="3329839"/>
              <a:chExt cx="1841896" cy="99161"/>
            </a:xfrm>
            <a:grpFill/>
          </p:grpSpPr>
          <p:sp>
            <p:nvSpPr>
              <p:cNvPr id="42" name="íṩľîḑè"/>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îṩlîdé"/>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ïśḻîḋè"/>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iṥḷîdè"/>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í$ḷide"/>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ïşľîḓê"/>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iṣļíďé"/>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7496175" y="4532935"/>
              <a:ext cx="1841896" cy="99161"/>
              <a:chOff x="7496175" y="3329839"/>
              <a:chExt cx="1841896" cy="99161"/>
            </a:xfrm>
            <a:grpFill/>
          </p:grpSpPr>
          <p:sp>
            <p:nvSpPr>
              <p:cNvPr id="35" name="ïs1ide"/>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ïŝ1îďê"/>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iŝľiḋè"/>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ïŝliḑe"/>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iśļiḑé"/>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ïṣļïḓê"/>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iṡ1ídè"/>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7496175" y="4833709"/>
              <a:ext cx="1841896" cy="99161"/>
              <a:chOff x="7496175" y="3329839"/>
              <a:chExt cx="1841896" cy="99161"/>
            </a:xfrm>
            <a:grpFill/>
          </p:grpSpPr>
          <p:sp>
            <p:nvSpPr>
              <p:cNvPr id="28" name="iś1íḑe"/>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íşľíḓè"/>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íšľïďê"/>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îṧ1íďè"/>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í$1íďê"/>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íśļïdè"/>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iŝḷíḑé"/>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7496175" y="5134483"/>
              <a:ext cx="1841896" cy="99161"/>
              <a:chOff x="7496175" y="3329839"/>
              <a:chExt cx="1841896" cy="99161"/>
            </a:xfrm>
            <a:grpFill/>
          </p:grpSpPr>
          <p:sp>
            <p:nvSpPr>
              <p:cNvPr id="21" name="íṥḻíḑê"/>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íśľiḓè"/>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íṣľîdè"/>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is1îďè"/>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îṥḻiḓe"/>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iślídè"/>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íSḷiďé"/>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70" name="组合 69"/>
          <p:cNvGrpSpPr/>
          <p:nvPr userDrawn="1"/>
        </p:nvGrpSpPr>
        <p:grpSpPr>
          <a:xfrm>
            <a:off x="41208" y="28576"/>
            <a:ext cx="628717" cy="348564"/>
            <a:chOff x="41208" y="28576"/>
            <a:chExt cx="541963" cy="300467"/>
          </a:xfrm>
          <a:solidFill>
            <a:schemeClr val="bg1">
              <a:alpha val="60000"/>
            </a:schemeClr>
          </a:solidFill>
        </p:grpSpPr>
        <p:sp>
          <p:nvSpPr>
            <p:cNvPr id="71" name="ísľíḍè"/>
            <p:cNvSpPr/>
            <p:nvPr/>
          </p:nvSpPr>
          <p:spPr>
            <a:xfrm>
              <a:off x="41208"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ïṩļíḍé"/>
            <p:cNvSpPr/>
            <p:nvPr/>
          </p:nvSpPr>
          <p:spPr>
            <a:xfrm>
              <a:off x="166084"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îŝļíḑê"/>
            <p:cNvSpPr/>
            <p:nvPr/>
          </p:nvSpPr>
          <p:spPr>
            <a:xfrm>
              <a:off x="290960"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iṡľidé"/>
            <p:cNvSpPr/>
            <p:nvPr/>
          </p:nvSpPr>
          <p:spPr>
            <a:xfrm>
              <a:off x="415836"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işľïḋe"/>
            <p:cNvSpPr/>
            <p:nvPr/>
          </p:nvSpPr>
          <p:spPr>
            <a:xfrm>
              <a:off x="540712"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îšlîdê"/>
            <p:cNvSpPr/>
            <p:nvPr/>
          </p:nvSpPr>
          <p:spPr>
            <a:xfrm>
              <a:off x="41208"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ïṡ1ídè"/>
            <p:cNvSpPr/>
            <p:nvPr/>
          </p:nvSpPr>
          <p:spPr>
            <a:xfrm>
              <a:off x="166084"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îŝḻîďè"/>
            <p:cNvSpPr/>
            <p:nvPr/>
          </p:nvSpPr>
          <p:spPr>
            <a:xfrm>
              <a:off x="290960"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ïşľîdé"/>
            <p:cNvSpPr/>
            <p:nvPr/>
          </p:nvSpPr>
          <p:spPr>
            <a:xfrm>
              <a:off x="415836"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i$1ïḋè"/>
            <p:cNvSpPr/>
            <p:nvPr/>
          </p:nvSpPr>
          <p:spPr>
            <a:xfrm>
              <a:off x="540712"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ïS1íḓè"/>
            <p:cNvSpPr/>
            <p:nvPr/>
          </p:nvSpPr>
          <p:spPr>
            <a:xfrm>
              <a:off x="41208"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íşļîḑè"/>
            <p:cNvSpPr/>
            <p:nvPr/>
          </p:nvSpPr>
          <p:spPr>
            <a:xfrm>
              <a:off x="166084"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ïṥliḍè"/>
            <p:cNvSpPr/>
            <p:nvPr/>
          </p:nvSpPr>
          <p:spPr>
            <a:xfrm>
              <a:off x="290960"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îś1idè"/>
            <p:cNvSpPr/>
            <p:nvPr/>
          </p:nvSpPr>
          <p:spPr>
            <a:xfrm>
              <a:off x="415836"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îşḷîḍê"/>
            <p:cNvSpPr/>
            <p:nvPr/>
          </p:nvSpPr>
          <p:spPr>
            <a:xfrm>
              <a:off x="540712"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pic>
        <p:nvPicPr>
          <p:cNvPr id="6" name="图片 5" descr="图片包含 户外, 自然, 骑, 波浪&#10;&#10;描述已自动生成"/>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703" t="43646" r="685" b="17639"/>
          <a:stretch>
            <a:fillRect/>
          </a:stretch>
        </p:blipFill>
        <p:spPr>
          <a:xfrm>
            <a:off x="0" y="4165600"/>
            <a:ext cx="12192000" cy="2692400"/>
          </a:xfrm>
          <a:prstGeom prst="rect">
            <a:avLst/>
          </a:prstGeom>
          <a:effectLst>
            <a:outerShdw blurRad="381000" dist="50800" dir="16200000" rotWithShape="0">
              <a:schemeClr val="bg1">
                <a:lumMod val="50000"/>
                <a:alpha val="30000"/>
              </a:schemeClr>
            </a:outerShdw>
          </a:effectLst>
        </p:spPr>
      </p:pic>
      <p:sp>
        <p:nvSpPr>
          <p:cNvPr id="20" name="标题 19"/>
          <p:cNvSpPr>
            <a:spLocks noGrp="1"/>
          </p:cNvSpPr>
          <p:nvPr>
            <p:ph type="title"/>
          </p:nvPr>
        </p:nvSpPr>
        <p:spPr>
          <a:xfrm>
            <a:off x="5428452" y="1822450"/>
            <a:ext cx="5419185"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21" name="文本占位符 20"/>
          <p:cNvSpPr>
            <a:spLocks noGrp="1"/>
          </p:cNvSpPr>
          <p:nvPr>
            <p:ph type="body" idx="1"/>
          </p:nvPr>
        </p:nvSpPr>
        <p:spPr>
          <a:xfrm>
            <a:off x="5429568" y="2717800"/>
            <a:ext cx="5419185" cy="1015623"/>
          </a:xfrm>
        </p:spPr>
        <p:txBody>
          <a:bodyPr anchor="t">
            <a:normAutofit/>
          </a:bodyPr>
          <a:lstStyle>
            <a:lvl1pPr marL="0" indent="0" algn="l">
              <a:lnSpc>
                <a:spcPct val="150000"/>
              </a:lnSpc>
              <a:spcBef>
                <a:spcPts val="0"/>
              </a:spcBef>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669925" y="0"/>
            <a:ext cx="9342120" cy="577215"/>
          </a:xfrm>
        </p:spPr>
        <p:txBody>
          <a:bodyPr>
            <a:normAutofit/>
          </a:bodyPr>
          <a:lstStyle>
            <a:lvl1pPr>
              <a:defRPr sz="2400"/>
            </a:lvl1pPr>
          </a:lstStyle>
          <a:p>
            <a:r>
              <a:rPr lang="en-US" altLang="zh-CN" dirty="0"/>
              <a:t>Click to edit Master title style</a:t>
            </a:r>
            <a:endParaRPr lang="en-US" dirty="0"/>
          </a:p>
        </p:txBody>
      </p:sp>
      <p:sp>
        <p:nvSpPr>
          <p:cNvPr id="3" name="日期占位符 2"/>
          <p:cNvSpPr>
            <a:spLocks noGrp="1"/>
          </p:cNvSpPr>
          <p:nvPr>
            <p:ph type="dt" sz="half" idx="10"/>
          </p:nvPr>
        </p:nvSpPr>
        <p:spPr>
          <a:xfrm>
            <a:off x="5401732" y="6505156"/>
            <a:ext cx="1388536" cy="206381"/>
          </a:xfrm>
        </p:spPr>
        <p:txBody>
          <a:bodyPr/>
          <a:lstStyle/>
          <a:p>
            <a:endParaRPr lang="zh-CN" altLang="en-US"/>
          </a:p>
        </p:txBody>
      </p:sp>
      <p:sp>
        <p:nvSpPr>
          <p:cNvPr id="4" name="页脚占位符 3"/>
          <p:cNvSpPr>
            <a:spLocks noGrp="1"/>
          </p:cNvSpPr>
          <p:nvPr>
            <p:ph type="ftr" sz="quarter" idx="11"/>
          </p:nvPr>
        </p:nvSpPr>
        <p:spPr>
          <a:xfrm>
            <a:off x="669924" y="6505156"/>
            <a:ext cx="4140201" cy="206381"/>
          </a:xfrm>
        </p:spPr>
        <p:txBody>
          <a:bodyPr/>
          <a:lstStyle/>
          <a:p>
            <a:r>
              <a:rPr lang="zh-CN" altLang="en-US"/>
              <a:t>内部分析资料，严格保密</a:t>
            </a:r>
            <a:endParaRPr lang="zh-CN" altLang="en-US"/>
          </a:p>
        </p:txBody>
      </p:sp>
      <p:sp>
        <p:nvSpPr>
          <p:cNvPr id="5" name="灯片编号占位符 4"/>
          <p:cNvSpPr>
            <a:spLocks noGrp="1"/>
          </p:cNvSpPr>
          <p:nvPr>
            <p:ph type="sldNum" sz="quarter" idx="12"/>
          </p:nvPr>
        </p:nvSpPr>
        <p:spPr>
          <a:xfrm>
            <a:off x="8610599" y="6505156"/>
            <a:ext cx="2909888" cy="206381"/>
          </a:xfrm>
        </p:spPr>
        <p:txBody>
          <a:bodyPr/>
          <a:lstStyle/>
          <a:p>
            <a:fld id="{5DD3DB80-B894-403A-B48E-6FDC1A72010E}" type="slidenum">
              <a:rPr lang="zh-CN" altLang="en-US" smtClean="0"/>
            </a:fld>
            <a:endParaRPr lang="zh-CN" altLang="en-US"/>
          </a:p>
        </p:txBody>
      </p:sp>
      <p:sp>
        <p:nvSpPr>
          <p:cNvPr id="6" name="文本框 5"/>
          <p:cNvSpPr txBox="1"/>
          <p:nvPr userDrawn="1"/>
        </p:nvSpPr>
        <p:spPr>
          <a:xfrm>
            <a:off x="10786110" y="549910"/>
            <a:ext cx="4064000" cy="368300"/>
          </a:xfrm>
          <a:prstGeom prst="rect">
            <a:avLst/>
          </a:prstGeom>
          <a:noFill/>
        </p:spPr>
        <p:txBody>
          <a:bodyPr wrap="square" rtlCol="0">
            <a:spAutoFit/>
          </a:bodyPr>
          <a:lstStyle/>
          <a:p>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5" name="ïS1îḍe"/>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 name="图片 6" descr="图片包含 户外, 自然, 骑, 波浪&#10;&#10;描述已自动生成"/>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6227" r="40592"/>
          <a:stretch>
            <a:fillRect/>
          </a:stretch>
        </p:blipFill>
        <p:spPr>
          <a:xfrm>
            <a:off x="6195433" y="4453"/>
            <a:ext cx="5325055" cy="5718484"/>
          </a:xfrm>
          <a:prstGeom prst="rect">
            <a:avLst/>
          </a:prstGeom>
          <a:effectLst>
            <a:outerShdw blurRad="1143000" dist="50800" dir="5400000" algn="ctr" rotWithShape="0">
              <a:srgbClr val="000000">
                <a:alpha val="30000"/>
              </a:srgbClr>
            </a:outerShdw>
          </a:effectLst>
        </p:spPr>
      </p:pic>
      <p:grpSp>
        <p:nvGrpSpPr>
          <p:cNvPr id="8" name="组合 7"/>
          <p:cNvGrpSpPr/>
          <p:nvPr userDrawn="1"/>
        </p:nvGrpSpPr>
        <p:grpSpPr>
          <a:xfrm>
            <a:off x="11306913" y="6142629"/>
            <a:ext cx="203402" cy="203402"/>
            <a:chOff x="10833100" y="6137275"/>
            <a:chExt cx="296271" cy="296271"/>
          </a:xfrm>
        </p:grpSpPr>
        <p:sp>
          <p:nvSpPr>
            <p:cNvPr id="9" name="i$ḻíḍê"/>
            <p:cNvSpPr/>
            <p:nvPr/>
          </p:nvSpPr>
          <p:spPr>
            <a:xfrm>
              <a:off x="10833100" y="6137275"/>
              <a:ext cx="296271" cy="29627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ï$ľiďé"/>
            <p:cNvSpPr>
              <a:spLocks noChangeAspect="1"/>
            </p:cNvSpPr>
            <p:nvPr/>
          </p:nvSpPr>
          <p:spPr bwMode="auto">
            <a:xfrm>
              <a:off x="10932611" y="6200129"/>
              <a:ext cx="121059" cy="170563"/>
            </a:xfrm>
            <a:prstGeom prst="chevron">
              <a:avLst>
                <a:gd name="adj" fmla="val 75059"/>
              </a:avLst>
            </a:prstGeom>
            <a:solidFill>
              <a:schemeClr val="bg1"/>
            </a:solidFill>
            <a:ln>
              <a:noFill/>
            </a:ln>
          </p:spPr>
        </p:sp>
      </p:grpSp>
      <p:grpSp>
        <p:nvGrpSpPr>
          <p:cNvPr id="11" name="组合 10"/>
          <p:cNvGrpSpPr/>
          <p:nvPr userDrawn="1"/>
        </p:nvGrpSpPr>
        <p:grpSpPr>
          <a:xfrm>
            <a:off x="5957204" y="4588091"/>
            <a:ext cx="788663" cy="815171"/>
            <a:chOff x="7496175" y="3329839"/>
            <a:chExt cx="1841896" cy="1903805"/>
          </a:xfrm>
          <a:solidFill>
            <a:schemeClr val="bg1"/>
          </a:solidFill>
        </p:grpSpPr>
        <p:grpSp>
          <p:nvGrpSpPr>
            <p:cNvPr id="12" name="组合 11"/>
            <p:cNvGrpSpPr/>
            <p:nvPr/>
          </p:nvGrpSpPr>
          <p:grpSpPr>
            <a:xfrm>
              <a:off x="7496175" y="3329839"/>
              <a:ext cx="1841896" cy="99161"/>
              <a:chOff x="7496175" y="3329839"/>
              <a:chExt cx="1841896" cy="99161"/>
            </a:xfrm>
            <a:grpFill/>
          </p:grpSpPr>
          <p:sp>
            <p:nvSpPr>
              <p:cNvPr id="63" name="íSḷïḋe"/>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íšḻïḓê"/>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îŝļïďè"/>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í$1iḓè"/>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í$ḻiḋê"/>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ïṣ1iḋè"/>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iSḷiḋé"/>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7496175" y="3630613"/>
              <a:ext cx="1841896" cy="99161"/>
              <a:chOff x="7496175" y="3329839"/>
              <a:chExt cx="1841896" cy="99161"/>
            </a:xfrm>
            <a:grpFill/>
          </p:grpSpPr>
          <p:sp>
            <p:nvSpPr>
              <p:cNvPr id="56" name="iṡľïḓé"/>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íSľïďé"/>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îślíḋe"/>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i$ļiďe"/>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ïṣľiḑê"/>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î$ḻíďè"/>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ïṩľiḓe"/>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7496175" y="3931387"/>
              <a:ext cx="1841896" cy="99161"/>
              <a:chOff x="7496175" y="3329839"/>
              <a:chExt cx="1841896" cy="99161"/>
            </a:xfrm>
            <a:grpFill/>
          </p:grpSpPr>
          <p:sp>
            <p:nvSpPr>
              <p:cNvPr id="49" name="îşḷíḑê"/>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iṣḷîďe"/>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ïsľíde"/>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íṡľîḋé"/>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îSľïḓê"/>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îşļíḑe"/>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íṡ1íďe"/>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7496175" y="4232161"/>
              <a:ext cx="1841896" cy="99161"/>
              <a:chOff x="7496175" y="3329839"/>
              <a:chExt cx="1841896" cy="99161"/>
            </a:xfrm>
            <a:grpFill/>
          </p:grpSpPr>
          <p:sp>
            <p:nvSpPr>
              <p:cNvPr id="42" name="iSlïḑê"/>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iṩlíďè"/>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ïşḷiḓé"/>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îṡḻïde"/>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íṩļídé"/>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iṧľíḍe"/>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íšľîḓè"/>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7496175" y="4532935"/>
              <a:ext cx="1841896" cy="99161"/>
              <a:chOff x="7496175" y="3329839"/>
              <a:chExt cx="1841896" cy="99161"/>
            </a:xfrm>
            <a:grpFill/>
          </p:grpSpPr>
          <p:sp>
            <p:nvSpPr>
              <p:cNvPr id="35" name="îśḻiḑé"/>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í$ḷíďé"/>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i$1íḍe"/>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iṣľîḋe"/>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ïṩļîďê"/>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işļîḋé"/>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i$ḻïdê"/>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7496175" y="4833709"/>
              <a:ext cx="1841896" cy="99161"/>
              <a:chOff x="7496175" y="3329839"/>
              <a:chExt cx="1841896" cy="99161"/>
            </a:xfrm>
            <a:grpFill/>
          </p:grpSpPr>
          <p:sp>
            <p:nvSpPr>
              <p:cNvPr id="28" name="ïṣḻïḋe"/>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işļíḍe"/>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ïş1ïḍe"/>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iṧlïḍê"/>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ïṩḻíḋe"/>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iśļîḑé"/>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íš1íḍê"/>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7496175" y="5134483"/>
              <a:ext cx="1841896" cy="99161"/>
              <a:chOff x="7496175" y="3329839"/>
              <a:chExt cx="1841896" cy="99161"/>
            </a:xfrm>
            <a:grpFill/>
          </p:grpSpPr>
          <p:sp>
            <p:nvSpPr>
              <p:cNvPr id="21" name="íṣľíḓè"/>
              <p:cNvSpPr/>
              <p:nvPr/>
            </p:nvSpPr>
            <p:spPr>
              <a:xfrm>
                <a:off x="749617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î$ḻîďe"/>
              <p:cNvSpPr/>
              <p:nvPr/>
            </p:nvSpPr>
            <p:spPr>
              <a:xfrm>
                <a:off x="7786631"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îS1ïdê"/>
              <p:cNvSpPr/>
              <p:nvPr/>
            </p:nvSpPr>
            <p:spPr>
              <a:xfrm>
                <a:off x="8077087"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íṧḷíḋe"/>
              <p:cNvSpPr/>
              <p:nvPr/>
            </p:nvSpPr>
            <p:spPr>
              <a:xfrm>
                <a:off x="8367543"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íśľîḑè"/>
              <p:cNvSpPr/>
              <p:nvPr/>
            </p:nvSpPr>
            <p:spPr>
              <a:xfrm>
                <a:off x="8657999"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iṧľíḑê"/>
              <p:cNvSpPr/>
              <p:nvPr/>
            </p:nvSpPr>
            <p:spPr>
              <a:xfrm>
                <a:off x="8948455"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íṩḷîḓe"/>
              <p:cNvSpPr/>
              <p:nvPr/>
            </p:nvSpPr>
            <p:spPr>
              <a:xfrm>
                <a:off x="9238910" y="3329839"/>
                <a:ext cx="99161" cy="9916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70" name="组合 69"/>
          <p:cNvGrpSpPr/>
          <p:nvPr userDrawn="1"/>
        </p:nvGrpSpPr>
        <p:grpSpPr>
          <a:xfrm>
            <a:off x="41208" y="28576"/>
            <a:ext cx="628717" cy="348564"/>
            <a:chOff x="41208" y="28576"/>
            <a:chExt cx="541963" cy="300467"/>
          </a:xfrm>
          <a:solidFill>
            <a:schemeClr val="bg1">
              <a:alpha val="60000"/>
            </a:schemeClr>
          </a:solidFill>
        </p:grpSpPr>
        <p:sp>
          <p:nvSpPr>
            <p:cNvPr id="71" name="íṥľídé"/>
            <p:cNvSpPr/>
            <p:nvPr/>
          </p:nvSpPr>
          <p:spPr>
            <a:xfrm>
              <a:off x="41208"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íśḻíďé"/>
            <p:cNvSpPr/>
            <p:nvPr/>
          </p:nvSpPr>
          <p:spPr>
            <a:xfrm>
              <a:off x="166084"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işľíďè"/>
            <p:cNvSpPr/>
            <p:nvPr/>
          </p:nvSpPr>
          <p:spPr>
            <a:xfrm>
              <a:off x="290960"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ïşļíḑe"/>
            <p:cNvSpPr/>
            <p:nvPr/>
          </p:nvSpPr>
          <p:spPr>
            <a:xfrm>
              <a:off x="415836"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ïsľíḍé"/>
            <p:cNvSpPr/>
            <p:nvPr/>
          </p:nvSpPr>
          <p:spPr>
            <a:xfrm>
              <a:off x="540712" y="28576"/>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iṧḻîdé"/>
            <p:cNvSpPr/>
            <p:nvPr/>
          </p:nvSpPr>
          <p:spPr>
            <a:xfrm>
              <a:off x="41208"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ïSlïḋè"/>
            <p:cNvSpPr/>
            <p:nvPr/>
          </p:nvSpPr>
          <p:spPr>
            <a:xfrm>
              <a:off x="166084"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îṧḻïḋé"/>
            <p:cNvSpPr/>
            <p:nvPr/>
          </p:nvSpPr>
          <p:spPr>
            <a:xfrm>
              <a:off x="290960"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ísľiḑê"/>
            <p:cNvSpPr/>
            <p:nvPr/>
          </p:nvSpPr>
          <p:spPr>
            <a:xfrm>
              <a:off x="415836"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îšḻíḑê"/>
            <p:cNvSpPr/>
            <p:nvPr/>
          </p:nvSpPr>
          <p:spPr>
            <a:xfrm>
              <a:off x="540712" y="157580"/>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iSḻíde"/>
            <p:cNvSpPr/>
            <p:nvPr/>
          </p:nvSpPr>
          <p:spPr>
            <a:xfrm>
              <a:off x="41208"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îṣḻïḑê"/>
            <p:cNvSpPr/>
            <p:nvPr/>
          </p:nvSpPr>
          <p:spPr>
            <a:xfrm>
              <a:off x="166084"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ísḷíḓê"/>
            <p:cNvSpPr/>
            <p:nvPr/>
          </p:nvSpPr>
          <p:spPr>
            <a:xfrm>
              <a:off x="290960"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işḻîďè"/>
            <p:cNvSpPr/>
            <p:nvPr/>
          </p:nvSpPr>
          <p:spPr>
            <a:xfrm>
              <a:off x="415836"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iSlide"/>
            <p:cNvSpPr/>
            <p:nvPr/>
          </p:nvSpPr>
          <p:spPr>
            <a:xfrm>
              <a:off x="540712" y="286584"/>
              <a:ext cx="42459" cy="424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标题 12"/>
          <p:cNvSpPr>
            <a:spLocks noGrp="1"/>
          </p:cNvSpPr>
          <p:nvPr>
            <p:ph type="ctrTitle" hasCustomPrompt="1"/>
          </p:nvPr>
        </p:nvSpPr>
        <p:spPr>
          <a:xfrm>
            <a:off x="673100" y="1300163"/>
            <a:ext cx="7846910" cy="2254144"/>
          </a:xfrm>
        </p:spPr>
        <p:txBody>
          <a:bodyPr anchor="b">
            <a:normAutofit/>
          </a:bodyPr>
          <a:lstStyle>
            <a:lvl1pPr marL="0" indent="0" algn="l" defTabSz="914400" rtl="0" eaLnBrk="1" latinLnBrk="0" hangingPunct="1">
              <a:lnSpc>
                <a:spcPct val="90000"/>
              </a:lnSpc>
              <a:spcBef>
                <a:spcPct val="0"/>
              </a:spcBef>
              <a:buFont typeface="Arial" panose="020B0604020202090204" pitchFamily="34" charset="0"/>
              <a:buNone/>
              <a:defRPr lang="zh-CN" altLang="en-US" sz="5400" b="1" kern="1200" dirty="0">
                <a:solidFill>
                  <a:schemeClr val="bg1"/>
                </a:solidFill>
                <a:latin typeface="+mj-lt"/>
                <a:ea typeface="+mj-ea"/>
                <a:cs typeface="+mj-cs"/>
              </a:defRPr>
            </a:lvl1pPr>
          </a:lstStyle>
          <a:p>
            <a:r>
              <a:rPr lang="en-US" altLang="zh-CN" dirty="0"/>
              <a:t>Conclusion</a:t>
            </a:r>
            <a:endParaRPr lang="zh-CN" altLang="en-US" dirty="0"/>
          </a:p>
        </p:txBody>
      </p:sp>
      <p:sp>
        <p:nvSpPr>
          <p:cNvPr id="15" name="文本占位符 14"/>
          <p:cNvSpPr>
            <a:spLocks noGrp="1"/>
          </p:cNvSpPr>
          <p:nvPr>
            <p:ph type="body" sz="quarter" idx="18" hasCustomPrompt="1"/>
          </p:nvPr>
        </p:nvSpPr>
        <p:spPr>
          <a:xfrm>
            <a:off x="673100" y="3987399"/>
            <a:ext cx="5561697" cy="310871"/>
          </a:xfrm>
        </p:spPr>
        <p:txBody>
          <a:bodyPr vert="horz" lIns="91440" tIns="45720" rIns="91440" bIns="45720" rtlCol="0">
            <a:normAutofit/>
          </a:bodyPr>
          <a:lstStyle>
            <a:lvl1pPr marL="0" indent="0" algn="l">
              <a:buNone/>
              <a:defRPr lang="zh-CN" altLang="en-US" sz="14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5"/>
          <p:cNvSpPr>
            <a:spLocks noGrp="1"/>
          </p:cNvSpPr>
          <p:nvPr>
            <p:ph type="body" sz="quarter" idx="10" hasCustomPrompt="1"/>
          </p:nvPr>
        </p:nvSpPr>
        <p:spPr>
          <a:xfrm>
            <a:off x="673102" y="3691128"/>
            <a:ext cx="5561697" cy="296271"/>
          </a:xfrm>
        </p:spPr>
        <p:txBody>
          <a:bodyPr vert="horz"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pic>
        <p:nvPicPr>
          <p:cNvPr id="86" name="图片 85" descr="图片包含 户外, 自然, 骑, 波浪&#10;&#10;描述已自动生成"/>
          <p:cNvPicPr>
            <a:picLocks noChangeAspect="1"/>
          </p:cNvPicPr>
          <p:nvPr userDrawn="1"/>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930" t="47811" r="-930" b="25315"/>
          <a:stretch>
            <a:fillRect/>
          </a:stretch>
        </p:blipFill>
        <p:spPr>
          <a:xfrm>
            <a:off x="8520010" y="5274477"/>
            <a:ext cx="3708989" cy="598180"/>
          </a:xfrm>
          <a:prstGeom prst="rect">
            <a:avLst/>
          </a:prstGeom>
          <a:effectLst>
            <a:outerShdw blurRad="1143000" dist="50800" dir="5400000" algn="ctr" rotWithShape="0">
              <a:srgbClr val="000000">
                <a:alpha val="30000"/>
              </a:srgbClr>
            </a:outerShdw>
          </a:effectLst>
        </p:spPr>
      </p:pic>
      <p:pic>
        <p:nvPicPr>
          <p:cNvPr id="87" name="图片 86" descr="图片包含 户外, 自然, 骑, 波浪&#10;&#10;描述已自动生成"/>
          <p:cNvPicPr>
            <a:picLocks noChangeAspect="1"/>
          </p:cNvPicPr>
          <p:nvPr userDrawn="1"/>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l="3862" r="3862"/>
          <a:stretch>
            <a:fillRect/>
          </a:stretch>
        </p:blipFill>
        <p:spPr>
          <a:xfrm>
            <a:off x="3654" y="6137274"/>
            <a:ext cx="666271" cy="406145"/>
          </a:xfrm>
          <a:prstGeom prst="rect">
            <a:avLst/>
          </a:prstGeom>
          <a:effectLst>
            <a:outerShdw blurRad="1143000" dist="50800" dir="5400000" algn="ctr" rotWithShape="0">
              <a:srgbClr val="000000">
                <a:alpha val="30000"/>
              </a:srgbClr>
            </a:outerShdw>
          </a:effectLst>
        </p:spPr>
      </p:pic>
    </p:spTree>
  </p:cSld>
  <p:clrMapOvr>
    <a:overrideClrMapping bg1="lt1" tx1="dk1" bg2="lt2" tx2="dk2" accent1="accent1" accent2="accent2" accent3="accent3" accent4="accent4" accent5="accent5" accent6="accent6" hlink="hlink" folHlink="folHlink"/>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日期占位符 3"/>
          <p:cNvSpPr>
            <a:spLocks noGrp="1"/>
          </p:cNvSpPr>
          <p:nvPr>
            <p:ph type="dt" sz="half" idx="10"/>
          </p:nvPr>
        </p:nvSpPr>
        <p:spPr/>
        <p:txBody>
          <a:bodyPr/>
          <a:lstStyle/>
          <a:p>
            <a:fld id="{6F18EE87-E84D-4794-AAE5-5EBFA06D574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FD9163-3264-45B9-8805-38B3DB57BD34}"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小节标题页面">
    <p:spTree>
      <p:nvGrpSpPr>
        <p:cNvPr id="1" name=""/>
        <p:cNvGrpSpPr/>
        <p:nvPr/>
      </p:nvGrpSpPr>
      <p:grpSpPr>
        <a:xfrm>
          <a:off x="0" y="0"/>
          <a:ext cx="0" cy="0"/>
          <a:chOff x="0" y="0"/>
          <a:chExt cx="0" cy="0"/>
        </a:xfrm>
      </p:grpSpPr>
      <p:sp>
        <p:nvSpPr>
          <p:cNvPr id="1048578" name="矩形 2"/>
          <p:cNvSpPr/>
          <p:nvPr userDrawn="1"/>
        </p:nvSpPr>
        <p:spPr>
          <a:xfrm>
            <a:off x="0" y="1714500"/>
            <a:ext cx="12192000" cy="3429000"/>
          </a:xfrm>
          <a:prstGeom prst="rect">
            <a:avLst/>
          </a:prstGeom>
          <a:solidFill>
            <a:schemeClr val="accent2">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latin typeface="微软雅黑" panose="020B0503020204020204" charset="-122"/>
              <a:ea typeface="微软雅黑" panose="020B0503020204020204" charset="-122"/>
            </a:endParaRPr>
          </a:p>
        </p:txBody>
      </p:sp>
      <p:sp>
        <p:nvSpPr>
          <p:cNvPr id="1048579" name="矩形 5"/>
          <p:cNvSpPr/>
          <p:nvPr userDrawn="1"/>
        </p:nvSpPr>
        <p:spPr>
          <a:xfrm>
            <a:off x="-1" y="5143500"/>
            <a:ext cx="12192001" cy="1714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latin typeface="微软雅黑" panose="020B0503020204020204" charset="-122"/>
              <a:ea typeface="微软雅黑" panose="020B0503020204020204" charset="-122"/>
            </a:endParaRPr>
          </a:p>
        </p:txBody>
      </p:sp>
      <p:sp>
        <p:nvSpPr>
          <p:cNvPr id="1048580" name="矩形 6"/>
          <p:cNvSpPr/>
          <p:nvPr userDrawn="1"/>
        </p:nvSpPr>
        <p:spPr>
          <a:xfrm>
            <a:off x="-1" y="0"/>
            <a:ext cx="12192002" cy="1714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1" dirty="0">
              <a:latin typeface="微软雅黑" panose="020B0503020204020204" charset="-122"/>
              <a:ea typeface="微软雅黑" panose="020B0503020204020204" charset="-122"/>
            </a:endParaRPr>
          </a:p>
        </p:txBody>
      </p:sp>
      <p:sp>
        <p:nvSpPr>
          <p:cNvPr id="1048581" name="文本占位符 14"/>
          <p:cNvSpPr>
            <a:spLocks noGrp="1"/>
          </p:cNvSpPr>
          <p:nvPr>
            <p:ph type="body" sz="quarter" idx="11" hasCustomPrompt="1"/>
          </p:nvPr>
        </p:nvSpPr>
        <p:spPr>
          <a:xfrm>
            <a:off x="808106" y="2923766"/>
            <a:ext cx="8549594" cy="1006475"/>
          </a:xfrm>
          <a:prstGeom prst="rect">
            <a:avLst/>
          </a:prstGeom>
        </p:spPr>
        <p:txBody>
          <a:bodyPr anchor="ctr"/>
          <a:lstStyle>
            <a:lvl1pPr marL="0" indent="0">
              <a:lnSpc>
                <a:spcPct val="100000"/>
              </a:lnSpc>
              <a:buFontTx/>
              <a:buNone/>
              <a:defRPr kumimoji="1" lang="zh-CN" altLang="en-US" sz="5200" b="1" kern="1200" dirty="0">
                <a:solidFill>
                  <a:schemeClr val="accent2"/>
                </a:solidFill>
                <a:latin typeface="微软雅黑" panose="020B0503020204020204" charset="-122"/>
                <a:ea typeface="微软雅黑" panose="020B0503020204020204" charset="-122"/>
                <a:cs typeface="+mn-cs"/>
              </a:defRPr>
            </a:lvl1pPr>
          </a:lstStyle>
          <a:p>
            <a:r>
              <a:rPr kumimoji="1" lang="zh-CN" altLang="en-US" dirty="0"/>
              <a:t>输入小节标题</a:t>
            </a:r>
            <a:endParaRPr kumimoji="1" lang="zh-CN" altLang="en-US" dirty="0"/>
          </a:p>
        </p:txBody>
      </p:sp>
      <p:sp>
        <p:nvSpPr>
          <p:cNvPr id="2" name="文本框 1"/>
          <p:cNvSpPr txBox="1"/>
          <p:nvPr userDrawn="1"/>
        </p:nvSpPr>
        <p:spPr>
          <a:xfrm>
            <a:off x="0" y="6575840"/>
            <a:ext cx="4577379" cy="229870"/>
          </a:xfrm>
          <a:prstGeom prst="rect">
            <a:avLst/>
          </a:prstGeom>
          <a:noFill/>
        </p:spPr>
        <p:txBody>
          <a:bodyPr wrap="square" rtlCol="0">
            <a:spAutoFit/>
          </a:bodyPr>
          <a:lstStyle/>
          <a:p>
            <a:r>
              <a:rPr lang="en-US" altLang="zh-CN" sz="900" i="1" dirty="0">
                <a:solidFill>
                  <a:schemeClr val="bg1">
                    <a:lumMod val="50000"/>
                  </a:schemeClr>
                </a:solidFill>
                <a:latin typeface="微软雅黑" panose="020B0503020204020204" charset="-122"/>
                <a:ea typeface="微软雅黑" panose="020B0503020204020204" charset="-122"/>
              </a:rPr>
              <a:t>HighlyConfidential</a:t>
            </a:r>
            <a:endParaRPr lang="zh-CN" altLang="en-US" sz="900" i="1" dirty="0">
              <a:solidFill>
                <a:schemeClr val="bg1">
                  <a:lumMod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正文页">
    <p:bg>
      <p:bgPr>
        <a:solidFill>
          <a:srgbClr val="FAFAFA"/>
        </a:solidFill>
        <a:effectLst/>
      </p:bgPr>
    </p:bg>
    <p:spTree>
      <p:nvGrpSpPr>
        <p:cNvPr id="1" name=""/>
        <p:cNvGrpSpPr/>
        <p:nvPr/>
      </p:nvGrpSpPr>
      <p:grpSpPr>
        <a:xfrm>
          <a:off x="0" y="0"/>
          <a:ext cx="0" cy="0"/>
          <a:chOff x="0" y="0"/>
          <a:chExt cx="0" cy="0"/>
        </a:xfrm>
      </p:grpSpPr>
      <p:sp>
        <p:nvSpPr>
          <p:cNvPr id="1048583" name="标题 1"/>
          <p:cNvSpPr>
            <a:spLocks noGrp="1"/>
          </p:cNvSpPr>
          <p:nvPr>
            <p:ph type="title"/>
          </p:nvPr>
        </p:nvSpPr>
        <p:spPr>
          <a:xfrm>
            <a:off x="343660" y="374853"/>
            <a:ext cx="10515600" cy="412421"/>
          </a:xfrm>
          <a:prstGeom prst="rect">
            <a:avLst/>
          </a:prstGeom>
        </p:spPr>
        <p:txBody>
          <a:bodyPr>
            <a:spAutoFit/>
          </a:bodyPr>
          <a:lstStyle>
            <a:lvl1pPr>
              <a:defRPr lang="zh-CN" altLang="en-US" sz="2600" b="1" i="0" kern="1200" dirty="0">
                <a:solidFill>
                  <a:schemeClr val="accent1"/>
                </a:solidFill>
                <a:latin typeface="微软雅黑" panose="020B0503020204020204" charset="-122"/>
                <a:ea typeface="微软雅黑" panose="020B0503020204020204" charset="-122"/>
                <a:cs typeface="+mn-cs"/>
              </a:defRPr>
            </a:lvl1pPr>
          </a:lstStyle>
          <a:p>
            <a:r>
              <a:rPr lang="zh-CN" altLang="en-US" dirty="0"/>
              <a:t>单击此处编辑母版标题样式</a:t>
            </a:r>
            <a:endParaRPr lang="zh-CN" altLang="en-US" dirty="0"/>
          </a:p>
        </p:txBody>
      </p:sp>
      <p:sp>
        <p:nvSpPr>
          <p:cNvPr id="1048584" name="矩形 1"/>
          <p:cNvSpPr/>
          <p:nvPr userDrawn="1"/>
        </p:nvSpPr>
        <p:spPr>
          <a:xfrm>
            <a:off x="0" y="361858"/>
            <a:ext cx="215900" cy="360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8585" name="灯片编号占位符 2"/>
          <p:cNvSpPr>
            <a:spLocks noGrp="1"/>
          </p:cNvSpPr>
          <p:nvPr>
            <p:ph type="sldNum" sz="quarter" idx="10"/>
          </p:nvPr>
        </p:nvSpPr>
        <p:spPr>
          <a:xfrm>
            <a:off x="11451772" y="6470704"/>
            <a:ext cx="680358" cy="274320"/>
          </a:xfrm>
        </p:spPr>
        <p:txBody>
          <a:bodyPr/>
          <a:lstStyle>
            <a:lvl1pPr algn="r">
              <a:defRPr sz="1050">
                <a:latin typeface="Times  New Roman"/>
              </a:defRPr>
            </a:lvl1pPr>
          </a:lstStyle>
          <a:p>
            <a:fld id="{444DC9E2-160D-D149-B7FD-52ECDACC051F}" type="slidenum">
              <a:rPr kumimoji="1" lang="zh-CN" altLang="en-US" smtClean="0"/>
            </a:fld>
            <a:endParaRPr kumimoji="1" lang="zh-CN" altLang="en-US" dirty="0"/>
          </a:p>
        </p:txBody>
      </p:sp>
      <p:sp>
        <p:nvSpPr>
          <p:cNvPr id="6" name="矩形 5"/>
          <p:cNvSpPr/>
          <p:nvPr userDrawn="1"/>
        </p:nvSpPr>
        <p:spPr>
          <a:xfrm>
            <a:off x="6350" y="6426200"/>
            <a:ext cx="1619250" cy="412421"/>
          </a:xfrm>
          <a:prstGeom prst="rect">
            <a:avLst/>
          </a:prstGeom>
          <a:solidFill>
            <a:srgbClr val="FAFAFA"/>
          </a:solidFill>
          <a:ln>
            <a:solidFill>
              <a:srgbClr val="FAFA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0" y="6575840"/>
            <a:ext cx="4577379" cy="229870"/>
          </a:xfrm>
          <a:prstGeom prst="rect">
            <a:avLst/>
          </a:prstGeom>
          <a:noFill/>
        </p:spPr>
        <p:txBody>
          <a:bodyPr wrap="square" rtlCol="0">
            <a:spAutoFit/>
          </a:bodyPr>
          <a:lstStyle/>
          <a:p>
            <a:r>
              <a:rPr lang="en-US" altLang="zh-CN" sz="900" i="1" dirty="0">
                <a:solidFill>
                  <a:schemeClr val="bg1">
                    <a:lumMod val="50000"/>
                  </a:schemeClr>
                </a:solidFill>
                <a:latin typeface="微软雅黑" panose="020B0503020204020204" charset="-122"/>
                <a:ea typeface="微软雅黑" panose="020B0503020204020204" charset="-122"/>
              </a:rPr>
              <a:t>HighlyConfidential</a:t>
            </a:r>
            <a:endParaRPr lang="zh-CN" altLang="en-US" sz="900" i="1" dirty="0">
              <a:solidFill>
                <a:schemeClr val="bg1">
                  <a:lumMod val="50000"/>
                </a:schemeClr>
              </a:solidFill>
              <a:latin typeface="微软雅黑" panose="020B0503020204020204" charset="-122"/>
              <a:ea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2"/>
            <a:ext cx="10850563" cy="569494"/>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7"/>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endParaRPr lang="zh-CN" altLang="en-US"/>
          </a:p>
        </p:txBody>
      </p:sp>
      <p:sp>
        <p:nvSpPr>
          <p:cNvPr id="9" name="页脚占位符 8"/>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内部分析资料，严格保密</a:t>
            </a:r>
            <a:endParaRPr lang="zh-CN" altLang="en-US"/>
          </a:p>
        </p:txBody>
      </p:sp>
      <p:sp>
        <p:nvSpPr>
          <p:cNvPr id="10" name="灯片编号占位符 9"/>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tags" Target="../tags/tag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6.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2" Type="http://schemas.openxmlformats.org/officeDocument/2006/relationships/notesSlide" Target="../notesSlides/notesSlide12.xml"/><Relationship Id="rId21" Type="http://schemas.openxmlformats.org/officeDocument/2006/relationships/slideLayout" Target="../slideLayouts/slideLayout9.xml"/><Relationship Id="rId20" Type="http://schemas.openxmlformats.org/officeDocument/2006/relationships/tags" Target="../tags/tag19.xml"/><Relationship Id="rId2" Type="http://schemas.openxmlformats.org/officeDocument/2006/relationships/diagramLayout" Target="../diagrams/layout1.xml"/><Relationship Id="rId19" Type="http://schemas.openxmlformats.org/officeDocument/2006/relationships/image" Target="../media/image13.png"/><Relationship Id="rId18" Type="http://schemas.openxmlformats.org/officeDocument/2006/relationships/image" Target="../media/image12.png"/><Relationship Id="rId17" Type="http://schemas.openxmlformats.org/officeDocument/2006/relationships/image" Target="../media/image11.png"/><Relationship Id="rId16" Type="http://schemas.openxmlformats.org/officeDocument/2006/relationships/image" Target="../media/image10.png"/><Relationship Id="rId15" Type="http://schemas.openxmlformats.org/officeDocument/2006/relationships/image" Target="../media/image9.png"/><Relationship Id="rId14" Type="http://schemas.openxmlformats.org/officeDocument/2006/relationships/image" Target="../media/image8.jpeg"/><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diagramData" Target="../diagrams/data1.xml"/></Relationships>
</file>

<file path=ppt/slides/_rels/slide14.xml.rels><?xml version="1.0" encoding="UTF-8" standalone="yes"?>
<Relationships xmlns="http://schemas.openxmlformats.org/package/2006/relationships"><Relationship Id="rId9" Type="http://schemas.microsoft.com/office/2007/relationships/diagramDrawing" Target="../diagrams/drawing2.xml"/><Relationship Id="rId8" Type="http://schemas.openxmlformats.org/officeDocument/2006/relationships/diagramColors" Target="../diagrams/colors2.xml"/><Relationship Id="rId7" Type="http://schemas.openxmlformats.org/officeDocument/2006/relationships/diagramQuickStyle" Target="../diagrams/quickStyle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tags" Target="../tags/tag21.xml"/><Relationship Id="rId3" Type="http://schemas.microsoft.com/office/2007/relationships/hdphoto" Target="../media/image15.wdp"/><Relationship Id="rId2" Type="http://schemas.openxmlformats.org/officeDocument/2006/relationships/image" Target="../media/image14.png"/><Relationship Id="rId17" Type="http://schemas.openxmlformats.org/officeDocument/2006/relationships/notesSlide" Target="../notesSlides/notesSlide13.xml"/><Relationship Id="rId16" Type="http://schemas.openxmlformats.org/officeDocument/2006/relationships/slideLayout" Target="../slideLayouts/slideLayout9.xml"/><Relationship Id="rId15" Type="http://schemas.openxmlformats.org/officeDocument/2006/relationships/tags" Target="../tags/tag22.xml"/><Relationship Id="rId14" Type="http://schemas.openxmlformats.org/officeDocument/2006/relationships/image" Target="../media/image20.jpeg"/><Relationship Id="rId13" Type="http://schemas.openxmlformats.org/officeDocument/2006/relationships/image" Target="../media/image19.png"/><Relationship Id="rId12" Type="http://schemas.openxmlformats.org/officeDocument/2006/relationships/image" Target="../media/image18.jpeg"/><Relationship Id="rId11" Type="http://schemas.openxmlformats.org/officeDocument/2006/relationships/image" Target="../media/image17.jpeg"/><Relationship Id="rId10" Type="http://schemas.openxmlformats.org/officeDocument/2006/relationships/image" Target="../media/image16.png"/><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tags" Target="../tags/tag23.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9.xml"/><Relationship Id="rId4" Type="http://schemas.openxmlformats.org/officeDocument/2006/relationships/tags" Target="../tags/tag24.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tags" Target="../tags/tag25.xml"/></Relationships>
</file>

<file path=ppt/slides/_rels/slide18.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1" Type="http://schemas.openxmlformats.org/officeDocument/2006/relationships/notesSlide" Target="../notesSlides/notesSlide17.xml"/><Relationship Id="rId10" Type="http://schemas.openxmlformats.org/officeDocument/2006/relationships/slideLayout" Target="../slideLayouts/slideLayout9.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27.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9.xml"/><Relationship Id="rId6" Type="http://schemas.openxmlformats.org/officeDocument/2006/relationships/tags" Target="../tags/tag28.xml"/><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1.svg"/><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9" Type="http://schemas.openxmlformats.org/officeDocument/2006/relationships/image" Target="../media/image44.png"/><Relationship Id="rId8" Type="http://schemas.openxmlformats.org/officeDocument/2006/relationships/image" Target="../media/image43.svg"/><Relationship Id="rId7" Type="http://schemas.openxmlformats.org/officeDocument/2006/relationships/image" Target="../media/image42.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jpeg"/><Relationship Id="rId2" Type="http://schemas.openxmlformats.org/officeDocument/2006/relationships/image" Target="../media/image37.svg"/><Relationship Id="rId19" Type="http://schemas.openxmlformats.org/officeDocument/2006/relationships/notesSlide" Target="../notesSlides/notesSlide20.xml"/><Relationship Id="rId18" Type="http://schemas.openxmlformats.org/officeDocument/2006/relationships/slideLayout" Target="../slideLayouts/slideLayout9.xml"/><Relationship Id="rId17" Type="http://schemas.openxmlformats.org/officeDocument/2006/relationships/tags" Target="../tags/tag29.xml"/><Relationship Id="rId16" Type="http://schemas.openxmlformats.org/officeDocument/2006/relationships/image" Target="../media/image51.svg"/><Relationship Id="rId15" Type="http://schemas.openxmlformats.org/officeDocument/2006/relationships/image" Target="../media/image50.png"/><Relationship Id="rId14" Type="http://schemas.openxmlformats.org/officeDocument/2006/relationships/image" Target="../media/image49.svg"/><Relationship Id="rId13" Type="http://schemas.openxmlformats.org/officeDocument/2006/relationships/image" Target="../media/image48.png"/><Relationship Id="rId12" Type="http://schemas.openxmlformats.org/officeDocument/2006/relationships/image" Target="../media/image47.svg"/><Relationship Id="rId11" Type="http://schemas.openxmlformats.org/officeDocument/2006/relationships/image" Target="../media/image46.png"/><Relationship Id="rId10" Type="http://schemas.openxmlformats.org/officeDocument/2006/relationships/image" Target="../media/image45.svg"/><Relationship Id="rId1" Type="http://schemas.openxmlformats.org/officeDocument/2006/relationships/image" Target="../media/image36.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9.xml"/><Relationship Id="rId4" Type="http://schemas.openxmlformats.org/officeDocument/2006/relationships/tags" Target="../tags/tag30.xml"/><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3.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25.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64.svg"/><Relationship Id="rId7" Type="http://schemas.openxmlformats.org/officeDocument/2006/relationships/image" Target="../media/image63.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 Id="rId3" Type="http://schemas.openxmlformats.org/officeDocument/2006/relationships/image" Target="../media/image59.png"/><Relationship Id="rId21" Type="http://schemas.openxmlformats.org/officeDocument/2006/relationships/notesSlide" Target="../notesSlides/notesSlide24.xml"/><Relationship Id="rId20" Type="http://schemas.openxmlformats.org/officeDocument/2006/relationships/slideLayout" Target="../slideLayouts/slideLayout9.xml"/><Relationship Id="rId2" Type="http://schemas.openxmlformats.org/officeDocument/2006/relationships/image" Target="../media/image58.svg"/><Relationship Id="rId19" Type="http://schemas.openxmlformats.org/officeDocument/2006/relationships/tags" Target="../tags/tag31.xml"/><Relationship Id="rId18" Type="http://schemas.openxmlformats.org/officeDocument/2006/relationships/image" Target="../media/image74.svg"/><Relationship Id="rId17" Type="http://schemas.openxmlformats.org/officeDocument/2006/relationships/image" Target="../media/image73.png"/><Relationship Id="rId16" Type="http://schemas.openxmlformats.org/officeDocument/2006/relationships/image" Target="../media/image72.svg"/><Relationship Id="rId15" Type="http://schemas.openxmlformats.org/officeDocument/2006/relationships/image" Target="../media/image71.png"/><Relationship Id="rId14" Type="http://schemas.openxmlformats.org/officeDocument/2006/relationships/image" Target="../media/image70.svg"/><Relationship Id="rId13" Type="http://schemas.openxmlformats.org/officeDocument/2006/relationships/image" Target="../media/image69.png"/><Relationship Id="rId12" Type="http://schemas.openxmlformats.org/officeDocument/2006/relationships/image" Target="../media/image68.svg"/><Relationship Id="rId11" Type="http://schemas.openxmlformats.org/officeDocument/2006/relationships/image" Target="../media/image67.png"/><Relationship Id="rId10" Type="http://schemas.openxmlformats.org/officeDocument/2006/relationships/image" Target="../media/image66.svg"/><Relationship Id="rId1" Type="http://schemas.openxmlformats.org/officeDocument/2006/relationships/image" Target="../media/image57.png"/></Relationships>
</file>

<file path=ppt/slides/_rels/slide26.xml.rels><?xml version="1.0" encoding="UTF-8" standalone="yes"?>
<Relationships xmlns="http://schemas.openxmlformats.org/package/2006/relationships"><Relationship Id="rId9" Type="http://schemas.openxmlformats.org/officeDocument/2006/relationships/image" Target="../media/image77.png"/><Relationship Id="rId8" Type="http://schemas.openxmlformats.org/officeDocument/2006/relationships/image" Target="../media/image47.svg"/><Relationship Id="rId7" Type="http://schemas.openxmlformats.org/officeDocument/2006/relationships/image" Target="../media/image46.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43.svg"/><Relationship Id="rId3" Type="http://schemas.openxmlformats.org/officeDocument/2006/relationships/image" Target="../media/image42.png"/><Relationship Id="rId2" Type="http://schemas.openxmlformats.org/officeDocument/2006/relationships/image" Target="../media/image41.svg"/><Relationship Id="rId19" Type="http://schemas.openxmlformats.org/officeDocument/2006/relationships/notesSlide" Target="../notesSlides/notesSlide25.xml"/><Relationship Id="rId18" Type="http://schemas.openxmlformats.org/officeDocument/2006/relationships/slideLayout" Target="../slideLayouts/slideLayout9.xml"/><Relationship Id="rId17" Type="http://schemas.openxmlformats.org/officeDocument/2006/relationships/tags" Target="../tags/tag32.xml"/><Relationship Id="rId16" Type="http://schemas.openxmlformats.org/officeDocument/2006/relationships/image" Target="../media/image84.svg"/><Relationship Id="rId15" Type="http://schemas.openxmlformats.org/officeDocument/2006/relationships/image" Target="../media/image83.png"/><Relationship Id="rId14" Type="http://schemas.openxmlformats.org/officeDocument/2006/relationships/image" Target="../media/image82.svg"/><Relationship Id="rId13" Type="http://schemas.openxmlformats.org/officeDocument/2006/relationships/image" Target="../media/image81.png"/><Relationship Id="rId12" Type="http://schemas.openxmlformats.org/officeDocument/2006/relationships/image" Target="../media/image80.svg"/><Relationship Id="rId11" Type="http://schemas.openxmlformats.org/officeDocument/2006/relationships/image" Target="../media/image79.png"/><Relationship Id="rId10" Type="http://schemas.openxmlformats.org/officeDocument/2006/relationships/image" Target="../media/image78.svg"/><Relationship Id="rId1" Type="http://schemas.openxmlformats.org/officeDocument/2006/relationships/image" Target="../media/image40.png"/></Relationships>
</file>

<file path=ppt/slides/_rels/slide27.xml.rels><?xml version="1.0" encoding="UTF-8" standalone="yes"?>
<Relationships xmlns="http://schemas.openxmlformats.org/package/2006/relationships"><Relationship Id="rId9" Type="http://schemas.openxmlformats.org/officeDocument/2006/relationships/image" Target="../media/image77.png"/><Relationship Id="rId8" Type="http://schemas.openxmlformats.org/officeDocument/2006/relationships/image" Target="../media/image47.svg"/><Relationship Id="rId7" Type="http://schemas.openxmlformats.org/officeDocument/2006/relationships/image" Target="../media/image46.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43.svg"/><Relationship Id="rId3" Type="http://schemas.openxmlformats.org/officeDocument/2006/relationships/image" Target="../media/image42.png"/><Relationship Id="rId2" Type="http://schemas.openxmlformats.org/officeDocument/2006/relationships/image" Target="../media/image41.svg"/><Relationship Id="rId19" Type="http://schemas.openxmlformats.org/officeDocument/2006/relationships/notesSlide" Target="../notesSlides/notesSlide26.xml"/><Relationship Id="rId18" Type="http://schemas.openxmlformats.org/officeDocument/2006/relationships/slideLayout" Target="../slideLayouts/slideLayout9.xml"/><Relationship Id="rId17" Type="http://schemas.openxmlformats.org/officeDocument/2006/relationships/tags" Target="../tags/tag33.xml"/><Relationship Id="rId16" Type="http://schemas.openxmlformats.org/officeDocument/2006/relationships/image" Target="../media/image84.svg"/><Relationship Id="rId15" Type="http://schemas.openxmlformats.org/officeDocument/2006/relationships/image" Target="../media/image83.png"/><Relationship Id="rId14" Type="http://schemas.openxmlformats.org/officeDocument/2006/relationships/image" Target="../media/image82.svg"/><Relationship Id="rId13" Type="http://schemas.openxmlformats.org/officeDocument/2006/relationships/image" Target="../media/image81.png"/><Relationship Id="rId12" Type="http://schemas.openxmlformats.org/officeDocument/2006/relationships/image" Target="../media/image80.svg"/><Relationship Id="rId11" Type="http://schemas.openxmlformats.org/officeDocument/2006/relationships/image" Target="../media/image79.png"/><Relationship Id="rId10" Type="http://schemas.openxmlformats.org/officeDocument/2006/relationships/image" Target="../media/image78.svg"/><Relationship Id="rId1" Type="http://schemas.openxmlformats.org/officeDocument/2006/relationships/image" Target="../media/image40.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9.xml"/><Relationship Id="rId3" Type="http://schemas.openxmlformats.org/officeDocument/2006/relationships/tags" Target="../tags/tag34.xml"/><Relationship Id="rId2" Type="http://schemas.openxmlformats.org/officeDocument/2006/relationships/image" Target="../media/image86.jpeg"/><Relationship Id="rId1" Type="http://schemas.openxmlformats.org/officeDocument/2006/relationships/image" Target="../media/image85.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9.xml"/><Relationship Id="rId1" Type="http://schemas.openxmlformats.org/officeDocument/2006/relationships/tags" Target="../tags/tag3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image" Target="../media/image8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9.xml"/><Relationship Id="rId1" Type="http://schemas.openxmlformats.org/officeDocument/2006/relationships/tags" Target="../tags/tag3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9.xml"/><Relationship Id="rId1" Type="http://schemas.openxmlformats.org/officeDocument/2006/relationships/tags" Target="../tags/tag4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9.xml"/><Relationship Id="rId1" Type="http://schemas.openxmlformats.org/officeDocument/2006/relationships/tags" Target="../tags/tag41.xml"/></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tags" Target="../tags/tag4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4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iṥlîḍê"/>
        <p:cNvGrpSpPr/>
        <p:nvPr/>
      </p:nvGrpSpPr>
      <p:grpSpPr>
        <a:xfrm>
          <a:off x="0" y="0"/>
          <a:ext cx="0" cy="0"/>
          <a:chOff x="0" y="0"/>
          <a:chExt cx="0" cy="0"/>
        </a:xfrm>
      </p:grpSpPr>
      <p:sp>
        <p:nvSpPr>
          <p:cNvPr id="5" name="íṥ1îḑe"/>
          <p:cNvSpPr>
            <a:spLocks noGrp="1"/>
          </p:cNvSpPr>
          <p:nvPr>
            <p:ph type="title"/>
            <p:custDataLst>
              <p:tags r:id="rId1"/>
            </p:custDataLst>
          </p:nvPr>
        </p:nvSpPr>
        <p:spPr>
          <a:xfrm>
            <a:off x="3276600" y="647065"/>
            <a:ext cx="5994400" cy="895350"/>
          </a:xfrm>
        </p:spPr>
        <p:txBody>
          <a:bodyPr>
            <a:normAutofit/>
            <a:scene3d>
              <a:camera prst="orthographicFront"/>
              <a:lightRig rig="soft" dir="t">
                <a:rot lat="0" lon="0" rev="15600000"/>
              </a:lightRig>
            </a:scene3d>
            <a:sp3d extrusionH="57150" prstMaterial="softEdge">
              <a:bevelT w="25400" h="38100"/>
            </a:sp3d>
          </a:bodyPr>
          <a:lstStyle/>
          <a:p>
            <a:pPr algn="ctr"/>
            <a:r>
              <a:rPr lang="zh-CN" altLang="en-US" sz="2665" dirty="0">
                <a:solidFill>
                  <a:schemeClr val="accent4"/>
                </a:solidFill>
              </a:rPr>
              <a:t>佳量脑科学</a:t>
            </a:r>
            <a:endParaRPr lang="zh-CN" altLang="en-US" sz="2665" dirty="0">
              <a:solidFill>
                <a:schemeClr val="accent4"/>
              </a:solidFill>
            </a:endParaRPr>
          </a:p>
        </p:txBody>
      </p:sp>
      <p:sp>
        <p:nvSpPr>
          <p:cNvPr id="6" name="ïś1ïḓé"/>
          <p:cNvSpPr>
            <a:spLocks noGrp="1"/>
          </p:cNvSpPr>
          <p:nvPr>
            <p:ph type="body" idx="1"/>
            <p:custDataLst>
              <p:tags r:id="rId2"/>
            </p:custDataLst>
          </p:nvPr>
        </p:nvSpPr>
        <p:spPr>
          <a:xfrm>
            <a:off x="3416771" y="2417633"/>
            <a:ext cx="5419185" cy="1015623"/>
          </a:xfrm>
        </p:spPr>
        <p:txBody>
          <a:bodyPr>
            <a:normAutofit fontScale="62500" lnSpcReduction="20000"/>
          </a:bodyPr>
          <a:lstStyle/>
          <a:p>
            <a:pPr lvl="0" algn="ctr"/>
            <a:r>
              <a:rPr lang="zh-CN" altLang="en-US" sz="4000" b="1" dirty="0">
                <a:solidFill>
                  <a:schemeClr val="tx1"/>
                </a:solidFill>
                <a:effectLst>
                  <a:outerShdw blurRad="38100" dist="19050" dir="2700000" algn="tl" rotWithShape="0">
                    <a:schemeClr val="dk1">
                      <a:alpha val="40000"/>
                    </a:schemeClr>
                  </a:outerShdw>
                </a:effectLst>
              </a:rPr>
              <a:t>投资建议书</a:t>
            </a:r>
            <a:endParaRPr lang="en-US" altLang="zh-CN" sz="4000" b="1" dirty="0">
              <a:solidFill>
                <a:schemeClr val="tx1"/>
              </a:solidFill>
              <a:effectLst>
                <a:outerShdw blurRad="38100" dist="19050" dir="2700000" algn="tl" rotWithShape="0">
                  <a:schemeClr val="dk1">
                    <a:alpha val="40000"/>
                  </a:schemeClr>
                </a:outerShdw>
              </a:effectLst>
            </a:endParaRPr>
          </a:p>
          <a:p>
            <a:pPr lvl="0" algn="ctr"/>
            <a:r>
              <a:rPr lang="en-US" altLang="zh-CN" sz="3200" b="1" dirty="0">
                <a:solidFill>
                  <a:schemeClr val="tx1"/>
                </a:solidFill>
                <a:effectLst>
                  <a:outerShdw blurRad="38100" dist="19050" dir="2700000" algn="tl" rotWithShape="0">
                    <a:schemeClr val="dk1">
                      <a:alpha val="40000"/>
                    </a:schemeClr>
                  </a:outerShdw>
                </a:effectLst>
              </a:rPr>
              <a:t>2026</a:t>
            </a:r>
            <a:r>
              <a:rPr lang="zh-CN" altLang="en-US" sz="3200" b="1" dirty="0">
                <a:solidFill>
                  <a:schemeClr val="tx1"/>
                </a:solidFill>
                <a:effectLst>
                  <a:outerShdw blurRad="38100" dist="19050" dir="2700000" algn="tl" rotWithShape="0">
                    <a:schemeClr val="dk1">
                      <a:alpha val="40000"/>
                    </a:schemeClr>
                  </a:outerShdw>
                </a:effectLst>
              </a:rPr>
              <a:t>年</a:t>
            </a:r>
            <a:r>
              <a:rPr lang="en-US" altLang="zh-CN" sz="3200" b="1" dirty="0">
                <a:solidFill>
                  <a:schemeClr val="tx1"/>
                </a:solidFill>
                <a:effectLst>
                  <a:outerShdw blurRad="38100" dist="19050" dir="2700000" algn="tl" rotWithShape="0">
                    <a:schemeClr val="dk1">
                      <a:alpha val="40000"/>
                    </a:schemeClr>
                  </a:outerShdw>
                </a:effectLst>
              </a:rPr>
              <a:t>6</a:t>
            </a:r>
            <a:r>
              <a:rPr lang="zh-CN" altLang="en-US" sz="3200" b="1" dirty="0">
                <a:solidFill>
                  <a:schemeClr val="tx1"/>
                </a:solidFill>
                <a:effectLst>
                  <a:outerShdw blurRad="38100" dist="19050" dir="2700000" algn="tl" rotWithShape="0">
                    <a:schemeClr val="dk1">
                      <a:alpha val="40000"/>
                    </a:schemeClr>
                  </a:outerShdw>
                </a:effectLst>
              </a:rPr>
              <a:t>月</a:t>
            </a:r>
            <a:endParaRPr lang="en-US" altLang="zh-CN" sz="3200" b="1" dirty="0">
              <a:solidFill>
                <a:schemeClr val="tx1"/>
              </a:solidFill>
              <a:effectLst>
                <a:outerShdw blurRad="38100" dist="19050" dir="2700000" algn="tl" rotWithShape="0">
                  <a:schemeClr val="dk1">
                    <a:alpha val="40000"/>
                  </a:schemeClr>
                </a:outerShdw>
              </a:effectLst>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8410" y="68580"/>
            <a:ext cx="657225" cy="492125"/>
          </a:xfrm>
          <a:prstGeom prst="rect">
            <a:avLst/>
          </a:prstGeom>
        </p:spPr>
      </p:pic>
      <p:sp>
        <p:nvSpPr>
          <p:cNvPr id="3" name="文本框 2"/>
          <p:cNvSpPr txBox="1"/>
          <p:nvPr/>
        </p:nvSpPr>
        <p:spPr>
          <a:xfrm>
            <a:off x="3707765" y="3626485"/>
            <a:ext cx="4776470" cy="368300"/>
          </a:xfrm>
          <a:prstGeom prst="rect">
            <a:avLst/>
          </a:prstGeom>
          <a:noFill/>
        </p:spPr>
        <p:txBody>
          <a:bodyPr wrap="square" rtlCol="0">
            <a:spAutoFit/>
          </a:bodyPr>
          <a:lstStyle/>
          <a:p>
            <a:pPr algn="ctr"/>
            <a:r>
              <a:rPr lang="zh-CN" altLang="en-US" dirty="0"/>
              <a:t>仅限内部分享，严格保密</a:t>
            </a:r>
            <a:endParaRPr lang="zh-CN" altLang="en-US" dirty="0"/>
          </a:p>
        </p:txBody>
      </p:sp>
      <p:pic>
        <p:nvPicPr>
          <p:cNvPr id="10" name="图片 9"/>
          <p:cNvPicPr>
            <a:picLocks noChangeAspect="1"/>
          </p:cNvPicPr>
          <p:nvPr/>
        </p:nvPicPr>
        <p:blipFill>
          <a:blip r:embed="rId4"/>
          <a:stretch>
            <a:fillRect/>
          </a:stretch>
        </p:blipFill>
        <p:spPr>
          <a:xfrm>
            <a:off x="200200" y="55584"/>
            <a:ext cx="1048603" cy="481626"/>
          </a:xfrm>
          <a:prstGeom prst="rect">
            <a:avLst/>
          </a:prstGeom>
        </p:spPr>
      </p:pic>
      <p:sp>
        <p:nvSpPr>
          <p:cNvPr id="2" name="文本框 1"/>
          <p:cNvSpPr txBox="1"/>
          <p:nvPr/>
        </p:nvSpPr>
        <p:spPr>
          <a:xfrm>
            <a:off x="1248410" y="1657985"/>
            <a:ext cx="10054590" cy="461665"/>
          </a:xfrm>
          <a:prstGeom prst="rect">
            <a:avLst/>
          </a:prstGeom>
          <a:noFill/>
        </p:spPr>
        <p:txBody>
          <a:bodyPr wrap="square" rtlCol="0">
            <a:spAutoFit/>
          </a:bodyPr>
          <a:lstStyle/>
          <a:p>
            <a:pPr algn="ctr"/>
            <a:r>
              <a:rPr lang="zh-CN" altLang="en-US" sz="2400" b="1" dirty="0">
                <a:solidFill>
                  <a:schemeClr val="accent1"/>
                </a:solidFill>
                <a:sym typeface="+mn-ea"/>
              </a:rPr>
              <a:t>数据驱动的下一代脑机接口平台</a:t>
            </a:r>
            <a:endParaRPr lang="zh-CN" altLang="en-US" sz="2400" b="1" dirty="0">
              <a:solidFill>
                <a:schemeClr val="accent1"/>
              </a:solidFill>
              <a:sym typeface="+mn-ea"/>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t>投资亮点</a:t>
            </a:r>
            <a:endParaRPr lang="zh-CN" altLang="en-US" sz="1600" b="1"/>
          </a:p>
        </p:txBody>
      </p:sp>
      <p:sp>
        <p:nvSpPr>
          <p:cNvPr id="2" name="矩形 1"/>
          <p:cNvSpPr/>
          <p:nvPr/>
        </p:nvSpPr>
        <p:spPr>
          <a:xfrm>
            <a:off x="676910" y="1098816"/>
            <a:ext cx="10843260" cy="5406340"/>
          </a:xfrm>
          <a:prstGeom prst="rect">
            <a:avLst/>
          </a:prstGeom>
          <a:noFill/>
          <a:ln w="19050">
            <a:noFill/>
            <a:prstDash val="solid"/>
            <a:round/>
          </a:ln>
          <a:effectLst/>
        </p:spPr>
        <p:txBody>
          <a:bodyPr anchor="t" anchorCtr="0"/>
          <a:lstStyle/>
          <a:p>
            <a:pPr marL="285750" indent="-285750" algn="just" fontAlgn="auto">
              <a:lnSpc>
                <a:spcPct val="120000"/>
              </a:lnSpc>
              <a:spcBef>
                <a:spcPts val="0"/>
              </a:spcBef>
              <a:spcAft>
                <a:spcPts val="300"/>
              </a:spcAft>
              <a:buFont typeface="Wingdings" panose="05000000000000000000" pitchFamily="2" charset="2"/>
              <a:buChar char="n"/>
              <a:defRPr/>
            </a:pPr>
            <a:r>
              <a:rPr lang="zh-CN" altLang="en-US" sz="1500" b="1" kern="0" dirty="0">
                <a:solidFill>
                  <a:srgbClr val="5353B5"/>
                </a:solidFill>
                <a:latin typeface="微软雅黑" panose="020B0503020204020204" charset="-122"/>
                <a:ea typeface="微软雅黑" panose="020B0503020204020204" charset="-122"/>
                <a:cs typeface="Arial" panose="020B0604020202090204" pitchFamily="34" charset="0"/>
                <a:sym typeface="楷体" panose="02010609060101010101" pitchFamily="49" charset="-122"/>
              </a:rPr>
              <a:t>公司名称：</a:t>
            </a:r>
            <a:r>
              <a:rPr lang="zh-CN" altLang="en-US" sz="1500" kern="0" dirty="0">
                <a:latin typeface="微软雅黑" panose="020B0503020204020204" charset="-122"/>
                <a:ea typeface="微软雅黑" panose="020B0503020204020204" charset="-122"/>
                <a:cs typeface="Arial" panose="020B0604020202090204" pitchFamily="34" charset="0"/>
                <a:sym typeface="楷体" panose="02010609060101010101" pitchFamily="49" charset="-122"/>
              </a:rPr>
              <a:t>杭州佳量脑科学股份有限公司</a:t>
            </a:r>
            <a:endParaRPr lang="en-US" altLang="zh-CN" sz="1500" kern="0" dirty="0">
              <a:latin typeface="微软雅黑" panose="020B0503020204020204" charset="-122"/>
              <a:ea typeface="微软雅黑" panose="020B0503020204020204" charset="-122"/>
              <a:cs typeface="Arial" panose="020B0604020202090204" pitchFamily="34" charset="0"/>
              <a:sym typeface="楷体" panose="02010609060101010101" pitchFamily="49" charset="-122"/>
            </a:endParaRPr>
          </a:p>
          <a:p>
            <a:pPr marL="285750" indent="-285750" algn="just" fontAlgn="auto">
              <a:lnSpc>
                <a:spcPct val="120000"/>
              </a:lnSpc>
              <a:spcBef>
                <a:spcPts val="0"/>
              </a:spcBef>
              <a:spcAft>
                <a:spcPts val="300"/>
              </a:spcAft>
              <a:buFont typeface="Wingdings" panose="05000000000000000000" pitchFamily="2" charset="2"/>
              <a:buChar char="n"/>
              <a:defRPr/>
            </a:pPr>
            <a:r>
              <a:rPr lang="zh-CN" altLang="en-US" sz="1500" b="1" kern="0" dirty="0">
                <a:solidFill>
                  <a:srgbClr val="5353B5"/>
                </a:solidFill>
                <a:latin typeface="微软雅黑" panose="020B0503020204020204" charset="-122"/>
                <a:ea typeface="微软雅黑" panose="020B0503020204020204" charset="-122"/>
                <a:cs typeface="Arial" panose="020B0604020202090204" pitchFamily="34" charset="0"/>
                <a:sym typeface="楷体" panose="02010609060101010101" pitchFamily="49" charset="-122"/>
              </a:rPr>
              <a:t>成立背景：</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2020</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年</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4</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月</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8</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日成立，由曹鹏博士创立</a:t>
            </a:r>
            <a:r>
              <a:rPr lang="zh-CN" altLang="en-US" sz="1500" dirty="0"/>
              <a:t>，</a:t>
            </a:r>
            <a:r>
              <a:rPr lang="zh-CN" altLang="en-US" sz="1500" dirty="0">
                <a:solidFill>
                  <a:srgbClr val="000000"/>
                </a:solidFill>
                <a:latin typeface="Arial" panose="020B0604020202090204" pitchFamily="34" charset="0"/>
                <a:ea typeface="微软雅黑" panose="020B0503020204020204" charset="-122"/>
                <a:cs typeface="+mn-ea"/>
              </a:rPr>
              <a:t>专注于脑科学和神经外科领域的创新医疗器械与脑机接口设备研发</a:t>
            </a:r>
            <a:endParaRPr lang="zh-CN" altLang="en-US" sz="1500" kern="0" dirty="0">
              <a:latin typeface="微软雅黑" panose="020B0503020204020204" charset="-122"/>
              <a:ea typeface="微软雅黑" panose="020B0503020204020204" charset="-122"/>
              <a:cs typeface="Arial" panose="020B0604020202090204" pitchFamily="34" charset="0"/>
              <a:sym typeface="楷体" panose="02010609060101010101" pitchFamily="49" charset="-122"/>
            </a:endParaRPr>
          </a:p>
          <a:p>
            <a:pPr marL="285750" indent="-285750" algn="just" fontAlgn="auto">
              <a:lnSpc>
                <a:spcPct val="120000"/>
              </a:lnSpc>
              <a:spcBef>
                <a:spcPts val="0"/>
              </a:spcBef>
              <a:spcAft>
                <a:spcPts val="300"/>
              </a:spcAft>
              <a:buFont typeface="Wingdings" panose="05000000000000000000" pitchFamily="2" charset="2"/>
              <a:buChar char="n"/>
              <a:defRPr/>
            </a:pPr>
            <a:r>
              <a:rPr lang="zh-CN" altLang="en-US" sz="1500" b="1" kern="0" dirty="0">
                <a:solidFill>
                  <a:srgbClr val="5353B5"/>
                </a:solidFill>
                <a:latin typeface="微软雅黑" panose="020B0503020204020204" charset="-122"/>
                <a:ea typeface="微软雅黑" panose="020B0503020204020204" charset="-122"/>
                <a:cs typeface="Arial" panose="020B0604020202090204" pitchFamily="34" charset="0"/>
                <a:sym typeface="楷体" panose="02010609060101010101" pitchFamily="49" charset="-122"/>
              </a:rPr>
              <a:t>核心定位：</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数据驱动的下一代脑机接口平台</a:t>
            </a:r>
            <a:endParaRPr lang="zh-CN" altLang="en-US" sz="1500" kern="0" dirty="0">
              <a:latin typeface="微软雅黑" panose="020B0503020204020204" charset="-122"/>
              <a:ea typeface="微软雅黑" panose="020B0503020204020204" charset="-122"/>
              <a:cs typeface="Arial" panose="020B0604020202090204" pitchFamily="34" charset="0"/>
              <a:sym typeface="楷体" panose="02010609060101010101" pitchFamily="49" charset="-122"/>
            </a:endParaRPr>
          </a:p>
          <a:p>
            <a:pPr marL="285750" indent="-285750" algn="just" fontAlgn="auto">
              <a:lnSpc>
                <a:spcPct val="120000"/>
              </a:lnSpc>
              <a:spcBef>
                <a:spcPts val="0"/>
              </a:spcBef>
              <a:spcAft>
                <a:spcPts val="300"/>
              </a:spcAft>
              <a:buFont typeface="Wingdings" panose="05000000000000000000" pitchFamily="2" charset="2"/>
              <a:buChar char="n"/>
              <a:defRPr/>
            </a:pPr>
            <a:r>
              <a:rPr lang="zh-CN" altLang="en-US" sz="1500" b="1" kern="0" dirty="0">
                <a:solidFill>
                  <a:srgbClr val="5353B5"/>
                </a:solidFill>
                <a:latin typeface="微软雅黑" panose="020B0503020204020204" charset="-122"/>
                <a:ea typeface="微软雅黑" panose="020B0503020204020204" charset="-122"/>
                <a:cs typeface="Arial" panose="020B0604020202090204" pitchFamily="34" charset="0"/>
                <a:sym typeface="楷体" panose="02010609060101010101" pitchFamily="49" charset="-122"/>
              </a:rPr>
              <a:t>核心技术：</a:t>
            </a:r>
            <a:r>
              <a:rPr lang="zh-CN" altLang="en-US" sz="1500" kern="0" dirty="0">
                <a:latin typeface="微软雅黑" panose="020B0503020204020204" charset="-122"/>
                <a:ea typeface="微软雅黑" panose="020B0503020204020204" charset="-122"/>
                <a:cs typeface="Arial" panose="020B0604020202090204" pitchFamily="34" charset="0"/>
                <a:sym typeface="楷体" panose="02010609060101010101" pitchFamily="49" charset="-122"/>
              </a:rPr>
              <a:t>自主构建闭环神经调控技术平台（</a:t>
            </a:r>
            <a:r>
              <a:rPr lang="en-US" altLang="zh-CN" sz="1500" kern="0" dirty="0" err="1">
                <a:latin typeface="微软雅黑" panose="020B0503020204020204" charset="-122"/>
                <a:ea typeface="微软雅黑" panose="020B0503020204020204" charset="-122"/>
                <a:cs typeface="Arial" panose="020B0604020202090204" pitchFamily="34" charset="0"/>
                <a:sym typeface="楷体" panose="02010609060101010101" pitchFamily="49" charset="-122"/>
              </a:rPr>
              <a:t>BCMod</a:t>
            </a:r>
            <a:r>
              <a:rPr lang="zh-CN" altLang="en-US" sz="1500" kern="0" dirty="0">
                <a:latin typeface="微软雅黑" panose="020B0503020204020204" charset="-122"/>
                <a:ea typeface="微软雅黑" panose="020B0503020204020204" charset="-122"/>
                <a:cs typeface="Arial" panose="020B0604020202090204" pitchFamily="34" charset="0"/>
                <a:sym typeface="楷体" panose="02010609060101010101" pitchFamily="49" charset="-122"/>
              </a:rPr>
              <a:t>），涵盖硬件、信号处理与解码、能源与通信及数据管理等核心模块</a:t>
            </a:r>
            <a:endParaRPr lang="zh-CN" altLang="en-US" sz="1500" kern="0" dirty="0">
              <a:latin typeface="微软雅黑" panose="020B0503020204020204" charset="-122"/>
              <a:ea typeface="微软雅黑" panose="020B0503020204020204" charset="-122"/>
              <a:cs typeface="Arial" panose="020B0604020202090204" pitchFamily="34" charset="0"/>
              <a:sym typeface="楷体" panose="02010609060101010101" pitchFamily="49" charset="-122"/>
            </a:endParaRPr>
          </a:p>
          <a:p>
            <a:pPr marL="285750" indent="-285750" algn="just" fontAlgn="auto">
              <a:lnSpc>
                <a:spcPct val="120000"/>
              </a:lnSpc>
              <a:spcBef>
                <a:spcPts val="0"/>
              </a:spcBef>
              <a:spcAft>
                <a:spcPts val="300"/>
              </a:spcAft>
              <a:buFont typeface="Wingdings" panose="05000000000000000000" pitchFamily="2" charset="2"/>
              <a:buChar char="n"/>
              <a:defRPr/>
            </a:pPr>
            <a:r>
              <a:rPr lang="zh-CN" altLang="en-US" sz="1500" b="1" kern="0" dirty="0">
                <a:solidFill>
                  <a:srgbClr val="5353B5"/>
                </a:solidFill>
                <a:latin typeface="微软雅黑" panose="020B0503020204020204" charset="-122"/>
                <a:ea typeface="微软雅黑" panose="020B0503020204020204" charset="-122"/>
                <a:cs typeface="Arial" panose="020B0604020202090204" pitchFamily="34" charset="0"/>
                <a:sym typeface="楷体" panose="02010609060101010101" pitchFamily="49" charset="-122"/>
              </a:rPr>
              <a:t>核心产品线：</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 部分产品已经获得三类证：</a:t>
            </a:r>
            <a:endPar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endParaRPr>
          </a:p>
          <a:p>
            <a:pPr algn="just">
              <a:lnSpc>
                <a:spcPct val="120000"/>
              </a:lnSpc>
              <a:spcAft>
                <a:spcPts val="300"/>
              </a:spcAft>
              <a:defRPr/>
            </a:pP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1</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SEEG</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电极（已获三类证）：找出癫痫病人脑内致病部位</a:t>
            </a:r>
            <a:endPar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endParaRPr>
          </a:p>
          <a:p>
            <a:pPr algn="just">
              <a:lnSpc>
                <a:spcPct val="120000"/>
              </a:lnSpc>
              <a:spcAft>
                <a:spcPts val="300"/>
              </a:spcAft>
              <a:defRPr/>
            </a:pP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2</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LaserRO™</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磁共振引导激光消融系统（已获三类证）：用激光消融脑部非</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功能区病灶</a:t>
            </a:r>
            <a:endPar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endParaRPr>
          </a:p>
          <a:p>
            <a:pPr algn="just">
              <a:lnSpc>
                <a:spcPct val="120000"/>
              </a:lnSpc>
              <a:spcAft>
                <a:spcPts val="300"/>
              </a:spcAft>
              <a:defRPr/>
            </a:pP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3</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Epilcure™</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闭环反应性神经刺激系统</a:t>
            </a:r>
            <a:r>
              <a:rPr lang="zh-CN" altLang="en-US" sz="1500" b="1" dirty="0">
                <a:solidFill>
                  <a:srgbClr val="C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b="1" dirty="0">
                <a:solidFill>
                  <a:srgbClr val="C00000"/>
                </a:solidFill>
                <a:latin typeface="Arial" panose="020B0604020202090204" pitchFamily="34" charset="0"/>
                <a:ea typeface="微软雅黑" panose="020B0503020204020204" charset="-122"/>
                <a:cs typeface="+mn-ea"/>
                <a:sym typeface="楷体" panose="02010609060101010101" pitchFamily="49" charset="-122"/>
              </a:rPr>
              <a:t>RNS</a:t>
            </a:r>
            <a:r>
              <a:rPr lang="zh-CN" altLang="en-US" sz="1500" b="1" dirty="0">
                <a:solidFill>
                  <a:srgbClr val="C00000"/>
                </a:solidFill>
                <a:latin typeface="Arial" panose="020B0604020202090204" pitchFamily="34" charset="0"/>
                <a:ea typeface="微软雅黑" panose="020B0503020204020204" charset="-122"/>
                <a:cs typeface="+mn-ea"/>
                <a:sym typeface="楷体" panose="02010609060101010101" pitchFamily="49" charset="-122"/>
              </a:rPr>
              <a:t>产品）</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：针对脑部功能区</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病灶，实时监测到癫痫发作前兆，自动电刺激，抑制发作</a:t>
            </a:r>
            <a:endPar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endParaRPr>
          </a:p>
          <a:p>
            <a:pPr algn="just">
              <a:lnSpc>
                <a:spcPct val="120000"/>
              </a:lnSpc>
              <a:spcAft>
                <a:spcPts val="300"/>
              </a:spcAft>
              <a:defRPr/>
            </a:pP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4</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iSBS</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帕金森病闭环调控系统：根据患者症状自动调节刺激强度，动态控制帕金森症状</a:t>
            </a:r>
            <a:endPar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endParaRPr>
          </a:p>
          <a:p>
            <a:pPr algn="just">
              <a:lnSpc>
                <a:spcPct val="120000"/>
              </a:lnSpc>
              <a:spcAft>
                <a:spcPts val="300"/>
              </a:spcAft>
              <a:defRPr/>
            </a:pP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5</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a:t>
            </a:r>
            <a:r>
              <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EES</a:t>
            </a:r>
            <a:r>
              <a:rPr lang="zh-CN" altLang="en-US"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rPr>
              <a:t>闭环脊髓神经接口系统：帮助脊髓损伤患者恢复行走</a:t>
            </a:r>
            <a:endParaRPr lang="en-US" altLang="zh-CN" sz="1500" dirty="0">
              <a:solidFill>
                <a:srgbClr val="000000"/>
              </a:solidFill>
              <a:latin typeface="Arial" panose="020B0604020202090204" pitchFamily="34" charset="0"/>
              <a:ea typeface="微软雅黑" panose="020B0503020204020204" charset="-122"/>
              <a:cs typeface="+mn-ea"/>
              <a:sym typeface="楷体" panose="02010609060101010101" pitchFamily="49" charset="-122"/>
            </a:endParaRPr>
          </a:p>
          <a:p>
            <a:pPr marL="285750" indent="-285750" algn="just">
              <a:lnSpc>
                <a:spcPct val="120000"/>
              </a:lnSpc>
              <a:spcAft>
                <a:spcPts val="300"/>
              </a:spcAft>
              <a:buFont typeface="Wingdings" panose="05000000000000000000" pitchFamily="2" charset="2"/>
              <a:buChar char="n"/>
              <a:defRPr/>
            </a:pPr>
            <a:r>
              <a:rPr lang="zh-CN" altLang="en-US" sz="1500" b="1" kern="0" dirty="0">
                <a:solidFill>
                  <a:srgbClr val="5353B5"/>
                </a:solidFill>
                <a:latin typeface="微软雅黑" panose="020B0503020204020204" charset="-122"/>
                <a:ea typeface="微软雅黑" panose="020B0503020204020204" charset="-122"/>
                <a:cs typeface="Arial" panose="020B0604020202090204" pitchFamily="34" charset="0"/>
                <a:sym typeface="楷体" panose="02010609060101010101" pitchFamily="49" charset="-122"/>
              </a:rPr>
              <a:t>核心优势：</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1</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）临床规模与数据领先：</a:t>
            </a:r>
            <a:r>
              <a:rPr lang="en-US" altLang="zh-CN" sz="1500" dirty="0" err="1">
                <a:solidFill>
                  <a:srgbClr val="000000"/>
                </a:solidFill>
                <a:latin typeface="Arial" panose="020B0604020202090204" pitchFamily="34" charset="0"/>
                <a:ea typeface="微软雅黑" panose="020B0503020204020204" charset="-122"/>
                <a:cs typeface="+mn-ea"/>
                <a:sym typeface="Arial" panose="020B0604020202090204" pitchFamily="34" charset="0"/>
              </a:rPr>
              <a:t>Epilcure</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完成百例临床植入，是国内侵入式颅内植入数据最大的企业之一（</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130</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例）。</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LITT</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临床试验消融有效率超</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91%</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RNS</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产品使癫痫发作频率平均减少</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61.1%</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2</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）知识产权深厚：拥有</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200</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余项专利。（</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3</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）临床资源顶级：与宣武、华山、浙大二院等国内多家顶尖神经外科中心深度合作。</a:t>
            </a:r>
            <a:endParaRPr lang="zh-CN" altLang="en-US" sz="1500" kern="0" dirty="0">
              <a:latin typeface="微软雅黑" panose="020B0503020204020204" charset="-122"/>
              <a:ea typeface="微软雅黑" panose="020B0503020204020204" charset="-122"/>
              <a:cs typeface="Arial" panose="020B0604020202090204" pitchFamily="34" charset="0"/>
              <a:sym typeface="楷体" panose="02010609060101010101" pitchFamily="49" charset="-122"/>
            </a:endParaRPr>
          </a:p>
          <a:p>
            <a:pPr marL="285750" indent="-285750" algn="just" fontAlgn="auto">
              <a:lnSpc>
                <a:spcPct val="120000"/>
              </a:lnSpc>
              <a:spcBef>
                <a:spcPts val="0"/>
              </a:spcBef>
              <a:spcAft>
                <a:spcPts val="300"/>
              </a:spcAft>
              <a:buFont typeface="Wingdings" panose="05000000000000000000" pitchFamily="2" charset="2"/>
              <a:buChar char="n"/>
              <a:defRPr/>
            </a:pPr>
            <a:r>
              <a:rPr lang="zh-CN" altLang="en-US" sz="1500" b="1" kern="0" dirty="0">
                <a:solidFill>
                  <a:srgbClr val="5353B5"/>
                </a:solidFill>
                <a:latin typeface="微软雅黑" panose="020B0503020204020204" charset="-122"/>
                <a:ea typeface="微软雅黑" panose="020B0503020204020204" charset="-122"/>
                <a:cs typeface="Arial" panose="020B0604020202090204" pitchFamily="34" charset="0"/>
                <a:sym typeface="楷体" panose="02010609060101010101" pitchFamily="49" charset="-122"/>
              </a:rPr>
              <a:t>核心团队：</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创始人兼</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CEO</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曹鹏：法国贡比涅技术大学博士，曾任</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GE</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医疗与健世科技高管，具备国际化视野与产业经验。激光技术负责人夏良道：清华大学本科、肯塔基大学博士，</a:t>
            </a:r>
            <a:r>
              <a:rPr lang="en-US" altLang="zh-CN"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30</a:t>
            </a:r>
            <a:r>
              <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rPr>
              <a:t>年激光研发经验。</a:t>
            </a:r>
            <a:endParaRPr lang="zh-CN" altLang="en-US" sz="1500" dirty="0">
              <a:solidFill>
                <a:srgbClr val="000000"/>
              </a:solidFill>
              <a:latin typeface="Arial" panose="020B0604020202090204" pitchFamily="34" charset="0"/>
              <a:ea typeface="微软雅黑" panose="020B0503020204020204" charset="-122"/>
              <a:cs typeface="+mn-ea"/>
              <a:sym typeface="Arial" panose="020B0604020202090204" pitchFamily="34" charset="0"/>
            </a:endParaRPr>
          </a:p>
          <a:p>
            <a:pPr marL="285750" indent="-285750" algn="just" fontAlgn="auto">
              <a:lnSpc>
                <a:spcPct val="120000"/>
              </a:lnSpc>
              <a:spcBef>
                <a:spcPts val="0"/>
              </a:spcBef>
              <a:spcAft>
                <a:spcPts val="300"/>
              </a:spcAft>
              <a:buFont typeface="Wingdings" panose="05000000000000000000" pitchFamily="2" charset="2"/>
              <a:buChar char="n"/>
              <a:defRPr/>
            </a:pPr>
            <a:r>
              <a:rPr lang="zh-CN" altLang="en-US" sz="1600" b="1" kern="0" dirty="0">
                <a:solidFill>
                  <a:srgbClr val="5353B5"/>
                </a:solidFill>
                <a:latin typeface="微软雅黑" panose="020B0503020204020204" charset="-122"/>
                <a:ea typeface="微软雅黑" panose="020B0503020204020204" charset="-122"/>
                <a:cs typeface="Arial" panose="020B0604020202090204" pitchFamily="34" charset="0"/>
                <a:sym typeface="Arial" panose="020B0604020202090204" pitchFamily="34" charset="0"/>
              </a:rPr>
              <a:t>融资现状：</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累计融资</a:t>
            </a:r>
            <a:r>
              <a:rPr lang="en-US" altLang="zh-CN"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6.885</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亿元（</a:t>
            </a:r>
            <a:r>
              <a:rPr lang="en-US" altLang="zh-CN"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C</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轮</a:t>
            </a:r>
            <a:r>
              <a:rPr lang="en-US" altLang="zh-CN"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2.91</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亿元</a:t>
            </a:r>
            <a:r>
              <a:rPr lang="en-US" altLang="zh-CN"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，拟进行</a:t>
            </a:r>
            <a:r>
              <a:rPr lang="en-US" altLang="zh-CN"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D</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轮融资，投前</a:t>
            </a:r>
            <a:r>
              <a:rPr lang="en-US" altLang="zh-CN"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38</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亿（综合老股投前</a:t>
            </a:r>
            <a:r>
              <a:rPr lang="en-US" altLang="zh-CN"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30</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亿）。</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正筹备港股</a:t>
            </a:r>
            <a:r>
              <a:rPr lang="en-US" altLang="zh-CN"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18A</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上市，</a:t>
            </a:r>
            <a:r>
              <a:rPr lang="en-US" altLang="zh-CN"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6</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月</a:t>
            </a:r>
            <a:r>
              <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rPr>
              <a:t>中旬已密交。</a:t>
            </a:r>
            <a:endParaRPr lang="zh-CN" altLang="en-US" sz="1600" dirty="0">
              <a:solidFill>
                <a:srgbClr val="000000"/>
              </a:solidFill>
              <a:latin typeface="Arial" panose="020B0604020202090204" pitchFamily="34" charset="0"/>
              <a:ea typeface="微软雅黑" panose="020B0503020204020204" charset="-122"/>
              <a:cs typeface="+mn-ea"/>
              <a:sym typeface="Arial" panose="020B0604020202090204" pitchFamily="34" charset="0"/>
            </a:endParaRPr>
          </a:p>
        </p:txBody>
      </p:sp>
      <p:sp>
        <p:nvSpPr>
          <p:cNvPr id="9" name="矩形 8"/>
          <p:cNvSpPr/>
          <p:nvPr/>
        </p:nvSpPr>
        <p:spPr>
          <a:xfrm>
            <a:off x="676910" y="549275"/>
            <a:ext cx="10843260" cy="375285"/>
          </a:xfrm>
          <a:prstGeom prst="rect">
            <a:avLst/>
          </a:prstGeom>
          <a:solidFill>
            <a:schemeClr val="accent4"/>
          </a:solidFill>
        </p:spPr>
        <p:style>
          <a:lnRef idx="0">
            <a:srgbClr val="FFFFFF"/>
          </a:lnRef>
          <a:fillRef idx="1">
            <a:schemeClr val="accent1"/>
          </a:fillRef>
          <a:effectRef idx="0">
            <a:srgbClr val="FFFFFF"/>
          </a:effectRef>
          <a:fontRef idx="minor">
            <a:schemeClr val="lt1"/>
          </a:fontRef>
        </p:style>
        <p:txBody>
          <a:bodyPr anchor="ctr"/>
          <a:lstStyle/>
          <a:p>
            <a:pPr algn="ctr">
              <a:defRPr/>
            </a:pPr>
            <a:r>
              <a:rPr lang="zh-CN" altLang="en-US" sz="1515" b="1" dirty="0">
                <a:solidFill>
                  <a:schemeClr val="bg1"/>
                </a:solidFill>
                <a:latin typeface="微软雅黑" panose="020B0503020204020204" charset="-122"/>
                <a:ea typeface="微软雅黑" panose="020B0503020204020204" charset="-122"/>
                <a:sym typeface="楷体" panose="02010609060101010101" pitchFamily="49" charset="-122"/>
              </a:rPr>
              <a:t>公司基本情况</a:t>
            </a:r>
            <a:endParaRPr lang="zh-CN" altLang="en-US" sz="1515" b="1" dirty="0">
              <a:solidFill>
                <a:schemeClr val="bg1"/>
              </a:solidFill>
              <a:latin typeface="微软雅黑" panose="020B0503020204020204" charset="-122"/>
              <a:ea typeface="微软雅黑" panose="020B0503020204020204" charset="-122"/>
              <a:sym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平行四边形 2"/>
          <p:cNvSpPr/>
          <p:nvPr/>
        </p:nvSpPr>
        <p:spPr>
          <a:xfrm rot="10800000" flipV="1">
            <a:off x="-179071" y="0"/>
            <a:ext cx="1763395" cy="577514"/>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t>目录</a:t>
            </a:r>
            <a:endParaRPr lang="zh-CN" altLang="en-US" sz="1600" b="1" dirty="0"/>
          </a:p>
        </p:txBody>
      </p:sp>
      <p:sp>
        <p:nvSpPr>
          <p:cNvPr id="8" name="文本框 7"/>
          <p:cNvSpPr txBox="1"/>
          <p:nvPr>
            <p:custDataLst>
              <p:tags r:id="rId1"/>
            </p:custDataLst>
          </p:nvPr>
        </p:nvSpPr>
        <p:spPr>
          <a:xfrm>
            <a:off x="1377950" y="2670599"/>
            <a:ext cx="10257790" cy="2215991"/>
          </a:xfrm>
          <a:prstGeom prst="rect">
            <a:avLst/>
          </a:prstGeom>
          <a:noFill/>
        </p:spPr>
        <p:txBody>
          <a:bodyPr wrap="square" rtlCol="0">
            <a:spAutoFit/>
          </a:bodyPr>
          <a:lstStyle/>
          <a:p>
            <a:r>
              <a:rPr lang="en-US" altLang="zh-CN" sz="2000" b="1" dirty="0">
                <a:solidFill>
                  <a:schemeClr val="accent1"/>
                </a:solidFill>
                <a:effectLst/>
                <a:latin typeface="微软雅黑" panose="020B0503020204020204" charset="-122"/>
                <a:ea typeface="微软雅黑" panose="020B0503020204020204" charset="-122"/>
                <a:cs typeface="微软雅黑" panose="020B0503020204020204" charset="-122"/>
              </a:rPr>
              <a:t>1</a:t>
            </a:r>
            <a:r>
              <a:rPr lang="zh-CN" altLang="en-US" sz="2000" b="1" dirty="0">
                <a:solidFill>
                  <a:schemeClr val="accent1"/>
                </a:solidFill>
                <a:effectLst/>
                <a:latin typeface="微软雅黑" panose="020B0503020204020204" charset="-122"/>
                <a:ea typeface="微软雅黑" panose="020B0503020204020204" charset="-122"/>
                <a:cs typeface="微软雅黑" panose="020B0503020204020204" charset="-122"/>
              </a:rPr>
              <a:t>、脑机接口的基本定义 </a:t>
            </a:r>
            <a:r>
              <a:rPr lang="en-US" altLang="zh-CN" sz="2000" b="1" dirty="0">
                <a:solidFill>
                  <a:schemeClr val="accent1"/>
                </a:solidFill>
                <a:effectLst/>
                <a:latin typeface="微软雅黑" panose="020B0503020204020204" charset="-122"/>
                <a:ea typeface="微软雅黑" panose="020B0503020204020204" charset="-122"/>
                <a:cs typeface="微软雅黑" panose="020B0503020204020204" charset="-122"/>
              </a:rPr>
              <a:t>&amp;</a:t>
            </a:r>
            <a:r>
              <a:rPr lang="zh-CN" altLang="en-US" sz="2000" b="1" dirty="0">
                <a:solidFill>
                  <a:schemeClr val="accent1"/>
                </a:solidFill>
                <a:effectLst/>
                <a:latin typeface="微软雅黑" panose="020B0503020204020204" charset="-122"/>
                <a:ea typeface="微软雅黑" panose="020B0503020204020204" charset="-122"/>
                <a:cs typeface="微软雅黑" panose="020B0503020204020204" charset="-122"/>
              </a:rPr>
              <a:t> 技术特点</a:t>
            </a:r>
            <a:endParaRPr lang="en-US" altLang="zh-CN" sz="2000" b="1" dirty="0">
              <a:solidFill>
                <a:schemeClr val="accent1"/>
              </a:solidFill>
              <a:effectLst/>
              <a:latin typeface="微软雅黑" panose="020B0503020204020204" charset="-122"/>
              <a:ea typeface="微软雅黑" panose="020B0503020204020204" charset="-122"/>
              <a:cs typeface="微软雅黑" panose="020B0503020204020204" charset="-122"/>
            </a:endParaRPr>
          </a:p>
          <a:p>
            <a:endParaRPr lang="en-US" altLang="zh-CN" sz="2000" b="1" dirty="0">
              <a:solidFill>
                <a:schemeClr val="accent1"/>
              </a:solidFill>
              <a:latin typeface="微软雅黑" panose="020B0503020204020204" charset="-122"/>
              <a:ea typeface="微软雅黑" panose="020B0503020204020204" charset="-122"/>
              <a:cs typeface="微软雅黑" panose="020B0503020204020204" charset="-122"/>
            </a:endParaRPr>
          </a:p>
          <a:p>
            <a:r>
              <a:rPr lang="en-US" altLang="zh-CN" sz="2000" b="1" dirty="0">
                <a:effectLst/>
                <a:latin typeface="微软雅黑" panose="020B0503020204020204" charset="-122"/>
                <a:ea typeface="微软雅黑" panose="020B0503020204020204" charset="-122"/>
                <a:cs typeface="微软雅黑" panose="020B0503020204020204" charset="-122"/>
              </a:rPr>
              <a:t>2</a:t>
            </a:r>
            <a:r>
              <a:rPr lang="zh-CN" altLang="en-US" sz="2000" b="1" dirty="0">
                <a:latin typeface="微软雅黑" panose="020B0503020204020204" charset="-122"/>
                <a:ea typeface="微软雅黑" panose="020B0503020204020204" charset="-122"/>
                <a:cs typeface="微软雅黑" panose="020B0503020204020204" charset="-122"/>
              </a:rPr>
              <a:t>、脑机接口的市场规模 </a:t>
            </a:r>
            <a:r>
              <a:rPr lang="en-US" altLang="zh-CN" sz="2000" b="1" dirty="0">
                <a:latin typeface="微软雅黑" panose="020B0503020204020204" charset="-122"/>
                <a:ea typeface="微软雅黑" panose="020B0503020204020204" charset="-122"/>
                <a:cs typeface="微软雅黑" panose="020B0503020204020204" charset="-122"/>
              </a:rPr>
              <a:t>&amp;</a:t>
            </a:r>
            <a:r>
              <a:rPr lang="zh-CN" altLang="en-US" sz="2000" b="1" dirty="0">
                <a:latin typeface="微软雅黑" panose="020B0503020204020204" charset="-122"/>
                <a:ea typeface="微软雅黑" panose="020B0503020204020204" charset="-122"/>
                <a:cs typeface="微软雅黑" panose="020B0503020204020204" charset="-122"/>
              </a:rPr>
              <a:t> 赛道</a:t>
            </a:r>
            <a:r>
              <a:rPr lang="zh-CN" altLang="en-US" sz="2000" b="1" dirty="0">
                <a:effectLst/>
                <a:latin typeface="微软雅黑" panose="020B0503020204020204" charset="-122"/>
                <a:ea typeface="微软雅黑" panose="020B0503020204020204" charset="-122"/>
                <a:cs typeface="微软雅黑" panose="020B0503020204020204" charset="-122"/>
              </a:rPr>
              <a:t>研究</a:t>
            </a:r>
            <a:endParaRPr lang="zh-CN" altLang="en-US" b="1" dirty="0">
              <a:latin typeface="微软雅黑" panose="020B0503020204020204" charset="-122"/>
              <a:ea typeface="微软雅黑" panose="020B0503020204020204" charset="-122"/>
              <a:cs typeface="微软雅黑" panose="020B0503020204020204" charset="-122"/>
            </a:endParaRPr>
          </a:p>
          <a:p>
            <a:endParaRPr lang="zh-CN" altLang="en-US" b="1" dirty="0">
              <a:latin typeface="微软雅黑" panose="020B0503020204020204" charset="-122"/>
              <a:ea typeface="微软雅黑" panose="020B0503020204020204" charset="-122"/>
              <a:cs typeface="微软雅黑" panose="020B0503020204020204" charset="-122"/>
            </a:endParaRPr>
          </a:p>
          <a:p>
            <a:r>
              <a:rPr lang="en-US" altLang="zh-CN" sz="2000" b="1" dirty="0">
                <a:latin typeface="微软雅黑" panose="020B0503020204020204" charset="-122"/>
                <a:ea typeface="微软雅黑" panose="020B0503020204020204" charset="-122"/>
              </a:rPr>
              <a:t>3</a:t>
            </a:r>
            <a:r>
              <a:rPr lang="zh-CN" altLang="en-US" sz="2000" b="1" dirty="0">
                <a:latin typeface="微软雅黑" panose="020B0503020204020204" charset="-122"/>
                <a:ea typeface="微软雅黑" panose="020B0503020204020204" charset="-122"/>
              </a:rPr>
              <a:t>、佳量脑科学团队 </a:t>
            </a:r>
            <a:r>
              <a:rPr lang="en-US" altLang="zh-CN" sz="2000" b="1" dirty="0">
                <a:latin typeface="微软雅黑" panose="020B0503020204020204" charset="-122"/>
                <a:ea typeface="微软雅黑" panose="020B0503020204020204" charset="-122"/>
              </a:rPr>
              <a:t>&amp;</a:t>
            </a:r>
            <a:r>
              <a:rPr lang="zh-CN" altLang="en-US" sz="2000" b="1" dirty="0">
                <a:latin typeface="微软雅黑" panose="020B0503020204020204" charset="-122"/>
                <a:ea typeface="微软雅黑" panose="020B0503020204020204" charset="-122"/>
              </a:rPr>
              <a:t> 技术与产品</a:t>
            </a:r>
            <a:endParaRPr lang="zh-CN" altLang="en-US" sz="2000" b="1" dirty="0">
              <a:latin typeface="微软雅黑" panose="020B0503020204020204" charset="-122"/>
              <a:ea typeface="微软雅黑" panose="020B0503020204020204" charset="-122"/>
            </a:endParaRPr>
          </a:p>
          <a:p>
            <a:endParaRPr lang="zh-CN" altLang="en-US" sz="2000" b="1" dirty="0">
              <a:latin typeface="微软雅黑" panose="020B0503020204020204" charset="-122"/>
              <a:ea typeface="微软雅黑" panose="020B0503020204020204" charset="-122"/>
            </a:endParaRPr>
          </a:p>
          <a:p>
            <a:r>
              <a:rPr lang="en-US" altLang="zh-CN" sz="2000" b="1" dirty="0">
                <a:latin typeface="微软雅黑" panose="020B0503020204020204" charset="-122"/>
                <a:ea typeface="微软雅黑" panose="020B0503020204020204" charset="-122"/>
              </a:rPr>
              <a:t>4</a:t>
            </a:r>
            <a:r>
              <a:rPr lang="zh-CN" altLang="en-US" sz="2000" b="1" dirty="0">
                <a:latin typeface="微软雅黑" panose="020B0503020204020204" charset="-122"/>
                <a:ea typeface="微软雅黑" panose="020B0503020204020204" charset="-122"/>
              </a:rPr>
              <a:t>、风险评估 </a:t>
            </a:r>
            <a:r>
              <a:rPr lang="en-US" altLang="zh-CN" sz="2000" b="1" dirty="0">
                <a:latin typeface="微软雅黑" panose="020B0503020204020204" charset="-122"/>
                <a:ea typeface="微软雅黑" panose="020B0503020204020204" charset="-122"/>
              </a:rPr>
              <a:t>&amp;</a:t>
            </a:r>
            <a:r>
              <a:rPr lang="zh-CN" altLang="en-US" sz="2000" b="1" dirty="0">
                <a:latin typeface="微软雅黑" panose="020B0503020204020204" charset="-122"/>
                <a:ea typeface="微软雅黑" panose="020B0503020204020204" charset="-122"/>
              </a:rPr>
              <a:t> 投资方案</a:t>
            </a:r>
            <a:endParaRPr lang="zh-CN" altLang="en-US" sz="2000" b="1" dirty="0">
              <a:latin typeface="微软雅黑" panose="020B0503020204020204" charset="-122"/>
              <a:ea typeface="微软雅黑" panose="020B0503020204020204" charset="-122"/>
            </a:endParaRPr>
          </a:p>
        </p:txBody>
      </p:sp>
      <p:sp>
        <p:nvSpPr>
          <p:cNvPr id="9" name="文本框 8"/>
          <p:cNvSpPr txBox="1"/>
          <p:nvPr/>
        </p:nvSpPr>
        <p:spPr>
          <a:xfrm>
            <a:off x="1377950" y="1801495"/>
            <a:ext cx="9118600" cy="460375"/>
          </a:xfrm>
          <a:prstGeom prst="rect">
            <a:avLst/>
          </a:prstGeom>
          <a:noFill/>
        </p:spPr>
        <p:txBody>
          <a:bodyPr wrap="square" rtlCol="0">
            <a:spAutoFit/>
          </a:bodyPr>
          <a:lstStyle/>
          <a:p>
            <a:pPr algn="ctr"/>
            <a:r>
              <a:rPr lang="zh-CN" altLang="en-US" sz="2400" b="1" dirty="0">
                <a:solidFill>
                  <a:schemeClr val="accent1"/>
                </a:solidFill>
                <a:effectLst>
                  <a:outerShdw blurRad="38100" dist="25400" dir="5400000" algn="ctr" rotWithShape="0">
                    <a:srgbClr val="6E747A">
                      <a:alpha val="43000"/>
                    </a:srgbClr>
                  </a:outerShdw>
                </a:effectLst>
                <a:latin typeface="微软雅黑)" charset="0"/>
                <a:ea typeface="微软雅黑)" charset="0"/>
              </a:rPr>
              <a:t>佳量脑科学投资逻辑</a:t>
            </a:r>
            <a:endParaRPr lang="zh-CN" altLang="en-US" sz="2400" b="1" dirty="0">
              <a:solidFill>
                <a:schemeClr val="accent1"/>
              </a:solidFill>
              <a:effectLst>
                <a:outerShdw blurRad="38100" dist="25400" dir="5400000" algn="ctr" rotWithShape="0">
                  <a:srgbClr val="6E747A">
                    <a:alpha val="43000"/>
                  </a:srgbClr>
                </a:outerShdw>
              </a:effectLst>
              <a:latin typeface="微软雅黑)" charset="0"/>
              <a:ea typeface="微软雅黑)" charset="0"/>
            </a:endParaRPr>
          </a:p>
        </p:txBody>
      </p:sp>
      <p:cxnSp>
        <p:nvCxnSpPr>
          <p:cNvPr id="10" name="直接连接符 9"/>
          <p:cNvCxnSpPr/>
          <p:nvPr/>
        </p:nvCxnSpPr>
        <p:spPr>
          <a:xfrm>
            <a:off x="1479550" y="2385695"/>
            <a:ext cx="9017000" cy="0"/>
          </a:xfrm>
          <a:prstGeom prst="lin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latin typeface="微软雅黑" panose="020B0503020204020204" charset="-122"/>
                <a:ea typeface="微软雅黑" panose="020B0503020204020204" charset="-122"/>
              </a:rPr>
              <a:t>脑机</a:t>
            </a:r>
            <a:r>
              <a:rPr lang="zh-CN" altLang="en-US" sz="1600" b="1" dirty="0">
                <a:latin typeface="微软雅黑" panose="020B0503020204020204" charset="-122"/>
                <a:ea typeface="微软雅黑" panose="020B0503020204020204" charset="-122"/>
              </a:rPr>
              <a:t>接口</a:t>
            </a:r>
            <a:endParaRPr lang="zh-CN" altLang="en-US" sz="1600" b="1" dirty="0">
              <a:latin typeface="微软雅黑" panose="020B0503020204020204" charset="-122"/>
              <a:ea typeface="微软雅黑" panose="020B0503020204020204" charset="-122"/>
            </a:endParaRPr>
          </a:p>
          <a:p>
            <a:pPr algn="ctr"/>
            <a:r>
              <a:rPr lang="zh-CN" altLang="en-US" sz="1600" b="1" dirty="0">
                <a:latin typeface="微软雅黑" panose="020B0503020204020204" charset="-122"/>
                <a:ea typeface="微软雅黑" panose="020B0503020204020204" charset="-122"/>
              </a:rPr>
              <a:t>定义</a:t>
            </a:r>
            <a:endParaRPr lang="zh-CN" altLang="en-US" sz="1600" b="1" dirty="0">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620519" y="-30157"/>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脑机接口（</a:t>
            </a:r>
            <a:r>
              <a:rPr lang="en-US" altLang="zh-CN" sz="2000" dirty="0">
                <a:solidFill>
                  <a:srgbClr val="5353B5"/>
                </a:solidFill>
                <a:latin typeface="微软雅黑" panose="020B0503020204020204" charset="-122"/>
                <a:ea typeface="微软雅黑" panose="020B0503020204020204" charset="-122"/>
                <a:cs typeface="微软雅黑" panose="020B0503020204020204" charset="-122"/>
              </a:rPr>
              <a:t>BCI</a:t>
            </a:r>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a:t>
            </a:r>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是以大脑意念为控制方式的下一代技术</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endParaRPr>
          </a:p>
        </p:txBody>
      </p:sp>
      <p:sp>
        <p:nvSpPr>
          <p:cNvPr id="5" name="AutoShape 5"/>
          <p:cNvSpPr/>
          <p:nvPr/>
        </p:nvSpPr>
        <p:spPr>
          <a:xfrm>
            <a:off x="761999" y="725966"/>
            <a:ext cx="10758487" cy="1309047"/>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2025 </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年 </a:t>
            </a:r>
            <a:r>
              <a:rPr lang="en-US" altLang="zh-CN"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9 </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月 </a:t>
            </a:r>
            <a:r>
              <a:rPr lang="en-US" altLang="zh-CN"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16 </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日，国家药品监督管理局发布了 </a:t>
            </a:r>
            <a:r>
              <a:rPr 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YY/T 1987—2025《</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采用脑机接口技术的医疗器械术语</a:t>
            </a:r>
            <a:r>
              <a:rPr lang="en-US" altLang="zh-CN"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。该标准明确，采用</a:t>
            </a:r>
            <a:r>
              <a:rPr lang="zh-CN" altLang="en-US" sz="1600" b="1" i="0" u="sng" strike="noStrike" dirty="0">
                <a:solidFill>
                  <a:srgbClr val="5353B5"/>
                </a:solidFill>
                <a:latin typeface="微软雅黑" panose="020B0503020204020204" charset="-122"/>
                <a:ea typeface="微软雅黑" panose="020B0503020204020204" charset="-122"/>
                <a:cs typeface="微软雅黑" panose="020B0503020204020204" charset="-122"/>
                <a:sym typeface="Noto Sans SC" panose="020B0200000000000000" charset="-122"/>
              </a:rPr>
              <a:t>脑机接口技术</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的医疗器械（</a:t>
            </a:r>
            <a:r>
              <a:rPr 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BCI-MD/BMI-MD）</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是通过侵入或非侵入式的方式，</a:t>
            </a:r>
            <a:r>
              <a:rPr lang="zh-CN" altLang="en-US" sz="1600" b="1" i="0" u="none" strike="noStrike" dirty="0">
                <a:solidFill>
                  <a:srgbClr val="5353B5"/>
                </a:solidFill>
                <a:latin typeface="微软雅黑" panose="020B0503020204020204" charset="-122"/>
                <a:ea typeface="微软雅黑" panose="020B0503020204020204" charset="-122"/>
                <a:cs typeface="微软雅黑" panose="020B0503020204020204" charset="-122"/>
                <a:sym typeface="Noto Sans SC" panose="020B0200000000000000" charset="-122"/>
              </a:rPr>
              <a:t>测量</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中枢神经系统产生的神经信号并实时</a:t>
            </a:r>
            <a:r>
              <a:rPr lang="zh-CN" altLang="en-US" sz="1600" b="1" i="0" u="none" strike="noStrike" dirty="0">
                <a:solidFill>
                  <a:srgbClr val="5353B5"/>
                </a:solidFill>
                <a:latin typeface="微软雅黑" panose="020B0503020204020204" charset="-122"/>
                <a:ea typeface="微软雅黑" panose="020B0503020204020204" charset="-122"/>
                <a:cs typeface="微软雅黑" panose="020B0503020204020204" charset="-122"/>
                <a:sym typeface="Noto Sans SC" panose="020B0200000000000000" charset="-122"/>
              </a:rPr>
              <a:t>解码</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，实现患者与外部辅助或诊疗设备的实时</a:t>
            </a:r>
            <a:r>
              <a:rPr lang="zh-CN" altLang="en-US" sz="1600" b="1" i="0" u="none" strike="noStrike" dirty="0">
                <a:solidFill>
                  <a:srgbClr val="5353B5"/>
                </a:solidFill>
                <a:latin typeface="微软雅黑" panose="020B0503020204020204" charset="-122"/>
                <a:ea typeface="微软雅黑" panose="020B0503020204020204" charset="-122"/>
                <a:cs typeface="微软雅黑" panose="020B0503020204020204" charset="-122"/>
                <a:sym typeface="Noto Sans SC" panose="020B0200000000000000" charset="-122"/>
              </a:rPr>
              <a:t>双向交互</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或</a:t>
            </a:r>
            <a:r>
              <a:rPr lang="zh-CN" altLang="en-US" sz="1600"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闭环反馈</a:t>
            </a:r>
            <a:r>
              <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，达到改善、修复或替代中枢神经系统功能等临床效果的有源医疗器械。 </a:t>
            </a:r>
            <a:endParaRPr lang="zh-CN" altLang="en-US" sz="1600" b="0" i="0" u="none" strike="noStrike" dirty="0">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15" name="图片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55086" y="2607830"/>
            <a:ext cx="7478889" cy="3524204"/>
          </a:xfrm>
          <a:prstGeom prst="rect">
            <a:avLst/>
          </a:prstGeom>
        </p:spPr>
      </p:pic>
      <p:grpSp>
        <p:nvGrpSpPr>
          <p:cNvPr id="36" name="组合 35"/>
          <p:cNvGrpSpPr/>
          <p:nvPr/>
        </p:nvGrpSpPr>
        <p:grpSpPr>
          <a:xfrm>
            <a:off x="1226331" y="2330354"/>
            <a:ext cx="2490323" cy="3082299"/>
            <a:chOff x="1264353" y="2514460"/>
            <a:chExt cx="2490323" cy="3492560"/>
          </a:xfrm>
        </p:grpSpPr>
        <p:sp>
          <p:nvSpPr>
            <p:cNvPr id="16" name="圆角矩形 15"/>
            <p:cNvSpPr/>
            <p:nvPr/>
          </p:nvSpPr>
          <p:spPr>
            <a:xfrm>
              <a:off x="1407986" y="3521635"/>
              <a:ext cx="1518957" cy="549540"/>
            </a:xfrm>
            <a:prstGeom prst="round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rPr>
                <a:t>信号采集</a:t>
              </a:r>
              <a:endParaRPr kumimoji="1" lang="zh-CN" altLang="en-US" sz="1600" b="1" dirty="0">
                <a:solidFill>
                  <a:schemeClr val="tx1"/>
                </a:solidFill>
              </a:endParaRPr>
            </a:p>
          </p:txBody>
        </p:sp>
        <p:grpSp>
          <p:nvGrpSpPr>
            <p:cNvPr id="22" name="组合 21"/>
            <p:cNvGrpSpPr/>
            <p:nvPr/>
          </p:nvGrpSpPr>
          <p:grpSpPr>
            <a:xfrm>
              <a:off x="1264353" y="2514460"/>
              <a:ext cx="1806222" cy="632178"/>
              <a:chOff x="1264356" y="2156178"/>
              <a:chExt cx="1806222" cy="632178"/>
            </a:xfrm>
          </p:grpSpPr>
          <p:sp>
            <p:nvSpPr>
              <p:cNvPr id="17" name="椭圆 16"/>
              <p:cNvSpPr/>
              <p:nvPr/>
            </p:nvSpPr>
            <p:spPr>
              <a:xfrm>
                <a:off x="1264356" y="2156178"/>
                <a:ext cx="1806222" cy="6321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nvSpPr>
            <p:spPr>
              <a:xfrm>
                <a:off x="1869949" y="2302990"/>
                <a:ext cx="595035" cy="338554"/>
              </a:xfrm>
              <a:prstGeom prst="rect">
                <a:avLst/>
              </a:prstGeom>
              <a:noFill/>
            </p:spPr>
            <p:txBody>
              <a:bodyPr wrap="none" rtlCol="0">
                <a:spAutoFit/>
              </a:bodyPr>
              <a:lstStyle/>
              <a:p>
                <a:r>
                  <a:rPr kumimoji="1" lang="zh-CN" altLang="en-US" sz="1600" b="1" dirty="0">
                    <a:solidFill>
                      <a:schemeClr val="bg1"/>
                    </a:solidFill>
                  </a:rPr>
                  <a:t>大脑</a:t>
                </a:r>
                <a:endParaRPr kumimoji="1" lang="zh-CN" altLang="en-US" sz="1600" b="1" dirty="0">
                  <a:solidFill>
                    <a:schemeClr val="bg1"/>
                  </a:solidFill>
                </a:endParaRPr>
              </a:p>
            </p:txBody>
          </p:sp>
        </p:grpSp>
        <p:sp>
          <p:nvSpPr>
            <p:cNvPr id="19" name="圆角矩形 18"/>
            <p:cNvSpPr/>
            <p:nvPr/>
          </p:nvSpPr>
          <p:spPr>
            <a:xfrm>
              <a:off x="1407986" y="4430889"/>
              <a:ext cx="1518957" cy="549540"/>
            </a:xfrm>
            <a:prstGeom prst="round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chemeClr val="tx1"/>
                  </a:solidFill>
                </a:rPr>
                <a:t>解码</a:t>
              </a:r>
              <a:endParaRPr kumimoji="1" lang="zh-CN" altLang="en-US" sz="1600" b="1" dirty="0">
                <a:solidFill>
                  <a:schemeClr val="tx1"/>
                </a:solidFill>
              </a:endParaRPr>
            </a:p>
          </p:txBody>
        </p:sp>
        <p:grpSp>
          <p:nvGrpSpPr>
            <p:cNvPr id="23" name="组合 22"/>
            <p:cNvGrpSpPr/>
            <p:nvPr/>
          </p:nvGrpSpPr>
          <p:grpSpPr>
            <a:xfrm>
              <a:off x="1264353" y="5374842"/>
              <a:ext cx="1806222" cy="632178"/>
              <a:chOff x="1334397" y="5497798"/>
              <a:chExt cx="1806222" cy="632178"/>
            </a:xfrm>
          </p:grpSpPr>
          <p:sp>
            <p:nvSpPr>
              <p:cNvPr id="20" name="椭圆 19"/>
              <p:cNvSpPr/>
              <p:nvPr/>
            </p:nvSpPr>
            <p:spPr>
              <a:xfrm>
                <a:off x="1334397" y="5497798"/>
                <a:ext cx="1806222" cy="6321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文本框 20"/>
              <p:cNvSpPr txBox="1"/>
              <p:nvPr/>
            </p:nvSpPr>
            <p:spPr>
              <a:xfrm>
                <a:off x="1734806" y="5644610"/>
                <a:ext cx="1005403" cy="338554"/>
              </a:xfrm>
              <a:prstGeom prst="rect">
                <a:avLst/>
              </a:prstGeom>
              <a:noFill/>
            </p:spPr>
            <p:txBody>
              <a:bodyPr wrap="none" rtlCol="0">
                <a:spAutoFit/>
              </a:bodyPr>
              <a:lstStyle/>
              <a:p>
                <a:r>
                  <a:rPr kumimoji="1" lang="zh-CN" altLang="en-US" sz="1600" b="1" dirty="0">
                    <a:solidFill>
                      <a:schemeClr val="bg1"/>
                    </a:solidFill>
                  </a:rPr>
                  <a:t>外部设备</a:t>
                </a:r>
                <a:endParaRPr kumimoji="1" lang="zh-CN" altLang="en-US" sz="1600" b="1" dirty="0">
                  <a:solidFill>
                    <a:schemeClr val="bg1"/>
                  </a:solidFill>
                </a:endParaRPr>
              </a:p>
            </p:txBody>
          </p:sp>
        </p:grpSp>
        <p:cxnSp>
          <p:nvCxnSpPr>
            <p:cNvPr id="25" name="直线箭头连接符 24"/>
            <p:cNvCxnSpPr>
              <a:stCxn id="17" idx="4"/>
              <a:endCxn id="16" idx="0"/>
            </p:cNvCxnSpPr>
            <p:nvPr/>
          </p:nvCxnSpPr>
          <p:spPr>
            <a:xfrm>
              <a:off x="2167464" y="3146638"/>
              <a:ext cx="1" cy="37499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直线箭头连接符 25"/>
            <p:cNvCxnSpPr>
              <a:stCxn id="16" idx="2"/>
              <a:endCxn id="19" idx="0"/>
            </p:cNvCxnSpPr>
            <p:nvPr/>
          </p:nvCxnSpPr>
          <p:spPr>
            <a:xfrm>
              <a:off x="2167465" y="4071175"/>
              <a:ext cx="0" cy="35971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p:cNvCxnSpPr>
              <a:stCxn id="19" idx="2"/>
              <a:endCxn id="20" idx="0"/>
            </p:cNvCxnSpPr>
            <p:nvPr/>
          </p:nvCxnSpPr>
          <p:spPr>
            <a:xfrm flipH="1">
              <a:off x="2167464" y="4980429"/>
              <a:ext cx="1" cy="39441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4" name="任意形状 33"/>
            <p:cNvSpPr/>
            <p:nvPr/>
          </p:nvSpPr>
          <p:spPr>
            <a:xfrm>
              <a:off x="3168550" y="2822027"/>
              <a:ext cx="586126" cy="2916621"/>
            </a:xfrm>
            <a:custGeom>
              <a:avLst/>
              <a:gdLst>
                <a:gd name="csX0" fmla="*/ 0 w 1079035"/>
                <a:gd name="csY0" fmla="*/ 2916621 h 2916621"/>
                <a:gd name="csX1" fmla="*/ 993228 w 1079035"/>
                <a:gd name="csY1" fmla="*/ 2207172 h 2916621"/>
                <a:gd name="csX2" fmla="*/ 914400 w 1079035"/>
                <a:gd name="csY2" fmla="*/ 804041 h 2916621"/>
                <a:gd name="csX3" fmla="*/ 0 w 1079035"/>
                <a:gd name="csY3" fmla="*/ 0 h 2916621"/>
              </a:gdLst>
              <a:ahLst/>
              <a:cxnLst>
                <a:cxn ang="0">
                  <a:pos x="csX0" y="csY0"/>
                </a:cxn>
                <a:cxn ang="0">
                  <a:pos x="csX1" y="csY1"/>
                </a:cxn>
                <a:cxn ang="0">
                  <a:pos x="csX2" y="csY2"/>
                </a:cxn>
                <a:cxn ang="0">
                  <a:pos x="csX3" y="csY3"/>
                </a:cxn>
              </a:cxnLst>
              <a:rect l="l" t="t" r="r" b="b"/>
              <a:pathLst>
                <a:path w="1079035" h="2916621">
                  <a:moveTo>
                    <a:pt x="0" y="2916621"/>
                  </a:moveTo>
                  <a:cubicBezTo>
                    <a:pt x="420414" y="2737945"/>
                    <a:pt x="840828" y="2559269"/>
                    <a:pt x="993228" y="2207172"/>
                  </a:cubicBezTo>
                  <a:cubicBezTo>
                    <a:pt x="1145628" y="1855075"/>
                    <a:pt x="1079938" y="1171903"/>
                    <a:pt x="914400" y="804041"/>
                  </a:cubicBezTo>
                  <a:cubicBezTo>
                    <a:pt x="748862" y="436179"/>
                    <a:pt x="152400" y="131379"/>
                    <a:pt x="0" y="0"/>
                  </a:cubicBezTo>
                </a:path>
              </a:pathLst>
            </a:custGeom>
            <a:noFill/>
            <a:ln w="254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文本框 34"/>
            <p:cNvSpPr txBox="1"/>
            <p:nvPr/>
          </p:nvSpPr>
          <p:spPr>
            <a:xfrm>
              <a:off x="3104319" y="3999848"/>
              <a:ext cx="646331" cy="369332"/>
            </a:xfrm>
            <a:prstGeom prst="rect">
              <a:avLst/>
            </a:prstGeom>
            <a:noFill/>
          </p:spPr>
          <p:txBody>
            <a:bodyPr wrap="none" rtlCol="0">
              <a:spAutoFit/>
            </a:bodyPr>
            <a:lstStyle/>
            <a:p>
              <a:r>
                <a:rPr kumimoji="1" lang="zh-CN" altLang="en-US" b="1" dirty="0"/>
                <a:t>反馈</a:t>
              </a:r>
              <a:endParaRPr kumimoji="1" lang="zh-CN" altLang="en-US" b="1" dirty="0"/>
            </a:p>
          </p:txBody>
        </p:sp>
      </p:grpSp>
      <p:sp>
        <p:nvSpPr>
          <p:cNvPr id="37" name="文本框 36"/>
          <p:cNvSpPr txBox="1"/>
          <p:nvPr/>
        </p:nvSpPr>
        <p:spPr>
          <a:xfrm>
            <a:off x="786720" y="5506753"/>
            <a:ext cx="2954655" cy="646331"/>
          </a:xfrm>
          <a:prstGeom prst="rect">
            <a:avLst/>
          </a:prstGeom>
          <a:noFill/>
        </p:spPr>
        <p:txBody>
          <a:bodyPr wrap="none" rtlCol="0">
            <a:spAutoFit/>
          </a:bodyPr>
          <a:lstStyle/>
          <a:p>
            <a:r>
              <a:rPr lang="zh-CN" altLang="zh-CN" dirty="0"/>
              <a:t>既是</a:t>
            </a:r>
            <a:r>
              <a:rPr lang="zh-CN" altLang="zh-CN" b="1" dirty="0"/>
              <a:t>“读脑”</a:t>
            </a:r>
            <a:r>
              <a:rPr lang="zh-CN" altLang="zh-CN" dirty="0"/>
              <a:t>（解码意图）</a:t>
            </a:r>
            <a:endParaRPr lang="en-US" altLang="zh-CN" dirty="0"/>
          </a:p>
          <a:p>
            <a:r>
              <a:rPr lang="zh-CN" altLang="zh-CN" dirty="0"/>
              <a:t>也是</a:t>
            </a:r>
            <a:r>
              <a:rPr lang="zh-CN" altLang="zh-CN" b="1" dirty="0"/>
              <a:t>“写脑”</a:t>
            </a:r>
            <a:r>
              <a:rPr lang="zh-CN" altLang="zh-CN" dirty="0"/>
              <a:t>（神经调控）</a:t>
            </a: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赛道选择</a:t>
            </a:r>
            <a:endParaRPr lang="zh-CN" altLang="en-US" sz="1600" b="1">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496060" y="0"/>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万亿风口，侵入式脑机接口是严肃医疗</a:t>
            </a:r>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的硬核主线</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endParaRPr>
          </a:p>
        </p:txBody>
      </p:sp>
      <p:sp>
        <p:nvSpPr>
          <p:cNvPr id="41" name="灯片编号占位符 10"/>
          <p:cNvSpPr>
            <a:spLocks noGrp="1"/>
          </p:cNvSpPr>
          <p:nvPr>
            <p:ph type="sldNum" sz="quarter" idx="12"/>
          </p:nvPr>
        </p:nvSpPr>
        <p:spPr>
          <a:xfrm>
            <a:off x="8610599" y="6240463"/>
            <a:ext cx="2909888" cy="206381"/>
          </a:xfrm>
        </p:spPr>
        <p:txBody>
          <a:bodyPr>
            <a:normAutofit fontScale="70000"/>
          </a:bodyPr>
          <a:lstStyle/>
          <a:p>
            <a:fld id="{BE5F26B5-172A-4DC2-B0B7-181CFC56B87C}" type="slidenum">
              <a:rPr lang="zh-CN" altLang="en-US" smtClean="0"/>
            </a:fld>
            <a:endParaRPr lang="zh-CN" altLang="en-US"/>
          </a:p>
        </p:txBody>
      </p:sp>
      <p:sp>
        <p:nvSpPr>
          <p:cNvPr id="5" name="AutoShape 5"/>
          <p:cNvSpPr/>
          <p:nvPr/>
        </p:nvSpPr>
        <p:spPr>
          <a:xfrm>
            <a:off x="5207000" y="1460500"/>
            <a:ext cx="6223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solidFill>
                <a:schemeClr val="accent1"/>
              </a:solidFill>
              <a:latin typeface="微软雅黑" panose="020B0503020204020204" charset="-122"/>
              <a:ea typeface="微软雅黑" panose="020B0503020204020204" charset="-122"/>
            </a:endParaRPr>
          </a:p>
        </p:txBody>
      </p:sp>
      <p:sp>
        <p:nvSpPr>
          <p:cNvPr id="6" name="AutoShape 6"/>
          <p:cNvSpPr/>
          <p:nvPr/>
        </p:nvSpPr>
        <p:spPr>
          <a:xfrm>
            <a:off x="5207000" y="1460500"/>
            <a:ext cx="76200" cy="13970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solidFill>
                <a:schemeClr val="accent1"/>
              </a:solidFill>
              <a:latin typeface="微软雅黑" panose="020B0503020204020204" charset="-122"/>
              <a:ea typeface="微软雅黑" panose="020B0503020204020204" charset="-122"/>
            </a:endParaRPr>
          </a:p>
        </p:txBody>
      </p:sp>
      <p:sp>
        <p:nvSpPr>
          <p:cNvPr id="7" name="AutoShape 7"/>
          <p:cNvSpPr/>
          <p:nvPr/>
        </p:nvSpPr>
        <p:spPr>
          <a:xfrm>
            <a:off x="5524500" y="1587500"/>
            <a:ext cx="5715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01 长期刚性需求</a:t>
            </a:r>
            <a:endParaRPr lang="en-US" sz="1100">
              <a:solidFill>
                <a:schemeClr val="accent1"/>
              </a:solidFill>
              <a:latin typeface="微软雅黑" panose="020B0503020204020204" charset="-122"/>
              <a:ea typeface="微软雅黑" panose="020B0503020204020204" charset="-122"/>
              <a:cs typeface="微软雅黑" panose="020B0503020204020204" charset="-122"/>
            </a:endParaRPr>
          </a:p>
          <a:p>
            <a:pPr indent="0" algn="l">
              <a:lnSpc>
                <a:spcPct val="100000"/>
              </a:lnSpc>
              <a:spcBef>
                <a:spcPts val="600"/>
              </a:spcBef>
            </a:pP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中国加速迈入超级老龄化社会，神经退行性疾病与脊髓损伤患者群体持续扩容，为医疗级脑机接口奠定了坚实且增长的市场基础。</a:t>
            </a: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 name="AutoShape 8"/>
          <p:cNvSpPr/>
          <p:nvPr/>
        </p:nvSpPr>
        <p:spPr>
          <a:xfrm>
            <a:off x="5207000" y="3111500"/>
            <a:ext cx="6223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solidFill>
                <a:schemeClr val="accent1"/>
              </a:solidFill>
              <a:latin typeface="微软雅黑" panose="020B0503020204020204" charset="-122"/>
              <a:ea typeface="微软雅黑" panose="020B0503020204020204" charset="-122"/>
            </a:endParaRPr>
          </a:p>
        </p:txBody>
      </p:sp>
      <p:sp>
        <p:nvSpPr>
          <p:cNvPr id="9" name="AutoShape 9"/>
          <p:cNvSpPr/>
          <p:nvPr/>
        </p:nvSpPr>
        <p:spPr>
          <a:xfrm>
            <a:off x="5207000" y="3111500"/>
            <a:ext cx="76200" cy="13970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solidFill>
                <a:schemeClr val="accent1"/>
              </a:solidFill>
              <a:latin typeface="微软雅黑" panose="020B0503020204020204" charset="-122"/>
              <a:ea typeface="微软雅黑" panose="020B0503020204020204" charset="-122"/>
            </a:endParaRPr>
          </a:p>
        </p:txBody>
      </p:sp>
      <p:sp>
        <p:nvSpPr>
          <p:cNvPr id="10" name="AutoShape 10"/>
          <p:cNvSpPr/>
          <p:nvPr/>
        </p:nvSpPr>
        <p:spPr>
          <a:xfrm>
            <a:off x="5524500" y="3238500"/>
            <a:ext cx="5715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02 政策强力驱动</a:t>
            </a:r>
            <a:endParaRPr lang="en-US" sz="1100">
              <a:solidFill>
                <a:schemeClr val="accent1"/>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600"/>
              </a:spcBef>
              <a:buClrTx/>
              <a:buSzTx/>
              <a:buFontTx/>
            </a:pPr>
            <a:r>
              <a:rPr lang="en-US" sz="1200" b="0" i="0" u="none" strike="noStrike">
                <a:latin typeface="微软雅黑" panose="020B0503020204020204" charset="-122"/>
                <a:ea typeface="微软雅黑" panose="020B0503020204020204" charset="-122"/>
                <a:cs typeface="微软雅黑" panose="020B0503020204020204" charset="-122"/>
                <a:sym typeface="Noto Sans SC" panose="020B0200000000000000" charset="-122"/>
              </a:rPr>
              <a:t>纳入“十五五”未来产业，获审评、收费、标准多维支持。佳量深度参与标准制定，从产品参与者升级为规则制定者，享受政策先发红利。</a:t>
            </a:r>
            <a:endParaRPr lang="en-US" sz="1200" b="0" i="0" u="none" strike="noStrike">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1" name="AutoShape 11"/>
          <p:cNvSpPr/>
          <p:nvPr/>
        </p:nvSpPr>
        <p:spPr>
          <a:xfrm>
            <a:off x="5207000" y="4762500"/>
            <a:ext cx="6223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a:solidFill>
                <a:schemeClr val="accent1"/>
              </a:solidFill>
              <a:latin typeface="微软雅黑" panose="020B0503020204020204" charset="-122"/>
              <a:ea typeface="微软雅黑" panose="020B0503020204020204" charset="-122"/>
            </a:endParaRPr>
          </a:p>
        </p:txBody>
      </p:sp>
      <p:sp>
        <p:nvSpPr>
          <p:cNvPr id="12" name="AutoShape 12"/>
          <p:cNvSpPr/>
          <p:nvPr/>
        </p:nvSpPr>
        <p:spPr>
          <a:xfrm>
            <a:off x="5207000" y="4762500"/>
            <a:ext cx="76200" cy="139700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solidFill>
                <a:schemeClr val="accent1"/>
              </a:solidFill>
              <a:latin typeface="微软雅黑" panose="020B0503020204020204" charset="-122"/>
              <a:ea typeface="微软雅黑" panose="020B0503020204020204" charset="-122"/>
            </a:endParaRPr>
          </a:p>
        </p:txBody>
      </p:sp>
      <p:sp>
        <p:nvSpPr>
          <p:cNvPr id="2" name="AutoShape 13"/>
          <p:cNvSpPr/>
          <p:nvPr/>
        </p:nvSpPr>
        <p:spPr>
          <a:xfrm>
            <a:off x="5524500" y="4889500"/>
            <a:ext cx="5715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03 技术路线的必然选择</a:t>
            </a:r>
            <a:endParaRPr lang="en-US" sz="1100">
              <a:solidFill>
                <a:schemeClr val="accent1"/>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600"/>
              </a:spcBef>
              <a:buClrTx/>
              <a:buSzTx/>
              <a:buFontTx/>
            </a:pPr>
            <a:r>
              <a:rPr lang="en-US" sz="12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非侵入式仅适用于消费级场景</a:t>
            </a:r>
            <a:r>
              <a:rPr lang="en-US" sz="1200" b="0" i="0" u="none" strike="noStrike">
                <a:latin typeface="微软雅黑" panose="020B0503020204020204" charset="-122"/>
                <a:ea typeface="微软雅黑" panose="020B0503020204020204" charset="-122"/>
                <a:cs typeface="微软雅黑" panose="020B0503020204020204" charset="-122"/>
                <a:sym typeface="Noto Sans SC" panose="020B0200000000000000" charset="-122"/>
              </a:rPr>
              <a:t>；侵入式直接采集神经元信号，具备高信噪比，是实现精准治疗与功能重建的唯一物理基础和技术主线。</a:t>
            </a:r>
            <a:endParaRPr lang="en-US" sz="1200" b="0" i="0" u="none" strike="noStrike">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4" name="图片 3" descr="227617e7-a7c4-4c0a-b193-e6535798d366"/>
          <p:cNvPicPr>
            <a:picLocks noChangeAspect="1"/>
          </p:cNvPicPr>
          <p:nvPr/>
        </p:nvPicPr>
        <p:blipFill>
          <a:blip r:embed="rId1"/>
          <a:stretch>
            <a:fillRect/>
          </a:stretch>
        </p:blipFill>
        <p:spPr>
          <a:xfrm>
            <a:off x="220980" y="1460500"/>
            <a:ext cx="4954270" cy="45929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latin typeface="微软雅黑" panose="020B0503020204020204" charset="-122"/>
                <a:ea typeface="微软雅黑" panose="020B0503020204020204" charset="-122"/>
              </a:rPr>
              <a:t>技术</a:t>
            </a:r>
            <a:endParaRPr lang="zh-CN" altLang="en-US" sz="1600" b="1" dirty="0">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620519" y="-30157"/>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侵入式</a:t>
            </a:r>
            <a:r>
              <a:rPr lang="zh-CN" altLang="en-GB" sz="2000" dirty="0">
                <a:solidFill>
                  <a:srgbClr val="5353B5"/>
                </a:solidFill>
                <a:latin typeface="微软雅黑" panose="020B0503020204020204" charset="-122"/>
                <a:ea typeface="微软雅黑" panose="020B0503020204020204" charset="-122"/>
                <a:cs typeface="微软雅黑" panose="020B0503020204020204" charset="-122"/>
              </a:rPr>
              <a:t>脑机</a:t>
            </a:r>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接口是高性能应用（如治疗重症神经疾病）的关键路径</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endParaRPr>
          </a:p>
        </p:txBody>
      </p:sp>
      <p:graphicFrame>
        <p:nvGraphicFramePr>
          <p:cNvPr id="2" name="表格 1"/>
          <p:cNvGraphicFramePr>
            <a:graphicFrameLocks noGrp="1"/>
          </p:cNvGraphicFramePr>
          <p:nvPr/>
        </p:nvGraphicFramePr>
        <p:xfrm>
          <a:off x="1152630" y="3145847"/>
          <a:ext cx="9886737" cy="2687208"/>
        </p:xfrm>
        <a:graphic>
          <a:graphicData uri="http://schemas.openxmlformats.org/drawingml/2006/table">
            <a:tbl>
              <a:tblPr firstRow="1" bandRow="1">
                <a:tableStyleId>{5C22544A-7EE6-4342-B048-85BDC9FD1C3A}</a:tableStyleId>
              </a:tblPr>
              <a:tblGrid>
                <a:gridCol w="1649651"/>
                <a:gridCol w="4706809"/>
                <a:gridCol w="3530277"/>
              </a:tblGrid>
              <a:tr h="447868">
                <a:tc>
                  <a:txBody>
                    <a:bodyPr/>
                    <a:lstStyle/>
                    <a:p>
                      <a:r>
                        <a:rPr lang="zh-CN" altLang="en-US" dirty="0"/>
                        <a:t>维度</a:t>
                      </a:r>
                      <a:endParaRPr lang="zh-CN" altLang="en-US" dirty="0"/>
                    </a:p>
                  </a:txBody>
                  <a:tcPr/>
                </a:tc>
                <a:tc>
                  <a:txBody>
                    <a:bodyPr/>
                    <a:lstStyle/>
                    <a:p>
                      <a:r>
                        <a:rPr lang="zh-CN" altLang="en-US" dirty="0"/>
                        <a:t>侵入式</a:t>
                      </a:r>
                      <a:endParaRPr lang="zh-CN" altLang="en-US" dirty="0"/>
                    </a:p>
                  </a:txBody>
                  <a:tcPr/>
                </a:tc>
                <a:tc>
                  <a:txBody>
                    <a:bodyPr/>
                    <a:lstStyle/>
                    <a:p>
                      <a:r>
                        <a:rPr lang="zh-CN" altLang="en-US" dirty="0"/>
                        <a:t>非侵入式</a:t>
                      </a:r>
                      <a:endParaRPr lang="zh-CN" altLang="en-US" dirty="0"/>
                    </a:p>
                  </a:txBody>
                  <a:tcPr/>
                </a:tc>
              </a:tr>
              <a:tr h="447868">
                <a:tc>
                  <a:txBody>
                    <a:bodyPr/>
                    <a:lstStyle/>
                    <a:p>
                      <a:r>
                        <a:rPr lang="zh-CN" altLang="en-US" sz="1600" dirty="0"/>
                        <a:t>信号质量</a:t>
                      </a:r>
                      <a:endParaRPr lang="zh-CN" altLang="en-US" sz="1600" dirty="0"/>
                    </a:p>
                  </a:txBody>
                  <a:tcPr/>
                </a:tc>
                <a:tc>
                  <a:txBody>
                    <a:bodyPr/>
                    <a:lstStyle/>
                    <a:p>
                      <a:r>
                        <a:rPr lang="zh-CN" altLang="en-US" sz="1600" dirty="0"/>
                        <a:t>高（</a:t>
                      </a:r>
                      <a:r>
                        <a:rPr lang="zh-CN" altLang="zh-CN" sz="1600" b="0" i="0" u="none" strike="noStrike" kern="1200" dirty="0">
                          <a:solidFill>
                            <a:schemeClr val="dk1"/>
                          </a:solidFill>
                          <a:effectLst/>
                          <a:latin typeface="+mn-lt"/>
                          <a:ea typeface="+mn-ea"/>
                          <a:cs typeface="+mn-cs"/>
                        </a:rPr>
                        <a:t>单神经元/局部场电位）</a:t>
                      </a:r>
                      <a:endParaRPr lang="zh-CN" altLang="en-US" sz="1600" dirty="0"/>
                    </a:p>
                  </a:txBody>
                  <a:tcPr/>
                </a:tc>
                <a:tc>
                  <a:txBody>
                    <a:bodyPr/>
                    <a:lstStyle/>
                    <a:p>
                      <a:r>
                        <a:rPr lang="zh-CN" altLang="zh-CN" sz="1600" b="0" i="0" u="none" strike="noStrike" kern="1200" dirty="0">
                          <a:solidFill>
                            <a:schemeClr val="dk1"/>
                          </a:solidFill>
                          <a:effectLst/>
                          <a:latin typeface="+mn-lt"/>
                          <a:ea typeface="+mn-ea"/>
                          <a:cs typeface="+mn-cs"/>
                        </a:rPr>
                        <a:t>低（被颅骨衰减、噪声多）</a:t>
                      </a:r>
                      <a:endParaRPr lang="zh-CN" altLang="en-US" sz="1600" dirty="0"/>
                    </a:p>
                  </a:txBody>
                  <a:tcPr/>
                </a:tc>
              </a:tr>
              <a:tr h="447868">
                <a:tc>
                  <a:txBody>
                    <a:bodyPr/>
                    <a:lstStyle/>
                    <a:p>
                      <a:r>
                        <a:rPr lang="zh-CN" altLang="en-US" sz="1600" dirty="0"/>
                        <a:t>信号带宽</a:t>
                      </a:r>
                      <a:endParaRPr lang="zh-CN" altLang="en-US" sz="1600" dirty="0"/>
                    </a:p>
                  </a:txBody>
                  <a:tcPr/>
                </a:tc>
                <a:tc>
                  <a:txBody>
                    <a:bodyPr/>
                    <a:lstStyle/>
                    <a:p>
                      <a:r>
                        <a:rPr lang="zh-CN" altLang="en-US" sz="1600" dirty="0"/>
                        <a:t>高</a:t>
                      </a:r>
                      <a:endParaRPr lang="zh-CN" altLang="en-US" sz="1600" dirty="0"/>
                    </a:p>
                  </a:txBody>
                  <a:tcPr/>
                </a:tc>
                <a:tc>
                  <a:txBody>
                    <a:bodyPr/>
                    <a:lstStyle/>
                    <a:p>
                      <a:r>
                        <a:rPr lang="zh-CN" altLang="en-US" sz="1600" dirty="0"/>
                        <a:t>低</a:t>
                      </a:r>
                      <a:endParaRPr lang="zh-CN" altLang="en-US" sz="1600" dirty="0"/>
                    </a:p>
                  </a:txBody>
                  <a:tcPr/>
                </a:tc>
              </a:tr>
              <a:tr h="447868">
                <a:tc>
                  <a:txBody>
                    <a:bodyPr/>
                    <a:lstStyle/>
                    <a:p>
                      <a:r>
                        <a:rPr lang="zh-CN" altLang="en-US" sz="1600" dirty="0"/>
                        <a:t>长期稳定性</a:t>
                      </a:r>
                      <a:endParaRPr lang="zh-CN" altLang="en-US" sz="1600" dirty="0"/>
                    </a:p>
                  </a:txBody>
                  <a:tcPr/>
                </a:tc>
                <a:tc>
                  <a:txBody>
                    <a:bodyPr/>
                    <a:lstStyle/>
                    <a:p>
                      <a:r>
                        <a:rPr lang="zh-CN" altLang="zh-CN" sz="1600" b="0" i="0" u="none" strike="noStrike" kern="1200" dirty="0">
                          <a:solidFill>
                            <a:schemeClr val="dk1"/>
                          </a:solidFill>
                          <a:effectLst/>
                          <a:latin typeface="+mn-lt"/>
                          <a:ea typeface="+mn-ea"/>
                          <a:cs typeface="+mn-cs"/>
                        </a:rPr>
                        <a:t>挑战（组织反应、电极漂移）</a:t>
                      </a:r>
                      <a:endParaRPr lang="zh-CN" altLang="en-US" sz="1600" dirty="0"/>
                    </a:p>
                  </a:txBody>
                  <a:tcPr/>
                </a:tc>
                <a:tc>
                  <a:txBody>
                    <a:bodyPr/>
                    <a:lstStyle/>
                    <a:p>
                      <a:r>
                        <a:rPr lang="zh-CN" altLang="zh-CN" sz="1600" b="0" i="0" u="none" strike="noStrike" kern="1200" dirty="0">
                          <a:solidFill>
                            <a:schemeClr val="dk1"/>
                          </a:solidFill>
                          <a:effectLst/>
                          <a:latin typeface="+mn-lt"/>
                          <a:ea typeface="+mn-ea"/>
                          <a:cs typeface="+mn-cs"/>
                        </a:rPr>
                        <a:t>无创伤，但易脱落</a:t>
                      </a:r>
                      <a:endParaRPr lang="zh-CN" altLang="en-US" sz="1600" dirty="0"/>
                    </a:p>
                  </a:txBody>
                  <a:tcPr/>
                </a:tc>
              </a:tr>
              <a:tr h="447868">
                <a:tc>
                  <a:txBody>
                    <a:bodyPr/>
                    <a:lstStyle/>
                    <a:p>
                      <a:r>
                        <a:rPr lang="zh-CN" altLang="en-US" sz="1600" dirty="0"/>
                        <a:t>临床门槛</a:t>
                      </a:r>
                      <a:endParaRPr lang="zh-CN" altLang="en-US" sz="1600" dirty="0"/>
                    </a:p>
                  </a:txBody>
                  <a:tcPr/>
                </a:tc>
                <a:tc>
                  <a:txBody>
                    <a:bodyPr/>
                    <a:lstStyle/>
                    <a:p>
                      <a:r>
                        <a:rPr lang="zh-CN" altLang="zh-CN" sz="1600" b="0" i="0" u="none" strike="noStrike" kern="1200" dirty="0">
                          <a:solidFill>
                            <a:schemeClr val="dk1"/>
                          </a:solidFill>
                          <a:effectLst/>
                          <a:latin typeface="+mn-lt"/>
                          <a:ea typeface="+mn-ea"/>
                          <a:cs typeface="+mn-cs"/>
                        </a:rPr>
                        <a:t>III类器械，严苛</a:t>
                      </a:r>
                      <a:endParaRPr lang="zh-CN" altLang="en-US" sz="1600" dirty="0"/>
                    </a:p>
                  </a:txBody>
                  <a:tcPr/>
                </a:tc>
                <a:tc>
                  <a:txBody>
                    <a:bodyPr/>
                    <a:lstStyle/>
                    <a:p>
                      <a:r>
                        <a:rPr lang="zh-CN" altLang="zh-CN" sz="1600" b="0" i="0" u="none" strike="noStrike" kern="1200" dirty="0">
                          <a:solidFill>
                            <a:schemeClr val="dk1"/>
                          </a:solidFill>
                          <a:effectLst/>
                          <a:latin typeface="+mn-lt"/>
                          <a:ea typeface="+mn-ea"/>
                          <a:cs typeface="+mn-cs"/>
                        </a:rPr>
                        <a:t>消费品/二类器械</a:t>
                      </a:r>
                      <a:endParaRPr lang="zh-CN" altLang="en-US" sz="1600" dirty="0"/>
                    </a:p>
                  </a:txBody>
                  <a:tcPr/>
                </a:tc>
              </a:tr>
              <a:tr h="447868">
                <a:tc>
                  <a:txBody>
                    <a:bodyPr/>
                    <a:lstStyle/>
                    <a:p>
                      <a:r>
                        <a:rPr lang="zh-CN" altLang="en-US" sz="1600" dirty="0"/>
                        <a:t>典型应用</a:t>
                      </a:r>
                      <a:endParaRPr lang="zh-CN" altLang="en-US" sz="1600" dirty="0"/>
                    </a:p>
                  </a:txBody>
                  <a:tcPr/>
                </a:tc>
                <a:tc>
                  <a:txBody>
                    <a:bodyPr/>
                    <a:lstStyle/>
                    <a:p>
                      <a:r>
                        <a:rPr lang="zh-CN" altLang="zh-CN" sz="1600" b="0" i="0" u="none" strike="noStrike" kern="1200" dirty="0">
                          <a:solidFill>
                            <a:schemeClr val="dk1"/>
                          </a:solidFill>
                          <a:effectLst/>
                          <a:latin typeface="+mn-lt"/>
                          <a:ea typeface="+mn-ea"/>
                          <a:cs typeface="+mn-cs"/>
                        </a:rPr>
                        <a:t>神经调控（帕金森、癫痫）、瘫痪康复</a:t>
                      </a:r>
                      <a:endParaRPr lang="zh-CN" altLang="en-US" sz="1600" dirty="0"/>
                    </a:p>
                  </a:txBody>
                  <a:tcPr/>
                </a:tc>
                <a:tc>
                  <a:txBody>
                    <a:bodyPr/>
                    <a:lstStyle/>
                    <a:p>
                      <a:r>
                        <a:rPr lang="zh-CN" altLang="zh-CN" sz="1600" b="0" i="0" u="none" strike="noStrike" kern="1200" dirty="0">
                          <a:solidFill>
                            <a:schemeClr val="dk1"/>
                          </a:solidFill>
                          <a:effectLst/>
                          <a:latin typeface="+mn-lt"/>
                          <a:ea typeface="+mn-ea"/>
                          <a:cs typeface="+mn-cs"/>
                        </a:rPr>
                        <a:t>注意力监测、游戏、轻症康复</a:t>
                      </a:r>
                      <a:endParaRPr lang="zh-CN" altLang="en-US" sz="1600" dirty="0"/>
                    </a:p>
                  </a:txBody>
                  <a:tcPr/>
                </a:tc>
              </a:tr>
            </a:tbl>
          </a:graphicData>
        </a:graphic>
      </p:graphicFrame>
      <p:sp>
        <p:nvSpPr>
          <p:cNvPr id="6" name="文本框 5"/>
          <p:cNvSpPr txBox="1"/>
          <p:nvPr/>
        </p:nvSpPr>
        <p:spPr>
          <a:xfrm>
            <a:off x="964250" y="784761"/>
            <a:ext cx="7955915" cy="2168525"/>
          </a:xfrm>
          <a:prstGeom prst="rect">
            <a:avLst/>
          </a:prstGeom>
          <a:noFill/>
        </p:spPr>
        <p:txBody>
          <a:bodyPr wrap="none" rtlCol="0">
            <a:spAutoFit/>
          </a:bodyPr>
          <a:lstStyle/>
          <a:p>
            <a:pPr lvl="0" eaLnBrk="0" fontAlgn="base" hangingPunct="0">
              <a:lnSpc>
                <a:spcPct val="150000"/>
              </a:lnSpc>
              <a:spcBef>
                <a:spcPct val="0"/>
              </a:spcBef>
              <a:spcAft>
                <a:spcPct val="0"/>
              </a:spcAft>
            </a:pPr>
            <a:r>
              <a:rPr lang="zh-CN" altLang="zh-CN" b="1" dirty="0">
                <a:solidFill>
                  <a:srgbClr val="0F1115"/>
                </a:solidFill>
                <a:latin typeface="微软雅黑" panose="020B0503020204020204" charset="-122"/>
                <a:ea typeface="微软雅黑" panose="020B0503020204020204" charset="-122"/>
              </a:rPr>
              <a:t>技术核心模块</a:t>
            </a:r>
            <a:endParaRPr lang="en-US" altLang="zh-CN" b="1" dirty="0">
              <a:solidFill>
                <a:srgbClr val="0F1115"/>
              </a:solidFill>
              <a:latin typeface="微软雅黑" panose="020B0503020204020204" charset="-122"/>
              <a:ea typeface="微软雅黑" panose="020B0503020204020204" charset="-122"/>
            </a:endParaRPr>
          </a:p>
          <a:p>
            <a:pPr lvl="0" eaLnBrk="0" fontAlgn="base" hangingPunct="0">
              <a:lnSpc>
                <a:spcPct val="150000"/>
              </a:lnSpc>
              <a:spcBef>
                <a:spcPct val="0"/>
              </a:spcBef>
              <a:spcAft>
                <a:spcPct val="0"/>
              </a:spcAft>
            </a:pPr>
            <a:r>
              <a:rPr lang="en-US" altLang="zh-CN" b="1" dirty="0">
                <a:solidFill>
                  <a:srgbClr val="0F1115"/>
                </a:solidFill>
                <a:latin typeface="微软雅黑" panose="020B0503020204020204" charset="-122"/>
                <a:ea typeface="微软雅黑" panose="020B0503020204020204" charset="-122"/>
              </a:rPr>
              <a:t>1.</a:t>
            </a:r>
            <a:r>
              <a:rPr lang="zh-CN" altLang="en-US" b="1" dirty="0">
                <a:solidFill>
                  <a:srgbClr val="0F1115"/>
                </a:solidFill>
                <a:latin typeface="微软雅黑" panose="020B0503020204020204" charset="-122"/>
                <a:ea typeface="微软雅黑" panose="020B0503020204020204" charset="-122"/>
              </a:rPr>
              <a:t> </a:t>
            </a:r>
            <a:r>
              <a:rPr lang="zh-CN" altLang="zh-CN" b="1" dirty="0">
                <a:solidFill>
                  <a:srgbClr val="0F1115"/>
                </a:solidFill>
                <a:latin typeface="微软雅黑" panose="020B0503020204020204" charset="-122"/>
                <a:ea typeface="微软雅黑" panose="020B0503020204020204" charset="-122"/>
              </a:rPr>
              <a:t>信号采集</a:t>
            </a:r>
            <a:r>
              <a:rPr lang="zh-CN" altLang="zh-CN" dirty="0">
                <a:solidFill>
                  <a:srgbClr val="0F1115"/>
                </a:solidFill>
                <a:latin typeface="微软雅黑" panose="020B0503020204020204" charset="-122"/>
                <a:ea typeface="微软雅黑" panose="020B0503020204020204" charset="-122"/>
              </a:rPr>
              <a:t>：电极</a:t>
            </a:r>
            <a:r>
              <a:rPr lang="zh-CN" altLang="en-US" dirty="0">
                <a:solidFill>
                  <a:srgbClr val="0F1115"/>
                </a:solidFill>
                <a:latin typeface="微软雅黑" panose="020B0503020204020204" charset="-122"/>
                <a:ea typeface="微软雅黑" panose="020B0503020204020204" charset="-122"/>
              </a:rPr>
              <a:t>材料</a:t>
            </a:r>
            <a:r>
              <a:rPr lang="zh-CN" altLang="zh-CN" dirty="0">
                <a:solidFill>
                  <a:srgbClr val="0F1115"/>
                </a:solidFill>
                <a:latin typeface="微软雅黑" panose="020B0503020204020204" charset="-122"/>
                <a:ea typeface="微软雅黑" panose="020B0503020204020204" charset="-122"/>
              </a:rPr>
              <a:t>（硬质/柔性）、通道数、长期生物兼容性</a:t>
            </a:r>
            <a:endParaRPr lang="zh-CN" altLang="zh-CN" dirty="0">
              <a:solidFill>
                <a:srgbClr val="0F1115"/>
              </a:solidFill>
              <a:latin typeface="微软雅黑" panose="020B0503020204020204" charset="-122"/>
              <a:ea typeface="微软雅黑" panose="020B0503020204020204" charset="-122"/>
            </a:endParaRPr>
          </a:p>
          <a:p>
            <a:pPr lvl="0" eaLnBrk="0" fontAlgn="base" hangingPunct="0">
              <a:lnSpc>
                <a:spcPct val="150000"/>
              </a:lnSpc>
              <a:spcBef>
                <a:spcPct val="0"/>
              </a:spcBef>
              <a:spcAft>
                <a:spcPct val="0"/>
              </a:spcAft>
              <a:buFontTx/>
              <a:buAutoNum type="arabicPeriod" startAt="2"/>
            </a:pPr>
            <a:r>
              <a:rPr lang="zh-CN" altLang="en-US" b="1" dirty="0">
                <a:solidFill>
                  <a:srgbClr val="0F1115"/>
                </a:solidFill>
                <a:latin typeface="微软雅黑" panose="020B0503020204020204" charset="-122"/>
                <a:ea typeface="微软雅黑" panose="020B0503020204020204" charset="-122"/>
              </a:rPr>
              <a:t> </a:t>
            </a:r>
            <a:r>
              <a:rPr lang="zh-CN" altLang="zh-CN" b="1" dirty="0">
                <a:solidFill>
                  <a:srgbClr val="0F1115"/>
                </a:solidFill>
                <a:latin typeface="微软雅黑" panose="020B0503020204020204" charset="-122"/>
                <a:ea typeface="微软雅黑" panose="020B0503020204020204" charset="-122"/>
              </a:rPr>
              <a:t>解码与算法</a:t>
            </a:r>
            <a:r>
              <a:rPr lang="zh-CN" altLang="zh-CN" dirty="0">
                <a:solidFill>
                  <a:srgbClr val="0F1115"/>
                </a:solidFill>
                <a:latin typeface="微软雅黑" panose="020B0503020204020204" charset="-122"/>
                <a:ea typeface="微软雅黑" panose="020B0503020204020204" charset="-122"/>
              </a:rPr>
              <a:t>：</a:t>
            </a:r>
            <a:r>
              <a:rPr lang="zh-CN" altLang="en-US" dirty="0">
                <a:solidFill>
                  <a:srgbClr val="0F1115"/>
                </a:solidFill>
                <a:latin typeface="微软雅黑" panose="020B0503020204020204" charset="-122"/>
                <a:ea typeface="微软雅黑" panose="020B0503020204020204" charset="-122"/>
              </a:rPr>
              <a:t>大模型</a:t>
            </a:r>
            <a:r>
              <a:rPr lang="zh-CN" altLang="zh-CN" dirty="0">
                <a:solidFill>
                  <a:srgbClr val="0F1115"/>
                </a:solidFill>
                <a:latin typeface="微软雅黑" panose="020B0503020204020204" charset="-122"/>
                <a:ea typeface="微软雅黑" panose="020B0503020204020204" charset="-122"/>
              </a:rPr>
              <a:t>神经信号翻译成控制指令</a:t>
            </a:r>
            <a:r>
              <a:rPr lang="zh-CN" altLang="en-US" dirty="0">
                <a:solidFill>
                  <a:srgbClr val="0F1115"/>
                </a:solidFill>
                <a:latin typeface="微软雅黑" panose="020B0503020204020204" charset="-122"/>
                <a:ea typeface="微软雅黑" panose="020B0503020204020204" charset="-122"/>
              </a:rPr>
              <a:t>、</a:t>
            </a:r>
            <a:r>
              <a:rPr lang="zh-CN" altLang="zh-CN" dirty="0">
                <a:solidFill>
                  <a:srgbClr val="0F1115"/>
                </a:solidFill>
                <a:latin typeface="微软雅黑" panose="020B0503020204020204" charset="-122"/>
                <a:ea typeface="微软雅黑" panose="020B0503020204020204" charset="-122"/>
              </a:rPr>
              <a:t>延迟、准确率</a:t>
            </a:r>
            <a:endParaRPr lang="zh-CN" altLang="zh-CN" dirty="0">
              <a:solidFill>
                <a:srgbClr val="0F1115"/>
              </a:solidFill>
              <a:latin typeface="微软雅黑" panose="020B0503020204020204" charset="-122"/>
              <a:ea typeface="微软雅黑" panose="020B0503020204020204" charset="-122"/>
            </a:endParaRPr>
          </a:p>
          <a:p>
            <a:pPr lvl="0" eaLnBrk="0" fontAlgn="base" hangingPunct="0">
              <a:lnSpc>
                <a:spcPct val="150000"/>
              </a:lnSpc>
              <a:spcBef>
                <a:spcPct val="0"/>
              </a:spcBef>
              <a:spcAft>
                <a:spcPct val="0"/>
              </a:spcAft>
              <a:buFontTx/>
              <a:buAutoNum type="arabicPeriod" startAt="3"/>
            </a:pPr>
            <a:r>
              <a:rPr lang="zh-CN" altLang="en-US" b="1" dirty="0">
                <a:solidFill>
                  <a:srgbClr val="0F1115"/>
                </a:solidFill>
                <a:latin typeface="微软雅黑" panose="020B0503020204020204" charset="-122"/>
                <a:ea typeface="微软雅黑" panose="020B0503020204020204" charset="-122"/>
              </a:rPr>
              <a:t> </a:t>
            </a:r>
            <a:r>
              <a:rPr lang="zh-CN" altLang="zh-CN" b="1" dirty="0">
                <a:solidFill>
                  <a:srgbClr val="0F1115"/>
                </a:solidFill>
                <a:latin typeface="微软雅黑" panose="020B0503020204020204" charset="-122"/>
                <a:ea typeface="微软雅黑" panose="020B0503020204020204" charset="-122"/>
              </a:rPr>
              <a:t>调控与反馈</a:t>
            </a:r>
            <a:r>
              <a:rPr lang="zh-CN" altLang="zh-CN" dirty="0">
                <a:solidFill>
                  <a:srgbClr val="0F1115"/>
                </a:solidFill>
                <a:latin typeface="微软雅黑" panose="020B0503020204020204" charset="-122"/>
                <a:ea typeface="微软雅黑" panose="020B0503020204020204" charset="-122"/>
              </a:rPr>
              <a:t>：电刺激（开环/闭环）、无线传输、功耗</a:t>
            </a:r>
            <a:endParaRPr lang="zh-CN" altLang="zh-CN" dirty="0">
              <a:solidFill>
                <a:srgbClr val="0F1115"/>
              </a:solidFill>
              <a:latin typeface="微软雅黑" panose="020B0503020204020204" charset="-122"/>
              <a:ea typeface="微软雅黑" panose="020B0503020204020204" charset="-122"/>
            </a:endParaRPr>
          </a:p>
          <a:p>
            <a:pPr lvl="0" eaLnBrk="0" fontAlgn="base" hangingPunct="0">
              <a:lnSpc>
                <a:spcPct val="150000"/>
              </a:lnSpc>
              <a:spcBef>
                <a:spcPct val="0"/>
              </a:spcBef>
              <a:spcAft>
                <a:spcPct val="0"/>
              </a:spcAft>
            </a:pPr>
            <a:r>
              <a:rPr lang="zh-CN" altLang="zh-CN" b="1" dirty="0">
                <a:solidFill>
                  <a:srgbClr val="0F1115"/>
                </a:solidFill>
                <a:latin typeface="微软雅黑" panose="020B0503020204020204" charset="-122"/>
                <a:ea typeface="微软雅黑" panose="020B0503020204020204" charset="-122"/>
              </a:rPr>
              <a:t>技术壁垒：</a:t>
            </a:r>
            <a:r>
              <a:rPr lang="zh-CN" altLang="zh-CN" dirty="0">
                <a:solidFill>
                  <a:srgbClr val="0F1115"/>
                </a:solidFill>
                <a:latin typeface="微软雅黑" panose="020B0503020204020204" charset="-122"/>
                <a:ea typeface="微软雅黑" panose="020B0503020204020204" charset="-122"/>
              </a:rPr>
              <a:t> 三者的</a:t>
            </a:r>
            <a:r>
              <a:rPr lang="zh-CN" altLang="en-US" dirty="0">
                <a:solidFill>
                  <a:srgbClr val="0F1115"/>
                </a:solidFill>
                <a:latin typeface="微软雅黑" panose="020B0503020204020204" charset="-122"/>
                <a:ea typeface="微软雅黑" panose="020B0503020204020204" charset="-122"/>
              </a:rPr>
              <a:t> </a:t>
            </a:r>
            <a:r>
              <a:rPr lang="zh-CN" altLang="zh-CN" b="1" dirty="0">
                <a:solidFill>
                  <a:srgbClr val="0F1115"/>
                </a:solidFill>
                <a:latin typeface="微软雅黑" panose="020B0503020204020204" charset="-122"/>
                <a:ea typeface="微软雅黑" panose="020B0503020204020204" charset="-122"/>
              </a:rPr>
              <a:t>系统集成</a:t>
            </a:r>
            <a:r>
              <a:rPr lang="zh-CN" altLang="en-US" b="1" dirty="0">
                <a:solidFill>
                  <a:srgbClr val="0F1115"/>
                </a:solidFill>
                <a:latin typeface="微软雅黑" panose="020B0503020204020204" charset="-122"/>
                <a:ea typeface="微软雅黑" panose="020B0503020204020204" charset="-122"/>
              </a:rPr>
              <a:t> </a:t>
            </a:r>
            <a:r>
              <a:rPr lang="zh-CN" altLang="zh-CN" dirty="0">
                <a:solidFill>
                  <a:srgbClr val="0F1115"/>
                </a:solidFill>
                <a:latin typeface="微软雅黑" panose="020B0503020204020204" charset="-122"/>
                <a:ea typeface="微软雅黑" panose="020B0503020204020204" charset="-122"/>
              </a:rPr>
              <a:t>难度大于单点突破——</a:t>
            </a:r>
            <a:r>
              <a:rPr lang="zh-CN" altLang="zh-CN" dirty="0">
                <a:solidFill>
                  <a:srgbClr val="0F1115"/>
                </a:solidFill>
                <a:latin typeface="微软雅黑" panose="020B0503020204020204" charset="-122"/>
                <a:ea typeface="微软雅黑" panose="020B0503020204020204" charset="-122"/>
              </a:rPr>
              <a:t>也是本项目的主要差异化</a:t>
            </a:r>
            <a:endParaRPr lang="zh-CN" altLang="zh-CN" sz="2800" dirty="0">
              <a:latin typeface="微软雅黑" panose="020B0503020204020204" charset="-122"/>
              <a:ea typeface="微软雅黑" panose="020B0503020204020204" charset="-122"/>
            </a:endParaRPr>
          </a:p>
        </p:txBody>
      </p:sp>
      <p:sp>
        <p:nvSpPr>
          <p:cNvPr id="7" name="文本框 6"/>
          <p:cNvSpPr txBox="1"/>
          <p:nvPr/>
        </p:nvSpPr>
        <p:spPr>
          <a:xfrm>
            <a:off x="1152630" y="5947578"/>
            <a:ext cx="10321737" cy="584775"/>
          </a:xfrm>
          <a:prstGeom prst="rect">
            <a:avLst/>
          </a:prstGeom>
          <a:noFill/>
        </p:spPr>
        <p:txBody>
          <a:bodyPr wrap="square" rtlCol="0">
            <a:spAutoFit/>
          </a:bodyPr>
          <a:lstStyle/>
          <a:p>
            <a:r>
              <a:rPr lang="zh-CN" altLang="zh-CN" sz="1600" dirty="0"/>
              <a:t>实现精准脑控的</a:t>
            </a:r>
            <a:r>
              <a:rPr lang="zh-CN" altLang="en-US" sz="1600" dirty="0"/>
              <a:t>关键</a:t>
            </a:r>
            <a:r>
              <a:rPr lang="zh-CN" altLang="zh-CN" sz="1600" dirty="0"/>
              <a:t>物理基础</a:t>
            </a:r>
            <a:r>
              <a:rPr lang="zh-CN" altLang="en-US" sz="1600" dirty="0"/>
              <a:t>：</a:t>
            </a:r>
            <a:endParaRPr lang="en-US" altLang="zh-CN" sz="1600" dirty="0"/>
          </a:p>
          <a:p>
            <a:r>
              <a:rPr lang="zh-CN" altLang="zh-CN" sz="1600" dirty="0"/>
              <a:t>直接采集皮层神经信号，信噪比极高</a:t>
            </a:r>
            <a:r>
              <a:rPr lang="zh-CN" altLang="en-US" sz="1600" dirty="0"/>
              <a:t>，</a:t>
            </a:r>
            <a:r>
              <a:rPr lang="zh-CN" altLang="zh-CN" sz="1600" dirty="0"/>
              <a:t>可获取单个神经元级别的精细信号</a:t>
            </a:r>
            <a:r>
              <a:rPr lang="zh-CN" altLang="en-US" sz="1600" dirty="0"/>
              <a:t>，</a:t>
            </a:r>
            <a:r>
              <a:rPr lang="zh-CN" altLang="zh-CN" sz="1600" dirty="0"/>
              <a:t>支持复杂的运动意图解码</a:t>
            </a:r>
            <a:endParaRPr lang="zh-CN" altLang="zh-CN"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平行四边形 2"/>
          <p:cNvSpPr/>
          <p:nvPr/>
        </p:nvSpPr>
        <p:spPr>
          <a:xfrm rot="10800000" flipV="1">
            <a:off x="-179071" y="0"/>
            <a:ext cx="1763395" cy="577514"/>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t>目录</a:t>
            </a:r>
            <a:endParaRPr lang="zh-CN" altLang="en-US" sz="1600" b="1" dirty="0"/>
          </a:p>
        </p:txBody>
      </p:sp>
      <p:sp>
        <p:nvSpPr>
          <p:cNvPr id="9" name="文本框 8"/>
          <p:cNvSpPr txBox="1"/>
          <p:nvPr/>
        </p:nvSpPr>
        <p:spPr>
          <a:xfrm>
            <a:off x="1377950" y="1801495"/>
            <a:ext cx="9118600" cy="460375"/>
          </a:xfrm>
          <a:prstGeom prst="rect">
            <a:avLst/>
          </a:prstGeom>
          <a:noFill/>
        </p:spPr>
        <p:txBody>
          <a:bodyPr wrap="square" rtlCol="0">
            <a:spAutoFit/>
          </a:bodyPr>
          <a:lstStyle/>
          <a:p>
            <a:pPr algn="ctr"/>
            <a:r>
              <a:rPr lang="zh-CN" altLang="en-US" sz="2400" b="1" dirty="0">
                <a:solidFill>
                  <a:schemeClr val="accent1"/>
                </a:solidFill>
                <a:effectLst>
                  <a:outerShdw blurRad="38100" dist="25400" dir="5400000" algn="ctr" rotWithShape="0">
                    <a:srgbClr val="6E747A">
                      <a:alpha val="43000"/>
                    </a:srgbClr>
                  </a:outerShdw>
                </a:effectLst>
                <a:latin typeface="微软雅黑)" charset="0"/>
                <a:ea typeface="微软雅黑)" charset="0"/>
              </a:rPr>
              <a:t>佳量脑科学投资逻辑</a:t>
            </a:r>
            <a:endParaRPr lang="zh-CN" altLang="en-US" sz="2400" b="1" dirty="0">
              <a:solidFill>
                <a:schemeClr val="accent1"/>
              </a:solidFill>
              <a:effectLst>
                <a:outerShdw blurRad="38100" dist="25400" dir="5400000" algn="ctr" rotWithShape="0">
                  <a:srgbClr val="6E747A">
                    <a:alpha val="43000"/>
                  </a:srgbClr>
                </a:outerShdw>
              </a:effectLst>
              <a:latin typeface="微软雅黑)" charset="0"/>
              <a:ea typeface="微软雅黑)" charset="0"/>
            </a:endParaRPr>
          </a:p>
        </p:txBody>
      </p:sp>
      <p:cxnSp>
        <p:nvCxnSpPr>
          <p:cNvPr id="10" name="直接连接符 9"/>
          <p:cNvCxnSpPr/>
          <p:nvPr/>
        </p:nvCxnSpPr>
        <p:spPr>
          <a:xfrm>
            <a:off x="1479550" y="2385695"/>
            <a:ext cx="9017000" cy="0"/>
          </a:xfrm>
          <a:prstGeom prst="lin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1"/>
            </p:custDataLst>
          </p:nvPr>
        </p:nvSpPr>
        <p:spPr>
          <a:xfrm>
            <a:off x="1377950" y="2670599"/>
            <a:ext cx="10257790" cy="2215991"/>
          </a:xfrm>
          <a:prstGeom prst="rect">
            <a:avLst/>
          </a:prstGeom>
          <a:noFill/>
        </p:spPr>
        <p:txBody>
          <a:bodyPr wrap="square" rtlCol="0">
            <a:spAutoFit/>
          </a:bodyPr>
          <a:lstStyle/>
          <a:p>
            <a:r>
              <a:rPr lang="en-US" altLang="zh-CN" sz="2000" b="1" dirty="0">
                <a:effectLst/>
                <a:latin typeface="微软雅黑" panose="020B0503020204020204" charset="-122"/>
                <a:ea typeface="微软雅黑" panose="020B0503020204020204" charset="-122"/>
                <a:cs typeface="微软雅黑" panose="020B0503020204020204" charset="-122"/>
              </a:rPr>
              <a:t>1</a:t>
            </a:r>
            <a:r>
              <a:rPr lang="zh-CN" altLang="en-US" sz="2000" b="1" dirty="0">
                <a:effectLst/>
                <a:latin typeface="微软雅黑" panose="020B0503020204020204" charset="-122"/>
                <a:ea typeface="微软雅黑" panose="020B0503020204020204" charset="-122"/>
                <a:cs typeface="微软雅黑" panose="020B0503020204020204" charset="-122"/>
              </a:rPr>
              <a:t>、脑机接口的基本定义 </a:t>
            </a:r>
            <a:r>
              <a:rPr lang="en-US" altLang="zh-CN" sz="2000" b="1" dirty="0">
                <a:effectLst/>
                <a:latin typeface="微软雅黑" panose="020B0503020204020204" charset="-122"/>
                <a:ea typeface="微软雅黑" panose="020B0503020204020204" charset="-122"/>
                <a:cs typeface="微软雅黑" panose="020B0503020204020204" charset="-122"/>
              </a:rPr>
              <a:t>&amp;</a:t>
            </a:r>
            <a:r>
              <a:rPr lang="zh-CN" altLang="en-US" sz="2000" b="1" dirty="0">
                <a:effectLst/>
                <a:latin typeface="微软雅黑" panose="020B0503020204020204" charset="-122"/>
                <a:ea typeface="微软雅黑" panose="020B0503020204020204" charset="-122"/>
                <a:cs typeface="微软雅黑" panose="020B0503020204020204" charset="-122"/>
              </a:rPr>
              <a:t> 技术特点</a:t>
            </a:r>
            <a:endParaRPr lang="en-US" altLang="zh-CN" sz="2000" b="1" dirty="0">
              <a:effectLst/>
              <a:latin typeface="微软雅黑" panose="020B0503020204020204" charset="-122"/>
              <a:ea typeface="微软雅黑" panose="020B0503020204020204" charset="-122"/>
              <a:cs typeface="微软雅黑" panose="020B0503020204020204" charset="-122"/>
            </a:endParaRPr>
          </a:p>
          <a:p>
            <a:endParaRPr lang="en-US" altLang="zh-CN" sz="2000" b="1" dirty="0">
              <a:solidFill>
                <a:schemeClr val="accent1"/>
              </a:solidFill>
              <a:latin typeface="微软雅黑" panose="020B0503020204020204" charset="-122"/>
              <a:ea typeface="微软雅黑" panose="020B0503020204020204" charset="-122"/>
              <a:cs typeface="微软雅黑" panose="020B0503020204020204" charset="-122"/>
            </a:endParaRPr>
          </a:p>
          <a:p>
            <a:r>
              <a:rPr lang="en-US" altLang="zh-CN" sz="2000" b="1" dirty="0">
                <a:solidFill>
                  <a:schemeClr val="accent1"/>
                </a:solidFill>
                <a:latin typeface="微软雅黑" panose="020B0503020204020204" charset="-122"/>
                <a:ea typeface="微软雅黑" panose="020B0503020204020204" charset="-122"/>
              </a:rPr>
              <a:t>2</a:t>
            </a:r>
            <a:r>
              <a:rPr lang="zh-CN" altLang="en-US" sz="2000" b="1" dirty="0">
                <a:solidFill>
                  <a:schemeClr val="accent1"/>
                </a:solidFill>
                <a:latin typeface="微软雅黑" panose="020B0503020204020204" charset="-122"/>
                <a:ea typeface="微软雅黑" panose="020B0503020204020204" charset="-122"/>
              </a:rPr>
              <a:t>、脑机接口的市场规模 </a:t>
            </a:r>
            <a:r>
              <a:rPr lang="en-US" altLang="zh-CN" sz="2000" b="1" dirty="0">
                <a:solidFill>
                  <a:schemeClr val="accent1"/>
                </a:solidFill>
                <a:latin typeface="微软雅黑" panose="020B0503020204020204" charset="-122"/>
                <a:ea typeface="微软雅黑" panose="020B0503020204020204" charset="-122"/>
              </a:rPr>
              <a:t>&amp;</a:t>
            </a:r>
            <a:r>
              <a:rPr lang="zh-CN" altLang="en-US" sz="2000" b="1" dirty="0">
                <a:solidFill>
                  <a:schemeClr val="accent1"/>
                </a:solidFill>
                <a:latin typeface="微软雅黑" panose="020B0503020204020204" charset="-122"/>
                <a:ea typeface="微软雅黑" panose="020B0503020204020204" charset="-122"/>
              </a:rPr>
              <a:t> 赛道研究</a:t>
            </a:r>
            <a:endParaRPr lang="zh-CN" altLang="en-US" sz="2000" b="1" dirty="0">
              <a:solidFill>
                <a:schemeClr val="accent1"/>
              </a:solidFill>
              <a:latin typeface="微软雅黑" panose="020B0503020204020204" charset="-122"/>
              <a:ea typeface="微软雅黑" panose="020B0503020204020204" charset="-122"/>
            </a:endParaRPr>
          </a:p>
          <a:p>
            <a:endParaRPr lang="zh-CN" altLang="en-US" b="1" dirty="0">
              <a:latin typeface="微软雅黑" panose="020B0503020204020204" charset="-122"/>
              <a:ea typeface="微软雅黑" panose="020B0503020204020204" charset="-122"/>
              <a:cs typeface="微软雅黑" panose="020B0503020204020204" charset="-122"/>
            </a:endParaRPr>
          </a:p>
          <a:p>
            <a:r>
              <a:rPr lang="en-US" altLang="zh-CN" sz="2000" b="1" dirty="0">
                <a:latin typeface="微软雅黑" panose="020B0503020204020204" charset="-122"/>
                <a:ea typeface="微软雅黑" panose="020B0503020204020204" charset="-122"/>
              </a:rPr>
              <a:t>3</a:t>
            </a:r>
            <a:r>
              <a:rPr lang="zh-CN" altLang="en-US" sz="2000" b="1" dirty="0">
                <a:latin typeface="微软雅黑" panose="020B0503020204020204" charset="-122"/>
                <a:ea typeface="微软雅黑" panose="020B0503020204020204" charset="-122"/>
              </a:rPr>
              <a:t>、佳量脑科学团队 </a:t>
            </a:r>
            <a:r>
              <a:rPr lang="en-US" altLang="zh-CN" sz="2000" b="1" dirty="0">
                <a:latin typeface="微软雅黑" panose="020B0503020204020204" charset="-122"/>
                <a:ea typeface="微软雅黑" panose="020B0503020204020204" charset="-122"/>
              </a:rPr>
              <a:t>&amp;</a:t>
            </a:r>
            <a:r>
              <a:rPr lang="zh-CN" altLang="en-US" sz="2000" b="1" dirty="0">
                <a:latin typeface="微软雅黑" panose="020B0503020204020204" charset="-122"/>
                <a:ea typeface="微软雅黑" panose="020B0503020204020204" charset="-122"/>
              </a:rPr>
              <a:t> 技术与产品</a:t>
            </a:r>
            <a:endParaRPr lang="zh-CN" altLang="en-US" sz="2000" b="1" dirty="0">
              <a:latin typeface="微软雅黑" panose="020B0503020204020204" charset="-122"/>
              <a:ea typeface="微软雅黑" panose="020B0503020204020204" charset="-122"/>
            </a:endParaRPr>
          </a:p>
          <a:p>
            <a:endParaRPr lang="zh-CN" altLang="en-US" sz="2000" b="1" dirty="0">
              <a:latin typeface="微软雅黑" panose="020B0503020204020204" charset="-122"/>
              <a:ea typeface="微软雅黑" panose="020B0503020204020204" charset="-122"/>
            </a:endParaRPr>
          </a:p>
          <a:p>
            <a:r>
              <a:rPr lang="en-US" altLang="zh-CN" sz="2000" b="1" dirty="0">
                <a:latin typeface="微软雅黑" panose="020B0503020204020204" charset="-122"/>
                <a:ea typeface="微软雅黑" panose="020B0503020204020204" charset="-122"/>
              </a:rPr>
              <a:t>4</a:t>
            </a:r>
            <a:r>
              <a:rPr lang="zh-CN" altLang="en-US" sz="2000" b="1" dirty="0">
                <a:latin typeface="微软雅黑" panose="020B0503020204020204" charset="-122"/>
                <a:ea typeface="微软雅黑" panose="020B0503020204020204" charset="-122"/>
              </a:rPr>
              <a:t>、风险评估 </a:t>
            </a:r>
            <a:r>
              <a:rPr lang="en-US" altLang="zh-CN" sz="2000" b="1" dirty="0">
                <a:latin typeface="微软雅黑" panose="020B0503020204020204" charset="-122"/>
                <a:ea typeface="微软雅黑" panose="020B0503020204020204" charset="-122"/>
              </a:rPr>
              <a:t>&amp;</a:t>
            </a:r>
            <a:r>
              <a:rPr lang="zh-CN" altLang="en-US" sz="2000" b="1" dirty="0">
                <a:latin typeface="微软雅黑" panose="020B0503020204020204" charset="-122"/>
                <a:ea typeface="微软雅黑" panose="020B0503020204020204" charset="-122"/>
              </a:rPr>
              <a:t> 投资方案</a:t>
            </a:r>
            <a:endParaRPr lang="zh-CN" altLang="en-US" sz="2000" b="1" dirty="0">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latin typeface="微软雅黑" panose="020B0503020204020204" charset="-122"/>
                <a:ea typeface="微软雅黑" panose="020B0503020204020204" charset="-122"/>
              </a:rPr>
              <a:t>市场规模</a:t>
            </a:r>
            <a:endParaRPr lang="zh-CN" altLang="en-US" sz="1600" b="1" dirty="0">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496060" y="0"/>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 万亿赛道：全球</a:t>
            </a:r>
            <a:r>
              <a:rPr lang="en-GB" altLang="zh-CN" sz="2000" dirty="0">
                <a:solidFill>
                  <a:srgbClr val="5353B5"/>
                </a:solidFill>
                <a:latin typeface="微软雅黑" panose="020B0503020204020204" charset="-122"/>
                <a:ea typeface="微软雅黑" panose="020B0503020204020204" charset="-122"/>
                <a:cs typeface="微软雅黑" panose="020B0503020204020204" charset="-122"/>
              </a:rPr>
              <a:t>BCI</a:t>
            </a:r>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市场爆发在即</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endParaRPr>
          </a:p>
        </p:txBody>
      </p:sp>
      <p:grpSp>
        <p:nvGrpSpPr>
          <p:cNvPr id="20" name="组合 19"/>
          <p:cNvGrpSpPr/>
          <p:nvPr/>
        </p:nvGrpSpPr>
        <p:grpSpPr>
          <a:xfrm>
            <a:off x="833433" y="949258"/>
            <a:ext cx="5190848" cy="2196207"/>
            <a:chOff x="600352" y="949258"/>
            <a:chExt cx="5190848" cy="2196207"/>
          </a:xfrm>
        </p:grpSpPr>
        <p:sp>
          <p:nvSpPr>
            <p:cNvPr id="4" name="圆角矩形 3"/>
            <p:cNvSpPr/>
            <p:nvPr/>
          </p:nvSpPr>
          <p:spPr>
            <a:xfrm>
              <a:off x="600352" y="949258"/>
              <a:ext cx="5190848" cy="2196207"/>
            </a:xfrm>
            <a:prstGeom prst="roundRect">
              <a:avLst>
                <a:gd name="adj" fmla="val 33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Ø"/>
              </a:pPr>
              <a:endParaRPr lang="zh-CN" altLang="zh-CN" dirty="0">
                <a:solidFill>
                  <a:schemeClr val="bg1"/>
                </a:solidFill>
              </a:endParaRPr>
            </a:p>
          </p:txBody>
        </p:sp>
        <p:sp>
          <p:nvSpPr>
            <p:cNvPr id="15" name="文本框 14"/>
            <p:cNvSpPr txBox="1"/>
            <p:nvPr/>
          </p:nvSpPr>
          <p:spPr>
            <a:xfrm>
              <a:off x="797388" y="1049850"/>
              <a:ext cx="4537486" cy="458459"/>
            </a:xfrm>
            <a:prstGeom prst="rect">
              <a:avLst/>
            </a:prstGeom>
            <a:noFill/>
          </p:spPr>
          <p:txBody>
            <a:bodyPr wrap="square" rtlCol="0">
              <a:spAutoFit/>
            </a:bodyPr>
            <a:lstStyle/>
            <a:p>
              <a:pPr>
                <a:lnSpc>
                  <a:spcPct val="150000"/>
                </a:lnSpc>
              </a:pPr>
              <a:r>
                <a:rPr lang="en-US" altLang="zh-CN" dirty="0">
                  <a:solidFill>
                    <a:schemeClr val="bg1"/>
                  </a:solidFill>
                </a:rPr>
                <a:t>2030</a:t>
              </a:r>
              <a:r>
                <a:rPr lang="zh-CN" altLang="en-US" dirty="0">
                  <a:solidFill>
                    <a:schemeClr val="bg1"/>
                  </a:solidFill>
                </a:rPr>
                <a:t>年脑机接口医疗市场规模预测</a:t>
              </a:r>
              <a:endParaRPr lang="zh-CN" altLang="zh-CN" dirty="0">
                <a:solidFill>
                  <a:schemeClr val="bg1"/>
                </a:solidFill>
              </a:endParaRPr>
            </a:p>
          </p:txBody>
        </p:sp>
        <p:grpSp>
          <p:nvGrpSpPr>
            <p:cNvPr id="16" name="组合 15"/>
            <p:cNvGrpSpPr/>
            <p:nvPr/>
          </p:nvGrpSpPr>
          <p:grpSpPr>
            <a:xfrm>
              <a:off x="892233" y="1613264"/>
              <a:ext cx="2576180" cy="868193"/>
              <a:chOff x="1166457" y="1963923"/>
              <a:chExt cx="2290734" cy="868193"/>
            </a:xfrm>
          </p:grpSpPr>
          <p:sp>
            <p:nvSpPr>
              <p:cNvPr id="17" name="圆角矩形 16"/>
              <p:cNvSpPr/>
              <p:nvPr/>
            </p:nvSpPr>
            <p:spPr>
              <a:xfrm>
                <a:off x="1166457" y="1963923"/>
                <a:ext cx="2290734" cy="868193"/>
              </a:xfrm>
              <a:prstGeom prst="roundRect">
                <a:avLst>
                  <a:gd name="adj" fmla="val 940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nvSpPr>
            <p:spPr>
              <a:xfrm>
                <a:off x="1389847" y="2047362"/>
                <a:ext cx="1901752" cy="707886"/>
              </a:xfrm>
              <a:prstGeom prst="rect">
                <a:avLst/>
              </a:prstGeom>
              <a:noFill/>
            </p:spPr>
            <p:txBody>
              <a:bodyPr wrap="none" rtlCol="0">
                <a:spAutoFit/>
              </a:bodyPr>
              <a:lstStyle/>
              <a:p>
                <a:r>
                  <a:rPr kumimoji="1" lang="en-US" altLang="zh-CN" sz="4000" b="1" dirty="0"/>
                  <a:t>$400</a:t>
                </a:r>
                <a:r>
                  <a:rPr kumimoji="1" lang="zh-CN" altLang="en-US" sz="4000" b="1" dirty="0"/>
                  <a:t>亿</a:t>
                </a:r>
                <a:r>
                  <a:rPr kumimoji="1" lang="en-US" altLang="zh-CN" sz="4000" b="1" dirty="0"/>
                  <a:t>+</a:t>
                </a:r>
                <a:endParaRPr kumimoji="1" lang="en-US" altLang="zh-CN" sz="4000" b="1" dirty="0"/>
              </a:p>
            </p:txBody>
          </p:sp>
        </p:grpSp>
        <p:sp>
          <p:nvSpPr>
            <p:cNvPr id="19" name="文本框 18"/>
            <p:cNvSpPr txBox="1"/>
            <p:nvPr/>
          </p:nvSpPr>
          <p:spPr>
            <a:xfrm>
              <a:off x="797388" y="2619642"/>
              <a:ext cx="4403770" cy="369332"/>
            </a:xfrm>
            <a:prstGeom prst="rect">
              <a:avLst/>
            </a:prstGeom>
            <a:noFill/>
          </p:spPr>
          <p:txBody>
            <a:bodyPr wrap="none" rtlCol="0">
              <a:spAutoFit/>
            </a:bodyPr>
            <a:lstStyle/>
            <a:p>
              <a:r>
                <a:rPr lang="zh-CN" altLang="zh-CN" dirty="0">
                  <a:solidFill>
                    <a:schemeClr val="bg1"/>
                  </a:solidFill>
                </a:rPr>
                <a:t>年复合增长率约 17%</a:t>
              </a:r>
              <a:r>
                <a:rPr lang="zh-CN" altLang="en-US" dirty="0">
                  <a:solidFill>
                    <a:schemeClr val="bg1"/>
                  </a:solidFill>
                </a:rPr>
                <a:t>（</a:t>
              </a:r>
              <a:r>
                <a:rPr lang="zh-CN" altLang="zh-CN" dirty="0">
                  <a:solidFill>
                    <a:schemeClr val="bg1"/>
                  </a:solidFill>
                </a:rPr>
                <a:t>来自麦肯锡预测</a:t>
              </a:r>
              <a:r>
                <a:rPr lang="zh-CN" altLang="en-US" dirty="0">
                  <a:solidFill>
                    <a:schemeClr val="bg1"/>
                  </a:solidFill>
                </a:rPr>
                <a:t>）</a:t>
              </a:r>
              <a:endParaRPr lang="zh-CN" altLang="zh-CN" dirty="0">
                <a:solidFill>
                  <a:schemeClr val="bg1"/>
                </a:solidFill>
              </a:endParaRPr>
            </a:p>
          </p:txBody>
        </p:sp>
      </p:grpSp>
      <p:grpSp>
        <p:nvGrpSpPr>
          <p:cNvPr id="21" name="组合 20"/>
          <p:cNvGrpSpPr/>
          <p:nvPr/>
        </p:nvGrpSpPr>
        <p:grpSpPr>
          <a:xfrm>
            <a:off x="833433" y="3429000"/>
            <a:ext cx="5190848" cy="2196207"/>
            <a:chOff x="600352" y="949258"/>
            <a:chExt cx="5190848" cy="2196207"/>
          </a:xfrm>
        </p:grpSpPr>
        <p:sp>
          <p:nvSpPr>
            <p:cNvPr id="22" name="圆角矩形 21"/>
            <p:cNvSpPr/>
            <p:nvPr/>
          </p:nvSpPr>
          <p:spPr>
            <a:xfrm>
              <a:off x="600352" y="949258"/>
              <a:ext cx="5190848" cy="2196207"/>
            </a:xfrm>
            <a:prstGeom prst="roundRect">
              <a:avLst>
                <a:gd name="adj" fmla="val 33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Ø"/>
              </a:pPr>
              <a:endParaRPr lang="zh-CN" altLang="zh-CN" dirty="0">
                <a:solidFill>
                  <a:schemeClr val="bg1"/>
                </a:solidFill>
              </a:endParaRPr>
            </a:p>
          </p:txBody>
        </p:sp>
        <p:sp>
          <p:nvSpPr>
            <p:cNvPr id="23" name="文本框 22"/>
            <p:cNvSpPr txBox="1"/>
            <p:nvPr/>
          </p:nvSpPr>
          <p:spPr>
            <a:xfrm>
              <a:off x="797388" y="1049850"/>
              <a:ext cx="4537486" cy="458459"/>
            </a:xfrm>
            <a:prstGeom prst="rect">
              <a:avLst/>
            </a:prstGeom>
            <a:noFill/>
          </p:spPr>
          <p:txBody>
            <a:bodyPr wrap="square" rtlCol="0">
              <a:spAutoFit/>
            </a:bodyPr>
            <a:lstStyle/>
            <a:p>
              <a:pPr>
                <a:lnSpc>
                  <a:spcPct val="150000"/>
                </a:lnSpc>
              </a:pPr>
              <a:r>
                <a:rPr lang="en-US" altLang="zh-CN" dirty="0">
                  <a:solidFill>
                    <a:schemeClr val="bg1"/>
                  </a:solidFill>
                </a:rPr>
                <a:t>2040</a:t>
              </a:r>
              <a:r>
                <a:rPr lang="zh-CN" altLang="en-US" dirty="0">
                  <a:solidFill>
                    <a:schemeClr val="bg1"/>
                  </a:solidFill>
                </a:rPr>
                <a:t>年脑机接口医疗市场规模预测</a:t>
              </a:r>
              <a:endParaRPr lang="zh-CN" altLang="zh-CN" dirty="0">
                <a:solidFill>
                  <a:schemeClr val="bg1"/>
                </a:solidFill>
              </a:endParaRPr>
            </a:p>
          </p:txBody>
        </p:sp>
        <p:grpSp>
          <p:nvGrpSpPr>
            <p:cNvPr id="24" name="组合 23"/>
            <p:cNvGrpSpPr/>
            <p:nvPr/>
          </p:nvGrpSpPr>
          <p:grpSpPr>
            <a:xfrm>
              <a:off x="892233" y="1613264"/>
              <a:ext cx="2576180" cy="868193"/>
              <a:chOff x="1166457" y="1963923"/>
              <a:chExt cx="2290734" cy="868193"/>
            </a:xfrm>
          </p:grpSpPr>
          <p:sp>
            <p:nvSpPr>
              <p:cNvPr id="26" name="圆角矩形 25"/>
              <p:cNvSpPr/>
              <p:nvPr/>
            </p:nvSpPr>
            <p:spPr>
              <a:xfrm>
                <a:off x="1166457" y="1963923"/>
                <a:ext cx="2290734" cy="868193"/>
              </a:xfrm>
              <a:prstGeom prst="roundRect">
                <a:avLst>
                  <a:gd name="adj" fmla="val 940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p:cNvSpPr txBox="1"/>
              <p:nvPr/>
            </p:nvSpPr>
            <p:spPr>
              <a:xfrm>
                <a:off x="1389847" y="2047362"/>
                <a:ext cx="1888923" cy="707886"/>
              </a:xfrm>
              <a:prstGeom prst="rect">
                <a:avLst/>
              </a:prstGeom>
              <a:noFill/>
            </p:spPr>
            <p:txBody>
              <a:bodyPr wrap="none" rtlCol="0">
                <a:spAutoFit/>
              </a:bodyPr>
              <a:lstStyle/>
              <a:p>
                <a:r>
                  <a:rPr kumimoji="1" lang="en-US" altLang="zh-CN" sz="4000" b="1" dirty="0"/>
                  <a:t>$1450</a:t>
                </a:r>
                <a:r>
                  <a:rPr kumimoji="1" lang="zh-CN" altLang="en-US" sz="4000" b="1" dirty="0"/>
                  <a:t>亿</a:t>
                </a:r>
                <a:endParaRPr kumimoji="1" lang="en-US" altLang="zh-CN" sz="4000" b="1" dirty="0"/>
              </a:p>
            </p:txBody>
          </p:sp>
        </p:grpSp>
        <p:sp>
          <p:nvSpPr>
            <p:cNvPr id="25" name="文本框 24"/>
            <p:cNvSpPr txBox="1"/>
            <p:nvPr/>
          </p:nvSpPr>
          <p:spPr>
            <a:xfrm>
              <a:off x="797388" y="2619642"/>
              <a:ext cx="4579010" cy="369332"/>
            </a:xfrm>
            <a:prstGeom prst="rect">
              <a:avLst/>
            </a:prstGeom>
            <a:noFill/>
          </p:spPr>
          <p:txBody>
            <a:bodyPr wrap="none" rtlCol="0">
              <a:spAutoFit/>
            </a:bodyPr>
            <a:lstStyle/>
            <a:p>
              <a:r>
                <a:rPr lang="zh-CN" altLang="zh-CN" dirty="0">
                  <a:solidFill>
                    <a:schemeClr val="bg1"/>
                  </a:solidFill>
                </a:rPr>
                <a:t>年复合增长率约 1</a:t>
              </a:r>
              <a:r>
                <a:rPr lang="en-US" altLang="zh-CN" dirty="0">
                  <a:solidFill>
                    <a:schemeClr val="bg1"/>
                  </a:solidFill>
                </a:rPr>
                <a:t>1.2</a:t>
              </a:r>
              <a:r>
                <a:rPr lang="zh-CN" altLang="zh-CN" dirty="0">
                  <a:solidFill>
                    <a:schemeClr val="bg1"/>
                  </a:solidFill>
                </a:rPr>
                <a:t>%</a:t>
              </a:r>
              <a:r>
                <a:rPr lang="zh-CN" altLang="en-US" dirty="0">
                  <a:solidFill>
                    <a:schemeClr val="bg1"/>
                  </a:solidFill>
                </a:rPr>
                <a:t>（</a:t>
              </a:r>
              <a:r>
                <a:rPr lang="zh-CN" altLang="zh-CN" dirty="0">
                  <a:solidFill>
                    <a:schemeClr val="bg1"/>
                  </a:solidFill>
                </a:rPr>
                <a:t>来自麦肯锡预测</a:t>
              </a:r>
              <a:r>
                <a:rPr lang="zh-CN" altLang="en-US" dirty="0">
                  <a:solidFill>
                    <a:schemeClr val="bg1"/>
                  </a:solidFill>
                </a:rPr>
                <a:t>）</a:t>
              </a:r>
              <a:endParaRPr lang="zh-CN" altLang="zh-CN" dirty="0">
                <a:solidFill>
                  <a:schemeClr val="bg1"/>
                </a:solidFill>
              </a:endParaRPr>
            </a:p>
          </p:txBody>
        </p:sp>
      </p:grpSp>
      <p:grpSp>
        <p:nvGrpSpPr>
          <p:cNvPr id="28" name="组合 27"/>
          <p:cNvGrpSpPr/>
          <p:nvPr/>
        </p:nvGrpSpPr>
        <p:grpSpPr>
          <a:xfrm>
            <a:off x="6316162" y="949258"/>
            <a:ext cx="5190848" cy="2196207"/>
            <a:chOff x="600352" y="949258"/>
            <a:chExt cx="5190848" cy="2196207"/>
          </a:xfrm>
        </p:grpSpPr>
        <p:sp>
          <p:nvSpPr>
            <p:cNvPr id="29" name="圆角矩形 28"/>
            <p:cNvSpPr/>
            <p:nvPr/>
          </p:nvSpPr>
          <p:spPr>
            <a:xfrm>
              <a:off x="600352" y="949258"/>
              <a:ext cx="5190848" cy="2196207"/>
            </a:xfrm>
            <a:prstGeom prst="roundRect">
              <a:avLst>
                <a:gd name="adj" fmla="val 3395"/>
              </a:avLst>
            </a:prstGeom>
            <a:noFill/>
            <a:ln w="38100">
              <a:solidFill>
                <a:srgbClr val="5353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Ø"/>
              </a:pPr>
              <a:endParaRPr lang="zh-CN" altLang="zh-CN" dirty="0">
                <a:solidFill>
                  <a:schemeClr val="bg1"/>
                </a:solidFill>
              </a:endParaRPr>
            </a:p>
          </p:txBody>
        </p:sp>
        <p:sp>
          <p:nvSpPr>
            <p:cNvPr id="30" name="文本框 29"/>
            <p:cNvSpPr txBox="1"/>
            <p:nvPr/>
          </p:nvSpPr>
          <p:spPr>
            <a:xfrm>
              <a:off x="797388" y="1049850"/>
              <a:ext cx="4537486" cy="458459"/>
            </a:xfrm>
            <a:prstGeom prst="rect">
              <a:avLst/>
            </a:prstGeom>
            <a:noFill/>
          </p:spPr>
          <p:txBody>
            <a:bodyPr wrap="square" rtlCol="0">
              <a:spAutoFit/>
            </a:bodyPr>
            <a:lstStyle/>
            <a:p>
              <a:pPr>
                <a:lnSpc>
                  <a:spcPct val="150000"/>
                </a:lnSpc>
              </a:pPr>
              <a:r>
                <a:rPr lang="en-US" altLang="zh-CN" dirty="0"/>
                <a:t>2024</a:t>
              </a:r>
              <a:r>
                <a:rPr lang="zh-CN" altLang="en-US" dirty="0"/>
                <a:t>年脑机接口投融资热潮</a:t>
              </a:r>
              <a:endParaRPr lang="zh-CN" altLang="zh-CN" dirty="0"/>
            </a:p>
          </p:txBody>
        </p:sp>
        <p:grpSp>
          <p:nvGrpSpPr>
            <p:cNvPr id="31" name="组合 30"/>
            <p:cNvGrpSpPr/>
            <p:nvPr/>
          </p:nvGrpSpPr>
          <p:grpSpPr>
            <a:xfrm>
              <a:off x="892233" y="1613264"/>
              <a:ext cx="2576180" cy="868193"/>
              <a:chOff x="1166457" y="1963923"/>
              <a:chExt cx="2290734" cy="868193"/>
            </a:xfrm>
          </p:grpSpPr>
          <p:sp>
            <p:nvSpPr>
              <p:cNvPr id="33" name="圆角矩形 32"/>
              <p:cNvSpPr/>
              <p:nvPr/>
            </p:nvSpPr>
            <p:spPr>
              <a:xfrm>
                <a:off x="1166457" y="1963923"/>
                <a:ext cx="2290734" cy="868193"/>
              </a:xfrm>
              <a:prstGeom prst="roundRect">
                <a:avLst>
                  <a:gd name="adj" fmla="val 9403"/>
                </a:avLst>
              </a:prstGeom>
              <a:solidFill>
                <a:schemeClr val="bg1"/>
              </a:solidFill>
              <a:ln>
                <a:solidFill>
                  <a:srgbClr val="5353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文本框 33"/>
              <p:cNvSpPr txBox="1"/>
              <p:nvPr/>
            </p:nvSpPr>
            <p:spPr>
              <a:xfrm>
                <a:off x="1389847" y="2047362"/>
                <a:ext cx="1901752" cy="707886"/>
              </a:xfrm>
              <a:prstGeom prst="rect">
                <a:avLst/>
              </a:prstGeom>
              <a:noFill/>
            </p:spPr>
            <p:txBody>
              <a:bodyPr wrap="none" rtlCol="0">
                <a:spAutoFit/>
              </a:bodyPr>
              <a:lstStyle/>
              <a:p>
                <a:r>
                  <a:rPr kumimoji="1" lang="en-US" altLang="zh-CN" sz="4000" b="1" dirty="0"/>
                  <a:t>$120</a:t>
                </a:r>
                <a:r>
                  <a:rPr kumimoji="1" lang="zh-CN" altLang="en-US" sz="4000" b="1" dirty="0"/>
                  <a:t>亿</a:t>
                </a:r>
                <a:r>
                  <a:rPr kumimoji="1" lang="en-US" altLang="zh-CN" sz="4000" b="1" dirty="0"/>
                  <a:t>+</a:t>
                </a:r>
                <a:endParaRPr kumimoji="1" lang="en-US" altLang="zh-CN" sz="4000" b="1" dirty="0"/>
              </a:p>
            </p:txBody>
          </p:sp>
        </p:grpSp>
        <p:sp>
          <p:nvSpPr>
            <p:cNvPr id="32" name="文本框 31"/>
            <p:cNvSpPr txBox="1"/>
            <p:nvPr/>
          </p:nvSpPr>
          <p:spPr>
            <a:xfrm>
              <a:off x="797388" y="2619642"/>
              <a:ext cx="3647152" cy="369332"/>
            </a:xfrm>
            <a:prstGeom prst="rect">
              <a:avLst/>
            </a:prstGeom>
            <a:noFill/>
          </p:spPr>
          <p:txBody>
            <a:bodyPr wrap="none" rtlCol="0">
              <a:spAutoFit/>
            </a:bodyPr>
            <a:lstStyle/>
            <a:p>
              <a:r>
                <a:rPr lang="zh-CN" altLang="zh-CN" dirty="0"/>
                <a:t>年度融资总额，资本高度涌入赛道</a:t>
              </a:r>
              <a:endParaRPr lang="zh-CN" altLang="zh-CN" dirty="0"/>
            </a:p>
          </p:txBody>
        </p:sp>
      </p:grpSp>
      <p:grpSp>
        <p:nvGrpSpPr>
          <p:cNvPr id="35" name="组合 34"/>
          <p:cNvGrpSpPr/>
          <p:nvPr/>
        </p:nvGrpSpPr>
        <p:grpSpPr>
          <a:xfrm>
            <a:off x="6316162" y="3429000"/>
            <a:ext cx="5190848" cy="2196207"/>
            <a:chOff x="600352" y="949258"/>
            <a:chExt cx="5190848" cy="2196207"/>
          </a:xfrm>
        </p:grpSpPr>
        <p:sp>
          <p:nvSpPr>
            <p:cNvPr id="36" name="圆角矩形 35"/>
            <p:cNvSpPr/>
            <p:nvPr/>
          </p:nvSpPr>
          <p:spPr>
            <a:xfrm>
              <a:off x="600352" y="949258"/>
              <a:ext cx="5190848" cy="2196207"/>
            </a:xfrm>
            <a:prstGeom prst="roundRect">
              <a:avLst>
                <a:gd name="adj" fmla="val 3395"/>
              </a:avLst>
            </a:prstGeom>
            <a:noFill/>
            <a:ln w="38100">
              <a:solidFill>
                <a:srgbClr val="5353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Ø"/>
              </a:pPr>
              <a:endParaRPr lang="zh-CN" altLang="zh-CN" dirty="0">
                <a:solidFill>
                  <a:schemeClr val="bg1"/>
                </a:solidFill>
              </a:endParaRPr>
            </a:p>
          </p:txBody>
        </p:sp>
        <p:sp>
          <p:nvSpPr>
            <p:cNvPr id="37" name="文本框 36"/>
            <p:cNvSpPr txBox="1"/>
            <p:nvPr/>
          </p:nvSpPr>
          <p:spPr>
            <a:xfrm>
              <a:off x="797388" y="1049850"/>
              <a:ext cx="4537486" cy="871970"/>
            </a:xfrm>
            <a:prstGeom prst="rect">
              <a:avLst/>
            </a:prstGeom>
            <a:noFill/>
          </p:spPr>
          <p:txBody>
            <a:bodyPr wrap="square" rtlCol="0">
              <a:spAutoFit/>
            </a:bodyPr>
            <a:lstStyle/>
            <a:p>
              <a:pPr>
                <a:lnSpc>
                  <a:spcPct val="150000"/>
                </a:lnSpc>
              </a:pPr>
              <a:r>
                <a:rPr lang="zh-CN" altLang="en-US" dirty="0"/>
                <a:t>科技巨头竞速布局</a:t>
              </a:r>
              <a:endParaRPr lang="zh-CN" altLang="en-US" dirty="0"/>
            </a:p>
            <a:p>
              <a:pPr>
                <a:lnSpc>
                  <a:spcPct val="150000"/>
                </a:lnSpc>
              </a:pPr>
              <a:endParaRPr lang="zh-CN" altLang="zh-CN" dirty="0"/>
            </a:p>
          </p:txBody>
        </p:sp>
        <p:grpSp>
          <p:nvGrpSpPr>
            <p:cNvPr id="38" name="组合 37"/>
            <p:cNvGrpSpPr/>
            <p:nvPr/>
          </p:nvGrpSpPr>
          <p:grpSpPr>
            <a:xfrm>
              <a:off x="892233" y="1613264"/>
              <a:ext cx="2576181" cy="868193"/>
              <a:chOff x="1166457" y="1963923"/>
              <a:chExt cx="2290734" cy="868193"/>
            </a:xfrm>
          </p:grpSpPr>
          <p:sp>
            <p:nvSpPr>
              <p:cNvPr id="40" name="圆角矩形 39"/>
              <p:cNvSpPr/>
              <p:nvPr/>
            </p:nvSpPr>
            <p:spPr>
              <a:xfrm>
                <a:off x="1166457" y="1963923"/>
                <a:ext cx="2290734" cy="868193"/>
              </a:xfrm>
              <a:prstGeom prst="roundRect">
                <a:avLst>
                  <a:gd name="adj" fmla="val 9403"/>
                </a:avLst>
              </a:prstGeom>
              <a:solidFill>
                <a:schemeClr val="bg1"/>
              </a:solidFill>
              <a:ln>
                <a:solidFill>
                  <a:srgbClr val="5353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文本框 41"/>
              <p:cNvSpPr txBox="1"/>
              <p:nvPr/>
            </p:nvSpPr>
            <p:spPr>
              <a:xfrm>
                <a:off x="1389847" y="2047362"/>
                <a:ext cx="1786294" cy="707886"/>
              </a:xfrm>
              <a:prstGeom prst="rect">
                <a:avLst/>
              </a:prstGeom>
              <a:noFill/>
            </p:spPr>
            <p:txBody>
              <a:bodyPr wrap="none" rtlCol="0">
                <a:spAutoFit/>
              </a:bodyPr>
              <a:lstStyle/>
              <a:p>
                <a:r>
                  <a:rPr kumimoji="1" lang="en-US" altLang="zh-CN" sz="4000" b="1" dirty="0"/>
                  <a:t>$</a:t>
                </a:r>
                <a:r>
                  <a:rPr kumimoji="1" lang="zh-CN" altLang="en-US" sz="4000" b="1" dirty="0"/>
                  <a:t>数百亿</a:t>
                </a:r>
                <a:endParaRPr kumimoji="1" lang="en-US" altLang="zh-CN" sz="4000" b="1" dirty="0"/>
              </a:p>
            </p:txBody>
          </p:sp>
        </p:grpSp>
        <p:sp>
          <p:nvSpPr>
            <p:cNvPr id="39" name="文本框 38"/>
            <p:cNvSpPr txBox="1"/>
            <p:nvPr/>
          </p:nvSpPr>
          <p:spPr>
            <a:xfrm>
              <a:off x="797388" y="2619642"/>
              <a:ext cx="4583306" cy="369332"/>
            </a:xfrm>
            <a:prstGeom prst="rect">
              <a:avLst/>
            </a:prstGeom>
            <a:noFill/>
          </p:spPr>
          <p:txBody>
            <a:bodyPr wrap="none" rtlCol="0">
              <a:spAutoFit/>
            </a:bodyPr>
            <a:lstStyle/>
            <a:p>
              <a:r>
                <a:rPr lang="zh-CN" altLang="zh-CN" dirty="0"/>
                <a:t>Meta/Apple等巨头争夺下一代人机交互入口</a:t>
              </a:r>
              <a:endParaRPr lang="zh-CN" altLang="zh-CN" dirty="0"/>
            </a:p>
          </p:txBody>
        </p:sp>
      </p:grpSp>
      <p:sp>
        <p:nvSpPr>
          <p:cNvPr id="43" name="文本框 42"/>
          <p:cNvSpPr txBox="1"/>
          <p:nvPr/>
        </p:nvSpPr>
        <p:spPr>
          <a:xfrm>
            <a:off x="803328" y="5808150"/>
            <a:ext cx="10703682" cy="923330"/>
          </a:xfrm>
          <a:prstGeom prst="rect">
            <a:avLst/>
          </a:prstGeom>
          <a:noFill/>
        </p:spPr>
        <p:txBody>
          <a:bodyPr wrap="square" rtlCol="0">
            <a:spAutoFit/>
          </a:bodyPr>
          <a:lstStyle/>
          <a:p>
            <a:r>
              <a:rPr lang="zh-CN" altLang="zh-CN" dirty="0"/>
              <a:t>巨大的技术变革必然伴随着巨大的市场机遇。资本的嗅觉最为敏锐，仅2024年一年，全球BCI领域的投融资总额就超过了120</a:t>
            </a:r>
            <a:r>
              <a:rPr lang="zh-CN" altLang="zh-CN" b="1" dirty="0"/>
              <a:t>亿美元，</a:t>
            </a:r>
            <a:r>
              <a:rPr lang="zh-CN" altLang="zh-CN" dirty="0"/>
              <a:t>这充分证明了赛道的热度和确定性。Meta、Apple等科技巨头也已重兵布局，一个</a:t>
            </a:r>
            <a:r>
              <a:rPr lang="zh-CN" altLang="zh-CN" b="1" dirty="0"/>
              <a:t>万亿级的蓝海市场</a:t>
            </a:r>
            <a:r>
              <a:rPr lang="zh-CN" altLang="zh-CN" dirty="0"/>
              <a:t>正在爆发。</a:t>
            </a:r>
            <a:endParaRPr lang="zh-CN"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赛道选择</a:t>
            </a:r>
            <a:endParaRPr lang="zh-CN" altLang="en-US" sz="1600" b="1">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496060" y="0"/>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密集出台的政策进一步打开了黄金发展窗口</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a:graphicFrameLocks noGrp="1"/>
          </p:cNvGraphicFramePr>
          <p:nvPr/>
        </p:nvGraphicFramePr>
        <p:xfrm>
          <a:off x="168167" y="678883"/>
          <a:ext cx="11855667" cy="5932123"/>
        </p:xfrm>
        <a:graphic>
          <a:graphicData uri="http://schemas.openxmlformats.org/drawingml/2006/table">
            <a:tbl>
              <a:tblPr firstRow="1" firstCol="1" bandRow="1">
                <a:tableStyleId>{5C22544A-7EE6-4342-B048-85BDC9FD1C3A}</a:tableStyleId>
              </a:tblPr>
              <a:tblGrid>
                <a:gridCol w="1340206"/>
                <a:gridCol w="3195876"/>
                <a:gridCol w="1752577"/>
                <a:gridCol w="5567008"/>
              </a:tblGrid>
              <a:tr h="249050">
                <a:tc>
                  <a:txBody>
                    <a:bodyPr/>
                    <a:lstStyle/>
                    <a:p>
                      <a:pPr algn="ctr">
                        <a:lnSpc>
                          <a:spcPct val="100000"/>
                        </a:lnSpc>
                        <a:buNone/>
                      </a:pPr>
                      <a:r>
                        <a:rPr lang="zh-CN" sz="1200" kern="100" dirty="0">
                          <a:effectLst/>
                          <a:latin typeface="彩虹粗仿宋" panose="03000509000000000000" pitchFamily="65" charset="-122"/>
                          <a:ea typeface="彩虹粗仿宋" panose="03000509000000000000" pitchFamily="65" charset="-122"/>
                        </a:rPr>
                        <a:t>发布时间</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政策</a:t>
                      </a:r>
                      <a:r>
                        <a:rPr lang="en-US" sz="1200" kern="100">
                          <a:effectLst/>
                          <a:latin typeface="彩虹粗仿宋" panose="03000509000000000000" pitchFamily="65" charset="-122"/>
                          <a:ea typeface="彩虹粗仿宋" panose="03000509000000000000" pitchFamily="65" charset="-122"/>
                        </a:rPr>
                        <a:t>/</a:t>
                      </a:r>
                      <a:r>
                        <a:rPr lang="zh-CN" sz="1200" kern="100">
                          <a:effectLst/>
                          <a:latin typeface="彩虹粗仿宋" panose="03000509000000000000" pitchFamily="65" charset="-122"/>
                          <a:ea typeface="彩虹粗仿宋" panose="03000509000000000000" pitchFamily="65" charset="-122"/>
                        </a:rPr>
                        <a:t>标准名称</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发布部门</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核心内容与意义</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r>
              <a:tr h="451719">
                <a:tc>
                  <a:txBody>
                    <a:bodyPr/>
                    <a:lstStyle/>
                    <a:p>
                      <a:pPr algn="ctr">
                        <a:lnSpc>
                          <a:spcPct val="100000"/>
                        </a:lnSpc>
                        <a:buNone/>
                      </a:pPr>
                      <a:r>
                        <a:rPr lang="en-US" sz="1200" kern="100" dirty="0">
                          <a:effectLst/>
                          <a:latin typeface="彩虹粗仿宋" panose="03000509000000000000" pitchFamily="65" charset="-122"/>
                          <a:ea typeface="彩虹粗仿宋" panose="03000509000000000000" pitchFamily="65" charset="-122"/>
                        </a:rPr>
                        <a:t>2023</a:t>
                      </a:r>
                      <a:r>
                        <a:rPr lang="zh-CN" sz="1200" kern="100" dirty="0">
                          <a:effectLst/>
                          <a:latin typeface="彩虹粗仿宋" panose="03000509000000000000" pitchFamily="65" charset="-122"/>
                          <a:ea typeface="彩虹粗仿宋" panose="03000509000000000000" pitchFamily="65" charset="-122"/>
                        </a:rPr>
                        <a:t>年</a:t>
                      </a:r>
                      <a:r>
                        <a:rPr lang="en-US" sz="1200" kern="100" dirty="0">
                          <a:effectLst/>
                          <a:latin typeface="彩虹粗仿宋" panose="03000509000000000000" pitchFamily="65" charset="-122"/>
                          <a:ea typeface="彩虹粗仿宋" panose="03000509000000000000" pitchFamily="65" charset="-122"/>
                        </a:rPr>
                        <a:t>8</a:t>
                      </a:r>
                      <a:r>
                        <a:rPr lang="zh-CN" sz="1200" kern="100" dirty="0">
                          <a:effectLst/>
                          <a:latin typeface="彩虹粗仿宋" panose="03000509000000000000" pitchFamily="65" charset="-122"/>
                          <a:ea typeface="彩虹粗仿宋" panose="03000509000000000000" pitchFamily="65" charset="-122"/>
                        </a:rPr>
                        <a:t>月</a:t>
                      </a:r>
                      <a:r>
                        <a:rPr lang="en-US" sz="1200" kern="100" dirty="0">
                          <a:effectLst/>
                          <a:latin typeface="彩虹粗仿宋" panose="03000509000000000000" pitchFamily="65" charset="-122"/>
                          <a:ea typeface="彩虹粗仿宋" panose="03000509000000000000" pitchFamily="65" charset="-122"/>
                        </a:rPr>
                        <a:t>28</a:t>
                      </a:r>
                      <a:r>
                        <a:rPr lang="zh-CN" sz="1200" kern="100" dirty="0">
                          <a:effectLst/>
                          <a:latin typeface="彩虹粗仿宋" panose="03000509000000000000" pitchFamily="65" charset="-122"/>
                          <a:ea typeface="彩虹粗仿宋" panose="03000509000000000000" pitchFamily="65" charset="-122"/>
                        </a:rPr>
                        <a:t>日</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dirty="0">
                          <a:effectLst/>
                          <a:latin typeface="彩虹粗仿宋" panose="03000509000000000000" pitchFamily="65" charset="-122"/>
                          <a:ea typeface="彩虹粗仿宋" panose="03000509000000000000" pitchFamily="65" charset="-122"/>
                        </a:rPr>
                        <a:t>医疗装备产业高质量发展行动计划（</a:t>
                      </a:r>
                      <a:r>
                        <a:rPr lang="en-US" sz="1200" kern="100" dirty="0">
                          <a:effectLst/>
                          <a:latin typeface="彩虹粗仿宋" panose="03000509000000000000" pitchFamily="65" charset="-122"/>
                          <a:ea typeface="彩虹粗仿宋" panose="03000509000000000000" pitchFamily="65" charset="-122"/>
                        </a:rPr>
                        <a:t>2023-2025</a:t>
                      </a:r>
                      <a:r>
                        <a:rPr lang="zh-CN" sz="1200" kern="100" dirty="0">
                          <a:effectLst/>
                          <a:latin typeface="彩虹粗仿宋" panose="03000509000000000000" pitchFamily="65" charset="-122"/>
                          <a:ea typeface="彩虹粗仿宋" panose="03000509000000000000" pitchFamily="65" charset="-122"/>
                        </a:rPr>
                        <a:t>年）</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国务院办公厅</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l">
                        <a:lnSpc>
                          <a:spcPct val="100000"/>
                        </a:lnSpc>
                        <a:buNone/>
                      </a:pPr>
                      <a:r>
                        <a:rPr lang="zh-CN" sz="1200" kern="100" dirty="0">
                          <a:effectLst/>
                          <a:latin typeface="彩虹粗仿宋" panose="03000509000000000000" pitchFamily="65" charset="-122"/>
                          <a:ea typeface="彩虹粗仿宋" panose="03000509000000000000" pitchFamily="65" charset="-122"/>
                        </a:rPr>
                        <a:t>把高端医疗装备、创新医疗器械列入</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补短板</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重点</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r>
              <a:tr h="610633">
                <a:tc>
                  <a:txBody>
                    <a:bodyPr/>
                    <a:lstStyle/>
                    <a:p>
                      <a:pPr algn="ctr">
                        <a:lnSpc>
                          <a:spcPct val="100000"/>
                        </a:lnSpc>
                        <a:buNone/>
                      </a:pPr>
                      <a:r>
                        <a:rPr lang="en-US" sz="1200" kern="100">
                          <a:effectLst/>
                          <a:latin typeface="彩虹粗仿宋" panose="03000509000000000000" pitchFamily="65" charset="-122"/>
                          <a:ea typeface="彩虹粗仿宋" panose="03000509000000000000" pitchFamily="65" charset="-122"/>
                        </a:rPr>
                        <a:t>2024</a:t>
                      </a:r>
                      <a:r>
                        <a:rPr lang="zh-CN" sz="1200" kern="100">
                          <a:effectLst/>
                          <a:latin typeface="彩虹粗仿宋" panose="03000509000000000000" pitchFamily="65" charset="-122"/>
                          <a:ea typeface="彩虹粗仿宋" panose="03000509000000000000" pitchFamily="65" charset="-122"/>
                        </a:rPr>
                        <a:t>年</a:t>
                      </a:r>
                      <a:r>
                        <a:rPr lang="en-US" sz="1200" kern="100">
                          <a:effectLst/>
                          <a:latin typeface="彩虹粗仿宋" panose="03000509000000000000" pitchFamily="65" charset="-122"/>
                          <a:ea typeface="彩虹粗仿宋" panose="03000509000000000000" pitchFamily="65" charset="-122"/>
                        </a:rPr>
                        <a:t>1</a:t>
                      </a:r>
                      <a:r>
                        <a:rPr lang="zh-CN" sz="1200" kern="100">
                          <a:effectLst/>
                          <a:latin typeface="彩虹粗仿宋" panose="03000509000000000000" pitchFamily="65" charset="-122"/>
                          <a:ea typeface="彩虹粗仿宋" panose="03000509000000000000" pitchFamily="65" charset="-122"/>
                        </a:rPr>
                        <a:t>月</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关于全面深化药品医疗器械监管改革促进医药产业高质量发展的意见</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国务院办公厅</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l">
                        <a:lnSpc>
                          <a:spcPct val="100000"/>
                        </a:lnSpc>
                        <a:buNone/>
                      </a:pPr>
                      <a:r>
                        <a:rPr lang="zh-CN" sz="1200" kern="100" dirty="0">
                          <a:effectLst/>
                          <a:latin typeface="彩虹粗仿宋" panose="03000509000000000000" pitchFamily="65" charset="-122"/>
                          <a:ea typeface="彩虹粗仿宋" panose="03000509000000000000" pitchFamily="65" charset="-122"/>
                        </a:rPr>
                        <a:t>要求系统缩短创新器械注册周期，建立“优先审评</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变更加速”双通道，提升上市速度。</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r>
              <a:tr h="451719">
                <a:tc>
                  <a:txBody>
                    <a:bodyPr/>
                    <a:lstStyle/>
                    <a:p>
                      <a:pPr algn="ctr">
                        <a:lnSpc>
                          <a:spcPct val="100000"/>
                        </a:lnSpc>
                        <a:buNone/>
                      </a:pPr>
                      <a:r>
                        <a:rPr lang="en-US" sz="1200" kern="100" dirty="0">
                          <a:effectLst/>
                          <a:latin typeface="彩虹粗仿宋" panose="03000509000000000000" pitchFamily="65" charset="-122"/>
                          <a:ea typeface="彩虹粗仿宋" panose="03000509000000000000" pitchFamily="65" charset="-122"/>
                        </a:rPr>
                        <a:t>2025</a:t>
                      </a:r>
                      <a:r>
                        <a:rPr lang="zh-CN" sz="1200" kern="100" dirty="0">
                          <a:effectLst/>
                          <a:latin typeface="彩虹粗仿宋" panose="03000509000000000000" pitchFamily="65" charset="-122"/>
                          <a:ea typeface="彩虹粗仿宋" panose="03000509000000000000" pitchFamily="65" charset="-122"/>
                        </a:rPr>
                        <a:t>年</a:t>
                      </a:r>
                      <a:r>
                        <a:rPr lang="en-US" sz="1200" kern="100" dirty="0">
                          <a:effectLst/>
                          <a:latin typeface="彩虹粗仿宋" panose="03000509000000000000" pitchFamily="65" charset="-122"/>
                          <a:ea typeface="彩虹粗仿宋" panose="03000509000000000000" pitchFamily="65" charset="-122"/>
                        </a:rPr>
                        <a:t>3</a:t>
                      </a:r>
                      <a:r>
                        <a:rPr lang="zh-CN" sz="1200" kern="100" dirty="0">
                          <a:effectLst/>
                          <a:latin typeface="彩虹粗仿宋" panose="03000509000000000000" pitchFamily="65" charset="-122"/>
                          <a:ea typeface="彩虹粗仿宋" panose="03000509000000000000" pitchFamily="65" charset="-122"/>
                        </a:rPr>
                        <a:t>月</a:t>
                      </a:r>
                      <a:r>
                        <a:rPr lang="en-US" sz="1200" kern="100" dirty="0">
                          <a:effectLst/>
                          <a:latin typeface="彩虹粗仿宋" panose="03000509000000000000" pitchFamily="65" charset="-122"/>
                          <a:ea typeface="彩虹粗仿宋" panose="03000509000000000000" pitchFamily="65" charset="-122"/>
                        </a:rPr>
                        <a:t>11</a:t>
                      </a:r>
                      <a:r>
                        <a:rPr lang="zh-CN" sz="1200" kern="100" dirty="0">
                          <a:effectLst/>
                          <a:latin typeface="彩虹粗仿宋" panose="03000509000000000000" pitchFamily="65" charset="-122"/>
                          <a:ea typeface="彩虹粗仿宋" panose="03000509000000000000" pitchFamily="65" charset="-122"/>
                        </a:rPr>
                        <a:t>日</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《神经系统类医疗服务价格项目立项指南（试行）》</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国家医疗保障局</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l">
                        <a:lnSpc>
                          <a:spcPct val="100000"/>
                        </a:lnSpc>
                        <a:buNone/>
                      </a:pPr>
                      <a:r>
                        <a:rPr lang="zh-CN" sz="1200" kern="100" dirty="0">
                          <a:effectLst/>
                          <a:latin typeface="彩虹粗仿宋" panose="03000509000000000000" pitchFamily="65" charset="-122"/>
                          <a:ea typeface="彩虹粗仿宋" panose="03000509000000000000" pitchFamily="65" charset="-122"/>
                        </a:rPr>
                        <a:t>历史性突破：首次先于产品获批制定收费目录。将“脑机接口辅助治疗”等新技术单独设立为医疗服务收费项目</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r>
              <a:tr h="769549">
                <a:tc>
                  <a:txBody>
                    <a:bodyPr/>
                    <a:lstStyle/>
                    <a:p>
                      <a:pPr algn="ctr">
                        <a:lnSpc>
                          <a:spcPct val="100000"/>
                        </a:lnSpc>
                        <a:buNone/>
                      </a:pPr>
                      <a:r>
                        <a:rPr lang="en-US" sz="1200" kern="100" dirty="0">
                          <a:effectLst/>
                          <a:latin typeface="彩虹粗仿宋" panose="03000509000000000000" pitchFamily="65" charset="-122"/>
                          <a:ea typeface="彩虹粗仿宋" panose="03000509000000000000" pitchFamily="65" charset="-122"/>
                        </a:rPr>
                        <a:t>2025</a:t>
                      </a:r>
                      <a:r>
                        <a:rPr lang="zh-CN" sz="1200" kern="100" dirty="0">
                          <a:effectLst/>
                          <a:latin typeface="彩虹粗仿宋" panose="03000509000000000000" pitchFamily="65" charset="-122"/>
                          <a:ea typeface="彩虹粗仿宋" panose="03000509000000000000" pitchFamily="65" charset="-122"/>
                        </a:rPr>
                        <a:t>年</a:t>
                      </a:r>
                      <a:r>
                        <a:rPr lang="en-US" sz="1200" kern="100" dirty="0">
                          <a:effectLst/>
                          <a:latin typeface="彩虹粗仿宋" panose="03000509000000000000" pitchFamily="65" charset="-122"/>
                          <a:ea typeface="彩虹粗仿宋" panose="03000509000000000000" pitchFamily="65" charset="-122"/>
                        </a:rPr>
                        <a:t>7</a:t>
                      </a:r>
                      <a:r>
                        <a:rPr lang="zh-CN" sz="1200" kern="100" dirty="0">
                          <a:effectLst/>
                          <a:latin typeface="彩虹粗仿宋" panose="03000509000000000000" pitchFamily="65" charset="-122"/>
                          <a:ea typeface="彩虹粗仿宋" panose="03000509000000000000" pitchFamily="65" charset="-122"/>
                        </a:rPr>
                        <a:t>月</a:t>
                      </a:r>
                      <a:r>
                        <a:rPr lang="en-US" sz="1200" kern="100" dirty="0">
                          <a:effectLst/>
                          <a:latin typeface="彩虹粗仿宋" panose="03000509000000000000" pitchFamily="65" charset="-122"/>
                          <a:ea typeface="彩虹粗仿宋" panose="03000509000000000000" pitchFamily="65" charset="-122"/>
                        </a:rPr>
                        <a:t>3</a:t>
                      </a:r>
                      <a:r>
                        <a:rPr lang="zh-CN" sz="1200" kern="100" dirty="0">
                          <a:effectLst/>
                          <a:latin typeface="彩虹粗仿宋" panose="03000509000000000000" pitchFamily="65" charset="-122"/>
                          <a:ea typeface="彩虹粗仿宋" panose="03000509000000000000" pitchFamily="65" charset="-122"/>
                        </a:rPr>
                        <a:t>日</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优化全生命周期监管支持高端医疗器械创新发展有关举措的公告（</a:t>
                      </a:r>
                      <a:r>
                        <a:rPr lang="en-US" sz="1200" kern="100">
                          <a:effectLst/>
                          <a:latin typeface="彩虹粗仿宋" panose="03000509000000000000" pitchFamily="65" charset="-122"/>
                          <a:ea typeface="彩虹粗仿宋" panose="03000509000000000000" pitchFamily="65" charset="-122"/>
                        </a:rPr>
                        <a:t>2025</a:t>
                      </a:r>
                      <a:r>
                        <a:rPr lang="zh-CN" sz="1200" kern="100">
                          <a:effectLst/>
                          <a:latin typeface="彩虹粗仿宋" panose="03000509000000000000" pitchFamily="65" charset="-122"/>
                          <a:ea typeface="彩虹粗仿宋" panose="03000509000000000000" pitchFamily="65" charset="-122"/>
                        </a:rPr>
                        <a:t>年第</a:t>
                      </a:r>
                      <a:r>
                        <a:rPr lang="en-US" sz="1200" kern="100">
                          <a:effectLst/>
                          <a:latin typeface="彩虹粗仿宋" panose="03000509000000000000" pitchFamily="65" charset="-122"/>
                          <a:ea typeface="彩虹粗仿宋" panose="03000509000000000000" pitchFamily="65" charset="-122"/>
                        </a:rPr>
                        <a:t>63</a:t>
                      </a:r>
                      <a:r>
                        <a:rPr lang="zh-CN" sz="1200" kern="100">
                          <a:effectLst/>
                          <a:latin typeface="彩虹粗仿宋" panose="03000509000000000000" pitchFamily="65" charset="-122"/>
                          <a:ea typeface="彩虹粗仿宋" panose="03000509000000000000" pitchFamily="65" charset="-122"/>
                        </a:rPr>
                        <a:t>号）</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国家药监局</a:t>
                      </a:r>
                      <a:endParaRPr lang="zh-CN" sz="1200" kern="100">
                        <a:effectLst/>
                        <a:latin typeface="彩虹粗仿宋" panose="03000509000000000000" pitchFamily="65" charset="-122"/>
                        <a:ea typeface="彩虹粗仿宋" panose="03000509000000000000" pitchFamily="65" charset="-122"/>
                      </a:endParaRPr>
                    </a:p>
                    <a:p>
                      <a:pPr algn="ctr">
                        <a:lnSpc>
                          <a:spcPct val="100000"/>
                        </a:lnSpc>
                        <a:buNone/>
                      </a:pPr>
                      <a:r>
                        <a:rPr lang="en-US" sz="1200" kern="100">
                          <a:effectLst/>
                          <a:latin typeface="彩虹粗仿宋" panose="03000509000000000000" pitchFamily="65" charset="-122"/>
                          <a:ea typeface="彩虹粗仿宋" panose="03000509000000000000" pitchFamily="65" charset="-122"/>
                        </a:rPr>
                        <a:t> </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l">
                        <a:lnSpc>
                          <a:spcPct val="100000"/>
                        </a:lnSpc>
                        <a:buNone/>
                      </a:pPr>
                      <a:r>
                        <a:rPr lang="zh-CN" sz="1200" kern="100" dirty="0">
                          <a:effectLst/>
                          <a:latin typeface="彩虹粗仿宋" panose="03000509000000000000" pitchFamily="65" charset="-122"/>
                          <a:ea typeface="彩虹粗仿宋" panose="03000509000000000000" pitchFamily="65" charset="-122"/>
                        </a:rPr>
                        <a:t>十大举措覆盖审评、标准、命名、变更、出海等全链条；对国内首创、国际领先且临床价值显著的高端器械继续实施创新特别审查，强化研发期技术沟通</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r>
              <a:tr h="1062329">
                <a:tc>
                  <a:txBody>
                    <a:bodyPr/>
                    <a:lstStyle/>
                    <a:p>
                      <a:pPr algn="ctr">
                        <a:lnSpc>
                          <a:spcPct val="100000"/>
                        </a:lnSpc>
                        <a:buNone/>
                      </a:pPr>
                      <a:r>
                        <a:rPr lang="en-US" sz="1200" kern="100" dirty="0">
                          <a:effectLst/>
                          <a:latin typeface="彩虹粗仿宋" panose="03000509000000000000" pitchFamily="65" charset="-122"/>
                          <a:ea typeface="彩虹粗仿宋" panose="03000509000000000000" pitchFamily="65" charset="-122"/>
                        </a:rPr>
                        <a:t>2025</a:t>
                      </a:r>
                      <a:r>
                        <a:rPr lang="zh-CN" sz="1200" kern="100" dirty="0">
                          <a:effectLst/>
                          <a:latin typeface="彩虹粗仿宋" panose="03000509000000000000" pitchFamily="65" charset="-122"/>
                          <a:ea typeface="彩虹粗仿宋" panose="03000509000000000000" pitchFamily="65" charset="-122"/>
                        </a:rPr>
                        <a:t>年</a:t>
                      </a:r>
                      <a:r>
                        <a:rPr lang="en-US" sz="1200" kern="100" dirty="0">
                          <a:effectLst/>
                          <a:latin typeface="彩虹粗仿宋" panose="03000509000000000000" pitchFamily="65" charset="-122"/>
                          <a:ea typeface="彩虹粗仿宋" panose="03000509000000000000" pitchFamily="65" charset="-122"/>
                        </a:rPr>
                        <a:t>7</a:t>
                      </a:r>
                      <a:r>
                        <a:rPr lang="zh-CN" sz="1200" kern="100" dirty="0">
                          <a:effectLst/>
                          <a:latin typeface="彩虹粗仿宋" panose="03000509000000000000" pitchFamily="65" charset="-122"/>
                          <a:ea typeface="彩虹粗仿宋" panose="03000509000000000000" pitchFamily="65" charset="-122"/>
                        </a:rPr>
                        <a:t>月</a:t>
                      </a:r>
                      <a:r>
                        <a:rPr lang="en-US" sz="1200" kern="100" dirty="0">
                          <a:effectLst/>
                          <a:latin typeface="彩虹粗仿宋" panose="03000509000000000000" pitchFamily="65" charset="-122"/>
                          <a:ea typeface="彩虹粗仿宋" panose="03000509000000000000" pitchFamily="65" charset="-122"/>
                        </a:rPr>
                        <a:t>30</a:t>
                      </a:r>
                      <a:r>
                        <a:rPr lang="zh-CN" sz="1200" kern="100" dirty="0">
                          <a:effectLst/>
                          <a:latin typeface="彩虹粗仿宋" panose="03000509000000000000" pitchFamily="65" charset="-122"/>
                          <a:ea typeface="彩虹粗仿宋" panose="03000509000000000000" pitchFamily="65" charset="-122"/>
                        </a:rPr>
                        <a:t>日</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《关于推动脑机接口产业创新发展的实施意见》（工信部联科〔</a:t>
                      </a:r>
                      <a:r>
                        <a:rPr lang="en-US" sz="1200" kern="100">
                          <a:effectLst/>
                          <a:latin typeface="彩虹粗仿宋" panose="03000509000000000000" pitchFamily="65" charset="-122"/>
                          <a:ea typeface="彩虹粗仿宋" panose="03000509000000000000" pitchFamily="65" charset="-122"/>
                        </a:rPr>
                        <a:t>2025</a:t>
                      </a:r>
                      <a:r>
                        <a:rPr lang="zh-CN" sz="1200" kern="100">
                          <a:effectLst/>
                          <a:latin typeface="彩虹粗仿宋" panose="03000509000000000000" pitchFamily="65" charset="-122"/>
                          <a:ea typeface="彩虹粗仿宋" panose="03000509000000000000" pitchFamily="65" charset="-122"/>
                        </a:rPr>
                        <a:t>〕</a:t>
                      </a:r>
                      <a:r>
                        <a:rPr lang="en-US" sz="1200" kern="100">
                          <a:effectLst/>
                          <a:latin typeface="彩虹粗仿宋" panose="03000509000000000000" pitchFamily="65" charset="-122"/>
                          <a:ea typeface="彩虹粗仿宋" panose="03000509000000000000" pitchFamily="65" charset="-122"/>
                        </a:rPr>
                        <a:t>164 </a:t>
                      </a:r>
                      <a:r>
                        <a:rPr lang="zh-CN" sz="1200" kern="100">
                          <a:effectLst/>
                          <a:latin typeface="彩虹粗仿宋" panose="03000509000000000000" pitchFamily="65" charset="-122"/>
                          <a:ea typeface="彩虹粗仿宋" panose="03000509000000000000" pitchFamily="65" charset="-122"/>
                        </a:rPr>
                        <a:t>号）</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工业和信息化部、国家发展改革委、教育部、国家卫生健康委、国务院国资委、中国科学院、国家药监局</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l">
                        <a:lnSpc>
                          <a:spcPct val="100000"/>
                        </a:lnSpc>
                        <a:buNone/>
                      </a:pPr>
                      <a:r>
                        <a:rPr lang="zh-CN" sz="1200" kern="100">
                          <a:effectLst/>
                          <a:latin typeface="彩虹粗仿宋" panose="03000509000000000000" pitchFamily="65" charset="-122"/>
                          <a:ea typeface="彩虹粗仿宋" panose="03000509000000000000" pitchFamily="65" charset="-122"/>
                        </a:rPr>
                        <a:t>提出了清晰的时间表：到</a:t>
                      </a:r>
                      <a:r>
                        <a:rPr lang="en-US" sz="1200" kern="100">
                          <a:effectLst/>
                          <a:latin typeface="彩虹粗仿宋" panose="03000509000000000000" pitchFamily="65" charset="-122"/>
                          <a:ea typeface="彩虹粗仿宋" panose="03000509000000000000" pitchFamily="65" charset="-122"/>
                        </a:rPr>
                        <a:t>2027</a:t>
                      </a:r>
                      <a:r>
                        <a:rPr lang="zh-CN" sz="1200" kern="100">
                          <a:effectLst/>
                          <a:latin typeface="彩虹粗仿宋" panose="03000509000000000000" pitchFamily="65" charset="-122"/>
                          <a:ea typeface="彩虹粗仿宋" panose="03000509000000000000" pitchFamily="65" charset="-122"/>
                        </a:rPr>
                        <a:t>年，关键技术取得突破；到</a:t>
                      </a:r>
                      <a:r>
                        <a:rPr lang="en-US" sz="1200" kern="100">
                          <a:effectLst/>
                          <a:latin typeface="彩虹粗仿宋" panose="03000509000000000000" pitchFamily="65" charset="-122"/>
                          <a:ea typeface="彩虹粗仿宋" panose="03000509000000000000" pitchFamily="65" charset="-122"/>
                        </a:rPr>
                        <a:t>2030</a:t>
                      </a:r>
                      <a:r>
                        <a:rPr lang="zh-CN" sz="1200" kern="100">
                          <a:effectLst/>
                          <a:latin typeface="彩虹粗仿宋" panose="03000509000000000000" pitchFamily="65" charset="-122"/>
                          <a:ea typeface="彩虹粗仿宋" panose="03000509000000000000" pitchFamily="65" charset="-122"/>
                        </a:rPr>
                        <a:t>年，综合实力迈入世界前列，培育</a:t>
                      </a:r>
                      <a:r>
                        <a:rPr lang="en-US" sz="1200" kern="100">
                          <a:effectLst/>
                          <a:latin typeface="彩虹粗仿宋" panose="03000509000000000000" pitchFamily="65" charset="-122"/>
                          <a:ea typeface="彩虹粗仿宋" panose="03000509000000000000" pitchFamily="65" charset="-122"/>
                        </a:rPr>
                        <a:t>2-3</a:t>
                      </a:r>
                      <a:r>
                        <a:rPr lang="zh-CN" sz="1200" kern="100">
                          <a:effectLst/>
                          <a:latin typeface="彩虹粗仿宋" panose="03000509000000000000" pitchFamily="65" charset="-122"/>
                          <a:ea typeface="彩虹粗仿宋" panose="03000509000000000000" pitchFamily="65" charset="-122"/>
                        </a:rPr>
                        <a:t>家有全球影响力的领军企业。此外，文件部署了</a:t>
                      </a:r>
                      <a:r>
                        <a:rPr lang="en-US" sz="1200" kern="100">
                          <a:effectLst/>
                          <a:latin typeface="彩虹粗仿宋" panose="03000509000000000000" pitchFamily="65" charset="-122"/>
                          <a:ea typeface="彩虹粗仿宋" panose="03000509000000000000" pitchFamily="65" charset="-122"/>
                        </a:rPr>
                        <a:t>5</a:t>
                      </a:r>
                      <a:r>
                        <a:rPr lang="zh-CN" sz="1200" kern="100">
                          <a:effectLst/>
                          <a:latin typeface="彩虹粗仿宋" panose="03000509000000000000" pitchFamily="65" charset="-122"/>
                          <a:ea typeface="彩虹粗仿宋" panose="03000509000000000000" pitchFamily="65" charset="-122"/>
                        </a:rPr>
                        <a:t>大重点任务和</a:t>
                      </a:r>
                      <a:r>
                        <a:rPr lang="en-US" sz="1200" kern="100">
                          <a:effectLst/>
                          <a:latin typeface="彩虹粗仿宋" panose="03000509000000000000" pitchFamily="65" charset="-122"/>
                          <a:ea typeface="彩虹粗仿宋" panose="03000509000000000000" pitchFamily="65" charset="-122"/>
                        </a:rPr>
                        <a:t>3</a:t>
                      </a:r>
                      <a:r>
                        <a:rPr lang="zh-CN" sz="1200" kern="100">
                          <a:effectLst/>
                          <a:latin typeface="彩虹粗仿宋" panose="03000509000000000000" pitchFamily="65" charset="-122"/>
                          <a:ea typeface="彩虹粗仿宋" panose="03000509000000000000" pitchFamily="65" charset="-122"/>
                        </a:rPr>
                        <a:t>个重点工程，涵盖了从技术攻关、产品打造到应用推广的全产业链条，旨在培育一个完整的产业生态。</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r>
              <a:tr h="849863">
                <a:tc>
                  <a:txBody>
                    <a:bodyPr/>
                    <a:lstStyle/>
                    <a:p>
                      <a:pPr algn="ctr">
                        <a:lnSpc>
                          <a:spcPct val="100000"/>
                        </a:lnSpc>
                        <a:buNone/>
                      </a:pPr>
                      <a:r>
                        <a:rPr lang="en-US" sz="1200" kern="100" dirty="0">
                          <a:effectLst/>
                          <a:latin typeface="彩虹粗仿宋" panose="03000509000000000000" pitchFamily="65" charset="-122"/>
                          <a:ea typeface="彩虹粗仿宋" panose="03000509000000000000" pitchFamily="65" charset="-122"/>
                        </a:rPr>
                        <a:t>2025</a:t>
                      </a:r>
                      <a:r>
                        <a:rPr lang="zh-CN" sz="1200" kern="100" dirty="0">
                          <a:effectLst/>
                          <a:latin typeface="彩虹粗仿宋" panose="03000509000000000000" pitchFamily="65" charset="-122"/>
                          <a:ea typeface="彩虹粗仿宋" panose="03000509000000000000" pitchFamily="65" charset="-122"/>
                        </a:rPr>
                        <a:t>年</a:t>
                      </a:r>
                      <a:r>
                        <a:rPr lang="en-US" sz="1200" kern="100" dirty="0">
                          <a:effectLst/>
                          <a:latin typeface="彩虹粗仿宋" panose="03000509000000000000" pitchFamily="65" charset="-122"/>
                          <a:ea typeface="彩虹粗仿宋" panose="03000509000000000000" pitchFamily="65" charset="-122"/>
                        </a:rPr>
                        <a:t>9</a:t>
                      </a:r>
                      <a:r>
                        <a:rPr lang="zh-CN" sz="1200" kern="100" dirty="0">
                          <a:effectLst/>
                          <a:latin typeface="彩虹粗仿宋" panose="03000509000000000000" pitchFamily="65" charset="-122"/>
                          <a:ea typeface="彩虹粗仿宋" panose="03000509000000000000" pitchFamily="65" charset="-122"/>
                        </a:rPr>
                        <a:t>月</a:t>
                      </a:r>
                      <a:r>
                        <a:rPr lang="en-US" sz="1200" kern="100" dirty="0">
                          <a:effectLst/>
                          <a:latin typeface="彩虹粗仿宋" panose="03000509000000000000" pitchFamily="65" charset="-122"/>
                          <a:ea typeface="彩虹粗仿宋" panose="03000509000000000000" pitchFamily="65" charset="-122"/>
                        </a:rPr>
                        <a:t>16</a:t>
                      </a:r>
                      <a:r>
                        <a:rPr lang="zh-CN" sz="1200" kern="100" dirty="0">
                          <a:effectLst/>
                          <a:latin typeface="彩虹粗仿宋" panose="03000509000000000000" pitchFamily="65" charset="-122"/>
                          <a:ea typeface="彩虹粗仿宋" panose="03000509000000000000" pitchFamily="65" charset="-122"/>
                        </a:rPr>
                        <a:t>日</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en-US" sz="1200" kern="100">
                          <a:effectLst/>
                          <a:latin typeface="彩虹粗仿宋" panose="03000509000000000000" pitchFamily="65" charset="-122"/>
                          <a:ea typeface="彩虹粗仿宋" panose="03000509000000000000" pitchFamily="65" charset="-122"/>
                        </a:rPr>
                        <a:t>YY/T 1987</a:t>
                      </a:r>
                      <a:r>
                        <a:rPr lang="zh-CN" sz="1200" kern="100">
                          <a:effectLst/>
                          <a:latin typeface="彩虹粗仿宋" panose="03000509000000000000" pitchFamily="65" charset="-122"/>
                          <a:ea typeface="彩虹粗仿宋" panose="03000509000000000000" pitchFamily="65" charset="-122"/>
                        </a:rPr>
                        <a:t>—</a:t>
                      </a:r>
                      <a:r>
                        <a:rPr lang="en-US" sz="1200" kern="100">
                          <a:effectLst/>
                          <a:latin typeface="彩虹粗仿宋" panose="03000509000000000000" pitchFamily="65" charset="-122"/>
                          <a:ea typeface="彩虹粗仿宋" panose="03000509000000000000" pitchFamily="65" charset="-122"/>
                        </a:rPr>
                        <a:t>2025</a:t>
                      </a:r>
                      <a:r>
                        <a:rPr lang="zh-CN" sz="1200" kern="100">
                          <a:effectLst/>
                          <a:latin typeface="彩虹粗仿宋" panose="03000509000000000000" pitchFamily="65" charset="-122"/>
                          <a:ea typeface="彩虹粗仿宋" panose="03000509000000000000" pitchFamily="65" charset="-122"/>
                        </a:rPr>
                        <a:t>《采用脑机接口技术的医疗器械术语》</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国家药监局</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l">
                        <a:lnSpc>
                          <a:spcPct val="100000"/>
                        </a:lnSpc>
                        <a:buNone/>
                      </a:pPr>
                      <a:r>
                        <a:rPr lang="zh-CN" sz="1200" kern="100" dirty="0">
                          <a:effectLst/>
                          <a:latin typeface="彩虹粗仿宋" panose="03000509000000000000" pitchFamily="65" charset="-122"/>
                          <a:ea typeface="彩虹粗仿宋" panose="03000509000000000000" pitchFamily="65" charset="-122"/>
                        </a:rPr>
                        <a:t>我国首部脑机接口医疗器械行业标准，将于</a:t>
                      </a:r>
                      <a:r>
                        <a:rPr lang="en-US" sz="1200" kern="100" dirty="0">
                          <a:effectLst/>
                          <a:latin typeface="彩虹粗仿宋" panose="03000509000000000000" pitchFamily="65" charset="-122"/>
                          <a:ea typeface="彩虹粗仿宋" panose="03000509000000000000" pitchFamily="65" charset="-122"/>
                        </a:rPr>
                        <a:t>2026</a:t>
                      </a:r>
                      <a:r>
                        <a:rPr lang="zh-CN" sz="1200" kern="100" dirty="0">
                          <a:effectLst/>
                          <a:latin typeface="彩虹粗仿宋" panose="03000509000000000000" pitchFamily="65" charset="-122"/>
                          <a:ea typeface="彩虹粗仿宋" panose="03000509000000000000" pitchFamily="65" charset="-122"/>
                        </a:rPr>
                        <a:t>年</a:t>
                      </a:r>
                      <a:r>
                        <a:rPr lang="en-US" sz="1200" kern="100" dirty="0">
                          <a:effectLst/>
                          <a:latin typeface="彩虹粗仿宋" panose="03000509000000000000" pitchFamily="65" charset="-122"/>
                          <a:ea typeface="彩虹粗仿宋" panose="03000509000000000000" pitchFamily="65" charset="-122"/>
                        </a:rPr>
                        <a:t>1</a:t>
                      </a:r>
                      <a:r>
                        <a:rPr lang="zh-CN" sz="1200" kern="100" dirty="0">
                          <a:effectLst/>
                          <a:latin typeface="彩虹粗仿宋" panose="03000509000000000000" pitchFamily="65" charset="-122"/>
                          <a:ea typeface="彩虹粗仿宋" panose="03000509000000000000" pitchFamily="65" charset="-122"/>
                        </a:rPr>
                        <a:t>月</a:t>
                      </a:r>
                      <a:r>
                        <a:rPr lang="en-US" sz="1200" kern="100" dirty="0">
                          <a:effectLst/>
                          <a:latin typeface="彩虹粗仿宋" panose="03000509000000000000" pitchFamily="65" charset="-122"/>
                          <a:ea typeface="彩虹粗仿宋" panose="03000509000000000000" pitchFamily="65" charset="-122"/>
                        </a:rPr>
                        <a:t>1</a:t>
                      </a:r>
                      <a:r>
                        <a:rPr lang="zh-CN" sz="1200" kern="100" dirty="0">
                          <a:effectLst/>
                          <a:latin typeface="彩虹粗仿宋" panose="03000509000000000000" pitchFamily="65" charset="-122"/>
                          <a:ea typeface="彩虹粗仿宋" panose="03000509000000000000" pitchFamily="65" charset="-122"/>
                        </a:rPr>
                        <a:t>日实施，规范了侵入式和非侵入式脑机接口医疗器械的定义，标志着行业进入规范化发展新阶段，其中明确了</a:t>
                      </a:r>
                      <a:r>
                        <a:rPr lang="zh-CN" altLang="en-US" sz="1200" kern="100" dirty="0">
                          <a:effectLst/>
                          <a:latin typeface="彩虹粗仿宋" panose="03000509000000000000" pitchFamily="65" charset="-122"/>
                          <a:ea typeface="彩虹粗仿宋" panose="03000509000000000000" pitchFamily="65" charset="-122"/>
                        </a:rPr>
                        <a:t>佳量脑科学</a:t>
                      </a:r>
                      <a:r>
                        <a:rPr lang="zh-CN" sz="1200" kern="100" dirty="0">
                          <a:effectLst/>
                          <a:latin typeface="彩虹粗仿宋" panose="03000509000000000000" pitchFamily="65" charset="-122"/>
                          <a:ea typeface="彩虹粗仿宋" panose="03000509000000000000" pitchFamily="65" charset="-122"/>
                        </a:rPr>
                        <a:t>产品为采用脑机接口技术的医疗器械，有利于企业确立技术和市场优势。</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r>
              <a:tr h="637398">
                <a:tc>
                  <a:txBody>
                    <a:bodyPr/>
                    <a:lstStyle/>
                    <a:p>
                      <a:pPr algn="ctr">
                        <a:lnSpc>
                          <a:spcPct val="100000"/>
                        </a:lnSpc>
                        <a:buNone/>
                      </a:pPr>
                      <a:r>
                        <a:rPr lang="en-US" sz="1200" kern="100" dirty="0">
                          <a:effectLst/>
                          <a:latin typeface="彩虹粗仿宋" panose="03000509000000000000" pitchFamily="65" charset="-122"/>
                          <a:ea typeface="彩虹粗仿宋" panose="03000509000000000000" pitchFamily="65" charset="-122"/>
                        </a:rPr>
                        <a:t>2025</a:t>
                      </a:r>
                      <a:r>
                        <a:rPr lang="zh-CN" sz="1200" kern="100" dirty="0">
                          <a:effectLst/>
                          <a:latin typeface="彩虹粗仿宋" panose="03000509000000000000" pitchFamily="65" charset="-122"/>
                          <a:ea typeface="彩虹粗仿宋" panose="03000509000000000000" pitchFamily="65" charset="-122"/>
                        </a:rPr>
                        <a:t>年</a:t>
                      </a:r>
                      <a:r>
                        <a:rPr lang="en-US" sz="1200" kern="100" dirty="0">
                          <a:effectLst/>
                          <a:latin typeface="彩虹粗仿宋" panose="03000509000000000000" pitchFamily="65" charset="-122"/>
                          <a:ea typeface="彩虹粗仿宋" panose="03000509000000000000" pitchFamily="65" charset="-122"/>
                        </a:rPr>
                        <a:t>9</a:t>
                      </a:r>
                      <a:r>
                        <a:rPr lang="zh-CN" sz="1200" kern="100" dirty="0">
                          <a:effectLst/>
                          <a:latin typeface="彩虹粗仿宋" panose="03000509000000000000" pitchFamily="65" charset="-122"/>
                          <a:ea typeface="彩虹粗仿宋" panose="03000509000000000000" pitchFamily="65" charset="-122"/>
                        </a:rPr>
                        <a:t>月</a:t>
                      </a:r>
                      <a:r>
                        <a:rPr lang="en-US" sz="1200" kern="100" dirty="0">
                          <a:effectLst/>
                          <a:latin typeface="彩虹粗仿宋" panose="03000509000000000000" pitchFamily="65" charset="-122"/>
                          <a:ea typeface="彩虹粗仿宋" panose="03000509000000000000" pitchFamily="65" charset="-122"/>
                        </a:rPr>
                        <a:t>25</a:t>
                      </a:r>
                      <a:r>
                        <a:rPr lang="zh-CN" sz="1200" kern="100" dirty="0">
                          <a:effectLst/>
                          <a:latin typeface="彩虹粗仿宋" panose="03000509000000000000" pitchFamily="65" charset="-122"/>
                          <a:ea typeface="彩虹粗仿宋" panose="03000509000000000000" pitchFamily="65" charset="-122"/>
                        </a:rPr>
                        <a:t>日</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en-US" sz="1200" kern="100">
                          <a:effectLst/>
                          <a:latin typeface="彩虹粗仿宋" panose="03000509000000000000" pitchFamily="65" charset="-122"/>
                          <a:ea typeface="彩虹粗仿宋" panose="03000509000000000000" pitchFamily="65" charset="-122"/>
                        </a:rPr>
                        <a:t>YY/T 1996—2025</a:t>
                      </a:r>
                      <a:r>
                        <a:rPr lang="zh-CN" sz="1200" kern="100">
                          <a:effectLst/>
                          <a:latin typeface="彩虹粗仿宋" panose="03000509000000000000" pitchFamily="65" charset="-122"/>
                          <a:ea typeface="彩虹粗仿宋" panose="03000509000000000000" pitchFamily="65" charset="-122"/>
                        </a:rPr>
                        <a:t>《采用脑机接口技术的医疗器械 具备闭环功能的植入式神经刺激器 感知与响应性能测试方法》</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国家药监局</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l">
                        <a:lnSpc>
                          <a:spcPct val="100000"/>
                        </a:lnSpc>
                        <a:buNone/>
                      </a:pPr>
                      <a:r>
                        <a:rPr lang="zh-CN" altLang="en-US" sz="1200" b="1" kern="100" dirty="0">
                          <a:solidFill>
                            <a:srgbClr val="C00000"/>
                          </a:solidFill>
                          <a:effectLst/>
                          <a:latin typeface="彩虹粗仿宋" panose="03000509000000000000" pitchFamily="65" charset="-122"/>
                          <a:ea typeface="彩虹粗仿宋" panose="03000509000000000000" pitchFamily="65" charset="-122"/>
                        </a:rPr>
                        <a:t>佳量脑科学</a:t>
                      </a:r>
                      <a:r>
                        <a:rPr lang="zh-CN" sz="1200" b="1" kern="100" dirty="0">
                          <a:solidFill>
                            <a:srgbClr val="C00000"/>
                          </a:solidFill>
                          <a:effectLst/>
                          <a:latin typeface="彩虹粗仿宋" panose="03000509000000000000" pitchFamily="65" charset="-122"/>
                          <a:ea typeface="彩虹粗仿宋" panose="03000509000000000000" pitchFamily="65" charset="-122"/>
                        </a:rPr>
                        <a:t>作为牵头企业参与到了标准的制定</a:t>
                      </a:r>
                      <a:r>
                        <a:rPr lang="zh-CN" sz="1200" kern="100" dirty="0">
                          <a:effectLst/>
                          <a:latin typeface="彩虹粗仿宋" panose="03000509000000000000" pitchFamily="65" charset="-122"/>
                          <a:ea typeface="彩虹粗仿宋" panose="03000509000000000000" pitchFamily="65" charset="-122"/>
                        </a:rPr>
                        <a:t>，在行业标准制定中发挥关键作用，确保了公司产品研发方向与政策要求高度契合，缩短审批周期，并加速商业化落地。</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r>
              <a:tr h="849863">
                <a:tc>
                  <a:txBody>
                    <a:bodyPr/>
                    <a:lstStyle/>
                    <a:p>
                      <a:pPr algn="ctr">
                        <a:lnSpc>
                          <a:spcPct val="100000"/>
                        </a:lnSpc>
                        <a:buNone/>
                      </a:pPr>
                      <a:r>
                        <a:rPr lang="en-US" sz="1200" kern="100" dirty="0">
                          <a:effectLst/>
                          <a:latin typeface="彩虹粗仿宋" panose="03000509000000000000" pitchFamily="65" charset="-122"/>
                          <a:ea typeface="彩虹粗仿宋" panose="03000509000000000000" pitchFamily="65" charset="-122"/>
                        </a:rPr>
                        <a:t>2025</a:t>
                      </a:r>
                      <a:r>
                        <a:rPr lang="zh-CN" sz="1200" kern="100" dirty="0">
                          <a:effectLst/>
                          <a:latin typeface="彩虹粗仿宋" panose="03000509000000000000" pitchFamily="65" charset="-122"/>
                          <a:ea typeface="彩虹粗仿宋" panose="03000509000000000000" pitchFamily="65" charset="-122"/>
                        </a:rPr>
                        <a:t>年</a:t>
                      </a:r>
                      <a:r>
                        <a:rPr lang="en-US" sz="1200" kern="100" dirty="0">
                          <a:effectLst/>
                          <a:latin typeface="彩虹粗仿宋" panose="03000509000000000000" pitchFamily="65" charset="-122"/>
                          <a:ea typeface="彩虹粗仿宋" panose="03000509000000000000" pitchFamily="65" charset="-122"/>
                        </a:rPr>
                        <a:t>10</a:t>
                      </a:r>
                      <a:r>
                        <a:rPr lang="zh-CN" sz="1200" kern="100" dirty="0">
                          <a:effectLst/>
                          <a:latin typeface="彩虹粗仿宋" panose="03000509000000000000" pitchFamily="65" charset="-122"/>
                          <a:ea typeface="彩虹粗仿宋" panose="03000509000000000000" pitchFamily="65" charset="-122"/>
                        </a:rPr>
                        <a:t>月</a:t>
                      </a:r>
                      <a:r>
                        <a:rPr lang="en-US" sz="1200" kern="100" dirty="0">
                          <a:effectLst/>
                          <a:latin typeface="彩虹粗仿宋" panose="03000509000000000000" pitchFamily="65" charset="-122"/>
                          <a:ea typeface="彩虹粗仿宋" panose="03000509000000000000" pitchFamily="65" charset="-122"/>
                        </a:rPr>
                        <a:t>24</a:t>
                      </a:r>
                      <a:r>
                        <a:rPr lang="zh-CN" sz="1200" kern="100" dirty="0">
                          <a:effectLst/>
                          <a:latin typeface="彩虹粗仿宋" panose="03000509000000000000" pitchFamily="65" charset="-122"/>
                          <a:ea typeface="彩虹粗仿宋" panose="03000509000000000000" pitchFamily="65" charset="-122"/>
                        </a:rPr>
                        <a:t>日</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dirty="0">
                          <a:effectLst/>
                          <a:latin typeface="彩虹粗仿宋" panose="03000509000000000000" pitchFamily="65" charset="-122"/>
                          <a:ea typeface="彩虹粗仿宋" panose="03000509000000000000" pitchFamily="65" charset="-122"/>
                        </a:rPr>
                        <a:t>《中共中央关于制定国民经济和社会发展第十五个五年规划的建议》</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ctr">
                        <a:lnSpc>
                          <a:spcPct val="100000"/>
                        </a:lnSpc>
                        <a:buNone/>
                      </a:pPr>
                      <a:r>
                        <a:rPr lang="zh-CN" sz="1200" kern="100">
                          <a:effectLst/>
                          <a:latin typeface="彩虹粗仿宋" panose="03000509000000000000" pitchFamily="65" charset="-122"/>
                          <a:ea typeface="彩虹粗仿宋" panose="03000509000000000000" pitchFamily="65" charset="-122"/>
                        </a:rPr>
                        <a:t>中共中央</a:t>
                      </a:r>
                      <a:endParaRPr lang="zh-CN" sz="1200" kern="100">
                        <a:effectLst/>
                        <a:latin typeface="彩虹粗仿宋" panose="03000509000000000000" pitchFamily="65" charset="-122"/>
                        <a:ea typeface="彩虹粗仿宋" panose="03000509000000000000" pitchFamily="65" charset="-122"/>
                      </a:endParaRPr>
                    </a:p>
                  </a:txBody>
                  <a:tcPr marL="29955" marR="29955" marT="0" marB="0" anchor="ctr"/>
                </a:tc>
                <a:tc>
                  <a:txBody>
                    <a:bodyPr/>
                    <a:lstStyle/>
                    <a:p>
                      <a:pPr algn="l">
                        <a:lnSpc>
                          <a:spcPct val="100000"/>
                        </a:lnSpc>
                        <a:buNone/>
                      </a:pPr>
                      <a:r>
                        <a:rPr lang="zh-CN" sz="1200" kern="100" dirty="0">
                          <a:effectLst/>
                          <a:latin typeface="彩虹粗仿宋" panose="03000509000000000000" pitchFamily="65" charset="-122"/>
                          <a:ea typeface="彩虹粗仿宋" panose="03000509000000000000" pitchFamily="65" charset="-122"/>
                        </a:rPr>
                        <a:t>在</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前瞻布局未来产业</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章节中，将</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脑机接口</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与量子科技、生物制造、氢能和核聚变能、具身智能、第六代移动通信并列为六大未来产业，要求</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推动其成为新的经济增长点</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，并设定</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未来</a:t>
                      </a:r>
                      <a:r>
                        <a:rPr lang="en-US" sz="1200" kern="100" dirty="0">
                          <a:effectLst/>
                          <a:latin typeface="彩虹粗仿宋" panose="03000509000000000000" pitchFamily="65" charset="-122"/>
                          <a:ea typeface="彩虹粗仿宋" panose="03000509000000000000" pitchFamily="65" charset="-122"/>
                        </a:rPr>
                        <a:t> 10 </a:t>
                      </a:r>
                      <a:r>
                        <a:rPr lang="zh-CN" sz="1200" kern="100" dirty="0">
                          <a:effectLst/>
                          <a:latin typeface="彩虹粗仿宋" panose="03000509000000000000" pitchFamily="65" charset="-122"/>
                          <a:ea typeface="彩虹粗仿宋" panose="03000509000000000000" pitchFamily="65" charset="-122"/>
                        </a:rPr>
                        <a:t>年再造一个中国高技术产业</a:t>
                      </a:r>
                      <a:r>
                        <a:rPr lang="en-US" sz="1200" kern="100" dirty="0">
                          <a:effectLst/>
                          <a:latin typeface="彩虹粗仿宋" panose="03000509000000000000" pitchFamily="65" charset="-122"/>
                          <a:ea typeface="彩虹粗仿宋" panose="03000509000000000000" pitchFamily="65" charset="-122"/>
                        </a:rPr>
                        <a:t>”</a:t>
                      </a:r>
                      <a:r>
                        <a:rPr lang="zh-CN" sz="1200" kern="100" dirty="0">
                          <a:effectLst/>
                          <a:latin typeface="彩虹粗仿宋" panose="03000509000000000000" pitchFamily="65" charset="-122"/>
                          <a:ea typeface="彩虹粗仿宋" panose="03000509000000000000" pitchFamily="65" charset="-122"/>
                        </a:rPr>
                        <a:t>的目标。</a:t>
                      </a:r>
                      <a:endParaRPr lang="zh-CN" sz="1200" kern="100" dirty="0">
                        <a:effectLst/>
                        <a:latin typeface="彩虹粗仿宋" panose="03000509000000000000" pitchFamily="65" charset="-122"/>
                        <a:ea typeface="彩虹粗仿宋" panose="03000509000000000000" pitchFamily="65" charset="-122"/>
                      </a:endParaRPr>
                    </a:p>
                  </a:txBody>
                  <a:tcPr marL="29955" marR="29955" marT="0" marB="0" anchor="ctr"/>
                </a:tc>
              </a:tr>
            </a:tbl>
          </a:graphicData>
        </a:graphic>
      </p:graphicFrame>
      <p:sp>
        <p:nvSpPr>
          <p:cNvPr id="6" name="灯片编号占位符 10"/>
          <p:cNvSpPr>
            <a:spLocks noGrp="1"/>
          </p:cNvSpPr>
          <p:nvPr>
            <p:ph type="sldNum" sz="quarter" idx="12"/>
          </p:nvPr>
        </p:nvSpPr>
        <p:spPr>
          <a:xfrm>
            <a:off x="8610599" y="6240463"/>
            <a:ext cx="2909888" cy="206381"/>
          </a:xfrm>
        </p:spPr>
        <p:txBody>
          <a:bodyPr>
            <a:normAutofit fontScale="85000" lnSpcReduction="20000"/>
          </a:bodyPr>
          <a:lstStyle/>
          <a:p>
            <a:fld id="{BE5F26B5-172A-4DC2-B0B7-181CFC56B87C}"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latin typeface="微软雅黑" panose="020B0503020204020204" charset="-122"/>
                <a:ea typeface="微软雅黑" panose="020B0503020204020204" charset="-122"/>
              </a:rPr>
              <a:t>竞争格局</a:t>
            </a:r>
            <a:endParaRPr lang="zh-CN" altLang="en-US" sz="1600" b="1" dirty="0">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496060" y="0"/>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sym typeface="+mn-ea"/>
              </a:rPr>
              <a:t>佳量脑科学是国内脑机接口的重点</a:t>
            </a:r>
            <a:r>
              <a:rPr lang="zh-CN" altLang="en-US" sz="2000" dirty="0">
                <a:solidFill>
                  <a:srgbClr val="5353B5"/>
                </a:solidFill>
                <a:latin typeface="微软雅黑" panose="020B0503020204020204" charset="-122"/>
                <a:ea typeface="微软雅黑" panose="020B0503020204020204" charset="-122"/>
                <a:cs typeface="微软雅黑" panose="020B0503020204020204" charset="-122"/>
                <a:sym typeface="+mn-ea"/>
              </a:rPr>
              <a:t>标的</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21" name="表格 20"/>
          <p:cNvGraphicFramePr>
            <a:graphicFrameLocks noGrp="1"/>
          </p:cNvGraphicFramePr>
          <p:nvPr/>
        </p:nvGraphicFramePr>
        <p:xfrm>
          <a:off x="810169" y="1256161"/>
          <a:ext cx="11945258" cy="5532518"/>
        </p:xfrm>
        <a:graphic>
          <a:graphicData uri="http://schemas.openxmlformats.org/drawingml/2006/table">
            <a:tbl>
              <a:tblPr firstRow="1" firstCol="1" bandRow="1">
                <a:tableStyleId>{5C22544A-7EE6-4342-B048-85BDC9FD1C3A}</a:tableStyleId>
              </a:tblPr>
              <a:tblGrid>
                <a:gridCol w="1333765"/>
                <a:gridCol w="1568274"/>
                <a:gridCol w="4235804"/>
                <a:gridCol w="1817438"/>
                <a:gridCol w="2183857"/>
              </a:tblGrid>
              <a:tr h="267612">
                <a:tc>
                  <a:txBody>
                    <a:bodyPr/>
                    <a:lstStyle/>
                    <a:p>
                      <a:pPr algn="ctr">
                        <a:lnSpc>
                          <a:spcPct val="120000"/>
                        </a:lnSpc>
                        <a:spcBef>
                          <a:spcPts val="600"/>
                        </a:spcBef>
                        <a:spcAft>
                          <a:spcPts val="600"/>
                        </a:spcAft>
                        <a:buNone/>
                      </a:pPr>
                      <a:r>
                        <a:rPr lang="zh-CN" sz="1400" dirty="0">
                          <a:effectLst/>
                        </a:rPr>
                        <a:t>公司名称</a:t>
                      </a:r>
                      <a:endParaRPr lang="zh-CN" sz="1400" dirty="0">
                        <a:effectLst/>
                        <a:latin typeface="Arial" panose="020B0604020202090204" pitchFamily="34" charset="0"/>
                        <a:ea typeface="等线" panose="02010600030101010101" pitchFamily="2" charset="-122"/>
                      </a:endParaRPr>
                    </a:p>
                  </a:txBody>
                  <a:tcPr marL="28326" marR="28326" marT="14163" marB="7082"/>
                </a:tc>
                <a:tc>
                  <a:txBody>
                    <a:bodyPr/>
                    <a:lstStyle/>
                    <a:p>
                      <a:pPr algn="ctr">
                        <a:lnSpc>
                          <a:spcPct val="120000"/>
                        </a:lnSpc>
                        <a:spcBef>
                          <a:spcPts val="600"/>
                        </a:spcBef>
                        <a:spcAft>
                          <a:spcPts val="600"/>
                        </a:spcAft>
                        <a:buNone/>
                      </a:pPr>
                      <a:r>
                        <a:rPr lang="zh-CN" sz="1400" dirty="0">
                          <a:effectLst/>
                        </a:rPr>
                        <a:t>核心技术路线</a:t>
                      </a:r>
                      <a:endParaRPr lang="zh-CN" sz="1400" dirty="0">
                        <a:effectLst/>
                        <a:latin typeface="Arial" panose="020B0604020202090204" pitchFamily="34" charset="0"/>
                        <a:ea typeface="等线" panose="02010600030101010101" pitchFamily="2" charset="-122"/>
                      </a:endParaRPr>
                    </a:p>
                  </a:txBody>
                  <a:tcPr marL="28326" marR="28326" marT="14163" marB="7082"/>
                </a:tc>
                <a:tc>
                  <a:txBody>
                    <a:bodyPr/>
                    <a:lstStyle/>
                    <a:p>
                      <a:pPr algn="ctr">
                        <a:lnSpc>
                          <a:spcPct val="120000"/>
                        </a:lnSpc>
                        <a:spcBef>
                          <a:spcPts val="600"/>
                        </a:spcBef>
                        <a:spcAft>
                          <a:spcPts val="600"/>
                        </a:spcAft>
                        <a:buNone/>
                      </a:pPr>
                      <a:r>
                        <a:rPr lang="zh-CN" sz="1400" dirty="0">
                          <a:effectLst/>
                        </a:rPr>
                        <a:t>产品研发进度</a:t>
                      </a:r>
                      <a:endParaRPr lang="zh-CN" sz="1400" dirty="0">
                        <a:effectLst/>
                        <a:latin typeface="Arial" panose="020B0604020202090204" pitchFamily="34" charset="0"/>
                        <a:ea typeface="等线" panose="02010600030101010101" pitchFamily="2" charset="-122"/>
                      </a:endParaRPr>
                    </a:p>
                  </a:txBody>
                  <a:tcPr marL="28326" marR="28326" marT="14163" marB="7082"/>
                </a:tc>
                <a:tc>
                  <a:txBody>
                    <a:bodyPr/>
                    <a:lstStyle/>
                    <a:p>
                      <a:pPr algn="ctr">
                        <a:lnSpc>
                          <a:spcPct val="120000"/>
                        </a:lnSpc>
                        <a:spcBef>
                          <a:spcPts val="600"/>
                        </a:spcBef>
                        <a:spcAft>
                          <a:spcPts val="600"/>
                        </a:spcAft>
                        <a:buNone/>
                      </a:pPr>
                      <a:r>
                        <a:rPr lang="zh-CN" sz="1400">
                          <a:effectLst/>
                        </a:rPr>
                        <a:t>上市进度</a:t>
                      </a:r>
                      <a:endParaRPr lang="zh-CN" sz="1400">
                        <a:effectLst/>
                        <a:latin typeface="Arial" panose="020B0604020202090204" pitchFamily="34" charset="0"/>
                        <a:ea typeface="等线" panose="02010600030101010101" pitchFamily="2" charset="-122"/>
                      </a:endParaRPr>
                    </a:p>
                  </a:txBody>
                  <a:tcPr marL="28326" marR="28326" marT="14163" marB="7082"/>
                </a:tc>
                <a:tc>
                  <a:txBody>
                    <a:bodyPr/>
                    <a:lstStyle/>
                    <a:p>
                      <a:pPr algn="ctr">
                        <a:lnSpc>
                          <a:spcPct val="120000"/>
                        </a:lnSpc>
                        <a:spcBef>
                          <a:spcPts val="600"/>
                        </a:spcBef>
                        <a:spcAft>
                          <a:spcPts val="600"/>
                        </a:spcAft>
                        <a:buNone/>
                      </a:pPr>
                      <a:r>
                        <a:rPr lang="zh-CN" sz="1400" dirty="0">
                          <a:effectLst/>
                        </a:rPr>
                        <a:t>临床植入规模</a:t>
                      </a:r>
                      <a:endParaRPr lang="zh-CN" sz="1400" dirty="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博睿康</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半侵入硬膜外</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dirty="0">
                          <a:effectLst/>
                        </a:rPr>
                        <a:t>2026.3</a:t>
                      </a:r>
                      <a:r>
                        <a:rPr lang="zh-CN" sz="1200" dirty="0">
                          <a:effectLst/>
                        </a:rPr>
                        <a:t>全球首张侵入式三类证（高位截</a:t>
                      </a:r>
                      <a:r>
                        <a:rPr lang="zh-CN" altLang="en-US" sz="1200" dirty="0">
                          <a:effectLst/>
                        </a:rPr>
                        <a:t>瘫）</a:t>
                      </a:r>
                      <a:r>
                        <a:rPr lang="zh-CN" sz="1200" dirty="0">
                          <a:effectLst/>
                        </a:rPr>
                        <a:t>获批，已商业化</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科创板</a:t>
                      </a:r>
                      <a:r>
                        <a:rPr lang="en-US" sz="1200" dirty="0">
                          <a:effectLst/>
                        </a:rPr>
                        <a:t>IPO</a:t>
                      </a:r>
                      <a:r>
                        <a:rPr lang="zh-CN" sz="1200" dirty="0">
                          <a:effectLst/>
                        </a:rPr>
                        <a:t>辅导</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多中心</a:t>
                      </a:r>
                      <a:r>
                        <a:rPr lang="en-US" sz="1200" dirty="0">
                          <a:effectLst/>
                        </a:rPr>
                        <a:t>36</a:t>
                      </a:r>
                      <a:r>
                        <a:rPr lang="zh-CN" sz="1200" dirty="0">
                          <a:effectLst/>
                        </a:rPr>
                        <a:t>例</a:t>
                      </a:r>
                      <a:r>
                        <a:rPr lang="en-US" sz="1200" dirty="0">
                          <a:effectLst/>
                        </a:rPr>
                        <a:t>+</a:t>
                      </a:r>
                      <a:endParaRPr lang="zh-CN" sz="1200" dirty="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景昱医疗</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全侵入</a:t>
                      </a:r>
                      <a:r>
                        <a:rPr lang="en-US" sz="1200" dirty="0">
                          <a:effectLst/>
                        </a:rPr>
                        <a:t>DBS</a:t>
                      </a:r>
                      <a:r>
                        <a:rPr lang="zh-CN" sz="1200" dirty="0">
                          <a:effectLst/>
                        </a:rPr>
                        <a:t>神经调控</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成瘾</a:t>
                      </a:r>
                      <a:r>
                        <a:rPr lang="en-US" sz="1200" dirty="0">
                          <a:effectLst/>
                        </a:rPr>
                        <a:t>DBS</a:t>
                      </a:r>
                      <a:r>
                        <a:rPr lang="zh-CN" sz="1200" dirty="0">
                          <a:effectLst/>
                        </a:rPr>
                        <a:t>三类证已获批，管线成熟商业化多年</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港股</a:t>
                      </a:r>
                      <a:r>
                        <a:rPr lang="en-US" sz="1200">
                          <a:effectLst/>
                        </a:rPr>
                        <a:t>/</a:t>
                      </a:r>
                      <a:r>
                        <a:rPr lang="zh-CN" sz="1200">
                          <a:effectLst/>
                        </a:rPr>
                        <a:t>科创板</a:t>
                      </a:r>
                      <a:r>
                        <a:rPr lang="en-US" sz="1200">
                          <a:effectLst/>
                        </a:rPr>
                        <a:t>Pre-IPO</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数百例临床</a:t>
                      </a:r>
                      <a:endParaRPr lang="zh-CN" sz="1200" dirty="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三博脑科</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半侵入介入式</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癫痫</a:t>
                      </a:r>
                      <a:r>
                        <a:rPr lang="en-US" sz="1200">
                          <a:effectLst/>
                        </a:rPr>
                        <a:t>/</a:t>
                      </a:r>
                      <a:r>
                        <a:rPr lang="zh-CN" sz="1200">
                          <a:effectLst/>
                        </a:rPr>
                        <a:t>帕金森介入产品落地</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a:effectLst/>
                        </a:rPr>
                        <a:t>A</a:t>
                      </a:r>
                      <a:r>
                        <a:rPr lang="zh-CN" sz="1200">
                          <a:effectLst/>
                        </a:rPr>
                        <a:t>股已上市</a:t>
                      </a:r>
                      <a:r>
                        <a:rPr lang="en-US" sz="1200">
                          <a:effectLst/>
                        </a:rPr>
                        <a:t>(301293)</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半侵入</a:t>
                      </a:r>
                      <a:r>
                        <a:rPr lang="en-US" sz="1200">
                          <a:effectLst/>
                        </a:rPr>
                        <a:t>200+</a:t>
                      </a:r>
                      <a:r>
                        <a:rPr lang="zh-CN" sz="1200">
                          <a:effectLst/>
                        </a:rPr>
                        <a:t>例</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神络医疗</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植入式神经调控</a:t>
                      </a:r>
                      <a:r>
                        <a:rPr lang="en-US" sz="1200">
                          <a:effectLst/>
                        </a:rPr>
                        <a:t>+</a:t>
                      </a:r>
                      <a:r>
                        <a:rPr lang="zh-CN" sz="1200">
                          <a:effectLst/>
                        </a:rPr>
                        <a:t>脑机</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a:effectLst/>
                        </a:rPr>
                        <a:t>2026</a:t>
                      </a:r>
                      <a:r>
                        <a:rPr lang="zh-CN" sz="1200">
                          <a:effectLst/>
                        </a:rPr>
                        <a:t>年初</a:t>
                      </a:r>
                      <a:r>
                        <a:rPr lang="en-US" sz="1200">
                          <a:effectLst/>
                        </a:rPr>
                        <a:t>SCS</a:t>
                      </a:r>
                      <a:r>
                        <a:rPr lang="zh-CN" sz="1200">
                          <a:effectLst/>
                        </a:rPr>
                        <a:t>脊髓刺激器三类证正式获批，管线丰富</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a:effectLst/>
                        </a:rPr>
                        <a:t>C</a:t>
                      </a:r>
                      <a:r>
                        <a:rPr lang="zh-CN" sz="1200">
                          <a:effectLst/>
                        </a:rPr>
                        <a:t>轮百亿估值，筹备</a:t>
                      </a:r>
                      <a:r>
                        <a:rPr lang="en-US" sz="1200">
                          <a:effectLst/>
                        </a:rPr>
                        <a:t>IPO</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正规医疗植入临床积累</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en-US" sz="1200" dirty="0" err="1">
                          <a:effectLst/>
                        </a:rPr>
                        <a:t>Neuropace</a:t>
                      </a:r>
                      <a:r>
                        <a:rPr lang="en-US" sz="1200" dirty="0">
                          <a:effectLst/>
                        </a:rPr>
                        <a:t>(</a:t>
                      </a:r>
                      <a:r>
                        <a:rPr lang="zh-CN" sz="1200" dirty="0">
                          <a:effectLst/>
                        </a:rPr>
                        <a:t>海外</a:t>
                      </a:r>
                      <a:r>
                        <a:rPr lang="en-US" sz="1200" dirty="0">
                          <a:effectLst/>
                        </a:rPr>
                        <a:t>)</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全侵入闭环</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dirty="0">
                          <a:effectLst/>
                        </a:rPr>
                        <a:t>FDA</a:t>
                      </a:r>
                      <a:r>
                        <a:rPr lang="zh-CN" sz="1200" dirty="0">
                          <a:effectLst/>
                        </a:rPr>
                        <a:t>已上市，癫痫产品成熟商业化</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纳斯达克上市</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美国海量临床</a:t>
                      </a:r>
                      <a:endParaRPr lang="zh-CN" sz="1200">
                        <a:effectLst/>
                        <a:latin typeface="Arial" panose="020B0604020202090204" pitchFamily="34" charset="0"/>
                        <a:ea typeface="等线" panose="02010600030101010101" pitchFamily="2" charset="-122"/>
                      </a:endParaRPr>
                    </a:p>
                  </a:txBody>
                  <a:tcPr marL="28326" marR="28326" marT="14163" marB="7082"/>
                </a:tc>
              </a:tr>
              <a:tr h="462733">
                <a:tc>
                  <a:txBody>
                    <a:bodyPr/>
                    <a:lstStyle/>
                    <a:p>
                      <a:pPr algn="l">
                        <a:lnSpc>
                          <a:spcPct val="120000"/>
                        </a:lnSpc>
                        <a:spcBef>
                          <a:spcPts val="600"/>
                        </a:spcBef>
                        <a:spcAft>
                          <a:spcPts val="600"/>
                        </a:spcAft>
                        <a:buNone/>
                      </a:pPr>
                      <a:r>
                        <a:rPr lang="zh-CN" altLang="en-US" sz="1200" dirty="0">
                          <a:effectLst/>
                        </a:rPr>
                        <a:t>佳量脑科学</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侵入式闭环脑机</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dirty="0">
                          <a:effectLst/>
                        </a:rPr>
                        <a:t>APQ</a:t>
                      </a:r>
                      <a:r>
                        <a:rPr lang="zh-CN" sz="1200" dirty="0">
                          <a:effectLst/>
                        </a:rPr>
                        <a:t>癫痫刺激器</a:t>
                      </a:r>
                      <a:r>
                        <a:rPr lang="en-US" sz="1200" dirty="0">
                          <a:effectLst/>
                        </a:rPr>
                        <a:t>2026</a:t>
                      </a:r>
                      <a:r>
                        <a:rPr lang="zh-CN" sz="1200" dirty="0">
                          <a:effectLst/>
                        </a:rPr>
                        <a:t>有望国内首证、创新通道；帕金森</a:t>
                      </a:r>
                      <a:r>
                        <a:rPr lang="en-US" sz="1200" dirty="0">
                          <a:effectLst/>
                        </a:rPr>
                        <a:t>/</a:t>
                      </a:r>
                      <a:r>
                        <a:rPr lang="zh-CN" sz="1200" dirty="0">
                          <a:effectLst/>
                        </a:rPr>
                        <a:t>截瘫临床中，暂未拿证</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港股</a:t>
                      </a:r>
                      <a:r>
                        <a:rPr lang="en-US" sz="1200">
                          <a:effectLst/>
                        </a:rPr>
                        <a:t>18APre-IPO(2027-2028</a:t>
                      </a:r>
                      <a:r>
                        <a:rPr lang="zh-CN" sz="1200">
                          <a:effectLst/>
                        </a:rPr>
                        <a:t>申报</a:t>
                      </a:r>
                      <a:r>
                        <a:rPr lang="en-US" sz="1200">
                          <a:effectLst/>
                        </a:rPr>
                        <a:t>)</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a:effectLst/>
                        </a:rPr>
                        <a:t>130</a:t>
                      </a:r>
                      <a:r>
                        <a:rPr lang="zh-CN" sz="1200">
                          <a:effectLst/>
                        </a:rPr>
                        <a:t>例颅内植入，国内侵入式数据最大</a:t>
                      </a:r>
                      <a:endParaRPr lang="zh-CN" sz="1200">
                        <a:effectLst/>
                        <a:latin typeface="Arial" panose="020B0604020202090204" pitchFamily="34" charset="0"/>
                        <a:ea typeface="等线" panose="02010600030101010101" pitchFamily="2" charset="-122"/>
                      </a:endParaRPr>
                    </a:p>
                  </a:txBody>
                  <a:tcPr marL="28326" marR="28326" marT="14163" marB="7082"/>
                </a:tc>
              </a:tr>
              <a:tr h="462733">
                <a:tc>
                  <a:txBody>
                    <a:bodyPr/>
                    <a:lstStyle/>
                    <a:p>
                      <a:pPr algn="l">
                        <a:lnSpc>
                          <a:spcPct val="120000"/>
                        </a:lnSpc>
                        <a:spcBef>
                          <a:spcPts val="600"/>
                        </a:spcBef>
                        <a:spcAft>
                          <a:spcPts val="600"/>
                        </a:spcAft>
                        <a:buNone/>
                      </a:pPr>
                      <a:r>
                        <a:rPr lang="zh-CN" sz="1200" dirty="0">
                          <a:effectLst/>
                        </a:rPr>
                        <a:t>暖芯迦</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视觉脑机</a:t>
                      </a:r>
                      <a:r>
                        <a:rPr lang="en-US" sz="1200">
                          <a:effectLst/>
                        </a:rPr>
                        <a:t>+</a:t>
                      </a:r>
                      <a:r>
                        <a:rPr lang="zh-CN" sz="1200">
                          <a:effectLst/>
                        </a:rPr>
                        <a:t>神经芯片</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人工视网膜</a:t>
                      </a:r>
                      <a:r>
                        <a:rPr lang="en-US" sz="1200" dirty="0">
                          <a:effectLst/>
                        </a:rPr>
                        <a:t>2026</a:t>
                      </a:r>
                      <a:r>
                        <a:rPr lang="zh-CN" sz="1200" dirty="0">
                          <a:effectLst/>
                        </a:rPr>
                        <a:t>启动人体临床；自研</a:t>
                      </a:r>
                      <a:r>
                        <a:rPr lang="en-US" sz="1200" dirty="0">
                          <a:effectLst/>
                        </a:rPr>
                        <a:t>320</a:t>
                      </a:r>
                      <a:r>
                        <a:rPr lang="zh-CN" sz="1200" dirty="0">
                          <a:effectLst/>
                        </a:rPr>
                        <a:t>通道神经刺激芯片</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大额融资，无明确</a:t>
                      </a:r>
                      <a:r>
                        <a:rPr lang="en-US" sz="1200">
                          <a:effectLst/>
                        </a:rPr>
                        <a:t>IPO</a:t>
                      </a:r>
                      <a:r>
                        <a:rPr lang="zh-CN" sz="1200">
                          <a:effectLst/>
                        </a:rPr>
                        <a:t>时间表</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灵长类完成，刚进人体临床</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阶梯医疗</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侵入式高通量</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创新通道，多中心注册临床中，</a:t>
                      </a:r>
                      <a:r>
                        <a:rPr lang="en-US" sz="1200">
                          <a:effectLst/>
                        </a:rPr>
                        <a:t>2026</a:t>
                      </a:r>
                      <a:r>
                        <a:rPr lang="zh-CN" sz="1200">
                          <a:effectLst/>
                        </a:rPr>
                        <a:t>加速入组</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筹备科创板</a:t>
                      </a:r>
                      <a:r>
                        <a:rPr lang="en-US" sz="1200">
                          <a:effectLst/>
                        </a:rPr>
                        <a:t>IPO</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少量植入，冲刺</a:t>
                      </a:r>
                      <a:r>
                        <a:rPr lang="en-US" sz="1200">
                          <a:effectLst/>
                        </a:rPr>
                        <a:t>40</a:t>
                      </a:r>
                      <a:r>
                        <a:rPr lang="zh-CN" sz="1200">
                          <a:effectLst/>
                        </a:rPr>
                        <a:t>例</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脑虎科技</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柔性侵入式</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柔性电极系统临床推进，技术原型成熟</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大额融资，</a:t>
                      </a:r>
                      <a:r>
                        <a:rPr lang="en-US" sz="1200">
                          <a:effectLst/>
                        </a:rPr>
                        <a:t>IPO</a:t>
                      </a:r>
                      <a:r>
                        <a:rPr lang="zh-CN" sz="1200">
                          <a:effectLst/>
                        </a:rPr>
                        <a:t>路径未明</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小样本临床植入</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强脑科技</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非侵入</a:t>
                      </a:r>
                      <a:r>
                        <a:rPr lang="en-US" sz="1200">
                          <a:effectLst/>
                        </a:rPr>
                        <a:t>+</a:t>
                      </a:r>
                      <a:r>
                        <a:rPr lang="zh-CN" sz="1200">
                          <a:effectLst/>
                        </a:rPr>
                        <a:t>消费级</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消费级量产，医疗级管线研发</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已递表港交所</a:t>
                      </a:r>
                      <a:r>
                        <a:rPr lang="en-US" sz="1200">
                          <a:effectLst/>
                        </a:rPr>
                        <a:t>IPO</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无侵入式植入</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创新医疗</a:t>
                      </a:r>
                      <a:r>
                        <a:rPr lang="en-US" sz="1200" dirty="0">
                          <a:effectLst/>
                        </a:rPr>
                        <a:t>(</a:t>
                      </a:r>
                      <a:r>
                        <a:rPr lang="zh-CN" sz="1200" dirty="0">
                          <a:effectLst/>
                        </a:rPr>
                        <a:t>博灵</a:t>
                      </a:r>
                      <a:r>
                        <a:rPr lang="en-US" sz="1200" dirty="0">
                          <a:effectLst/>
                        </a:rPr>
                        <a:t>)</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侵入</a:t>
                      </a:r>
                      <a:r>
                        <a:rPr lang="en-US" sz="1200">
                          <a:effectLst/>
                        </a:rPr>
                        <a:t>+</a:t>
                      </a:r>
                      <a:r>
                        <a:rPr lang="zh-CN" sz="1200">
                          <a:effectLst/>
                        </a:rPr>
                        <a:t>非侵入</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侵入式完成多中心临床，</a:t>
                      </a:r>
                      <a:r>
                        <a:rPr lang="en-US" sz="1200">
                          <a:effectLst/>
                        </a:rPr>
                        <a:t>2026</a:t>
                      </a:r>
                      <a:r>
                        <a:rPr lang="zh-CN" sz="1200">
                          <a:effectLst/>
                        </a:rPr>
                        <a:t>冲刺注册</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a:effectLst/>
                        </a:rPr>
                        <a:t>A</a:t>
                      </a:r>
                      <a:r>
                        <a:rPr lang="zh-CN" sz="1200">
                          <a:effectLst/>
                        </a:rPr>
                        <a:t>股已上市</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小样本临床</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翔宇医疗</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非侵入</a:t>
                      </a:r>
                      <a:r>
                        <a:rPr lang="en-US" sz="1200">
                          <a:effectLst/>
                        </a:rPr>
                        <a:t>+</a:t>
                      </a:r>
                      <a:r>
                        <a:rPr lang="zh-CN" sz="1200">
                          <a:effectLst/>
                        </a:rPr>
                        <a:t>康复</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脑控康复设备上市，医疗级</a:t>
                      </a:r>
                      <a:r>
                        <a:rPr lang="en-US" sz="1200" dirty="0">
                          <a:effectLst/>
                        </a:rPr>
                        <a:t>BCI</a:t>
                      </a:r>
                      <a:r>
                        <a:rPr lang="zh-CN" sz="1200" dirty="0">
                          <a:effectLst/>
                        </a:rPr>
                        <a:t>研发</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科创板已上市</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无侵入植入</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乐普医疗</a:t>
                      </a:r>
                      <a:r>
                        <a:rPr lang="en-US" sz="1200" dirty="0">
                          <a:effectLst/>
                        </a:rPr>
                        <a:t>(</a:t>
                      </a:r>
                      <a:r>
                        <a:rPr lang="zh-CN" sz="1200" dirty="0">
                          <a:effectLst/>
                        </a:rPr>
                        <a:t>睿瀚</a:t>
                      </a:r>
                      <a:r>
                        <a:rPr lang="en-US" sz="1200" dirty="0">
                          <a:effectLst/>
                        </a:rPr>
                        <a:t>)</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非侵入式</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康复外骨骼落地，侵入式早期研发</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a:effectLst/>
                        </a:rPr>
                        <a:t>A</a:t>
                      </a:r>
                      <a:r>
                        <a:rPr lang="zh-CN" sz="1200">
                          <a:effectLst/>
                        </a:rPr>
                        <a:t>股已上市</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无侵入植入</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伟思医疗</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非侵入式</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脑电反馈仪成熟，</a:t>
                      </a:r>
                      <a:r>
                        <a:rPr lang="en-US" sz="1200" dirty="0">
                          <a:effectLst/>
                        </a:rPr>
                        <a:t>BCI</a:t>
                      </a:r>
                      <a:r>
                        <a:rPr lang="zh-CN" sz="1200" dirty="0">
                          <a:effectLst/>
                        </a:rPr>
                        <a:t>仅科研布局</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科创板已上市</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无医疗临床植入</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诚益通</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非侵入</a:t>
                      </a:r>
                      <a:r>
                        <a:rPr lang="en-US" sz="1200">
                          <a:effectLst/>
                        </a:rPr>
                        <a:t>+</a:t>
                      </a:r>
                      <a:r>
                        <a:rPr lang="zh-CN" sz="1200">
                          <a:effectLst/>
                        </a:rPr>
                        <a:t>康复</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dirty="0">
                          <a:effectLst/>
                        </a:rPr>
                        <a:t>BCI</a:t>
                      </a:r>
                      <a:r>
                        <a:rPr lang="zh-CN" sz="1200" dirty="0">
                          <a:effectLst/>
                        </a:rPr>
                        <a:t>适配康复设备，无侵入管线</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a:effectLst/>
                        </a:rPr>
                        <a:t>A</a:t>
                      </a:r>
                      <a:r>
                        <a:rPr lang="zh-CN" sz="1200">
                          <a:effectLst/>
                        </a:rPr>
                        <a:t>股已上市</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无临床植入</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熵基科技</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非侵入消费级</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a:effectLst/>
                        </a:rPr>
                        <a:t>2026</a:t>
                      </a:r>
                      <a:r>
                        <a:rPr lang="zh-CN" sz="1200">
                          <a:effectLst/>
                        </a:rPr>
                        <a:t>推出</a:t>
                      </a:r>
                      <a:r>
                        <a:rPr lang="en-US" sz="1200">
                          <a:effectLst/>
                        </a:rPr>
                        <a:t>BCI</a:t>
                      </a:r>
                      <a:r>
                        <a:rPr lang="zh-CN" sz="1200">
                          <a:effectLst/>
                        </a:rPr>
                        <a:t>原型机，偏民用</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dirty="0">
                          <a:effectLst/>
                        </a:rPr>
                        <a:t>A</a:t>
                      </a:r>
                      <a:r>
                        <a:rPr lang="zh-CN" sz="1200" dirty="0">
                          <a:effectLst/>
                        </a:rPr>
                        <a:t>股已上市</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无医疗临床布局</a:t>
                      </a:r>
                      <a:endParaRPr lang="zh-CN" sz="120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a:lnSpc>
                          <a:spcPct val="120000"/>
                        </a:lnSpc>
                        <a:spcBef>
                          <a:spcPts val="600"/>
                        </a:spcBef>
                        <a:spcAft>
                          <a:spcPts val="600"/>
                        </a:spcAft>
                        <a:buNone/>
                      </a:pPr>
                      <a:r>
                        <a:rPr lang="zh-CN" sz="1200" dirty="0">
                          <a:effectLst/>
                        </a:rPr>
                        <a:t>岩山科技</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非侵入类脑</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a:effectLst/>
                        </a:rPr>
                        <a:t>癫痫二类证，侵入式仅研发规划</a:t>
                      </a:r>
                      <a:endParaRPr lang="zh-CN" sz="120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en-US" sz="1200" dirty="0">
                          <a:effectLst/>
                        </a:rPr>
                        <a:t>A</a:t>
                      </a:r>
                      <a:r>
                        <a:rPr lang="zh-CN" sz="1200" dirty="0">
                          <a:effectLst/>
                        </a:rPr>
                        <a:t>股已上市</a:t>
                      </a:r>
                      <a:endParaRPr lang="zh-CN" sz="1200" dirty="0">
                        <a:effectLst/>
                        <a:latin typeface="Arial" panose="020B0604020202090204" pitchFamily="34" charset="0"/>
                        <a:ea typeface="等线" panose="02010600030101010101" pitchFamily="2" charset="-122"/>
                      </a:endParaRPr>
                    </a:p>
                  </a:txBody>
                  <a:tcPr marL="28326" marR="28326" marT="14163" marB="7082"/>
                </a:tc>
                <a:tc>
                  <a:txBody>
                    <a:bodyPr/>
                    <a:lstStyle/>
                    <a:p>
                      <a:pPr algn="l">
                        <a:lnSpc>
                          <a:spcPct val="120000"/>
                        </a:lnSpc>
                        <a:spcBef>
                          <a:spcPts val="600"/>
                        </a:spcBef>
                        <a:spcAft>
                          <a:spcPts val="600"/>
                        </a:spcAft>
                        <a:buNone/>
                      </a:pPr>
                      <a:r>
                        <a:rPr lang="zh-CN" sz="1200" dirty="0">
                          <a:effectLst/>
                        </a:rPr>
                        <a:t>无侵入人体植入</a:t>
                      </a:r>
                      <a:endParaRPr lang="zh-CN" sz="1200" dirty="0">
                        <a:effectLst/>
                        <a:latin typeface="Arial" panose="020B0604020202090204" pitchFamily="34" charset="0"/>
                        <a:ea typeface="等线" panose="02010600030101010101" pitchFamily="2" charset="-122"/>
                      </a:endParaRPr>
                    </a:p>
                  </a:txBody>
                  <a:tcPr marL="28326" marR="28326" marT="14163" marB="7082"/>
                </a:tc>
              </a:tr>
            </a:tbl>
          </a:graphicData>
        </a:graphic>
      </p:graphicFrame>
      <p:sp>
        <p:nvSpPr>
          <p:cNvPr id="24" name="文本框 23"/>
          <p:cNvSpPr txBox="1"/>
          <p:nvPr/>
        </p:nvSpPr>
        <p:spPr>
          <a:xfrm>
            <a:off x="130628" y="644212"/>
            <a:ext cx="11930744" cy="583565"/>
          </a:xfrm>
          <a:prstGeom prst="rect">
            <a:avLst/>
          </a:prstGeom>
          <a:noFill/>
        </p:spPr>
        <p:txBody>
          <a:bodyPr wrap="square" rtlCol="0">
            <a:spAutoFit/>
          </a:bodyPr>
          <a:lstStyle/>
          <a:p>
            <a:r>
              <a:rPr lang="zh-CN" altLang="en-US" sz="1600" dirty="0"/>
              <a:t>全部为已拿三类证 </a:t>
            </a:r>
            <a:r>
              <a:rPr lang="en-US" altLang="zh-CN" sz="1600" dirty="0"/>
              <a:t>+ </a:t>
            </a:r>
            <a:r>
              <a:rPr lang="zh-CN" altLang="en-US" sz="1600" dirty="0"/>
              <a:t>商业化的成熟公司，</a:t>
            </a:r>
            <a:r>
              <a:rPr lang="zh-CN" altLang="zh-CN" sz="1600" dirty="0"/>
              <a:t>佳量脑科学</a:t>
            </a:r>
            <a:r>
              <a:rPr lang="zh-CN" altLang="en-US" sz="1600" dirty="0"/>
              <a:t>是重点</a:t>
            </a:r>
            <a:r>
              <a:rPr lang="zh-CN" altLang="zh-CN" sz="1600" dirty="0"/>
              <a:t>标的</a:t>
            </a:r>
            <a:r>
              <a:rPr lang="zh-CN" altLang="en-US" sz="1600" dirty="0"/>
              <a:t>，只差产品拿证和商业化落地；</a:t>
            </a:r>
            <a:endParaRPr lang="en-US" altLang="zh-CN" sz="1600" dirty="0"/>
          </a:p>
          <a:p>
            <a:r>
              <a:rPr lang="zh-CN" altLang="zh-CN" sz="1600" dirty="0"/>
              <a:t>相较于梯队内其他企业，其临床植入规模、管线完整度、</a:t>
            </a:r>
            <a:r>
              <a:rPr lang="en-US" altLang="zh-CN" sz="1600" dirty="0"/>
              <a:t>IPO</a:t>
            </a:r>
            <a:r>
              <a:rPr lang="zh-CN" altLang="zh-CN" sz="1600" dirty="0"/>
              <a:t>进度、技术成熟度均有较大优势</a:t>
            </a:r>
            <a:r>
              <a:rPr lang="zh-CN" altLang="en-US" sz="1600" dirty="0"/>
              <a:t>。</a:t>
            </a:r>
            <a:endParaRPr lang="zh-CN" altLang="zh-CN"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latin typeface="微软雅黑" panose="020B0503020204020204" charset="-122"/>
                <a:ea typeface="微软雅黑" panose="020B0503020204020204" charset="-122"/>
              </a:rPr>
              <a:t>竞争格局</a:t>
            </a:r>
            <a:endParaRPr lang="zh-CN" altLang="en-US" sz="1600" b="1" dirty="0">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496060" y="0"/>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sym typeface="+mn-ea"/>
              </a:rPr>
              <a:t>癫痫治疗脑机接口竞争格局</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21" name="表格 20"/>
          <p:cNvGraphicFramePr>
            <a:graphicFrameLocks noGrp="1"/>
          </p:cNvGraphicFramePr>
          <p:nvPr/>
        </p:nvGraphicFramePr>
        <p:xfrm>
          <a:off x="166914" y="1762256"/>
          <a:ext cx="11945258" cy="5077637"/>
        </p:xfrm>
        <a:graphic>
          <a:graphicData uri="http://schemas.openxmlformats.org/drawingml/2006/table">
            <a:tbl>
              <a:tblPr firstRow="1" firstCol="1" bandRow="1">
                <a:tableStyleId>{5C22544A-7EE6-4342-B048-85BDC9FD1C3A}</a:tableStyleId>
              </a:tblPr>
              <a:tblGrid>
                <a:gridCol w="1333765"/>
                <a:gridCol w="3202305"/>
                <a:gridCol w="2601773"/>
                <a:gridCol w="1817438"/>
                <a:gridCol w="2183857"/>
                <a:gridCol w="806120"/>
              </a:tblGrid>
              <a:tr h="267612">
                <a:tc>
                  <a:txBody>
                    <a:bodyPr/>
                    <a:lstStyle/>
                    <a:p>
                      <a:pPr algn="ctr">
                        <a:lnSpc>
                          <a:spcPct val="120000"/>
                        </a:lnSpc>
                        <a:spcBef>
                          <a:spcPts val="600"/>
                        </a:spcBef>
                        <a:spcAft>
                          <a:spcPts val="600"/>
                        </a:spcAft>
                        <a:buNone/>
                      </a:pPr>
                      <a:r>
                        <a:rPr lang="zh-CN" sz="1400" dirty="0">
                          <a:effectLst/>
                        </a:rPr>
                        <a:t>公司名称</a:t>
                      </a:r>
                      <a:endParaRPr lang="zh-CN" sz="1400" dirty="0">
                        <a:effectLst/>
                        <a:latin typeface="Arial" panose="020B0604020202090204" pitchFamily="34" charset="0"/>
                        <a:ea typeface="等线" panose="02010600030101010101" pitchFamily="2" charset="-122"/>
                      </a:endParaRPr>
                    </a:p>
                  </a:txBody>
                  <a:tcPr marL="28326" marR="28326" marT="14163" marB="7082"/>
                </a:tc>
                <a:tc>
                  <a:txBody>
                    <a:bodyPr/>
                    <a:lstStyle/>
                    <a:p>
                      <a:pPr algn="ctr">
                        <a:lnSpc>
                          <a:spcPct val="120000"/>
                        </a:lnSpc>
                        <a:spcBef>
                          <a:spcPts val="600"/>
                        </a:spcBef>
                        <a:spcAft>
                          <a:spcPts val="600"/>
                        </a:spcAft>
                        <a:buNone/>
                      </a:pPr>
                      <a:r>
                        <a:rPr lang="zh-CN" sz="1400" dirty="0">
                          <a:effectLst/>
                        </a:rPr>
                        <a:t>核心技术路线</a:t>
                      </a:r>
                      <a:endParaRPr lang="zh-CN" sz="1400" dirty="0">
                        <a:effectLst/>
                        <a:latin typeface="Arial" panose="020B0604020202090204" pitchFamily="34" charset="0"/>
                        <a:ea typeface="等线" panose="02010600030101010101" pitchFamily="2" charset="-122"/>
                      </a:endParaRPr>
                    </a:p>
                  </a:txBody>
                  <a:tcPr marL="28326" marR="28326" marT="14163" marB="7082"/>
                </a:tc>
                <a:tc>
                  <a:txBody>
                    <a:bodyPr/>
                    <a:lstStyle/>
                    <a:p>
                      <a:pPr algn="ctr">
                        <a:lnSpc>
                          <a:spcPct val="120000"/>
                        </a:lnSpc>
                        <a:spcBef>
                          <a:spcPts val="600"/>
                        </a:spcBef>
                        <a:spcAft>
                          <a:spcPts val="600"/>
                        </a:spcAft>
                        <a:buNone/>
                      </a:pPr>
                      <a:r>
                        <a:rPr lang="zh-CN" sz="1400" dirty="0">
                          <a:effectLst/>
                        </a:rPr>
                        <a:t>产品研发进度</a:t>
                      </a:r>
                      <a:endParaRPr lang="zh-CN" sz="1400" dirty="0">
                        <a:effectLst/>
                        <a:latin typeface="Arial" panose="020B0604020202090204" pitchFamily="34" charset="0"/>
                        <a:ea typeface="等线" panose="02010600030101010101" pitchFamily="2" charset="-122"/>
                      </a:endParaRPr>
                    </a:p>
                  </a:txBody>
                  <a:tcPr marL="28326" marR="28326" marT="14163" marB="7082"/>
                </a:tc>
                <a:tc>
                  <a:txBody>
                    <a:bodyPr/>
                    <a:lstStyle/>
                    <a:p>
                      <a:pPr algn="ctr">
                        <a:lnSpc>
                          <a:spcPct val="120000"/>
                        </a:lnSpc>
                        <a:spcBef>
                          <a:spcPts val="600"/>
                        </a:spcBef>
                        <a:spcAft>
                          <a:spcPts val="600"/>
                        </a:spcAft>
                        <a:buNone/>
                      </a:pPr>
                      <a:r>
                        <a:rPr lang="zh-CN" sz="1400">
                          <a:effectLst/>
                        </a:rPr>
                        <a:t>上市进度</a:t>
                      </a:r>
                      <a:endParaRPr lang="zh-CN" sz="1400">
                        <a:effectLst/>
                        <a:latin typeface="Arial" panose="020B0604020202090204" pitchFamily="34" charset="0"/>
                        <a:ea typeface="等线" panose="02010600030101010101" pitchFamily="2" charset="-122"/>
                      </a:endParaRPr>
                    </a:p>
                  </a:txBody>
                  <a:tcPr marL="28326" marR="28326" marT="14163" marB="7082"/>
                </a:tc>
                <a:tc>
                  <a:txBody>
                    <a:bodyPr/>
                    <a:lstStyle/>
                    <a:p>
                      <a:pPr algn="ctr">
                        <a:lnSpc>
                          <a:spcPct val="120000"/>
                        </a:lnSpc>
                        <a:spcBef>
                          <a:spcPts val="600"/>
                        </a:spcBef>
                        <a:spcAft>
                          <a:spcPts val="600"/>
                        </a:spcAft>
                        <a:buNone/>
                      </a:pPr>
                      <a:r>
                        <a:rPr lang="zh-CN" sz="1400" dirty="0">
                          <a:effectLst/>
                        </a:rPr>
                        <a:t>临床植入规模</a:t>
                      </a:r>
                      <a:endParaRPr lang="zh-CN" sz="1400" dirty="0">
                        <a:effectLst/>
                        <a:latin typeface="Arial" panose="020B0604020202090204" pitchFamily="34" charset="0"/>
                        <a:ea typeface="等线" panose="02010600030101010101" pitchFamily="2" charset="-122"/>
                      </a:endParaRPr>
                    </a:p>
                  </a:txBody>
                  <a:tcPr marL="28326" marR="28326" marT="14163" marB="7082"/>
                </a:tc>
                <a:tc>
                  <a:txBody>
                    <a:bodyPr/>
                    <a:lstStyle/>
                    <a:p>
                      <a:pPr algn="ctr">
                        <a:lnSpc>
                          <a:spcPct val="120000"/>
                        </a:lnSpc>
                        <a:spcBef>
                          <a:spcPts val="600"/>
                        </a:spcBef>
                        <a:spcAft>
                          <a:spcPts val="600"/>
                        </a:spcAft>
                        <a:buNone/>
                      </a:pPr>
                      <a:r>
                        <a:rPr lang="zh-CN" sz="1400" dirty="0">
                          <a:effectLst/>
                        </a:rPr>
                        <a:t>梯队归属</a:t>
                      </a:r>
                      <a:endParaRPr lang="zh-CN" sz="1400" dirty="0">
                        <a:effectLst/>
                        <a:latin typeface="Arial" panose="020B0604020202090204" pitchFamily="34" charset="0"/>
                        <a:ea typeface="等线" panose="02010600030101010101" pitchFamily="2" charset="-122"/>
                      </a:endParaRPr>
                    </a:p>
                  </a:txBody>
                  <a:tcPr marL="28326" marR="28326" marT="14163" marB="7082"/>
                </a:tc>
              </a:tr>
              <a:tr h="289296">
                <a:tc>
                  <a:txBody>
                    <a:bodyPr/>
                    <a:lstStyle/>
                    <a:p>
                      <a:pPr algn="l" fontAlgn="ctr"/>
                      <a:r>
                        <a:rPr lang="en-US" altLang="zh-CN" sz="1100" b="0" i="0">
                          <a:solidFill>
                            <a:schemeClr val="bg1"/>
                          </a:solidFill>
                          <a:latin typeface="微软雅黑" panose="020B0503020204020204" charset="-122"/>
                          <a:ea typeface="微软雅黑" panose="020B0503020204020204" charset="-122"/>
                          <a:cs typeface="微软雅黑" panose="020B0503020204020204" charset="-122"/>
                        </a:rPr>
                        <a:t>NeuroPace</a:t>
                      </a:r>
                      <a:r>
                        <a:rPr lang="zh-CN" altLang="en-US" sz="1100" b="0" i="0">
                          <a:solidFill>
                            <a:schemeClr val="bg1"/>
                          </a:solidFill>
                          <a:latin typeface="微软雅黑" panose="020B0503020204020204" charset="-122"/>
                          <a:ea typeface="微软雅黑" panose="020B0503020204020204" charset="-122"/>
                          <a:cs typeface="微软雅黑" panose="020B0503020204020204" charset="-122"/>
                        </a:rPr>
                        <a:t>（美股 </a:t>
                      </a:r>
                      <a:r>
                        <a:rPr lang="en-US" altLang="zh-CN" sz="1100" b="0" i="0">
                          <a:solidFill>
                            <a:schemeClr val="bg1"/>
                          </a:solidFill>
                          <a:latin typeface="微软雅黑" panose="020B0503020204020204" charset="-122"/>
                          <a:ea typeface="微软雅黑" panose="020B0503020204020204" charset="-122"/>
                          <a:cs typeface="微软雅黑" panose="020B0503020204020204" charset="-122"/>
                        </a:rPr>
                        <a:t>NPCE</a:t>
                      </a:r>
                      <a:r>
                        <a:rPr lang="zh-CN" altLang="en-US" sz="1100" b="0" i="0">
                          <a:solidFill>
                            <a:schemeClr val="bg1"/>
                          </a:solidFill>
                          <a:latin typeface="微软雅黑" panose="020B0503020204020204" charset="-122"/>
                          <a:ea typeface="微软雅黑" panose="020B0503020204020204" charset="-122"/>
                          <a:cs typeface="微软雅黑" panose="020B0503020204020204" charset="-122"/>
                        </a:rPr>
                        <a:t>）</a:t>
                      </a:r>
                      <a:endParaRPr lang="zh-CN" altLang="en-US" sz="1100" b="0" i="0">
                        <a:solidFill>
                          <a:schemeClr val="bg1"/>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RNS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颅内闭环神经刺激（癫痫专用）</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技术成熟，迭代优化中</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美国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FDA 2013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年获批，国内未上市</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全球累计植入超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10000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例，全球金标准</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rowSpan="4">
                  <a:txBody>
                    <a:bodyPr/>
                    <a:lstStyle/>
                    <a:p>
                      <a:pPr algn="ctr">
                        <a:lnSpc>
                          <a:spcPct val="120000"/>
                        </a:lnSpc>
                        <a:spcBef>
                          <a:spcPts val="600"/>
                        </a:spcBef>
                        <a:spcAft>
                          <a:spcPts val="600"/>
                        </a:spcAft>
                        <a:buNone/>
                      </a:pPr>
                      <a:r>
                        <a:rPr lang="zh-CN" sz="1200" dirty="0">
                          <a:effectLst/>
                        </a:rPr>
                        <a:t>第一梯队（</a:t>
                      </a:r>
                      <a:r>
                        <a:rPr lang="en-US" altLang="zh-CN" sz="1200" dirty="0">
                          <a:effectLst/>
                        </a:rPr>
                        <a:t>RNS</a:t>
                      </a:r>
                      <a:r>
                        <a:rPr lang="zh-CN" altLang="en-US" sz="1200" dirty="0">
                          <a:effectLst/>
                        </a:rPr>
                        <a:t>）</a:t>
                      </a:r>
                      <a:endParaRPr lang="zh-CN" altLang="en-US" sz="1200" dirty="0">
                        <a:effectLst/>
                        <a:latin typeface="Arial" panose="020B0604020202090204" pitchFamily="34" charset="0"/>
                        <a:ea typeface="等线" panose="02010600030101010101" pitchFamily="2" charset="-122"/>
                      </a:endParaRPr>
                    </a:p>
                  </a:txBody>
                  <a:tcPr marL="28326" marR="28326" marT="14163" marB="7082" anchor="ct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cs typeface="微软雅黑" panose="020B0503020204020204" charset="-122"/>
                        </a:rPr>
                        <a:t>佳量脑科学（</a:t>
                      </a:r>
                      <a:r>
                        <a:rPr lang="en-US" altLang="zh-CN" sz="1100" b="0" i="0">
                          <a:solidFill>
                            <a:schemeClr val="bg1"/>
                          </a:solidFill>
                          <a:latin typeface="微软雅黑" panose="020B0503020204020204" charset="-122"/>
                          <a:ea typeface="微软雅黑" panose="020B0503020204020204" charset="-122"/>
                          <a:cs typeface="微软雅黑" panose="020B0503020204020204" charset="-122"/>
                        </a:rPr>
                        <a:t>Genlight</a:t>
                      </a:r>
                      <a:r>
                        <a:rPr lang="zh-CN" altLang="en-US" sz="1100" b="0" i="0">
                          <a:solidFill>
                            <a:schemeClr val="bg1"/>
                          </a:solidFill>
                          <a:latin typeface="微软雅黑" panose="020B0503020204020204" charset="-122"/>
                          <a:ea typeface="微软雅黑" panose="020B0503020204020204" charset="-122"/>
                          <a:cs typeface="微软雅黑" panose="020B0503020204020204" charset="-122"/>
                        </a:rPr>
                        <a:t>）</a:t>
                      </a:r>
                      <a:endParaRPr lang="zh-CN" altLang="en-US" sz="1100" b="0" i="0">
                        <a:solidFill>
                          <a:schemeClr val="bg1"/>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Epilcure™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颅内闭环神经刺激（癫痫专用，颅骨硬膜外主机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刚性深部电极）</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已完成确证性临床试验</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冲刺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NMPA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审批，国内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RNS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进度第一</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确证性试验完成超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100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例植入</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vMerge="1">
                  <a:tcP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rPr>
                        <a:t>常州瑞神安（爱朋医疗参股）</a:t>
                      </a:r>
                      <a:endParaRPr lang="zh-CN" altLang="en-US" sz="1100" b="0" i="0">
                        <a:solidFill>
                          <a:schemeClr val="bg1"/>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CNS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闭环刺激系统（胸腔主机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颈部长导线颅内电极）</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临床试验已完成</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审批中，预计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2026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年底获批</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临床阶段已完成多例植入，渠道成熟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vMerge="1">
                  <a:tcP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rPr>
                        <a:t>博睿康（清华洪波团队）</a:t>
                      </a:r>
                      <a:endParaRPr lang="zh-CN" altLang="en-US" sz="1100" b="0" i="0">
                        <a:solidFill>
                          <a:schemeClr val="bg1"/>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ANS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闭环系统（纯硬膜外、无线无电池、柔性电极，不穿透脑组织）</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II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期临床刚启动</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预计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2028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年后获批</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早期临床阶段，样本量有限</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vMerge="1">
                  <a:tcPr/>
                </a:tc>
              </a:tr>
              <a:tr h="462733">
                <a:tc>
                  <a:txBody>
                    <a:bodyPr/>
                    <a:lstStyle/>
                    <a:p>
                      <a:pPr algn="l" fontAlgn="ctr"/>
                      <a:r>
                        <a:rPr lang="en-US" altLang="zh-CN" sz="1100" b="0" i="0">
                          <a:solidFill>
                            <a:schemeClr val="bg1"/>
                          </a:solidFill>
                          <a:latin typeface="微软雅黑" panose="020B0503020204020204" charset="-122"/>
                          <a:ea typeface="微软雅黑" panose="020B0503020204020204" charset="-122"/>
                          <a:cs typeface="微软雅黑" panose="020B0503020204020204" charset="-122"/>
                        </a:rPr>
                        <a:t>LivaNova</a:t>
                      </a:r>
                      <a:r>
                        <a:rPr lang="zh-CN" altLang="en-US" sz="1100" b="0" i="0">
                          <a:solidFill>
                            <a:schemeClr val="bg1"/>
                          </a:solidFill>
                          <a:latin typeface="微软雅黑" panose="020B0503020204020204" charset="-122"/>
                          <a:ea typeface="微软雅黑" panose="020B0503020204020204" charset="-122"/>
                          <a:cs typeface="微软雅黑" panose="020B0503020204020204" charset="-122"/>
                        </a:rPr>
                        <a:t>（理诺珐）</a:t>
                      </a:r>
                      <a:endParaRPr lang="zh-CN" altLang="en-US" sz="1100" b="0" i="0">
                        <a:solidFill>
                          <a:schemeClr val="bg1"/>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VNS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迷走神经刺激（开环持续刺激）</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产品成熟，迭代产品持续推出</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癫痫全球及中国均已上市</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全球装机量超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10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万例，国内市占率第一</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rowSpan="5">
                  <a:txBody>
                    <a:bodyPr/>
                    <a:lstStyle/>
                    <a:p>
                      <a:pPr algn="ctr">
                        <a:lnSpc>
                          <a:spcPct val="120000"/>
                        </a:lnSpc>
                        <a:spcBef>
                          <a:spcPts val="600"/>
                        </a:spcBef>
                        <a:spcAft>
                          <a:spcPts val="600"/>
                        </a:spcAft>
                        <a:buNone/>
                      </a:pPr>
                      <a:r>
                        <a:rPr lang="zh-CN" sz="1200" dirty="0">
                          <a:effectLst/>
                        </a:rPr>
                        <a:t>第二梯队（</a:t>
                      </a:r>
                      <a:r>
                        <a:rPr lang="en-US" altLang="zh-CN" sz="1200" dirty="0">
                          <a:effectLst/>
                        </a:rPr>
                        <a:t>VNS</a:t>
                      </a:r>
                      <a:r>
                        <a:rPr lang="zh-CN" sz="1200" dirty="0">
                          <a:effectLst/>
                        </a:rPr>
                        <a:t>）</a:t>
                      </a:r>
                      <a:endParaRPr lang="zh-CN" sz="1200" dirty="0">
                        <a:effectLst/>
                      </a:endParaRPr>
                    </a:p>
                    <a:p>
                      <a:pPr algn="ctr">
                        <a:lnSpc>
                          <a:spcPct val="120000"/>
                        </a:lnSpc>
                        <a:spcBef>
                          <a:spcPts val="600"/>
                        </a:spcBef>
                        <a:spcAft>
                          <a:spcPts val="600"/>
                        </a:spcAft>
                        <a:buNone/>
                      </a:pPr>
                      <a:r>
                        <a:rPr lang="en-US" altLang="zh-CN" sz="1200" b="1" dirty="0">
                          <a:effectLst/>
                          <a:latin typeface="Arial" panose="020B0604020202090204" pitchFamily="34" charset="0"/>
                          <a:ea typeface="等线" panose="02010600030101010101" pitchFamily="2" charset="-122"/>
                        </a:rPr>
                        <a:t>2025</a:t>
                      </a:r>
                      <a:r>
                        <a:rPr lang="zh-CN" altLang="en-US" sz="1200" b="1" dirty="0">
                          <a:effectLst/>
                          <a:latin typeface="Arial" panose="020B0604020202090204" pitchFamily="34" charset="0"/>
                          <a:ea typeface="等线" panose="02010600030101010101" pitchFamily="2" charset="-122"/>
                        </a:rPr>
                        <a:t>年国内销售额</a:t>
                      </a:r>
                      <a:r>
                        <a:rPr lang="en-US" altLang="zh-CN" sz="1200" b="1" dirty="0">
                          <a:effectLst/>
                          <a:latin typeface="Arial" panose="020B0604020202090204" pitchFamily="34" charset="0"/>
                          <a:ea typeface="等线" panose="02010600030101010101" pitchFamily="2" charset="-122"/>
                        </a:rPr>
                        <a:t>6</a:t>
                      </a:r>
                      <a:r>
                        <a:rPr lang="zh-CN" altLang="en-US" sz="1200" b="1" dirty="0">
                          <a:effectLst/>
                          <a:latin typeface="Arial" panose="020B0604020202090204" pitchFamily="34" charset="0"/>
                          <a:ea typeface="等线" panose="02010600030101010101" pitchFamily="2" charset="-122"/>
                        </a:rPr>
                        <a:t>亿人民币，装机量</a:t>
                      </a:r>
                      <a:r>
                        <a:rPr lang="en-US" altLang="zh-CN" sz="1200" b="1" dirty="0">
                          <a:effectLst/>
                          <a:latin typeface="Arial" panose="020B0604020202090204" pitchFamily="34" charset="0"/>
                          <a:ea typeface="等线" panose="02010600030101010101" pitchFamily="2" charset="-122"/>
                        </a:rPr>
                        <a:t>3300</a:t>
                      </a:r>
                      <a:r>
                        <a:rPr lang="zh-CN" altLang="en-US" sz="1200" b="1" dirty="0">
                          <a:effectLst/>
                          <a:latin typeface="Arial" panose="020B0604020202090204" pitchFamily="34" charset="0"/>
                          <a:ea typeface="等线" panose="02010600030101010101" pitchFamily="2" charset="-122"/>
                        </a:rPr>
                        <a:t>台</a:t>
                      </a:r>
                      <a:endParaRPr lang="zh-CN" altLang="en-US" sz="1200" b="1" dirty="0">
                        <a:effectLst/>
                        <a:latin typeface="Arial" panose="020B0604020202090204" pitchFamily="34" charset="0"/>
                        <a:ea typeface="等线" panose="02010600030101010101" pitchFamily="2" charset="-122"/>
                      </a:endParaRPr>
                    </a:p>
                  </a:txBody>
                  <a:tcPr marL="28326" marR="28326" marT="14163" marB="7082" anchor="ctr"/>
                </a:tc>
              </a:tr>
              <a:tr h="462733">
                <a:tc>
                  <a:txBody>
                    <a:bodyPr/>
                    <a:lstStyle/>
                    <a:p>
                      <a:pPr algn="l" fontAlgn="ctr"/>
                      <a:r>
                        <a:rPr lang="zh-CN" altLang="en-US" sz="1100" b="0" i="0">
                          <a:solidFill>
                            <a:schemeClr val="bg1"/>
                          </a:solidFill>
                          <a:latin typeface="微软雅黑" panose="020B0503020204020204" charset="-122"/>
                          <a:ea typeface="微软雅黑" panose="020B0503020204020204" charset="-122"/>
                        </a:rPr>
                        <a:t>美敦力</a:t>
                      </a:r>
                      <a:endParaRPr lang="zh-CN" altLang="en-US" sz="1100" b="0" i="0">
                        <a:solidFill>
                          <a:schemeClr val="bg1"/>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VNS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迷走神经刺激</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癫痫中国已获批上市</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国内装机量处于第一梯队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vMerge="1">
                  <a:tcP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rPr>
                        <a:t>品驰医疗</a:t>
                      </a:r>
                      <a:endParaRPr lang="zh-CN" altLang="en-US" sz="1100" b="0" i="0">
                        <a:solidFill>
                          <a:schemeClr val="bg1"/>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VNS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迷走神经刺激（国内唯一可充电方案）</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产品成熟，闭环程控迭代中</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癫痫中国已上市，医保覆盖</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国内累计装机量最高，覆盖超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190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家医院</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vMerge="1">
                  <a:tcP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rPr>
                        <a:t>瑞神安医疗</a:t>
                      </a:r>
                      <a:endParaRPr lang="zh-CN" altLang="en-US" sz="1100" b="0" i="0">
                        <a:solidFill>
                          <a:schemeClr val="bg1"/>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VNS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迷走神经刺激</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癫痫中国已获批上市</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国产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VNS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装机量头部玩家之一</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vMerge="1">
                  <a:tcP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rPr>
                        <a:t>景昱医疗</a:t>
                      </a:r>
                      <a:endParaRPr lang="zh-CN" altLang="en-US" sz="1100" b="0" i="0">
                        <a:solidFill>
                          <a:schemeClr val="bg1"/>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VNS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迷走神经刺激</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癫痫中国已获批上市</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国内装机量稳步增长</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vMerge="1">
                  <a:tcP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cs typeface="微软雅黑" panose="020B0503020204020204" charset="-122"/>
                        </a:rPr>
                        <a:t>美敦力 </a:t>
                      </a:r>
                      <a:r>
                        <a:rPr lang="en-US" altLang="zh-CN" sz="1100" b="0" i="0">
                          <a:solidFill>
                            <a:schemeClr val="bg1"/>
                          </a:solidFill>
                          <a:latin typeface="微软雅黑" panose="020B0503020204020204" charset="-122"/>
                          <a:ea typeface="微软雅黑" panose="020B0503020204020204" charset="-122"/>
                          <a:cs typeface="微软雅黑" panose="020B0503020204020204" charset="-122"/>
                        </a:rPr>
                        <a:t>Percept</a:t>
                      </a:r>
                      <a:endParaRPr lang="en-US" altLang="zh-CN" sz="1100" b="0" i="0">
                        <a:solidFill>
                          <a:schemeClr val="bg1"/>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DBS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脑深部电刺激（单一频段闭环，癫痫适应症拓展）</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癫痫中国已获批上市</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国内癫痫拓展应用广泛</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rowSpan="5">
                  <a:txBody>
                    <a:bodyPr/>
                    <a:lstStyle/>
                    <a:p>
                      <a:pPr algn="ctr">
                        <a:lnSpc>
                          <a:spcPct val="120000"/>
                        </a:lnSpc>
                        <a:spcBef>
                          <a:spcPts val="600"/>
                        </a:spcBef>
                        <a:spcAft>
                          <a:spcPts val="600"/>
                        </a:spcAft>
                        <a:buNone/>
                      </a:pPr>
                      <a:r>
                        <a:rPr lang="zh-CN" altLang="zh-CN" sz="1200" dirty="0">
                          <a:effectLst/>
                        </a:rPr>
                        <a:t>第三梯队（</a:t>
                      </a:r>
                      <a:r>
                        <a:rPr lang="en-US" altLang="zh-CN" sz="1200" dirty="0">
                          <a:effectLst/>
                        </a:rPr>
                        <a:t>DBS</a:t>
                      </a:r>
                      <a:r>
                        <a:rPr lang="zh-CN" altLang="en-US" sz="1200" dirty="0">
                          <a:effectLst/>
                        </a:rPr>
                        <a:t>）</a:t>
                      </a:r>
                      <a:endParaRPr lang="zh-CN" altLang="en-US" sz="1200" dirty="0">
                        <a:effectLst/>
                      </a:endParaRPr>
                    </a:p>
                  </a:txBody>
                  <a:tcPr marL="28326" marR="28326" marT="14163" marB="7082" anchor="ct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cs typeface="微软雅黑" panose="020B0503020204020204" charset="-122"/>
                        </a:rPr>
                        <a:t>波士顿科学 </a:t>
                      </a:r>
                      <a:r>
                        <a:rPr lang="en-US" altLang="zh-CN" sz="1100" b="0" i="0">
                          <a:solidFill>
                            <a:schemeClr val="bg1"/>
                          </a:solidFill>
                          <a:latin typeface="微软雅黑" panose="020B0503020204020204" charset="-122"/>
                          <a:ea typeface="微软雅黑" panose="020B0503020204020204" charset="-122"/>
                          <a:cs typeface="微软雅黑" panose="020B0503020204020204" charset="-122"/>
                        </a:rPr>
                        <a:t>Vercise</a:t>
                      </a:r>
                      <a:endParaRPr lang="en-US" altLang="zh-CN" sz="1100" b="0" i="0">
                        <a:solidFill>
                          <a:schemeClr val="bg1"/>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DBS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脑深部电刺激（定向电极，无闭环感知）</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a:solidFill>
                            <a:srgbClr val="000000"/>
                          </a:solidFill>
                          <a:latin typeface="微软雅黑" panose="020B0503020204020204" charset="-122"/>
                          <a:ea typeface="微软雅黑" panose="020B0503020204020204" charset="-122"/>
                          <a:sym typeface="+mn-ea"/>
                        </a:rPr>
                        <a:t>癫痫临床拓展</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国内癫痫领域应用逐步拓展</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vMerge="1">
                  <a:tcPr marL="28326" marR="28326" marT="14163" marB="7082" anchor="ct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rPr>
                        <a:t>雅培</a:t>
                      </a:r>
                      <a:endParaRPr lang="zh-CN" altLang="en-US" sz="1100" b="0" i="0">
                        <a:solidFill>
                          <a:schemeClr val="bg1"/>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DBS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脑深部电刺激</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a:solidFill>
                            <a:srgbClr val="000000"/>
                          </a:solidFill>
                          <a:latin typeface="微软雅黑" panose="020B0503020204020204" charset="-122"/>
                          <a:ea typeface="微软雅黑" panose="020B0503020204020204" charset="-122"/>
                          <a:sym typeface="+mn-ea"/>
                        </a:rPr>
                        <a:t>癫痫临床拓展</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国内癫痫领域份额较小</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vMerge="1">
                  <a:tcPr marL="28326" marR="28326" marT="14163" marB="7082" anchor="ct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rPr>
                        <a:t>品驰医疗</a:t>
                      </a:r>
                      <a:endParaRPr lang="zh-CN" altLang="en-US" sz="1100" b="0" i="0">
                        <a:solidFill>
                          <a:schemeClr val="bg1"/>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DBS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脑深部电刺激（可感知 </a:t>
                      </a: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β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频段监测，癫痫适应症拓展）</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癫痫临床拓展</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国内癫痫领域装机量小</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vMerge="1">
                  <a:tcPr marL="28326" marR="28326" marT="14163" marB="7082" anchor="ctr"/>
                </a:tc>
              </a:tr>
              <a:tr h="289296">
                <a:tc>
                  <a:txBody>
                    <a:bodyPr/>
                    <a:lstStyle/>
                    <a:p>
                      <a:pPr algn="l" fontAlgn="ctr"/>
                      <a:r>
                        <a:rPr lang="zh-CN" altLang="en-US" sz="1100" b="0" i="0">
                          <a:solidFill>
                            <a:schemeClr val="bg1"/>
                          </a:solidFill>
                          <a:latin typeface="微软雅黑" panose="020B0503020204020204" charset="-122"/>
                          <a:ea typeface="微软雅黑" panose="020B0503020204020204" charset="-122"/>
                        </a:rPr>
                        <a:t>景昱医疗</a:t>
                      </a:r>
                      <a:endParaRPr lang="zh-CN" altLang="en-US" sz="1100" b="0" i="0">
                        <a:solidFill>
                          <a:schemeClr val="bg1"/>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en-US" altLang="zh-CN" sz="1100" b="0" i="0">
                          <a:solidFill>
                            <a:srgbClr val="000000"/>
                          </a:solidFill>
                          <a:latin typeface="微软雅黑" panose="020B0503020204020204" charset="-122"/>
                          <a:ea typeface="微软雅黑" panose="020B0503020204020204" charset="-122"/>
                          <a:cs typeface="微软雅黑" panose="020B0503020204020204" charset="-122"/>
                        </a:rPr>
                        <a:t>DBS </a:t>
                      </a:r>
                      <a:r>
                        <a:rPr lang="zh-CN" altLang="en-US" sz="1100" b="0" i="0">
                          <a:solidFill>
                            <a:srgbClr val="000000"/>
                          </a:solidFill>
                          <a:latin typeface="微软雅黑" panose="020B0503020204020204" charset="-122"/>
                          <a:ea typeface="微软雅黑" panose="020B0503020204020204" charset="-122"/>
                          <a:cs typeface="微软雅黑" panose="020B0503020204020204" charset="-122"/>
                        </a:rPr>
                        <a:t>脑深部电刺激（癫痫为次要适应症）</a:t>
                      </a:r>
                      <a:endParaRPr lang="zh-CN" altLang="en-US" sz="1100" b="0" i="0">
                        <a:solidFill>
                          <a:srgbClr val="000000"/>
                        </a:solidFill>
                        <a:latin typeface="微软雅黑" panose="020B0503020204020204" charset="-122"/>
                        <a:ea typeface="微软雅黑" panose="020B0503020204020204" charset="-122"/>
                        <a:cs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产品成熟</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a:solidFill>
                            <a:srgbClr val="000000"/>
                          </a:solidFill>
                          <a:latin typeface="微软雅黑" panose="020B0503020204020204" charset="-122"/>
                          <a:ea typeface="微软雅黑" panose="020B0503020204020204" charset="-122"/>
                          <a:sym typeface="+mn-ea"/>
                        </a:rPr>
                        <a:t>癫痫临床拓展</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a:txBody>
                    <a:bodyPr/>
                    <a:lstStyle/>
                    <a:p>
                      <a:pPr algn="l" fontAlgn="ctr"/>
                      <a:r>
                        <a:rPr lang="zh-CN" altLang="en-US" sz="1100" b="0" i="0">
                          <a:solidFill>
                            <a:srgbClr val="000000"/>
                          </a:solidFill>
                          <a:latin typeface="微软雅黑" panose="020B0503020204020204" charset="-122"/>
                          <a:ea typeface="微软雅黑" panose="020B0503020204020204" charset="-122"/>
                        </a:rPr>
                        <a:t>癫痫领域应用规模有限</a:t>
                      </a:r>
                      <a:endParaRPr lang="zh-CN" altLang="en-US" sz="1100" b="0" i="0">
                        <a:solidFill>
                          <a:srgbClr val="000000"/>
                        </a:solidFill>
                        <a:latin typeface="微软雅黑" panose="020B0503020204020204" charset="-122"/>
                        <a:ea typeface="微软雅黑" panose="020B0503020204020204" charset="-122"/>
                      </a:endParaRPr>
                    </a:p>
                  </a:txBody>
                  <a:tcPr marL="13017" marR="13017" marT="13017" marB="0" anchor="ctr"/>
                </a:tc>
                <a:tc vMerge="1">
                  <a:tcPr marL="28326" marR="28326" marT="14163" marB="7082" anchor="ctr"/>
                </a:tc>
              </a:tr>
            </a:tbl>
          </a:graphicData>
        </a:graphic>
      </p:graphicFrame>
      <p:sp>
        <p:nvSpPr>
          <p:cNvPr id="4" name="文本框 3"/>
          <p:cNvSpPr txBox="1"/>
          <p:nvPr/>
        </p:nvSpPr>
        <p:spPr>
          <a:xfrm>
            <a:off x="337185" y="651510"/>
            <a:ext cx="11024870" cy="1014730"/>
          </a:xfrm>
          <a:prstGeom prst="rect">
            <a:avLst/>
          </a:prstGeom>
        </p:spPr>
        <p:txBody>
          <a:bodyPr wrap="square">
            <a:spAutoFit/>
          </a:bodyPr>
          <a:lstStyle/>
          <a:p>
            <a:r>
              <a:rPr lang="en-US" altLang="zh-CN" sz="1200">
                <a:latin typeface="微软雅黑" panose="020B0503020204020204" charset="-122"/>
                <a:ea typeface="微软雅黑" panose="020B0503020204020204" charset="-122"/>
                <a:cs typeface="微软雅黑" panose="020B0503020204020204" charset="-122"/>
              </a:rPr>
              <a:t>VNS</a:t>
            </a:r>
            <a:r>
              <a:rPr lang="zh-CN" altLang="en-US" sz="1200">
                <a:latin typeface="微软雅黑" panose="020B0503020204020204" charset="-122"/>
                <a:ea typeface="微软雅黑" panose="020B0503020204020204" charset="-122"/>
                <a:cs typeface="微软雅黑" panose="020B0503020204020204" charset="-122"/>
              </a:rPr>
              <a:t>（迷走神经刺激）是目前国内难治性癫痫治疗的主流方案，优势在于创伤小、技术成熟，但仅为全身开环刺激，疗效有限且个体差异大；</a:t>
            </a:r>
            <a:endParaRPr lang="zh-CN" altLang="en-US" sz="1200">
              <a:latin typeface="微软雅黑" panose="020B0503020204020204" charset="-122"/>
              <a:ea typeface="微软雅黑" panose="020B0503020204020204" charset="-122"/>
              <a:cs typeface="微软雅黑" panose="020B0503020204020204" charset="-122"/>
            </a:endParaRPr>
          </a:p>
          <a:p>
            <a:r>
              <a:rPr lang="en-US" altLang="zh-CN" sz="1200">
                <a:latin typeface="微软雅黑" panose="020B0503020204020204" charset="-122"/>
                <a:ea typeface="微软雅黑" panose="020B0503020204020204" charset="-122"/>
                <a:cs typeface="微软雅黑" panose="020B0503020204020204" charset="-122"/>
              </a:rPr>
              <a:t>DBS</a:t>
            </a:r>
            <a:r>
              <a:rPr lang="zh-CN" altLang="en-US" sz="1200">
                <a:latin typeface="微软雅黑" panose="020B0503020204020204" charset="-122"/>
                <a:ea typeface="微软雅黑" panose="020B0503020204020204" charset="-122"/>
                <a:cs typeface="微软雅黑" panose="020B0503020204020204" charset="-122"/>
              </a:rPr>
              <a:t>（脑深部电刺激）虽能更直接地调控脑深部核团，但多为运动障碍适应症拓展，癫痫疗效不明确，且持续开环刺激存在较高副作用风险；</a:t>
            </a:r>
            <a:endParaRPr lang="zh-CN" altLang="en-US" sz="1200">
              <a:latin typeface="微软雅黑" panose="020B0503020204020204" charset="-122"/>
              <a:ea typeface="微软雅黑" panose="020B0503020204020204" charset="-122"/>
              <a:cs typeface="微软雅黑" panose="020B0503020204020204" charset="-122"/>
            </a:endParaRPr>
          </a:p>
          <a:p>
            <a:r>
              <a:rPr lang="en-US" altLang="zh-CN" sz="1200" b="1">
                <a:solidFill>
                  <a:srgbClr val="1F2329"/>
                </a:solidFill>
                <a:latin typeface="微软雅黑" panose="020B0503020204020204" charset="-122"/>
                <a:ea typeface="微软雅黑" panose="020B0503020204020204" charset="-122"/>
                <a:cs typeface="微软雅黑" panose="020B0503020204020204" charset="-122"/>
              </a:rPr>
              <a:t>RNS </a:t>
            </a:r>
            <a:r>
              <a:rPr lang="zh-CN" altLang="en-US" sz="1200" b="1">
                <a:solidFill>
                  <a:srgbClr val="1F2329"/>
                </a:solidFill>
                <a:latin typeface="微软雅黑" panose="020B0503020204020204" charset="-122"/>
                <a:ea typeface="微软雅黑" panose="020B0503020204020204" charset="-122"/>
                <a:cs typeface="微软雅黑" panose="020B0503020204020204" charset="-122"/>
              </a:rPr>
              <a:t>颅内闭环神经刺激</a:t>
            </a:r>
            <a:r>
              <a:rPr lang="zh-CN" altLang="en-US" sz="1200">
                <a:latin typeface="微软雅黑" panose="020B0503020204020204" charset="-122"/>
                <a:ea typeface="微软雅黑" panose="020B0503020204020204" charset="-122"/>
                <a:cs typeface="微软雅黑" panose="020B0503020204020204" charset="-122"/>
              </a:rPr>
              <a:t>，通过发作触发式精准干预，兼具高疗效与低副作用，是国际公认的难治性癫痫治疗最优路径。</a:t>
            </a:r>
            <a:endParaRPr lang="zh-CN" altLang="en-US" sz="1200">
              <a:latin typeface="微软雅黑" panose="020B0503020204020204" charset="-122"/>
              <a:ea typeface="微软雅黑" panose="020B0503020204020204" charset="-122"/>
              <a:cs typeface="微软雅黑" panose="020B0503020204020204" charset="-122"/>
            </a:endParaRPr>
          </a:p>
          <a:p>
            <a:r>
              <a:rPr lang="zh-CN" altLang="en-US" sz="1200">
                <a:latin typeface="微软雅黑" panose="020B0503020204020204" charset="-122"/>
                <a:ea typeface="微软雅黑" panose="020B0503020204020204" charset="-122"/>
                <a:cs typeface="微软雅黑" panose="020B0503020204020204" charset="-122"/>
              </a:rPr>
              <a:t>佳量 </a:t>
            </a:r>
            <a:r>
              <a:rPr lang="en-US" altLang="zh-CN" sz="1200">
                <a:latin typeface="微软雅黑" panose="020B0503020204020204" charset="-122"/>
                <a:ea typeface="微软雅黑" panose="020B0503020204020204" charset="-122"/>
                <a:cs typeface="微软雅黑" panose="020B0503020204020204" charset="-122"/>
              </a:rPr>
              <a:t>Epilcure </a:t>
            </a:r>
            <a:r>
              <a:rPr lang="zh-CN" altLang="en-US" sz="1200">
                <a:latin typeface="微软雅黑" panose="020B0503020204020204" charset="-122"/>
                <a:ea typeface="微软雅黑" panose="020B0503020204020204" charset="-122"/>
                <a:cs typeface="微软雅黑" panose="020B0503020204020204" charset="-122"/>
              </a:rPr>
              <a:t>作为国内进度最快的 </a:t>
            </a:r>
            <a:r>
              <a:rPr lang="en-US" altLang="zh-CN" sz="1200">
                <a:latin typeface="微软雅黑" panose="020B0503020204020204" charset="-122"/>
                <a:ea typeface="微软雅黑" panose="020B0503020204020204" charset="-122"/>
                <a:cs typeface="微软雅黑" panose="020B0503020204020204" charset="-122"/>
              </a:rPr>
              <a:t>RNS </a:t>
            </a:r>
            <a:r>
              <a:rPr lang="zh-CN" altLang="en-US" sz="1200">
                <a:latin typeface="微软雅黑" panose="020B0503020204020204" charset="-122"/>
                <a:ea typeface="微软雅黑" panose="020B0503020204020204" charset="-122"/>
                <a:cs typeface="微软雅黑" panose="020B0503020204020204" charset="-122"/>
              </a:rPr>
              <a:t>产品，以颅骨嵌入式无导线方案、深部病灶全覆盖的技术路线，完美解决了传统方案的临床痛点，有望凭借先发优势与国产替代红利，成为国内癫痫神经调控的新一代标杆。</a:t>
            </a:r>
            <a:endParaRPr lang="zh-CN" altLang="en-US" sz="12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平行四边形 2"/>
          <p:cNvSpPr/>
          <p:nvPr/>
        </p:nvSpPr>
        <p:spPr>
          <a:xfrm rot="10800000" flipV="1">
            <a:off x="-179071" y="0"/>
            <a:ext cx="1763395" cy="577514"/>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t>目录</a:t>
            </a:r>
            <a:endParaRPr lang="zh-CN" altLang="en-US" sz="1600" b="1" dirty="0"/>
          </a:p>
        </p:txBody>
      </p:sp>
      <p:sp>
        <p:nvSpPr>
          <p:cNvPr id="9" name="文本框 8"/>
          <p:cNvSpPr txBox="1"/>
          <p:nvPr/>
        </p:nvSpPr>
        <p:spPr>
          <a:xfrm>
            <a:off x="1377950" y="1801495"/>
            <a:ext cx="9118600" cy="460375"/>
          </a:xfrm>
          <a:prstGeom prst="rect">
            <a:avLst/>
          </a:prstGeom>
          <a:noFill/>
        </p:spPr>
        <p:txBody>
          <a:bodyPr wrap="square" rtlCol="0">
            <a:spAutoFit/>
          </a:bodyPr>
          <a:lstStyle/>
          <a:p>
            <a:pPr algn="ctr"/>
            <a:r>
              <a:rPr lang="zh-CN" altLang="en-US" sz="2400" b="1" dirty="0">
                <a:solidFill>
                  <a:schemeClr val="accent1"/>
                </a:solidFill>
                <a:effectLst>
                  <a:outerShdw blurRad="38100" dist="25400" dir="5400000" algn="ctr" rotWithShape="0">
                    <a:srgbClr val="6E747A">
                      <a:alpha val="43000"/>
                    </a:srgbClr>
                  </a:outerShdw>
                </a:effectLst>
                <a:latin typeface="微软雅黑)" charset="0"/>
                <a:ea typeface="微软雅黑)" charset="0"/>
              </a:rPr>
              <a:t>佳量脑科学投资逻辑说明</a:t>
            </a:r>
            <a:endParaRPr lang="zh-CN" altLang="en-US" sz="2400" b="1" dirty="0">
              <a:solidFill>
                <a:schemeClr val="accent1"/>
              </a:solidFill>
              <a:effectLst>
                <a:outerShdw blurRad="38100" dist="25400" dir="5400000" algn="ctr" rotWithShape="0">
                  <a:srgbClr val="6E747A">
                    <a:alpha val="43000"/>
                  </a:srgbClr>
                </a:outerShdw>
              </a:effectLst>
              <a:latin typeface="微软雅黑)" charset="0"/>
              <a:ea typeface="微软雅黑)" charset="0"/>
            </a:endParaRPr>
          </a:p>
        </p:txBody>
      </p:sp>
      <p:cxnSp>
        <p:nvCxnSpPr>
          <p:cNvPr id="10" name="直接连接符 9"/>
          <p:cNvCxnSpPr/>
          <p:nvPr/>
        </p:nvCxnSpPr>
        <p:spPr>
          <a:xfrm>
            <a:off x="1479550" y="2385695"/>
            <a:ext cx="9017000" cy="0"/>
          </a:xfrm>
          <a:prstGeom prst="lin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1"/>
            </p:custDataLst>
          </p:nvPr>
        </p:nvSpPr>
        <p:spPr>
          <a:xfrm>
            <a:off x="1377950" y="2670599"/>
            <a:ext cx="10257790" cy="2215991"/>
          </a:xfrm>
          <a:prstGeom prst="rect">
            <a:avLst/>
          </a:prstGeom>
          <a:noFill/>
        </p:spPr>
        <p:txBody>
          <a:bodyPr wrap="square" rtlCol="0">
            <a:spAutoFit/>
          </a:bodyPr>
          <a:lstStyle/>
          <a:p>
            <a:r>
              <a:rPr lang="en-US" altLang="zh-CN" sz="2000" b="1" dirty="0">
                <a:effectLst/>
                <a:latin typeface="微软雅黑" panose="020B0503020204020204" charset="-122"/>
                <a:ea typeface="微软雅黑" panose="020B0503020204020204" charset="-122"/>
                <a:cs typeface="微软雅黑" panose="020B0503020204020204" charset="-122"/>
              </a:rPr>
              <a:t>1</a:t>
            </a:r>
            <a:r>
              <a:rPr lang="zh-CN" altLang="en-US" sz="2000" b="1" dirty="0">
                <a:effectLst/>
                <a:latin typeface="微软雅黑" panose="020B0503020204020204" charset="-122"/>
                <a:ea typeface="微软雅黑" panose="020B0503020204020204" charset="-122"/>
                <a:cs typeface="微软雅黑" panose="020B0503020204020204" charset="-122"/>
              </a:rPr>
              <a:t>、脑机接口的基本定义 </a:t>
            </a:r>
            <a:r>
              <a:rPr lang="en-US" altLang="zh-CN" sz="2000" b="1" dirty="0">
                <a:effectLst/>
                <a:latin typeface="微软雅黑" panose="020B0503020204020204" charset="-122"/>
                <a:ea typeface="微软雅黑" panose="020B0503020204020204" charset="-122"/>
                <a:cs typeface="微软雅黑" panose="020B0503020204020204" charset="-122"/>
              </a:rPr>
              <a:t>&amp;</a:t>
            </a:r>
            <a:r>
              <a:rPr lang="zh-CN" altLang="en-US" sz="2000" b="1" dirty="0">
                <a:effectLst/>
                <a:latin typeface="微软雅黑" panose="020B0503020204020204" charset="-122"/>
                <a:ea typeface="微软雅黑" panose="020B0503020204020204" charset="-122"/>
                <a:cs typeface="微软雅黑" panose="020B0503020204020204" charset="-122"/>
              </a:rPr>
              <a:t> 技术特点</a:t>
            </a:r>
            <a:endParaRPr lang="en-US" altLang="zh-CN" sz="2000" b="1" dirty="0">
              <a:effectLst/>
              <a:latin typeface="微软雅黑" panose="020B0503020204020204" charset="-122"/>
              <a:ea typeface="微软雅黑" panose="020B0503020204020204" charset="-122"/>
              <a:cs typeface="微软雅黑" panose="020B0503020204020204" charset="-122"/>
            </a:endParaRPr>
          </a:p>
          <a:p>
            <a:endParaRPr lang="en-US" altLang="zh-CN" sz="2000" b="1" dirty="0">
              <a:solidFill>
                <a:schemeClr val="accent1"/>
              </a:solidFill>
              <a:latin typeface="微软雅黑" panose="020B0503020204020204" charset="-122"/>
              <a:ea typeface="微软雅黑" panose="020B0503020204020204" charset="-122"/>
              <a:cs typeface="微软雅黑" panose="020B0503020204020204" charset="-122"/>
            </a:endParaRPr>
          </a:p>
          <a:p>
            <a:r>
              <a:rPr lang="en-US" altLang="zh-CN" sz="2000" b="1" dirty="0">
                <a:latin typeface="微软雅黑" panose="020B0503020204020204" charset="-122"/>
                <a:ea typeface="微软雅黑" panose="020B0503020204020204" charset="-122"/>
              </a:rPr>
              <a:t>2</a:t>
            </a:r>
            <a:r>
              <a:rPr lang="zh-CN" altLang="en-US" sz="2000" b="1" dirty="0">
                <a:latin typeface="微软雅黑" panose="020B0503020204020204" charset="-122"/>
                <a:ea typeface="微软雅黑" panose="020B0503020204020204" charset="-122"/>
              </a:rPr>
              <a:t>、脑机接口的市场规模 </a:t>
            </a:r>
            <a:r>
              <a:rPr lang="en-US" altLang="zh-CN" sz="2000" b="1" dirty="0">
                <a:latin typeface="微软雅黑" panose="020B0503020204020204" charset="-122"/>
                <a:ea typeface="微软雅黑" panose="020B0503020204020204" charset="-122"/>
              </a:rPr>
              <a:t>&amp;</a:t>
            </a:r>
            <a:r>
              <a:rPr lang="zh-CN" altLang="en-US" sz="2000" b="1" dirty="0">
                <a:latin typeface="微软雅黑" panose="020B0503020204020204" charset="-122"/>
                <a:ea typeface="微软雅黑" panose="020B0503020204020204" charset="-122"/>
              </a:rPr>
              <a:t> 赛道研究</a:t>
            </a:r>
            <a:endParaRPr lang="zh-CN" altLang="en-US" sz="2000" b="1" dirty="0">
              <a:latin typeface="微软雅黑" panose="020B0503020204020204" charset="-122"/>
              <a:ea typeface="微软雅黑" panose="020B0503020204020204" charset="-122"/>
            </a:endParaRPr>
          </a:p>
          <a:p>
            <a:endParaRPr lang="zh-CN" altLang="en-US" b="1" dirty="0">
              <a:latin typeface="微软雅黑" panose="020B0503020204020204" charset="-122"/>
              <a:ea typeface="微软雅黑" panose="020B0503020204020204" charset="-122"/>
              <a:cs typeface="微软雅黑" panose="020B0503020204020204" charset="-122"/>
            </a:endParaRPr>
          </a:p>
          <a:p>
            <a:r>
              <a:rPr lang="en-US" altLang="zh-CN" sz="2000" b="1" dirty="0">
                <a:solidFill>
                  <a:schemeClr val="accent1"/>
                </a:solidFill>
                <a:latin typeface="微软雅黑" panose="020B0503020204020204" charset="-122"/>
                <a:ea typeface="微软雅黑" panose="020B0503020204020204" charset="-122"/>
              </a:rPr>
              <a:t>3</a:t>
            </a:r>
            <a:r>
              <a:rPr lang="zh-CN" altLang="en-US" sz="2000" b="1" dirty="0">
                <a:solidFill>
                  <a:schemeClr val="accent1"/>
                </a:solidFill>
                <a:latin typeface="微软雅黑" panose="020B0503020204020204" charset="-122"/>
                <a:ea typeface="微软雅黑" panose="020B0503020204020204" charset="-122"/>
              </a:rPr>
              <a:t>、佳量脑科学团队 </a:t>
            </a:r>
            <a:r>
              <a:rPr lang="en-US" altLang="zh-CN" sz="2000" b="1" dirty="0">
                <a:solidFill>
                  <a:schemeClr val="accent1"/>
                </a:solidFill>
                <a:latin typeface="微软雅黑" panose="020B0503020204020204" charset="-122"/>
                <a:ea typeface="微软雅黑" panose="020B0503020204020204" charset="-122"/>
              </a:rPr>
              <a:t>&amp;</a:t>
            </a:r>
            <a:r>
              <a:rPr lang="zh-CN" altLang="en-US" sz="2000" b="1" dirty="0">
                <a:solidFill>
                  <a:schemeClr val="accent1"/>
                </a:solidFill>
                <a:latin typeface="微软雅黑" panose="020B0503020204020204" charset="-122"/>
                <a:ea typeface="微软雅黑" panose="020B0503020204020204" charset="-122"/>
              </a:rPr>
              <a:t> 技术与产品</a:t>
            </a:r>
            <a:endParaRPr lang="zh-CN" altLang="en-US" sz="2000" b="1" dirty="0">
              <a:solidFill>
                <a:schemeClr val="accent1"/>
              </a:solidFill>
              <a:latin typeface="微软雅黑" panose="020B0503020204020204" charset="-122"/>
              <a:ea typeface="微软雅黑" panose="020B0503020204020204" charset="-122"/>
            </a:endParaRPr>
          </a:p>
          <a:p>
            <a:endParaRPr lang="zh-CN" altLang="en-US" sz="2000" b="1" dirty="0">
              <a:latin typeface="微软雅黑" panose="020B0503020204020204" charset="-122"/>
              <a:ea typeface="微软雅黑" panose="020B0503020204020204" charset="-122"/>
            </a:endParaRPr>
          </a:p>
          <a:p>
            <a:r>
              <a:rPr lang="en-US" altLang="zh-CN" sz="2000" b="1" dirty="0">
                <a:latin typeface="微软雅黑" panose="020B0503020204020204" charset="-122"/>
                <a:ea typeface="微软雅黑" panose="020B0503020204020204" charset="-122"/>
              </a:rPr>
              <a:t>4</a:t>
            </a:r>
            <a:r>
              <a:rPr lang="zh-CN" altLang="en-US" sz="2000" b="1" dirty="0">
                <a:latin typeface="微软雅黑" panose="020B0503020204020204" charset="-122"/>
                <a:ea typeface="微软雅黑" panose="020B0503020204020204" charset="-122"/>
              </a:rPr>
              <a:t>、风险评估 </a:t>
            </a:r>
            <a:r>
              <a:rPr lang="en-US" altLang="zh-CN" sz="2000" b="1" dirty="0">
                <a:latin typeface="微软雅黑" panose="020B0503020204020204" charset="-122"/>
                <a:ea typeface="微软雅黑" panose="020B0503020204020204" charset="-122"/>
              </a:rPr>
              <a:t>&amp;</a:t>
            </a:r>
            <a:r>
              <a:rPr lang="zh-CN" altLang="en-US" sz="2000" b="1" dirty="0">
                <a:latin typeface="微软雅黑" panose="020B0503020204020204" charset="-122"/>
                <a:ea typeface="微软雅黑" panose="020B0503020204020204" charset="-122"/>
              </a:rPr>
              <a:t> 投资方案</a:t>
            </a:r>
            <a:endParaRPr lang="zh-CN" altLang="en-US" sz="2000" b="1" dirty="0">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公司介绍</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indent="0" algn="l" fontAlgn="auto">
              <a:lnSpc>
                <a:spcPct val="100000"/>
              </a:lnSpc>
            </a:pP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公司发展历程</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4" name="图示 3"/>
          <p:cNvGraphicFramePr/>
          <p:nvPr/>
        </p:nvGraphicFramePr>
        <p:xfrm>
          <a:off x="353760" y="2711668"/>
          <a:ext cx="11484479" cy="176573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文本框 92"/>
          <p:cNvSpPr txBox="1"/>
          <p:nvPr>
            <p:custDataLst>
              <p:tags r:id="rId6"/>
            </p:custDataLst>
          </p:nvPr>
        </p:nvSpPr>
        <p:spPr>
          <a:xfrm>
            <a:off x="353760" y="1580258"/>
            <a:ext cx="1898232" cy="1169551"/>
          </a:xfrm>
          <a:prstGeom prst="rect">
            <a:avLst/>
          </a:prstGeom>
          <a:noFill/>
        </p:spPr>
        <p:txBody>
          <a:bodyPr wrap="square" rtlCol="0">
            <a:spAutoFit/>
          </a:bodyPr>
          <a:lstStyle/>
          <a:p>
            <a:pPr marL="171450" indent="-171450">
              <a:buFont typeface="Arial" panose="020B0604020202090204" pitchFamily="34" charset="0"/>
              <a:buChar char="•"/>
            </a:pPr>
            <a:r>
              <a:rPr lang="zh-CN" altLang="en-US" sz="1400" dirty="0">
                <a:latin typeface="彩虹粗仿宋" panose="03000509000000000000" pitchFamily="65" charset="-122"/>
                <a:ea typeface="彩虹粗仿宋" panose="03000509000000000000" pitchFamily="65" charset="-122"/>
              </a:rPr>
              <a:t>公司成立，定位神经外科创新医疗器械研发企业，首发适应症癫痫</a:t>
            </a:r>
            <a:endParaRPr lang="zh-CN" altLang="en-US" sz="1400" dirty="0">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dirty="0">
                <a:latin typeface="彩虹粗仿宋" panose="03000509000000000000" pitchFamily="65" charset="-122"/>
                <a:ea typeface="彩虹粗仿宋" panose="03000509000000000000" pitchFamily="65" charset="-122"/>
              </a:rPr>
              <a:t>开始</a:t>
            </a:r>
            <a:r>
              <a:rPr lang="en-US" altLang="zh-CN" sz="1400" dirty="0">
                <a:latin typeface="彩虹粗仿宋" panose="03000509000000000000" pitchFamily="65" charset="-122"/>
                <a:ea typeface="彩虹粗仿宋" panose="03000509000000000000" pitchFamily="65" charset="-122"/>
              </a:rPr>
              <a:t>LITT</a:t>
            </a:r>
            <a:r>
              <a:rPr lang="zh-CN" altLang="en-US" sz="1400" dirty="0">
                <a:latin typeface="彩虹粗仿宋" panose="03000509000000000000" pitchFamily="65" charset="-122"/>
                <a:ea typeface="彩虹粗仿宋" panose="03000509000000000000" pitchFamily="65" charset="-122"/>
              </a:rPr>
              <a:t>产品研发</a:t>
            </a:r>
            <a:endParaRPr lang="zh-CN" altLang="en-US" sz="1400" dirty="0">
              <a:latin typeface="彩虹粗仿宋" panose="03000509000000000000" pitchFamily="65" charset="-122"/>
              <a:ea typeface="彩虹粗仿宋" panose="03000509000000000000" pitchFamily="65" charset="-122"/>
            </a:endParaRPr>
          </a:p>
        </p:txBody>
      </p:sp>
      <p:sp>
        <p:nvSpPr>
          <p:cNvPr id="7" name="文本框 95"/>
          <p:cNvSpPr txBox="1"/>
          <p:nvPr>
            <p:custDataLst>
              <p:tags r:id="rId7"/>
            </p:custDataLst>
          </p:nvPr>
        </p:nvSpPr>
        <p:spPr>
          <a:xfrm>
            <a:off x="2364921" y="1795702"/>
            <a:ext cx="1657390" cy="954107"/>
          </a:xfrm>
          <a:prstGeom prst="rect">
            <a:avLst/>
          </a:prstGeom>
          <a:noFill/>
        </p:spPr>
        <p:txBody>
          <a:bodyPr wrap="square" rtlCol="0">
            <a:spAutoFit/>
          </a:bodyPr>
          <a:lstStyle/>
          <a:p>
            <a:pPr marL="171450" indent="-171450">
              <a:buFont typeface="Arial" panose="020B0604020202090204" pitchFamily="34" charset="0"/>
              <a:buChar char="•"/>
            </a:pPr>
            <a:r>
              <a:rPr lang="zh-CN" altLang="en-US" sz="1400" dirty="0">
                <a:latin typeface="彩虹粗仿宋" panose="03000509000000000000" pitchFamily="65" charset="-122"/>
                <a:ea typeface="彩虹粗仿宋" panose="03000509000000000000" pitchFamily="65" charset="-122"/>
              </a:rPr>
              <a:t>收购获得闭环神经调控技术平台，</a:t>
            </a:r>
            <a:endParaRPr lang="en-US" altLang="zh-CN" sz="1400" dirty="0">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dirty="0">
                <a:latin typeface="彩虹粗仿宋" panose="03000509000000000000" pitchFamily="65" charset="-122"/>
                <a:ea typeface="彩虹粗仿宋" panose="03000509000000000000" pitchFamily="65" charset="-122"/>
              </a:rPr>
              <a:t>开展</a:t>
            </a:r>
            <a:r>
              <a:rPr lang="en-US" altLang="zh-CN" sz="1400" dirty="0">
                <a:latin typeface="彩虹粗仿宋" panose="03000509000000000000" pitchFamily="65" charset="-122"/>
                <a:ea typeface="彩虹粗仿宋" panose="03000509000000000000" pitchFamily="65" charset="-122"/>
              </a:rPr>
              <a:t>RNS</a:t>
            </a:r>
            <a:r>
              <a:rPr lang="zh-CN" altLang="en-US" sz="1400" dirty="0">
                <a:latin typeface="彩虹粗仿宋" panose="03000509000000000000" pitchFamily="65" charset="-122"/>
                <a:ea typeface="彩虹粗仿宋" panose="03000509000000000000" pitchFamily="65" charset="-122"/>
              </a:rPr>
              <a:t>临床研发</a:t>
            </a:r>
            <a:endParaRPr lang="zh-CN" altLang="en-US" sz="1400" dirty="0">
              <a:latin typeface="彩虹粗仿宋" panose="03000509000000000000" pitchFamily="65" charset="-122"/>
              <a:ea typeface="彩虹粗仿宋" panose="03000509000000000000" pitchFamily="65" charset="-122"/>
            </a:endParaRPr>
          </a:p>
        </p:txBody>
      </p:sp>
      <p:sp>
        <p:nvSpPr>
          <p:cNvPr id="8" name="文本框 95"/>
          <p:cNvSpPr txBox="1"/>
          <p:nvPr>
            <p:custDataLst>
              <p:tags r:id="rId8"/>
            </p:custDataLst>
          </p:nvPr>
        </p:nvSpPr>
        <p:spPr>
          <a:xfrm>
            <a:off x="4107601" y="1364814"/>
            <a:ext cx="2068528" cy="1384995"/>
          </a:xfrm>
          <a:prstGeom prst="rect">
            <a:avLst/>
          </a:prstGeom>
          <a:noFill/>
        </p:spPr>
        <p:txBody>
          <a:bodyPr wrap="square" rtlCol="0">
            <a:spAutoFit/>
          </a:bodyPr>
          <a:lstStyle/>
          <a:p>
            <a:pPr marL="171450" indent="-171450">
              <a:buFont typeface="Arial" panose="020B0604020202090204" pitchFamily="34" charset="0"/>
              <a:buChar char="•"/>
            </a:pPr>
            <a:r>
              <a:rPr lang="zh-CN" altLang="en-US" sz="1400" dirty="0">
                <a:latin typeface="彩虹粗仿宋" panose="03000509000000000000" pitchFamily="65" charset="-122"/>
                <a:ea typeface="彩虹粗仿宋" panose="03000509000000000000" pitchFamily="65" charset="-122"/>
              </a:rPr>
              <a:t>第五届中国医疗器械创新创业大赛（微创器械与植介入产品）决赛</a:t>
            </a:r>
            <a:r>
              <a:rPr lang="zh-CN" altLang="en-US" sz="1400" b="1" dirty="0">
                <a:latin typeface="彩虹粗仿宋" panose="03000509000000000000" pitchFamily="65" charset="-122"/>
                <a:ea typeface="彩虹粗仿宋" panose="03000509000000000000" pitchFamily="65" charset="-122"/>
              </a:rPr>
              <a:t>一等奖</a:t>
            </a:r>
            <a:endParaRPr lang="en-US" altLang="zh-CN" sz="1400" b="1" dirty="0">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en-US" altLang="zh-CN" sz="1400" dirty="0">
                <a:latin typeface="彩虹粗仿宋" panose="03000509000000000000" pitchFamily="65" charset="-122"/>
                <a:ea typeface="彩虹粗仿宋" panose="03000509000000000000" pitchFamily="65" charset="-122"/>
              </a:rPr>
              <a:t>RNS</a:t>
            </a:r>
            <a:r>
              <a:rPr lang="zh-CN" altLang="en-US" sz="1400" dirty="0">
                <a:latin typeface="彩虹粗仿宋" panose="03000509000000000000" pitchFamily="65" charset="-122"/>
                <a:ea typeface="彩虹粗仿宋" panose="03000509000000000000" pitchFamily="65" charset="-122"/>
              </a:rPr>
              <a:t>产品进入创新医疗器械特别审批通道</a:t>
            </a:r>
            <a:endParaRPr lang="zh-CN" altLang="en-US" sz="1400" dirty="0">
              <a:latin typeface="彩虹粗仿宋" panose="03000509000000000000" pitchFamily="65" charset="-122"/>
              <a:ea typeface="彩虹粗仿宋" panose="03000509000000000000" pitchFamily="65" charset="-122"/>
            </a:endParaRPr>
          </a:p>
        </p:txBody>
      </p:sp>
      <p:sp>
        <p:nvSpPr>
          <p:cNvPr id="9" name="文本框 95"/>
          <p:cNvSpPr txBox="1"/>
          <p:nvPr>
            <p:custDataLst>
              <p:tags r:id="rId9"/>
            </p:custDataLst>
          </p:nvPr>
        </p:nvSpPr>
        <p:spPr>
          <a:xfrm>
            <a:off x="6162110" y="2011145"/>
            <a:ext cx="1679334" cy="738664"/>
          </a:xfrm>
          <a:prstGeom prst="rect">
            <a:avLst/>
          </a:prstGeom>
          <a:noFill/>
        </p:spPr>
        <p:txBody>
          <a:bodyPr wrap="square" rtlCol="0">
            <a:spAutoFit/>
          </a:bodyPr>
          <a:lstStyle/>
          <a:p>
            <a:pPr marL="171450" indent="-171450">
              <a:buFont typeface="Arial" panose="020B0604020202090204" pitchFamily="34" charset="0"/>
              <a:buChar char="•"/>
            </a:pPr>
            <a:r>
              <a:rPr lang="en-US" altLang="zh-CN" sz="1400" dirty="0">
                <a:latin typeface="彩虹粗仿宋" panose="03000509000000000000" pitchFamily="65" charset="-122"/>
                <a:ea typeface="彩虹粗仿宋" panose="03000509000000000000" pitchFamily="65" charset="-122"/>
              </a:rPr>
              <a:t>LITT</a:t>
            </a:r>
            <a:r>
              <a:rPr lang="zh-CN" altLang="en-US" sz="1400" dirty="0">
                <a:latin typeface="彩虹粗仿宋" panose="03000509000000000000" pitchFamily="65" charset="-122"/>
                <a:ea typeface="彩虹粗仿宋" panose="03000509000000000000" pitchFamily="65" charset="-122"/>
              </a:rPr>
              <a:t>产品进入创新医疗器械特别审批通道</a:t>
            </a:r>
            <a:endParaRPr lang="zh-CN" altLang="en-US" sz="1400" dirty="0">
              <a:latin typeface="彩虹粗仿宋" panose="03000509000000000000" pitchFamily="65" charset="-122"/>
              <a:ea typeface="彩虹粗仿宋" panose="03000509000000000000" pitchFamily="65" charset="-122"/>
            </a:endParaRPr>
          </a:p>
        </p:txBody>
      </p:sp>
      <p:sp>
        <p:nvSpPr>
          <p:cNvPr id="10" name="文本框 95"/>
          <p:cNvSpPr txBox="1"/>
          <p:nvPr>
            <p:custDataLst>
              <p:tags r:id="rId10"/>
            </p:custDataLst>
          </p:nvPr>
        </p:nvSpPr>
        <p:spPr>
          <a:xfrm>
            <a:off x="7842689" y="933927"/>
            <a:ext cx="1963752" cy="1815882"/>
          </a:xfrm>
          <a:prstGeom prst="rect">
            <a:avLst/>
          </a:prstGeom>
          <a:noFill/>
        </p:spPr>
        <p:txBody>
          <a:bodyPr wrap="square" rtlCol="0">
            <a:spAutoFit/>
          </a:bodyPr>
          <a:lstStyle/>
          <a:p>
            <a:pPr marL="171450" indent="-171450" algn="l">
              <a:buClrTx/>
              <a:buSzTx/>
              <a:buFont typeface="Arial" panose="020B0604020202090204" pitchFamily="34" charset="0"/>
              <a:buChar char="•"/>
            </a:pPr>
            <a:r>
              <a:rPr lang="zh-CN" altLang="en-US" sz="1400" dirty="0">
                <a:latin typeface="彩虹粗仿宋" panose="03000509000000000000" pitchFamily="65" charset="-122"/>
                <a:ea typeface="彩虹粗仿宋" panose="03000509000000000000" pitchFamily="65" charset="-122"/>
              </a:rPr>
              <a:t>浙江省</a:t>
            </a:r>
            <a:r>
              <a:rPr lang="zh-CN" altLang="en-US" sz="1400" b="1" dirty="0">
                <a:latin typeface="彩虹粗仿宋" panose="03000509000000000000" pitchFamily="65" charset="-122"/>
                <a:ea typeface="彩虹粗仿宋" panose="03000509000000000000" pitchFamily="65" charset="-122"/>
              </a:rPr>
              <a:t>第一批</a:t>
            </a:r>
            <a:r>
              <a:rPr lang="zh-CN" altLang="en-US" sz="1400" dirty="0">
                <a:latin typeface="彩虹粗仿宋" panose="03000509000000000000" pitchFamily="65" charset="-122"/>
                <a:ea typeface="彩虹粗仿宋" panose="03000509000000000000" pitchFamily="65" charset="-122"/>
              </a:rPr>
              <a:t>专精特新中小企业名单</a:t>
            </a:r>
            <a:endParaRPr lang="en-US" altLang="zh-CN" sz="1400" dirty="0">
              <a:latin typeface="彩虹粗仿宋" panose="03000509000000000000" pitchFamily="65" charset="-122"/>
              <a:ea typeface="彩虹粗仿宋" panose="03000509000000000000" pitchFamily="65" charset="-122"/>
            </a:endParaRPr>
          </a:p>
          <a:p>
            <a:pPr marL="171450" indent="-171450" algn="l">
              <a:buClrTx/>
              <a:buSzTx/>
              <a:buFont typeface="Arial" panose="020B0604020202090204" pitchFamily="34" charset="0"/>
              <a:buChar char="•"/>
            </a:pPr>
            <a:r>
              <a:rPr lang="zh-CN" altLang="en-US" sz="1400" dirty="0">
                <a:latin typeface="彩虹粗仿宋" panose="03000509000000000000" pitchFamily="65" charset="-122"/>
                <a:ea typeface="彩虹粗仿宋" panose="03000509000000000000" pitchFamily="65" charset="-122"/>
              </a:rPr>
              <a:t>浙江省高新技术企业研究开发中心</a:t>
            </a:r>
            <a:endParaRPr lang="en-US" altLang="zh-CN" sz="1400" dirty="0">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dirty="0">
                <a:latin typeface="彩虹粗仿宋" panose="03000509000000000000" pitchFamily="65" charset="-122"/>
                <a:ea typeface="彩虹粗仿宋" panose="03000509000000000000" pitchFamily="65" charset="-122"/>
              </a:rPr>
              <a:t>浙江省临床脑机接口工程研究中心</a:t>
            </a:r>
            <a:endParaRPr lang="en-US" altLang="zh-CN" sz="1400" dirty="0">
              <a:latin typeface="彩虹粗仿宋" panose="03000509000000000000" pitchFamily="65" charset="-122"/>
              <a:ea typeface="彩虹粗仿宋" panose="03000509000000000000" pitchFamily="65" charset="-122"/>
            </a:endParaRPr>
          </a:p>
          <a:p>
            <a:pPr marL="171450" indent="-171450" algn="l">
              <a:buClrTx/>
              <a:buSzTx/>
              <a:buFont typeface="Arial" panose="020B0604020202090204" pitchFamily="34" charset="0"/>
              <a:buChar char="•"/>
            </a:pPr>
            <a:r>
              <a:rPr lang="zh-CN" altLang="en-US" sz="1400" dirty="0">
                <a:latin typeface="彩虹粗仿宋" panose="03000509000000000000" pitchFamily="65" charset="-122"/>
                <a:ea typeface="彩虹粗仿宋" panose="03000509000000000000" pitchFamily="65" charset="-122"/>
              </a:rPr>
              <a:t>浙江省疼痛感知与神经调控重点实验室</a:t>
            </a:r>
            <a:endParaRPr lang="en-US" altLang="zh-CN" sz="1400" dirty="0">
              <a:latin typeface="彩虹粗仿宋" panose="03000509000000000000" pitchFamily="65" charset="-122"/>
              <a:ea typeface="彩虹粗仿宋" panose="03000509000000000000" pitchFamily="65" charset="-122"/>
            </a:endParaRPr>
          </a:p>
        </p:txBody>
      </p:sp>
      <p:sp>
        <p:nvSpPr>
          <p:cNvPr id="14" name="文本框 13"/>
          <p:cNvSpPr txBox="1"/>
          <p:nvPr/>
        </p:nvSpPr>
        <p:spPr>
          <a:xfrm>
            <a:off x="9806439" y="718484"/>
            <a:ext cx="2144729" cy="2031325"/>
          </a:xfrm>
          <a:prstGeom prst="rect">
            <a:avLst/>
          </a:prstGeom>
          <a:noFill/>
        </p:spPr>
        <p:txBody>
          <a:bodyPr wrap="square" rtlCol="0" anchor="t">
            <a:spAutoFit/>
          </a:bodyPr>
          <a:lstStyle/>
          <a:p>
            <a:pPr marL="171450" indent="-171450">
              <a:buFont typeface="Arial" panose="020B0604020202090204" pitchFamily="34" charset="0"/>
              <a:buChar char="•"/>
            </a:pPr>
            <a:r>
              <a:rPr lang="zh-CN" altLang="en-US" sz="1400" b="1" dirty="0">
                <a:latin typeface="彩虹粗仿宋" panose="03000509000000000000" pitchFamily="65" charset="-122"/>
                <a:ea typeface="彩虹粗仿宋" panose="03000509000000000000" pitchFamily="65" charset="-122"/>
              </a:rPr>
              <a:t>首次获得产品注册证（</a:t>
            </a:r>
            <a:r>
              <a:rPr lang="en-US" altLang="zh-CN" sz="1400" b="1" dirty="0">
                <a:latin typeface="彩虹粗仿宋" panose="03000509000000000000" pitchFamily="65" charset="-122"/>
                <a:ea typeface="彩虹粗仿宋" panose="03000509000000000000" pitchFamily="65" charset="-122"/>
              </a:rPr>
              <a:t>SEEG</a:t>
            </a:r>
            <a:r>
              <a:rPr lang="zh-CN" altLang="en-US" sz="1400" b="1" dirty="0">
                <a:latin typeface="彩虹粗仿宋" panose="03000509000000000000" pitchFamily="65" charset="-122"/>
                <a:ea typeface="彩虹粗仿宋" panose="03000509000000000000" pitchFamily="65" charset="-122"/>
              </a:rPr>
              <a:t>、</a:t>
            </a:r>
            <a:r>
              <a:rPr lang="en-US" altLang="zh-CN" sz="1400" b="1" dirty="0">
                <a:latin typeface="彩虹粗仿宋" panose="03000509000000000000" pitchFamily="65" charset="-122"/>
                <a:ea typeface="彩虹粗仿宋" panose="03000509000000000000" pitchFamily="65" charset="-122"/>
              </a:rPr>
              <a:t>LITT</a:t>
            </a:r>
            <a:r>
              <a:rPr lang="zh-CN" altLang="en-US" sz="1400" b="1" dirty="0">
                <a:latin typeface="彩虹粗仿宋" panose="03000509000000000000" pitchFamily="65" charset="-122"/>
                <a:ea typeface="彩虹粗仿宋" panose="03000509000000000000" pitchFamily="65" charset="-122"/>
              </a:rPr>
              <a:t>癫痫适应症）</a:t>
            </a:r>
            <a:endParaRPr lang="en-US" altLang="zh-CN" sz="1400" b="1" dirty="0">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b="1" dirty="0">
                <a:latin typeface="彩虹粗仿宋" panose="03000509000000000000" pitchFamily="65" charset="-122"/>
                <a:ea typeface="彩虹粗仿宋" panose="03000509000000000000" pitchFamily="65" charset="-122"/>
              </a:rPr>
              <a:t>同时中标</a:t>
            </a:r>
            <a:r>
              <a:rPr lang="zh-CN" altLang="en-US" sz="1400" dirty="0">
                <a:latin typeface="彩虹粗仿宋" panose="03000509000000000000" pitchFamily="65" charset="-122"/>
                <a:ea typeface="彩虹粗仿宋" panose="03000509000000000000" pitchFamily="65" charset="-122"/>
              </a:rPr>
              <a:t>两项浙江省科技厅领雁计划</a:t>
            </a:r>
            <a:endParaRPr lang="en-US" altLang="zh-CN" sz="1400" dirty="0">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b="1" dirty="0">
                <a:latin typeface="彩虹粗仿宋" panose="03000509000000000000" pitchFamily="65" charset="-122"/>
                <a:ea typeface="彩虹粗仿宋" panose="03000509000000000000" pitchFamily="65" charset="-122"/>
              </a:rPr>
              <a:t>头名入围</a:t>
            </a:r>
            <a:r>
              <a:rPr lang="en-US" altLang="zh-CN" sz="1400" dirty="0">
                <a:latin typeface="彩虹粗仿宋" panose="03000509000000000000" pitchFamily="65" charset="-122"/>
                <a:ea typeface="彩虹粗仿宋" panose="03000509000000000000" pitchFamily="65" charset="-122"/>
              </a:rPr>
              <a:t>2025</a:t>
            </a:r>
            <a:r>
              <a:rPr lang="zh-CN" altLang="en-US" sz="1400" dirty="0">
                <a:latin typeface="彩虹粗仿宋" panose="03000509000000000000" pitchFamily="65" charset="-122"/>
                <a:ea typeface="彩虹粗仿宋" panose="03000509000000000000" pitchFamily="65" charset="-122"/>
              </a:rPr>
              <a:t>年人工智能医疗器械创新任务（脑机混合智能产品方向）揭榜挂帅</a:t>
            </a:r>
            <a:endParaRPr lang="zh-CN" altLang="en-US" sz="1400" dirty="0">
              <a:latin typeface="彩虹粗仿宋" panose="03000509000000000000" pitchFamily="65" charset="-122"/>
              <a:ea typeface="彩虹粗仿宋" panose="03000509000000000000" pitchFamily="65" charset="-122"/>
            </a:endParaRPr>
          </a:p>
        </p:txBody>
      </p:sp>
      <p:sp>
        <p:nvSpPr>
          <p:cNvPr id="18" name="文本框 92"/>
          <p:cNvSpPr txBox="1"/>
          <p:nvPr>
            <p:custDataLst>
              <p:tags r:id="rId11"/>
            </p:custDataLst>
          </p:nvPr>
        </p:nvSpPr>
        <p:spPr>
          <a:xfrm>
            <a:off x="353760" y="4696702"/>
            <a:ext cx="2099130" cy="461665"/>
          </a:xfrm>
          <a:prstGeom prst="rect">
            <a:avLst/>
          </a:prstGeom>
          <a:noFill/>
        </p:spPr>
        <p:txBody>
          <a:bodyPr wrap="square" rtlCol="0">
            <a:spAutoFit/>
          </a:bodyPr>
          <a:lstStyle/>
          <a:p>
            <a:r>
              <a:rPr lang="zh-CN" altLang="en-US" sz="1200" dirty="0">
                <a:latin typeface="彩虹粗仿宋" panose="03000509000000000000" pitchFamily="65" charset="-122"/>
                <a:ea typeface="彩虹粗仿宋" panose="03000509000000000000" pitchFamily="65" charset="-122"/>
              </a:rPr>
              <a:t>完成种子轮</a:t>
            </a:r>
            <a:r>
              <a:rPr lang="en-US" altLang="zh-CN" sz="1200" dirty="0">
                <a:latin typeface="彩虹粗仿宋" panose="03000509000000000000" pitchFamily="65" charset="-122"/>
                <a:ea typeface="彩虹粗仿宋" panose="03000509000000000000" pitchFamily="65" charset="-122"/>
              </a:rPr>
              <a:t>-</a:t>
            </a:r>
            <a:r>
              <a:rPr lang="en-US" altLang="zh-CN" sz="1200" dirty="0" err="1">
                <a:latin typeface="彩虹粗仿宋" panose="03000509000000000000" pitchFamily="65" charset="-122"/>
                <a:ea typeface="彩虹粗仿宋" panose="03000509000000000000" pitchFamily="65" charset="-122"/>
              </a:rPr>
              <a:t>preA</a:t>
            </a:r>
            <a:r>
              <a:rPr lang="en-US" altLang="zh-CN" sz="1200" dirty="0">
                <a:latin typeface="彩虹粗仿宋" panose="03000509000000000000" pitchFamily="65" charset="-122"/>
                <a:ea typeface="彩虹粗仿宋" panose="03000509000000000000" pitchFamily="65" charset="-122"/>
              </a:rPr>
              <a:t> </a:t>
            </a:r>
            <a:r>
              <a:rPr lang="zh-CN" altLang="en-US" sz="1200" dirty="0">
                <a:latin typeface="彩虹粗仿宋" panose="03000509000000000000" pitchFamily="65" charset="-122"/>
                <a:ea typeface="彩虹粗仿宋" panose="03000509000000000000" pitchFamily="65" charset="-122"/>
              </a:rPr>
              <a:t>轮融资</a:t>
            </a:r>
            <a:endParaRPr lang="en-US" altLang="zh-CN" sz="1200" dirty="0">
              <a:latin typeface="彩虹粗仿宋" panose="03000509000000000000" pitchFamily="65" charset="-122"/>
              <a:ea typeface="彩虹粗仿宋" panose="03000509000000000000" pitchFamily="65" charset="-122"/>
            </a:endParaRPr>
          </a:p>
          <a:p>
            <a:r>
              <a:rPr lang="en-US" altLang="zh-CN" sz="1200" dirty="0">
                <a:latin typeface="彩虹粗仿宋" panose="03000509000000000000" pitchFamily="65" charset="-122"/>
                <a:ea typeface="彩虹粗仿宋" panose="03000509000000000000" pitchFamily="65" charset="-122"/>
              </a:rPr>
              <a:t>3750</a:t>
            </a:r>
            <a:r>
              <a:rPr lang="zh-CN" altLang="en-US" sz="1200" dirty="0">
                <a:latin typeface="彩虹粗仿宋" panose="03000509000000000000" pitchFamily="65" charset="-122"/>
                <a:ea typeface="彩虹粗仿宋" panose="03000509000000000000" pitchFamily="65" charset="-122"/>
              </a:rPr>
              <a:t>万元</a:t>
            </a:r>
            <a:endParaRPr lang="zh-CN" altLang="en-US" sz="1200" dirty="0">
              <a:latin typeface="彩虹粗仿宋" panose="03000509000000000000" pitchFamily="65" charset="-122"/>
              <a:ea typeface="彩虹粗仿宋" panose="03000509000000000000" pitchFamily="65" charset="-122"/>
            </a:endParaRPr>
          </a:p>
        </p:txBody>
      </p:sp>
      <p:sp>
        <p:nvSpPr>
          <p:cNvPr id="19" name="文本框 95"/>
          <p:cNvSpPr txBox="1"/>
          <p:nvPr>
            <p:custDataLst>
              <p:tags r:id="rId12"/>
            </p:custDataLst>
          </p:nvPr>
        </p:nvSpPr>
        <p:spPr>
          <a:xfrm>
            <a:off x="2447726" y="4696702"/>
            <a:ext cx="1580138" cy="461665"/>
          </a:xfrm>
          <a:prstGeom prst="rect">
            <a:avLst/>
          </a:prstGeom>
          <a:noFill/>
        </p:spPr>
        <p:txBody>
          <a:bodyPr wrap="square" rtlCol="0">
            <a:spAutoFit/>
          </a:bodyPr>
          <a:lstStyle/>
          <a:p>
            <a:r>
              <a:rPr lang="zh-CN" altLang="en-US" sz="1200" dirty="0">
                <a:latin typeface="彩虹粗仿宋" panose="03000509000000000000" pitchFamily="65" charset="-122"/>
                <a:ea typeface="彩虹粗仿宋" panose="03000509000000000000" pitchFamily="65" charset="-122"/>
              </a:rPr>
              <a:t>完成</a:t>
            </a:r>
            <a:r>
              <a:rPr lang="en-US" altLang="zh-CN" sz="1200" dirty="0">
                <a:latin typeface="彩虹粗仿宋" panose="03000509000000000000" pitchFamily="65" charset="-122"/>
                <a:ea typeface="彩虹粗仿宋" panose="03000509000000000000" pitchFamily="65" charset="-122"/>
              </a:rPr>
              <a:t>A</a:t>
            </a:r>
            <a:r>
              <a:rPr lang="zh-CN" altLang="en-US" sz="1200" dirty="0">
                <a:latin typeface="彩虹粗仿宋" panose="03000509000000000000" pitchFamily="65" charset="-122"/>
                <a:ea typeface="彩虹粗仿宋" panose="03000509000000000000" pitchFamily="65" charset="-122"/>
              </a:rPr>
              <a:t>轮</a:t>
            </a:r>
            <a:r>
              <a:rPr lang="en-US" altLang="zh-CN" sz="1200" dirty="0">
                <a:latin typeface="彩虹粗仿宋" panose="03000509000000000000" pitchFamily="65" charset="-122"/>
                <a:ea typeface="彩虹粗仿宋" panose="03000509000000000000" pitchFamily="65" charset="-122"/>
              </a:rPr>
              <a:t>-B</a:t>
            </a:r>
            <a:r>
              <a:rPr lang="zh-CN" altLang="en-US" sz="1200" dirty="0">
                <a:latin typeface="彩虹粗仿宋" panose="03000509000000000000" pitchFamily="65" charset="-122"/>
                <a:ea typeface="彩虹粗仿宋" panose="03000509000000000000" pitchFamily="65" charset="-122"/>
              </a:rPr>
              <a:t>轮融资</a:t>
            </a:r>
            <a:endParaRPr lang="en-US" altLang="zh-CN" sz="1200" dirty="0">
              <a:latin typeface="彩虹粗仿宋" panose="03000509000000000000" pitchFamily="65" charset="-122"/>
              <a:ea typeface="彩虹粗仿宋" panose="03000509000000000000" pitchFamily="65" charset="-122"/>
            </a:endParaRPr>
          </a:p>
          <a:p>
            <a:r>
              <a:rPr lang="en-US" altLang="zh-CN" sz="1200" dirty="0">
                <a:latin typeface="彩虹粗仿宋" panose="03000509000000000000" pitchFamily="65" charset="-122"/>
                <a:ea typeface="彩虹粗仿宋" panose="03000509000000000000" pitchFamily="65" charset="-122"/>
              </a:rPr>
              <a:t>2.76</a:t>
            </a:r>
            <a:r>
              <a:rPr lang="zh-CN" altLang="en-US" sz="1200" dirty="0">
                <a:latin typeface="彩虹粗仿宋" panose="03000509000000000000" pitchFamily="65" charset="-122"/>
                <a:ea typeface="彩虹粗仿宋" panose="03000509000000000000" pitchFamily="65" charset="-122"/>
              </a:rPr>
              <a:t>亿元</a:t>
            </a:r>
            <a:endParaRPr lang="zh-CN" altLang="en-US" sz="1200" dirty="0">
              <a:latin typeface="彩虹粗仿宋" panose="03000509000000000000" pitchFamily="65" charset="-122"/>
              <a:ea typeface="彩虹粗仿宋" panose="03000509000000000000" pitchFamily="65" charset="-122"/>
            </a:endParaRPr>
          </a:p>
        </p:txBody>
      </p:sp>
      <p:sp>
        <p:nvSpPr>
          <p:cNvPr id="20" name="文本框 95"/>
          <p:cNvSpPr txBox="1"/>
          <p:nvPr>
            <p:custDataLst>
              <p:tags r:id="rId13"/>
            </p:custDataLst>
          </p:nvPr>
        </p:nvSpPr>
        <p:spPr>
          <a:xfrm>
            <a:off x="6421659" y="4696702"/>
            <a:ext cx="1580141" cy="461665"/>
          </a:xfrm>
          <a:prstGeom prst="rect">
            <a:avLst/>
          </a:prstGeom>
          <a:noFill/>
        </p:spPr>
        <p:txBody>
          <a:bodyPr wrap="square" rtlCol="0">
            <a:spAutoFit/>
          </a:bodyPr>
          <a:lstStyle/>
          <a:p>
            <a:r>
              <a:rPr lang="zh-CN" altLang="en-US" sz="1200" dirty="0">
                <a:latin typeface="彩虹粗仿宋" panose="03000509000000000000" pitchFamily="65" charset="-122"/>
                <a:ea typeface="彩虹粗仿宋" panose="03000509000000000000" pitchFamily="65" charset="-122"/>
              </a:rPr>
              <a:t>完成</a:t>
            </a:r>
            <a:r>
              <a:rPr lang="en-US" altLang="zh-CN" sz="1200" dirty="0">
                <a:latin typeface="彩虹粗仿宋" panose="03000509000000000000" pitchFamily="65" charset="-122"/>
                <a:ea typeface="彩虹粗仿宋" panose="03000509000000000000" pitchFamily="65" charset="-122"/>
              </a:rPr>
              <a:t>B+</a:t>
            </a:r>
            <a:r>
              <a:rPr lang="zh-CN" altLang="en-US" sz="1200" dirty="0">
                <a:latin typeface="彩虹粗仿宋" panose="03000509000000000000" pitchFamily="65" charset="-122"/>
                <a:ea typeface="彩虹粗仿宋" panose="03000509000000000000" pitchFamily="65" charset="-122"/>
              </a:rPr>
              <a:t>轮融资</a:t>
            </a:r>
            <a:endParaRPr lang="en-US" altLang="zh-CN" sz="1200" dirty="0">
              <a:latin typeface="彩虹粗仿宋" panose="03000509000000000000" pitchFamily="65" charset="-122"/>
              <a:ea typeface="彩虹粗仿宋" panose="03000509000000000000" pitchFamily="65" charset="-122"/>
            </a:endParaRPr>
          </a:p>
          <a:p>
            <a:r>
              <a:rPr lang="en-US" altLang="zh-CN" sz="1200" dirty="0">
                <a:latin typeface="彩虹粗仿宋" panose="03000509000000000000" pitchFamily="65" charset="-122"/>
                <a:ea typeface="彩虹粗仿宋" panose="03000509000000000000" pitchFamily="65" charset="-122"/>
              </a:rPr>
              <a:t>4000</a:t>
            </a:r>
            <a:r>
              <a:rPr lang="zh-CN" altLang="en-US" sz="1200" dirty="0">
                <a:latin typeface="彩虹粗仿宋" panose="03000509000000000000" pitchFamily="65" charset="-122"/>
                <a:ea typeface="彩虹粗仿宋" panose="03000509000000000000" pitchFamily="65" charset="-122"/>
              </a:rPr>
              <a:t>万元</a:t>
            </a:r>
            <a:endParaRPr lang="zh-CN" altLang="en-US" sz="1200" dirty="0">
              <a:latin typeface="彩虹粗仿宋" panose="03000509000000000000" pitchFamily="65" charset="-122"/>
              <a:ea typeface="彩虹粗仿宋" panose="03000509000000000000" pitchFamily="65" charset="-122"/>
            </a:endParaRPr>
          </a:p>
        </p:txBody>
      </p:sp>
      <p:sp>
        <p:nvSpPr>
          <p:cNvPr id="21" name="文本框 20"/>
          <p:cNvSpPr txBox="1"/>
          <p:nvPr/>
        </p:nvSpPr>
        <p:spPr>
          <a:xfrm>
            <a:off x="10147305" y="4696702"/>
            <a:ext cx="1690934" cy="460375"/>
          </a:xfrm>
          <a:prstGeom prst="rect">
            <a:avLst/>
          </a:prstGeom>
          <a:noFill/>
        </p:spPr>
        <p:txBody>
          <a:bodyPr wrap="square" rtlCol="0" anchor="t">
            <a:spAutoFit/>
          </a:bodyPr>
          <a:lstStyle/>
          <a:p>
            <a:r>
              <a:rPr lang="zh-CN" altLang="en-US" sz="1200" dirty="0">
                <a:latin typeface="彩虹粗仿宋" panose="03000509000000000000" pitchFamily="65" charset="-122"/>
                <a:ea typeface="彩虹粗仿宋" panose="03000509000000000000" pitchFamily="65" charset="-122"/>
              </a:rPr>
              <a:t>完成</a:t>
            </a:r>
            <a:r>
              <a:rPr lang="en-US" altLang="zh-CN" sz="1200" dirty="0">
                <a:latin typeface="彩虹粗仿宋" panose="03000509000000000000" pitchFamily="65" charset="-122"/>
                <a:ea typeface="彩虹粗仿宋" panose="03000509000000000000" pitchFamily="65" charset="-122"/>
              </a:rPr>
              <a:t>C</a:t>
            </a:r>
            <a:r>
              <a:rPr lang="zh-CN" altLang="en-US" sz="1200" dirty="0">
                <a:latin typeface="彩虹粗仿宋" panose="03000509000000000000" pitchFamily="65" charset="-122"/>
                <a:ea typeface="彩虹粗仿宋" panose="03000509000000000000" pitchFamily="65" charset="-122"/>
              </a:rPr>
              <a:t>轮融资</a:t>
            </a:r>
            <a:endParaRPr lang="en-US" altLang="zh-CN" sz="1200" dirty="0">
              <a:latin typeface="彩虹粗仿宋" panose="03000509000000000000" pitchFamily="65" charset="-122"/>
              <a:ea typeface="彩虹粗仿宋" panose="03000509000000000000" pitchFamily="65" charset="-122"/>
            </a:endParaRPr>
          </a:p>
          <a:p>
            <a:r>
              <a:rPr lang="en-US" altLang="zh-CN" sz="1200" dirty="0">
                <a:latin typeface="彩虹粗仿宋" panose="03000509000000000000" pitchFamily="65" charset="-122"/>
                <a:ea typeface="彩虹粗仿宋" panose="03000509000000000000" pitchFamily="65" charset="-122"/>
              </a:rPr>
              <a:t>2.91</a:t>
            </a:r>
            <a:r>
              <a:rPr lang="zh-CN" altLang="en-US" sz="1200" dirty="0">
                <a:latin typeface="彩虹粗仿宋" panose="03000509000000000000" pitchFamily="65" charset="-122"/>
                <a:ea typeface="彩虹粗仿宋" panose="03000509000000000000" pitchFamily="65" charset="-122"/>
              </a:rPr>
              <a:t>亿元</a:t>
            </a:r>
            <a:endParaRPr lang="zh-CN" altLang="en-US" sz="1200" dirty="0">
              <a:latin typeface="彩虹粗仿宋" panose="03000509000000000000" pitchFamily="65" charset="-122"/>
              <a:ea typeface="彩虹粗仿宋" panose="03000509000000000000" pitchFamily="65" charset="-122"/>
            </a:endParaRPr>
          </a:p>
        </p:txBody>
      </p:sp>
      <p:grpSp>
        <p:nvGrpSpPr>
          <p:cNvPr id="30" name="组合 29"/>
          <p:cNvGrpSpPr>
            <a:grpSpLocks noChangeAspect="1"/>
          </p:cNvGrpSpPr>
          <p:nvPr/>
        </p:nvGrpSpPr>
        <p:grpSpPr>
          <a:xfrm>
            <a:off x="353760" y="5514884"/>
            <a:ext cx="11448000" cy="664912"/>
            <a:chOff x="457200" y="4061725"/>
            <a:chExt cx="7145782" cy="415025"/>
          </a:xfrm>
        </p:grpSpPr>
        <p:pic>
          <p:nvPicPr>
            <p:cNvPr id="24" name="Picture 2"/>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57200" y="4066376"/>
              <a:ext cx="1205887" cy="379142"/>
            </a:xfrm>
            <a:prstGeom prst="rect">
              <a:avLst/>
            </a:prstGeom>
            <a:noFill/>
            <a:extLst>
              <a:ext uri="{909E8E84-426E-40DD-AFC4-6F175D3DCCD1}">
                <a14:hiddenFill xmlns:a14="http://schemas.microsoft.com/office/drawing/2010/main">
                  <a:solidFill>
                    <a:srgbClr val="FFFFFF"/>
                  </a:solidFill>
                </a14:hiddenFill>
              </a:ext>
            </a:extLst>
          </p:spPr>
        </p:pic>
        <p:pic>
          <p:nvPicPr>
            <p:cNvPr id="25" name="图片 2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977752" y="4061725"/>
              <a:ext cx="908448" cy="400111"/>
            </a:xfrm>
            <a:prstGeom prst="rect">
              <a:avLst/>
            </a:prstGeom>
          </p:spPr>
        </p:pic>
        <p:pic>
          <p:nvPicPr>
            <p:cNvPr id="26"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48801" y="4120194"/>
              <a:ext cx="1056599" cy="300074"/>
            </a:xfrm>
            <a:prstGeom prst="rect">
              <a:avLst/>
            </a:prstGeom>
            <a:noFill/>
            <a:extLst>
              <a:ext uri="{909E8E84-426E-40DD-AFC4-6F175D3DCCD1}">
                <a14:hiddenFill xmlns:a14="http://schemas.microsoft.com/office/drawing/2010/main">
                  <a:solidFill>
                    <a:srgbClr val="FFFFFF"/>
                  </a:solidFill>
                </a14:hiddenFill>
              </a:ext>
            </a:extLst>
          </p:spPr>
        </p:pic>
        <p:pic>
          <p:nvPicPr>
            <p:cNvPr id="27" name="图片 26"/>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208080" y="4071489"/>
              <a:ext cx="1192720" cy="405261"/>
            </a:xfrm>
            <a:prstGeom prst="rect">
              <a:avLst/>
            </a:prstGeom>
          </p:spPr>
        </p:pic>
        <p:pic>
          <p:nvPicPr>
            <p:cNvPr id="28" name="图片 27"/>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635631" y="4084931"/>
              <a:ext cx="1192719" cy="379142"/>
            </a:xfrm>
            <a:prstGeom prst="rect">
              <a:avLst/>
            </a:prstGeom>
          </p:spPr>
        </p:pic>
        <p:pic>
          <p:nvPicPr>
            <p:cNvPr id="29" name="图片 28"/>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410262" y="4095500"/>
              <a:ext cx="1192720" cy="356159"/>
            </a:xfrm>
            <a:prstGeom prst="rect">
              <a:avLst/>
            </a:prstGeom>
          </p:spPr>
        </p:pic>
      </p:grpSp>
    </p:spTree>
    <p:custDataLst>
      <p:tags r:id="rId2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公司介绍</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核心团队成员</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nvGrpSpPr>
          <p:cNvPr id="41" name="组合 40"/>
          <p:cNvGrpSpPr/>
          <p:nvPr/>
        </p:nvGrpSpPr>
        <p:grpSpPr>
          <a:xfrm>
            <a:off x="228946" y="966104"/>
            <a:ext cx="11742333" cy="5844599"/>
            <a:chOff x="123846" y="724367"/>
            <a:chExt cx="8867754" cy="4514383"/>
          </a:xfrm>
        </p:grpSpPr>
        <p:pic>
          <p:nvPicPr>
            <p:cNvPr id="2" name="图片 1"/>
            <p:cNvPicPr>
              <a:picLocks noChangeAspect="1"/>
            </p:cNvPicPr>
            <p:nvPr>
              <p:custDataLst>
                <p:tags r:id="rId1"/>
              </p:custDataLst>
            </p:nvPr>
          </p:nvPicPr>
          <p:blipFill rotWithShape="1">
            <a:blip r:embed="rId2" cstate="print">
              <a:extLst>
                <a:ext uri="{BEBA8EAE-BF5A-486C-A8C5-ECC9F3942E4B}">
                  <a14:imgProps xmlns:a14="http://schemas.microsoft.com/office/drawing/2010/main">
                    <a14:imgLayer r:embed="rId3">
                      <a14:imgEffect>
                        <a14:backgroundRemoval t="9507" b="76056" l="9769" r="92802">
                          <a14:foregroundMark x1="24165" y1="56866" x2="55013" y2="64965"/>
                          <a14:foregroundMark x1="55013" y1="64965" x2="81491" y2="66549"/>
                          <a14:foregroundMark x1="28535" y1="55106" x2="20566" y2="65493"/>
                          <a14:foregroundMark x1="25964" y1="64789" x2="63239" y2="76408"/>
                          <a14:foregroundMark x1="63239" y1="76408" x2="73522" y2="75704"/>
                          <a14:foregroundMark x1="29049" y1="57394" x2="29820" y2="66021"/>
                          <a14:foregroundMark x1="25707" y1="53345" x2="19023" y2="61092"/>
                          <a14:foregroundMark x1="18766" y1="60915" x2="25450" y2="64261"/>
                          <a14:foregroundMark x1="16452" y1="61092" x2="40103" y2="69190"/>
                          <a14:foregroundMark x1="19280" y1="63380" x2="46530" y2="71655"/>
                          <a14:foregroundMark x1="46530" y1="71655" x2="49100" y2="71655"/>
                          <a14:foregroundMark x1="37018" y1="65845" x2="55527" y2="68838"/>
                          <a14:foregroundMark x1="36761" y1="52817" x2="60154" y2="55106"/>
                          <a14:foregroundMark x1="37018" y1="55282" x2="66067" y2="61268"/>
                          <a14:foregroundMark x1="66067" y1="61268" x2="67609" y2="61268"/>
                          <a14:foregroundMark x1="60154" y1="58627" x2="93059" y2="61972"/>
                          <a14:foregroundMark x1="28792" y1="64789" x2="30334" y2="70775"/>
                          <a14:foregroundMark x1="55013" y1="68134" x2="90746" y2="66197"/>
                          <a14:foregroundMark x1="42159" y1="9683" x2="54499" y2="9507"/>
                        </a14:backgroundRemoval>
                      </a14:imgEffect>
                    </a14:imgLayer>
                  </a14:imgProps>
                </a:ext>
              </a:extLst>
            </a:blip>
            <a:srcRect t="3659" b="27817"/>
            <a:stretch>
              <a:fillRect/>
            </a:stretch>
          </p:blipFill>
          <p:spPr>
            <a:xfrm>
              <a:off x="628660" y="724367"/>
              <a:ext cx="708660" cy="708660"/>
            </a:xfrm>
            <a:prstGeom prst="ellipse">
              <a:avLst/>
            </a:prstGeom>
            <a:effectLst>
              <a:outerShdw blurRad="50800" dist="38100" dir="2700000" algn="tl" rotWithShape="0">
                <a:prstClr val="black">
                  <a:alpha val="40000"/>
                </a:prstClr>
              </a:outerShdw>
            </a:effectLst>
          </p:spPr>
        </p:pic>
        <p:sp>
          <p:nvSpPr>
            <p:cNvPr id="3" name="TextBox 20"/>
            <p:cNvSpPr txBox="1"/>
            <p:nvPr>
              <p:custDataLst>
                <p:tags r:id="rId4"/>
              </p:custDataLst>
            </p:nvPr>
          </p:nvSpPr>
          <p:spPr>
            <a:xfrm>
              <a:off x="487690" y="1473682"/>
              <a:ext cx="990600" cy="269424"/>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lnSpc>
                  <a:spcPts val="2000"/>
                </a:lnSpc>
                <a:defRPr/>
              </a:pPr>
              <a:r>
                <a:rPr lang="zh-CN" altLang="en-US" b="1" dirty="0">
                  <a:solidFill>
                    <a:schemeClr val="tx1"/>
                  </a:solidFill>
                  <a:latin typeface="彩虹粗仿宋" panose="03000509000000000000" pitchFamily="65" charset="-122"/>
                  <a:ea typeface="彩虹粗仿宋" panose="03000509000000000000" pitchFamily="65" charset="-122"/>
                  <a:cs typeface="+mn-ea"/>
                  <a:sym typeface="微软雅黑" panose="020B0503020204020204" charset="-122"/>
                </a:rPr>
                <a:t>曹鹏 </a:t>
              </a:r>
              <a:r>
                <a:rPr lang="zh-CN" altLang="en-US" b="1" dirty="0">
                  <a:latin typeface="彩虹粗仿宋" panose="03000509000000000000" pitchFamily="65" charset="-122"/>
                  <a:ea typeface="彩虹粗仿宋" panose="03000509000000000000" pitchFamily="65" charset="-122"/>
                  <a:cs typeface="+mn-ea"/>
                  <a:sym typeface="微软雅黑" panose="020B0503020204020204" charset="-122"/>
                </a:rPr>
                <a:t>博士</a:t>
              </a:r>
              <a:endParaRPr lang="zh-CN" altLang="en-US" b="1" dirty="0">
                <a:solidFill>
                  <a:schemeClr val="tx1"/>
                </a:solidFill>
                <a:latin typeface="彩虹粗仿宋" panose="03000509000000000000" pitchFamily="65" charset="-122"/>
                <a:ea typeface="彩虹粗仿宋" panose="03000509000000000000" pitchFamily="65" charset="-122"/>
                <a:cs typeface="+mn-ea"/>
                <a:sym typeface="微软雅黑" panose="020B0503020204020204" charset="-122"/>
              </a:endParaRPr>
            </a:p>
          </p:txBody>
        </p:sp>
        <p:sp>
          <p:nvSpPr>
            <p:cNvPr id="4" name="文本框 3"/>
            <p:cNvSpPr txBox="1"/>
            <p:nvPr/>
          </p:nvSpPr>
          <p:spPr>
            <a:xfrm>
              <a:off x="1457754" y="779136"/>
              <a:ext cx="2859337" cy="784501"/>
            </a:xfrm>
            <a:prstGeom prst="rect">
              <a:avLst/>
            </a:prstGeom>
            <a:noFill/>
          </p:spPr>
          <p:txBody>
            <a:bodyPr wrap="square">
              <a:spAutoFit/>
            </a:bodyPr>
            <a:lstStyle/>
            <a:p>
              <a:pPr algn="just"/>
              <a:r>
                <a:rPr lang="zh-CN" altLang="en-US" sz="1200" dirty="0">
                  <a:latin typeface="彩虹粗仿宋" panose="03000509000000000000" pitchFamily="65" charset="-122"/>
                  <a:ea typeface="彩虹粗仿宋" panose="03000509000000000000" pitchFamily="65" charset="-122"/>
                  <a:sym typeface="微软雅黑" panose="020B0503020204020204" charset="-122"/>
                </a:rPr>
                <a:t>西安交通大学</a:t>
              </a:r>
              <a:r>
                <a:rPr lang="en-US" altLang="zh-CN" sz="1200" dirty="0">
                  <a:latin typeface="彩虹粗仿宋" panose="03000509000000000000" pitchFamily="65" charset="-122"/>
                  <a:ea typeface="彩虹粗仿宋" panose="03000509000000000000" pitchFamily="65" charset="-122"/>
                  <a:sym typeface="微软雅黑" panose="020B0503020204020204" charset="-122"/>
                </a:rPr>
                <a:t> </a:t>
              </a:r>
              <a:r>
                <a:rPr lang="zh-CN" altLang="en-US" sz="1200" dirty="0">
                  <a:latin typeface="彩虹粗仿宋" panose="03000509000000000000" pitchFamily="65" charset="-122"/>
                  <a:ea typeface="彩虹粗仿宋" panose="03000509000000000000" pitchFamily="65" charset="-122"/>
                  <a:sym typeface="微软雅黑" panose="020B0503020204020204" charset="-122"/>
                </a:rPr>
                <a:t>生物医学工程</a:t>
              </a:r>
              <a:r>
                <a:rPr lang="en-US" altLang="zh-CN" sz="1200" dirty="0">
                  <a:latin typeface="彩虹粗仿宋" panose="03000509000000000000" pitchFamily="65" charset="-122"/>
                  <a:ea typeface="彩虹粗仿宋" panose="03000509000000000000" pitchFamily="65" charset="-122"/>
                  <a:sym typeface="微软雅黑" panose="020B0503020204020204" charset="-122"/>
                </a:rPr>
                <a:t> </a:t>
              </a:r>
              <a:r>
                <a:rPr lang="zh-CN" altLang="en-US" sz="1200" dirty="0">
                  <a:latin typeface="彩虹粗仿宋" panose="03000509000000000000" pitchFamily="65" charset="-122"/>
                  <a:ea typeface="彩虹粗仿宋" panose="03000509000000000000" pitchFamily="65" charset="-122"/>
                  <a:sym typeface="微软雅黑" panose="020B0503020204020204" charset="-122"/>
                </a:rPr>
                <a:t>学士</a:t>
              </a:r>
              <a:endParaRPr lang="en-US" altLang="zh-CN" sz="1200" dirty="0">
                <a:latin typeface="彩虹粗仿宋" panose="03000509000000000000" pitchFamily="65" charset="-122"/>
                <a:ea typeface="彩虹粗仿宋" panose="03000509000000000000" pitchFamily="65" charset="-122"/>
                <a:sym typeface="微软雅黑" panose="020B0503020204020204" charset="-122"/>
              </a:endParaRPr>
            </a:p>
            <a:p>
              <a:pPr marL="0" marR="0" algn="just"/>
              <a:r>
                <a:rPr lang="zh-CN" altLang="en-US" sz="1200" dirty="0">
                  <a:latin typeface="彩虹粗仿宋" panose="03000509000000000000" pitchFamily="65" charset="-122"/>
                  <a:ea typeface="彩虹粗仿宋" panose="03000509000000000000" pitchFamily="65" charset="-122"/>
                  <a:sym typeface="微软雅黑" panose="020B0503020204020204" charset="-122"/>
                </a:rPr>
                <a:t>法国贡比涅技术大学</a:t>
              </a:r>
              <a:r>
                <a:rPr lang="en-US" altLang="zh-CN" sz="1200" dirty="0">
                  <a:latin typeface="彩虹粗仿宋" panose="03000509000000000000" pitchFamily="65" charset="-122"/>
                  <a:ea typeface="彩虹粗仿宋" panose="03000509000000000000" pitchFamily="65" charset="-122"/>
                  <a:sym typeface="微软雅黑" panose="020B0503020204020204" charset="-122"/>
                </a:rPr>
                <a:t> </a:t>
              </a:r>
              <a:r>
                <a:rPr lang="zh-CN" altLang="en-US" sz="1200" dirty="0">
                  <a:latin typeface="彩虹粗仿宋" panose="03000509000000000000" pitchFamily="65" charset="-122"/>
                  <a:ea typeface="彩虹粗仿宋" panose="03000509000000000000" pitchFamily="65" charset="-122"/>
                  <a:sym typeface="微软雅黑" panose="020B0503020204020204" charset="-122"/>
                </a:rPr>
                <a:t>生物工程与生物力学</a:t>
              </a:r>
              <a:r>
                <a:rPr lang="en-US" altLang="zh-CN" sz="1200" dirty="0">
                  <a:latin typeface="彩虹粗仿宋" panose="03000509000000000000" pitchFamily="65" charset="-122"/>
                  <a:ea typeface="彩虹粗仿宋" panose="03000509000000000000" pitchFamily="65" charset="-122"/>
                  <a:sym typeface="微软雅黑" panose="020B0503020204020204" charset="-122"/>
                </a:rPr>
                <a:t> </a:t>
              </a:r>
              <a:r>
                <a:rPr lang="zh-CN" altLang="en-US" sz="1200" dirty="0">
                  <a:latin typeface="彩虹粗仿宋" panose="03000509000000000000" pitchFamily="65" charset="-122"/>
                  <a:ea typeface="彩虹粗仿宋" panose="03000509000000000000" pitchFamily="65" charset="-122"/>
                  <a:sym typeface="微软雅黑" panose="020B0503020204020204" charset="-122"/>
                </a:rPr>
                <a:t>博士</a:t>
              </a:r>
              <a:endParaRPr lang="en-US" altLang="zh-CN" sz="1200" dirty="0">
                <a:latin typeface="彩虹粗仿宋" panose="03000509000000000000" pitchFamily="65" charset="-122"/>
                <a:ea typeface="彩虹粗仿宋" panose="03000509000000000000" pitchFamily="65" charset="-122"/>
                <a:sym typeface="微软雅黑" panose="020B0503020204020204" charset="-122"/>
              </a:endParaRPr>
            </a:p>
            <a:p>
              <a:pPr marL="0" marR="0" algn="just"/>
              <a:r>
                <a:rPr lang="zh-CN" altLang="en-US" sz="1200" dirty="0">
                  <a:latin typeface="彩虹粗仿宋" panose="03000509000000000000" pitchFamily="65" charset="-122"/>
                  <a:ea typeface="彩虹粗仿宋" panose="03000509000000000000" pitchFamily="65" charset="-122"/>
                  <a:sym typeface="微软雅黑" panose="020B0503020204020204" charset="-122"/>
                </a:rPr>
                <a:t>浙江省海外高层次人才专家</a:t>
              </a:r>
              <a:endParaRPr lang="zh-CN" altLang="en-US" sz="1200" dirty="0">
                <a:latin typeface="彩虹粗仿宋" panose="03000509000000000000" pitchFamily="65" charset="-122"/>
                <a:ea typeface="彩虹粗仿宋" panose="03000509000000000000" pitchFamily="65" charset="-122"/>
                <a:sym typeface="微软雅黑" panose="020B0503020204020204" charset="-122"/>
              </a:endParaRPr>
            </a:p>
            <a:p>
              <a:pPr marL="0" marR="0" algn="just"/>
              <a:r>
                <a:rPr lang="zh-CN" altLang="en-US" sz="1200" dirty="0">
                  <a:latin typeface="彩虹粗仿宋" panose="03000509000000000000" pitchFamily="65" charset="-122"/>
                  <a:ea typeface="彩虹粗仿宋" panose="03000509000000000000" pitchFamily="65" charset="-122"/>
                  <a:sym typeface="微软雅黑" panose="020B0503020204020204" charset="-122"/>
                </a:rPr>
                <a:t>首都医科大学 特聘教授、博士生导师</a:t>
              </a:r>
              <a:endParaRPr lang="en-US" altLang="zh-CN" sz="1200" dirty="0">
                <a:latin typeface="彩虹粗仿宋" panose="03000509000000000000" pitchFamily="65" charset="-122"/>
                <a:ea typeface="彩虹粗仿宋" panose="03000509000000000000" pitchFamily="65" charset="-122"/>
                <a:sym typeface="微软雅黑" panose="020B0503020204020204" charset="-122"/>
              </a:endParaRPr>
            </a:p>
            <a:p>
              <a:pPr marL="0" marR="0" algn="just"/>
              <a:r>
                <a:rPr lang="zh-CN" altLang="en-US" sz="1200" dirty="0">
                  <a:latin typeface="彩虹粗仿宋" panose="03000509000000000000" pitchFamily="65" charset="-122"/>
                  <a:ea typeface="彩虹粗仿宋" panose="03000509000000000000" pitchFamily="65" charset="-122"/>
                  <a:sym typeface="微软雅黑" panose="020B0503020204020204" charset="-122"/>
                </a:rPr>
                <a:t>曾任健世科技总经理</a:t>
              </a:r>
              <a:endParaRPr lang="zh-CN" altLang="en-US" sz="1200" dirty="0">
                <a:latin typeface="彩虹粗仿宋" panose="03000509000000000000" pitchFamily="65" charset="-122"/>
                <a:ea typeface="彩虹粗仿宋" panose="03000509000000000000" pitchFamily="65" charset="-122"/>
                <a:sym typeface="微软雅黑" panose="020B0503020204020204" charset="-122"/>
              </a:endParaRPr>
            </a:p>
          </p:txBody>
        </p:sp>
        <p:graphicFrame>
          <p:nvGraphicFramePr>
            <p:cNvPr id="5" name="图示 4"/>
            <p:cNvGraphicFramePr/>
            <p:nvPr/>
          </p:nvGraphicFramePr>
          <p:xfrm>
            <a:off x="457199" y="4018847"/>
            <a:ext cx="8534401" cy="121990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Rectangle 2"/>
            <p:cNvSpPr>
              <a:spLocks noChangeArrowheads="1"/>
            </p:cNvSpPr>
            <p:nvPr/>
          </p:nvSpPr>
          <p:spPr bwMode="gray">
            <a:xfrm>
              <a:off x="867744" y="1989980"/>
              <a:ext cx="1875456" cy="728464"/>
            </a:xfrm>
            <a:prstGeom prst="rect">
              <a:avLst/>
            </a:prstGeom>
            <a:solidFill>
              <a:schemeClr val="accent1">
                <a:lumMod val="40000"/>
                <a:lumOff val="60000"/>
              </a:schemeClr>
            </a:solidFill>
            <a:ln w="6350">
              <a:solidFill>
                <a:schemeClr val="accent1">
                  <a:lumMod val="40000"/>
                  <a:lumOff val="60000"/>
                </a:schemeClr>
              </a:solidFill>
              <a:miter lim="800000"/>
              <a:headEnd type="none" w="sm" len="sm"/>
              <a:tailEnd type="none" w="sm" len="sm"/>
            </a:ln>
            <a:effectLst/>
          </p:spPr>
          <p:txBody>
            <a:bodyPr vert="horz" wrap="square" lIns="22221" tIns="46527" rIns="22221" bIns="46527" numCol="1" anchor="ctr" anchorCtr="0" compatLnSpc="1"/>
            <a:lstStyle/>
            <a:p>
              <a:pPr defTabSz="7315200"/>
              <a:r>
                <a:rPr lang="zh-CN" altLang="en-US" b="1" dirty="0">
                  <a:latin typeface="彩虹粗仿宋" panose="03000509000000000000" pitchFamily="65" charset="-122"/>
                  <a:ea typeface="彩虹粗仿宋" panose="03000509000000000000" pitchFamily="65" charset="-122"/>
                </a:rPr>
                <a:t>夏良道 </a:t>
              </a:r>
              <a:r>
                <a:rPr lang="zh-CN" altLang="en-US" sz="1200" b="1" dirty="0">
                  <a:latin typeface="彩虹粗仿宋" panose="03000509000000000000" pitchFamily="65" charset="-122"/>
                  <a:ea typeface="彩虹粗仿宋" panose="03000509000000000000" pitchFamily="65" charset="-122"/>
                </a:rPr>
                <a:t>激光技术负责人</a:t>
              </a:r>
              <a:endParaRPr lang="en-US" altLang="zh-CN" sz="1200" b="1" dirty="0">
                <a:latin typeface="彩虹粗仿宋" panose="03000509000000000000" pitchFamily="65" charset="-122"/>
                <a:ea typeface="彩虹粗仿宋" panose="03000509000000000000" pitchFamily="65" charset="-122"/>
              </a:endParaRPr>
            </a:p>
            <a:p>
              <a:pPr defTabSz="7315200"/>
              <a:r>
                <a:rPr lang="zh-CN" altLang="en-US" sz="1200" dirty="0">
                  <a:latin typeface="彩虹粗仿宋" panose="03000509000000000000" pitchFamily="65" charset="-122"/>
                  <a:ea typeface="彩虹粗仿宋" panose="03000509000000000000" pitchFamily="65" charset="-122"/>
                </a:rPr>
                <a:t>清华大学本科、肯塔基大学博士</a:t>
              </a:r>
              <a:endParaRPr lang="en-US" altLang="zh-CN" sz="1200" dirty="0">
                <a:latin typeface="彩虹粗仿宋" panose="03000509000000000000" pitchFamily="65" charset="-122"/>
                <a:ea typeface="彩虹粗仿宋" panose="03000509000000000000" pitchFamily="65" charset="-122"/>
              </a:endParaRPr>
            </a:p>
            <a:p>
              <a:pPr defTabSz="7315200"/>
              <a:r>
                <a:rPr lang="en-US" altLang="zh-CN" sz="1200" dirty="0">
                  <a:latin typeface="彩虹粗仿宋" panose="03000509000000000000" pitchFamily="65" charset="-122"/>
                  <a:ea typeface="彩虹粗仿宋" panose="03000509000000000000" pitchFamily="65" charset="-122"/>
                </a:rPr>
                <a:t>30</a:t>
              </a:r>
              <a:r>
                <a:rPr lang="zh-CN" altLang="en-US" sz="1200" dirty="0">
                  <a:latin typeface="彩虹粗仿宋" panose="03000509000000000000" pitchFamily="65" charset="-122"/>
                  <a:ea typeface="彩虹粗仿宋" panose="03000509000000000000" pitchFamily="65" charset="-122"/>
                </a:rPr>
                <a:t>年激光研发经验</a:t>
              </a:r>
              <a:endParaRPr lang="en-US" altLang="zh-CN" sz="1200" dirty="0">
                <a:latin typeface="彩虹粗仿宋" panose="03000509000000000000" pitchFamily="65" charset="-122"/>
                <a:ea typeface="彩虹粗仿宋" panose="03000509000000000000" pitchFamily="65" charset="-122"/>
              </a:endParaRPr>
            </a:p>
            <a:p>
              <a:pPr defTabSz="7315200"/>
              <a:r>
                <a:rPr lang="en-US" altLang="zh-CN" sz="1200" dirty="0">
                  <a:latin typeface="彩虹粗仿宋" panose="03000509000000000000" pitchFamily="65" charset="-122"/>
                  <a:ea typeface="彩虹粗仿宋" panose="03000509000000000000" pitchFamily="65" charset="-122"/>
                </a:rPr>
                <a:t>BD</a:t>
              </a:r>
              <a:r>
                <a:rPr lang="zh-CN" altLang="en-US" sz="1200" dirty="0">
                  <a:latin typeface="彩虹粗仿宋" panose="03000509000000000000" pitchFamily="65" charset="-122"/>
                  <a:ea typeface="彩虹粗仿宋" panose="03000509000000000000" pitchFamily="65" charset="-122"/>
                </a:rPr>
                <a:t>公司 波士顿科学</a:t>
              </a:r>
              <a:endParaRPr lang="zh-CN" altLang="zh-CN" sz="1200" dirty="0">
                <a:latin typeface="彩虹粗仿宋" panose="03000509000000000000" pitchFamily="65" charset="-122"/>
                <a:ea typeface="彩虹粗仿宋" panose="03000509000000000000" pitchFamily="65" charset="-122"/>
              </a:endParaRPr>
            </a:p>
          </p:txBody>
        </p:sp>
        <p:cxnSp>
          <p:nvCxnSpPr>
            <p:cNvPr id="7" name="直接箭头连接符 15"/>
            <p:cNvCxnSpPr/>
            <p:nvPr/>
          </p:nvCxnSpPr>
          <p:spPr>
            <a:xfrm flipH="1">
              <a:off x="769215" y="1866037"/>
              <a:ext cx="15408" cy="2568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2"/>
            <p:cNvSpPr>
              <a:spLocks noChangeArrowheads="1"/>
            </p:cNvSpPr>
            <p:nvPr/>
          </p:nvSpPr>
          <p:spPr bwMode="gray">
            <a:xfrm>
              <a:off x="6301005" y="849996"/>
              <a:ext cx="2160000" cy="583031"/>
            </a:xfrm>
            <a:prstGeom prst="rect">
              <a:avLst/>
            </a:prstGeom>
            <a:solidFill>
              <a:srgbClr val="5353B5"/>
            </a:solidFill>
            <a:ln w="6350">
              <a:noFill/>
              <a:miter lim="800000"/>
              <a:headEnd type="none" w="sm" len="sm"/>
              <a:tailEnd type="none" w="sm" len="sm"/>
            </a:ln>
            <a:effectLst/>
          </p:spPr>
          <p:txBody>
            <a:bodyPr vert="horz" wrap="square" lIns="22221" tIns="46527" rIns="22221" bIns="46527" numCol="1" anchor="ctr" anchorCtr="0" compatLnSpc="1"/>
            <a:lstStyle/>
            <a:p>
              <a:pPr defTabSz="7315200"/>
              <a:r>
                <a:rPr lang="zh-CN" altLang="en-US" sz="1600" b="1" dirty="0">
                  <a:solidFill>
                    <a:schemeClr val="bg1"/>
                  </a:solidFill>
                  <a:latin typeface="楷体" panose="02010609060101010101" pitchFamily="49" charset="-122"/>
                  <a:ea typeface="楷体" panose="02010609060101010101" pitchFamily="49" charset="-122"/>
                </a:rPr>
                <a:t>企业家属性：</a:t>
              </a:r>
              <a:endParaRPr lang="en-US" altLang="zh-CN" sz="1600" b="1" dirty="0">
                <a:solidFill>
                  <a:schemeClr val="bg1"/>
                </a:solidFill>
                <a:latin typeface="楷体" panose="02010609060101010101" pitchFamily="49" charset="-122"/>
                <a:ea typeface="楷体" panose="02010609060101010101" pitchFamily="49" charset="-122"/>
              </a:endParaRPr>
            </a:p>
            <a:p>
              <a:pPr defTabSz="7315200"/>
              <a:r>
                <a:rPr lang="zh-CN" altLang="en-US" sz="1400" b="1" dirty="0">
                  <a:solidFill>
                    <a:schemeClr val="bg1"/>
                  </a:solidFill>
                  <a:latin typeface="楷体" panose="02010609060101010101" pitchFamily="49" charset="-122"/>
                  <a:ea typeface="楷体" panose="02010609060101010101" pitchFamily="49" charset="-122"/>
                </a:rPr>
                <a:t>执行力强、精力充沛、资源整合能强、行业认知深刻、国际化视野</a:t>
              </a:r>
              <a:endParaRPr lang="zh-CN" altLang="zh-CN" sz="1400" b="1" dirty="0">
                <a:solidFill>
                  <a:schemeClr val="bg1"/>
                </a:solidFill>
                <a:latin typeface="楷体" panose="02010609060101010101" pitchFamily="49" charset="-122"/>
                <a:ea typeface="楷体" panose="02010609060101010101" pitchFamily="49" charset="-122"/>
              </a:endParaRPr>
            </a:p>
          </p:txBody>
        </p:sp>
        <p:sp>
          <p:nvSpPr>
            <p:cNvPr id="14" name="Rectangle 2"/>
            <p:cNvSpPr>
              <a:spLocks noChangeArrowheads="1"/>
            </p:cNvSpPr>
            <p:nvPr/>
          </p:nvSpPr>
          <p:spPr bwMode="gray">
            <a:xfrm>
              <a:off x="123846" y="2054673"/>
              <a:ext cx="565860" cy="1737540"/>
            </a:xfrm>
            <a:prstGeom prst="rect">
              <a:avLst/>
            </a:prstGeom>
            <a:solidFill>
              <a:srgbClr val="5353B5"/>
            </a:solidFill>
            <a:ln w="6350">
              <a:noFill/>
              <a:miter lim="800000"/>
              <a:headEnd type="none" w="sm" len="sm"/>
              <a:tailEnd type="none" w="sm" len="sm"/>
            </a:ln>
            <a:effectLst/>
          </p:spPr>
          <p:txBody>
            <a:bodyPr vert="eaVert" wrap="square" lIns="22221" tIns="46527" rIns="22221" bIns="46527" numCol="1" anchor="ctr" anchorCtr="0" compatLnSpc="1"/>
            <a:lstStyle/>
            <a:p>
              <a:pPr defTabSz="7315200"/>
              <a:r>
                <a:rPr lang="zh-CN" altLang="en-US" sz="1600" b="1" dirty="0">
                  <a:solidFill>
                    <a:schemeClr val="bg1"/>
                  </a:solidFill>
                  <a:latin typeface="楷体" panose="02010609060101010101" pitchFamily="49" charset="-122"/>
                  <a:ea typeface="楷体" panose="02010609060101010101" pitchFamily="49" charset="-122"/>
                </a:rPr>
                <a:t>科学家属性：</a:t>
              </a:r>
              <a:endParaRPr lang="en-US" altLang="zh-CN" sz="1600" b="1" dirty="0">
                <a:solidFill>
                  <a:schemeClr val="bg1"/>
                </a:solidFill>
                <a:latin typeface="楷体" panose="02010609060101010101" pitchFamily="49" charset="-122"/>
                <a:ea typeface="楷体" panose="02010609060101010101" pitchFamily="49" charset="-122"/>
              </a:endParaRPr>
            </a:p>
            <a:p>
              <a:pPr defTabSz="7315200"/>
              <a:r>
                <a:rPr lang="zh-CN" altLang="en-US" sz="1400" b="1" dirty="0">
                  <a:solidFill>
                    <a:schemeClr val="bg1"/>
                  </a:solidFill>
                  <a:latin typeface="楷体" panose="02010609060101010101" pitchFamily="49" charset="-122"/>
                  <a:ea typeface="楷体" panose="02010609060101010101" pitchFamily="49" charset="-122"/>
                </a:rPr>
                <a:t>核磁技术、</a:t>
              </a:r>
              <a:r>
                <a:rPr lang="en-US" altLang="zh-CN" sz="1400" b="1" dirty="0">
                  <a:solidFill>
                    <a:schemeClr val="bg1"/>
                  </a:solidFill>
                  <a:latin typeface="楷体" panose="02010609060101010101" pitchFamily="49" charset="-122"/>
                  <a:ea typeface="楷体" panose="02010609060101010101" pitchFamily="49" charset="-122"/>
                </a:rPr>
                <a:t>III</a:t>
              </a:r>
              <a:r>
                <a:rPr lang="zh-CN" altLang="en-US" sz="1400" b="1" dirty="0">
                  <a:solidFill>
                    <a:schemeClr val="bg1"/>
                  </a:solidFill>
                  <a:latin typeface="楷体" panose="02010609060101010101" pitchFamily="49" charset="-122"/>
                  <a:ea typeface="楷体" panose="02010609060101010101" pitchFamily="49" charset="-122"/>
                </a:rPr>
                <a:t>类无源</a:t>
              </a:r>
              <a:r>
                <a:rPr lang="en-US" altLang="zh-CN" sz="1400" b="1" dirty="0">
                  <a:solidFill>
                    <a:schemeClr val="bg1"/>
                  </a:solidFill>
                  <a:latin typeface="楷体" panose="02010609060101010101" pitchFamily="49" charset="-122"/>
                  <a:ea typeface="楷体" panose="02010609060101010101" pitchFamily="49" charset="-122"/>
                </a:rPr>
                <a:t>/</a:t>
              </a:r>
              <a:r>
                <a:rPr lang="zh-CN" altLang="en-US" sz="1400" b="1" dirty="0">
                  <a:solidFill>
                    <a:schemeClr val="bg1"/>
                  </a:solidFill>
                  <a:latin typeface="楷体" panose="02010609060101010101" pitchFamily="49" charset="-122"/>
                  <a:ea typeface="楷体" panose="02010609060101010101" pitchFamily="49" charset="-122"/>
                </a:rPr>
                <a:t>有源植介入产品开发经验</a:t>
              </a:r>
              <a:endParaRPr lang="zh-CN" altLang="zh-CN" sz="1400" b="1" dirty="0">
                <a:solidFill>
                  <a:schemeClr val="bg1"/>
                </a:solidFill>
                <a:latin typeface="楷体" panose="02010609060101010101" pitchFamily="49" charset="-122"/>
                <a:ea typeface="楷体" panose="02010609060101010101" pitchFamily="49" charset="-122"/>
              </a:endParaRPr>
            </a:p>
          </p:txBody>
        </p:sp>
        <p:cxnSp>
          <p:nvCxnSpPr>
            <p:cNvPr id="19" name="直接箭头连接符 20"/>
            <p:cNvCxnSpPr/>
            <p:nvPr/>
          </p:nvCxnSpPr>
          <p:spPr>
            <a:xfrm>
              <a:off x="784623" y="1866037"/>
              <a:ext cx="815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2"/>
            <p:cNvSpPr>
              <a:spLocks noChangeArrowheads="1"/>
            </p:cNvSpPr>
            <p:nvPr/>
          </p:nvSpPr>
          <p:spPr bwMode="gray">
            <a:xfrm>
              <a:off x="867744" y="2815788"/>
              <a:ext cx="1875456" cy="728464"/>
            </a:xfrm>
            <a:prstGeom prst="rect">
              <a:avLst/>
            </a:prstGeom>
            <a:solidFill>
              <a:schemeClr val="accent1">
                <a:lumMod val="40000"/>
                <a:lumOff val="60000"/>
              </a:schemeClr>
            </a:solidFill>
            <a:ln w="6350">
              <a:solidFill>
                <a:schemeClr val="accent1">
                  <a:lumMod val="40000"/>
                  <a:lumOff val="60000"/>
                </a:schemeClr>
              </a:solidFill>
              <a:miter lim="800000"/>
              <a:headEnd type="none" w="sm" len="sm"/>
              <a:tailEnd type="none" w="sm" len="sm"/>
            </a:ln>
            <a:effectLst/>
          </p:spPr>
          <p:txBody>
            <a:bodyPr vert="horz" wrap="square" lIns="22221" tIns="46527" rIns="22221" bIns="46527" numCol="1" anchor="ctr" anchorCtr="0" compatLnSpc="1"/>
            <a:lstStyle/>
            <a:p>
              <a:pPr defTabSz="7315200"/>
              <a:r>
                <a:rPr lang="zh-CN" altLang="en-US" b="1" dirty="0">
                  <a:latin typeface="彩虹粗仿宋" panose="03000509000000000000" pitchFamily="65" charset="-122"/>
                  <a:ea typeface="彩虹粗仿宋" panose="03000509000000000000" pitchFamily="65" charset="-122"/>
                </a:rPr>
                <a:t>贾佳 </a:t>
              </a:r>
              <a:r>
                <a:rPr lang="zh-CN" altLang="en-US" sz="1200" b="1" dirty="0">
                  <a:latin typeface="彩虹粗仿宋" panose="03000509000000000000" pitchFamily="65" charset="-122"/>
                  <a:ea typeface="彩虹粗仿宋" panose="03000509000000000000" pitchFamily="65" charset="-122"/>
                </a:rPr>
                <a:t>神经调控研发负责人</a:t>
              </a:r>
              <a:endParaRPr lang="en-US" altLang="zh-CN" sz="1200" b="1" dirty="0">
                <a:latin typeface="彩虹粗仿宋" panose="03000509000000000000" pitchFamily="65" charset="-122"/>
                <a:ea typeface="彩虹粗仿宋" panose="03000509000000000000" pitchFamily="65" charset="-122"/>
              </a:endParaRPr>
            </a:p>
            <a:p>
              <a:pPr defTabSz="7315200"/>
              <a:r>
                <a:rPr lang="zh-CN" altLang="en-US" sz="1200" dirty="0">
                  <a:latin typeface="彩虹粗仿宋" panose="03000509000000000000" pitchFamily="65" charset="-122"/>
                  <a:ea typeface="彩虹粗仿宋" panose="03000509000000000000" pitchFamily="65" charset="-122"/>
                </a:rPr>
                <a:t>曹鹏本科同学</a:t>
              </a:r>
              <a:endParaRPr lang="en-US" altLang="zh-CN" sz="1200" dirty="0">
                <a:latin typeface="彩虹粗仿宋" panose="03000509000000000000" pitchFamily="65" charset="-122"/>
                <a:ea typeface="彩虹粗仿宋" panose="03000509000000000000" pitchFamily="65" charset="-122"/>
              </a:endParaRPr>
            </a:p>
            <a:p>
              <a:pPr defTabSz="7315200"/>
              <a:r>
                <a:rPr lang="zh-CN" altLang="en-US" sz="1200" dirty="0">
                  <a:latin typeface="彩虹粗仿宋" panose="03000509000000000000" pitchFamily="65" charset="-122"/>
                  <a:ea typeface="彩虹粗仿宋" panose="03000509000000000000" pitchFamily="65" charset="-122"/>
                </a:rPr>
                <a:t>浙江大学高等研究院硕士</a:t>
              </a:r>
              <a:endParaRPr lang="en-US" altLang="zh-CN" sz="1200" dirty="0">
                <a:latin typeface="彩虹粗仿宋" panose="03000509000000000000" pitchFamily="65" charset="-122"/>
                <a:ea typeface="彩虹粗仿宋" panose="03000509000000000000" pitchFamily="65" charset="-122"/>
              </a:endParaRPr>
            </a:p>
          </p:txBody>
        </p:sp>
        <p:sp>
          <p:nvSpPr>
            <p:cNvPr id="21" name="Rectangle 2"/>
            <p:cNvSpPr>
              <a:spLocks noChangeArrowheads="1"/>
            </p:cNvSpPr>
            <p:nvPr/>
          </p:nvSpPr>
          <p:spPr bwMode="gray">
            <a:xfrm>
              <a:off x="2739588" y="1989980"/>
              <a:ext cx="765612" cy="728464"/>
            </a:xfrm>
            <a:prstGeom prst="rect">
              <a:avLst/>
            </a:prstGeom>
            <a:solidFill>
              <a:schemeClr val="accent6">
                <a:lumMod val="20000"/>
                <a:lumOff val="80000"/>
              </a:schemeClr>
            </a:solidFill>
            <a:ln w="6350">
              <a:solidFill>
                <a:schemeClr val="accent6">
                  <a:lumMod val="20000"/>
                  <a:lumOff val="80000"/>
                </a:schemeClr>
              </a:solidFill>
              <a:miter lim="800000"/>
              <a:headEnd type="none" w="sm" len="sm"/>
              <a:tailEnd type="none" w="sm" len="sm"/>
            </a:ln>
            <a:effectLst/>
          </p:spPr>
          <p:txBody>
            <a:bodyPr vert="horz" wrap="square" lIns="22221" tIns="46527" rIns="22221" bIns="46527" numCol="1" anchor="ctr" anchorCtr="0" compatLnSpc="1"/>
            <a:lstStyle/>
            <a:p>
              <a:pPr algn="ctr" defTabSz="7315200"/>
              <a:r>
                <a:rPr lang="zh-CN" altLang="en-US" sz="1200" dirty="0">
                  <a:latin typeface="彩虹粗仿宋" panose="03000509000000000000" pitchFamily="65" charset="-122"/>
                  <a:ea typeface="彩虹粗仿宋" panose="03000509000000000000" pitchFamily="65" charset="-122"/>
                </a:rPr>
                <a:t>与曹鹏核磁研发经验结合开发出</a:t>
              </a:r>
              <a:r>
                <a:rPr lang="en-US" altLang="zh-CN" sz="1200" dirty="0">
                  <a:latin typeface="彩虹粗仿宋" panose="03000509000000000000" pitchFamily="65" charset="-122"/>
                  <a:ea typeface="彩虹粗仿宋" panose="03000509000000000000" pitchFamily="65" charset="-122"/>
                </a:rPr>
                <a:t>LITT</a:t>
              </a:r>
              <a:r>
                <a:rPr lang="zh-CN" altLang="en-US" sz="1200" dirty="0">
                  <a:latin typeface="彩虹粗仿宋" panose="03000509000000000000" pitchFamily="65" charset="-122"/>
                  <a:ea typeface="彩虹粗仿宋" panose="03000509000000000000" pitchFamily="65" charset="-122"/>
                </a:rPr>
                <a:t>产品</a:t>
              </a:r>
              <a:endParaRPr lang="zh-CN" altLang="zh-CN" sz="1200" dirty="0">
                <a:latin typeface="彩虹粗仿宋" panose="03000509000000000000" pitchFamily="65" charset="-122"/>
                <a:ea typeface="彩虹粗仿宋" panose="03000509000000000000" pitchFamily="65" charset="-122"/>
              </a:endParaRPr>
            </a:p>
          </p:txBody>
        </p:sp>
        <p:sp>
          <p:nvSpPr>
            <p:cNvPr id="22" name="Rectangle 2"/>
            <p:cNvSpPr>
              <a:spLocks noChangeArrowheads="1"/>
            </p:cNvSpPr>
            <p:nvPr/>
          </p:nvSpPr>
          <p:spPr bwMode="gray">
            <a:xfrm>
              <a:off x="2743200" y="2815788"/>
              <a:ext cx="765612" cy="728464"/>
            </a:xfrm>
            <a:prstGeom prst="rect">
              <a:avLst/>
            </a:prstGeom>
            <a:solidFill>
              <a:schemeClr val="accent6">
                <a:lumMod val="20000"/>
                <a:lumOff val="80000"/>
              </a:schemeClr>
            </a:solidFill>
            <a:ln w="6350">
              <a:solidFill>
                <a:schemeClr val="accent6">
                  <a:lumMod val="20000"/>
                  <a:lumOff val="80000"/>
                </a:schemeClr>
              </a:solidFill>
              <a:miter lim="800000"/>
              <a:headEnd type="none" w="sm" len="sm"/>
              <a:tailEnd type="none" w="sm" len="sm"/>
            </a:ln>
            <a:effectLst/>
          </p:spPr>
          <p:txBody>
            <a:bodyPr vert="horz" wrap="square" lIns="22221" tIns="46527" rIns="22221" bIns="46527" numCol="1" anchor="ctr" anchorCtr="0" compatLnSpc="1"/>
            <a:lstStyle/>
            <a:p>
              <a:pPr algn="ctr" defTabSz="7315200"/>
              <a:r>
                <a:rPr lang="en-US" altLang="zh-CN" sz="1200" dirty="0">
                  <a:latin typeface="彩虹粗仿宋" panose="03000509000000000000" pitchFamily="65" charset="-122"/>
                  <a:ea typeface="彩虹粗仿宋" panose="03000509000000000000" pitchFamily="65" charset="-122"/>
                </a:rPr>
                <a:t>SEEG</a:t>
              </a:r>
              <a:r>
                <a:rPr lang="zh-CN" altLang="en-US" sz="1200" dirty="0">
                  <a:latin typeface="彩虹粗仿宋" panose="03000509000000000000" pitchFamily="65" charset="-122"/>
                  <a:ea typeface="彩虹粗仿宋" panose="03000509000000000000" pitchFamily="65" charset="-122"/>
                </a:rPr>
                <a:t>电极、</a:t>
              </a:r>
              <a:endParaRPr lang="en-US" altLang="zh-CN" sz="1200" dirty="0">
                <a:latin typeface="彩虹粗仿宋" panose="03000509000000000000" pitchFamily="65" charset="-122"/>
                <a:ea typeface="彩虹粗仿宋" panose="03000509000000000000" pitchFamily="65" charset="-122"/>
              </a:endParaRPr>
            </a:p>
            <a:p>
              <a:pPr algn="ctr" defTabSz="7315200"/>
              <a:r>
                <a:rPr lang="zh-CN" altLang="en-US" sz="1200" dirty="0">
                  <a:latin typeface="彩虹粗仿宋" panose="03000509000000000000" pitchFamily="65" charset="-122"/>
                  <a:ea typeface="彩虹粗仿宋" panose="03000509000000000000" pitchFamily="65" charset="-122"/>
                </a:rPr>
                <a:t>在许科帝研究基础上开发</a:t>
              </a:r>
              <a:r>
                <a:rPr lang="en-US" altLang="zh-CN" sz="1200" dirty="0">
                  <a:latin typeface="彩虹粗仿宋" panose="03000509000000000000" pitchFamily="65" charset="-122"/>
                  <a:ea typeface="彩虹粗仿宋" panose="03000509000000000000" pitchFamily="65" charset="-122"/>
                </a:rPr>
                <a:t>RNS</a:t>
              </a:r>
              <a:r>
                <a:rPr lang="zh-CN" altLang="en-US" sz="1200" dirty="0">
                  <a:latin typeface="彩虹粗仿宋" panose="03000509000000000000" pitchFamily="65" charset="-122"/>
                  <a:ea typeface="彩虹粗仿宋" panose="03000509000000000000" pitchFamily="65" charset="-122"/>
                </a:rPr>
                <a:t>产品</a:t>
              </a:r>
              <a:endParaRPr lang="zh-CN" altLang="zh-CN" sz="1200" dirty="0">
                <a:latin typeface="彩虹粗仿宋" panose="03000509000000000000" pitchFamily="65" charset="-122"/>
                <a:ea typeface="彩虹粗仿宋" panose="03000509000000000000" pitchFamily="65" charset="-122"/>
              </a:endParaRPr>
            </a:p>
          </p:txBody>
        </p:sp>
        <p:sp>
          <p:nvSpPr>
            <p:cNvPr id="23" name="Rectangle 2"/>
            <p:cNvSpPr>
              <a:spLocks noChangeArrowheads="1"/>
            </p:cNvSpPr>
            <p:nvPr/>
          </p:nvSpPr>
          <p:spPr bwMode="gray">
            <a:xfrm>
              <a:off x="3581400" y="2812834"/>
              <a:ext cx="1875456" cy="728464"/>
            </a:xfrm>
            <a:prstGeom prst="rect">
              <a:avLst/>
            </a:prstGeom>
            <a:solidFill>
              <a:schemeClr val="accent1">
                <a:lumMod val="40000"/>
                <a:lumOff val="60000"/>
              </a:schemeClr>
            </a:solidFill>
            <a:ln w="6350">
              <a:solidFill>
                <a:schemeClr val="accent1">
                  <a:lumMod val="40000"/>
                  <a:lumOff val="60000"/>
                </a:schemeClr>
              </a:solidFill>
              <a:miter lim="800000"/>
              <a:headEnd type="none" w="sm" len="sm"/>
              <a:tailEnd type="none" w="sm" len="sm"/>
            </a:ln>
            <a:effectLst/>
          </p:spPr>
          <p:txBody>
            <a:bodyPr vert="horz" wrap="square" lIns="22221" tIns="46527" rIns="22221" bIns="46527" numCol="1" anchor="ctr" anchorCtr="0" compatLnSpc="1"/>
            <a:lstStyle/>
            <a:p>
              <a:pPr defTabSz="7315200"/>
              <a:r>
                <a:rPr lang="zh-CN" altLang="en-US" b="1" dirty="0">
                  <a:latin typeface="彩虹粗仿宋" panose="03000509000000000000" pitchFamily="65" charset="-122"/>
                  <a:ea typeface="彩虹粗仿宋" panose="03000509000000000000" pitchFamily="65" charset="-122"/>
                </a:rPr>
                <a:t>朱君明 </a:t>
              </a:r>
              <a:r>
                <a:rPr lang="zh-CN" altLang="en-US" sz="1200" b="1" dirty="0">
                  <a:latin typeface="彩虹粗仿宋" panose="03000509000000000000" pitchFamily="65" charset="-122"/>
                  <a:ea typeface="彩虹粗仿宋" panose="03000509000000000000" pitchFamily="65" charset="-122"/>
                </a:rPr>
                <a:t>外部专家</a:t>
              </a:r>
              <a:endParaRPr lang="en-US" altLang="zh-CN" sz="1200" b="1" dirty="0">
                <a:latin typeface="彩虹粗仿宋" panose="03000509000000000000" pitchFamily="65" charset="-122"/>
                <a:ea typeface="彩虹粗仿宋" panose="03000509000000000000" pitchFamily="65" charset="-122"/>
              </a:endParaRPr>
            </a:p>
            <a:p>
              <a:pPr defTabSz="7315200"/>
              <a:r>
                <a:rPr lang="zh-CN" altLang="en-US" sz="1200" dirty="0">
                  <a:latin typeface="彩虹粗仿宋" panose="03000509000000000000" pitchFamily="65" charset="-122"/>
                  <a:ea typeface="彩虹粗仿宋" panose="03000509000000000000" pitchFamily="65" charset="-122"/>
                </a:rPr>
                <a:t>浙大二院神外副主任，主任医师，博士生导师。中国医师协会神经调控常务委员、抗癫痫联盟理事</a:t>
              </a:r>
              <a:endParaRPr lang="zh-CN" altLang="zh-CN" sz="1200" dirty="0">
                <a:latin typeface="彩虹粗仿宋" panose="03000509000000000000" pitchFamily="65" charset="-122"/>
                <a:ea typeface="彩虹粗仿宋" panose="03000509000000000000" pitchFamily="65" charset="-122"/>
              </a:endParaRPr>
            </a:p>
          </p:txBody>
        </p:sp>
        <p:sp>
          <p:nvSpPr>
            <p:cNvPr id="24" name="Rectangle 2"/>
            <p:cNvSpPr>
              <a:spLocks noChangeArrowheads="1"/>
            </p:cNvSpPr>
            <p:nvPr/>
          </p:nvSpPr>
          <p:spPr bwMode="gray">
            <a:xfrm>
              <a:off x="5453244" y="2812834"/>
              <a:ext cx="765612" cy="728464"/>
            </a:xfrm>
            <a:prstGeom prst="rect">
              <a:avLst/>
            </a:prstGeom>
            <a:solidFill>
              <a:schemeClr val="accent6">
                <a:lumMod val="20000"/>
                <a:lumOff val="80000"/>
              </a:schemeClr>
            </a:solidFill>
            <a:ln w="6350">
              <a:solidFill>
                <a:schemeClr val="accent6">
                  <a:lumMod val="20000"/>
                  <a:lumOff val="80000"/>
                </a:schemeClr>
              </a:solidFill>
              <a:miter lim="800000"/>
              <a:headEnd type="none" w="sm" len="sm"/>
              <a:tailEnd type="none" w="sm" len="sm"/>
            </a:ln>
            <a:effectLst/>
          </p:spPr>
          <p:txBody>
            <a:bodyPr vert="horz" wrap="square" lIns="22221" tIns="46527" rIns="22221" bIns="46527" numCol="1" anchor="ctr" anchorCtr="0" compatLnSpc="1"/>
            <a:lstStyle/>
            <a:p>
              <a:pPr algn="ctr" defTabSz="7315200"/>
              <a:r>
                <a:rPr lang="en-US" altLang="zh-CN" sz="1200" dirty="0">
                  <a:latin typeface="彩虹粗仿宋" panose="03000509000000000000" pitchFamily="65" charset="-122"/>
                  <a:ea typeface="彩虹粗仿宋" panose="03000509000000000000" pitchFamily="65" charset="-122"/>
                </a:rPr>
                <a:t>SEEG</a:t>
              </a:r>
              <a:r>
                <a:rPr lang="zh-CN" altLang="en-US" sz="1200" dirty="0">
                  <a:latin typeface="彩虹粗仿宋" panose="03000509000000000000" pitchFamily="65" charset="-122"/>
                  <a:ea typeface="彩虹粗仿宋" panose="03000509000000000000" pitchFamily="65" charset="-122"/>
                </a:rPr>
                <a:t>电极</a:t>
              </a:r>
              <a:endParaRPr lang="en-US" altLang="zh-CN" sz="1200" dirty="0">
                <a:latin typeface="彩虹粗仿宋" panose="03000509000000000000" pitchFamily="65" charset="-122"/>
                <a:ea typeface="彩虹粗仿宋" panose="03000509000000000000" pitchFamily="65" charset="-122"/>
              </a:endParaRPr>
            </a:p>
            <a:p>
              <a:pPr algn="ctr" defTabSz="7315200"/>
              <a:r>
                <a:rPr lang="zh-CN" altLang="en-US" sz="1200" dirty="0">
                  <a:latin typeface="彩虹粗仿宋" panose="03000509000000000000" pitchFamily="65" charset="-122"/>
                  <a:ea typeface="彩虹粗仿宋" panose="03000509000000000000" pitchFamily="65" charset="-122"/>
                </a:rPr>
                <a:t>临床试验</a:t>
              </a:r>
              <a:r>
                <a:rPr lang="en-US" altLang="zh-CN" sz="1200" dirty="0">
                  <a:latin typeface="彩虹粗仿宋" panose="03000509000000000000" pitchFamily="65" charset="-122"/>
                  <a:ea typeface="彩虹粗仿宋" panose="03000509000000000000" pitchFamily="65" charset="-122"/>
                </a:rPr>
                <a:t>PI</a:t>
              </a:r>
              <a:endParaRPr lang="zh-CN" altLang="zh-CN" sz="1200" dirty="0">
                <a:latin typeface="彩虹粗仿宋" panose="03000509000000000000" pitchFamily="65" charset="-122"/>
                <a:ea typeface="彩虹粗仿宋" panose="03000509000000000000" pitchFamily="65" charset="-122"/>
              </a:endParaRPr>
            </a:p>
          </p:txBody>
        </p:sp>
        <p:sp>
          <p:nvSpPr>
            <p:cNvPr id="25" name="Rectangle 2"/>
            <p:cNvSpPr>
              <a:spLocks noChangeArrowheads="1"/>
            </p:cNvSpPr>
            <p:nvPr/>
          </p:nvSpPr>
          <p:spPr bwMode="gray">
            <a:xfrm>
              <a:off x="3581400" y="1989980"/>
              <a:ext cx="1875456" cy="728464"/>
            </a:xfrm>
            <a:prstGeom prst="rect">
              <a:avLst/>
            </a:prstGeom>
            <a:solidFill>
              <a:schemeClr val="accent1">
                <a:lumMod val="40000"/>
                <a:lumOff val="60000"/>
              </a:schemeClr>
            </a:solidFill>
            <a:ln w="6350">
              <a:solidFill>
                <a:schemeClr val="accent1">
                  <a:lumMod val="40000"/>
                  <a:lumOff val="60000"/>
                </a:schemeClr>
              </a:solidFill>
              <a:miter lim="800000"/>
              <a:headEnd type="none" w="sm" len="sm"/>
              <a:tailEnd type="none" w="sm" len="sm"/>
            </a:ln>
            <a:effectLst/>
          </p:spPr>
          <p:txBody>
            <a:bodyPr vert="horz" wrap="square" lIns="22221" tIns="46527" rIns="22221" bIns="46527" numCol="1" anchor="ctr" anchorCtr="0" compatLnSpc="1"/>
            <a:lstStyle/>
            <a:p>
              <a:pPr defTabSz="7315200"/>
              <a:r>
                <a:rPr lang="zh-CN" altLang="en-US" b="1" dirty="0">
                  <a:latin typeface="彩虹粗仿宋" panose="03000509000000000000" pitchFamily="65" charset="-122"/>
                  <a:ea typeface="彩虹粗仿宋" panose="03000509000000000000" pitchFamily="65" charset="-122"/>
                </a:rPr>
                <a:t>许科帝 </a:t>
              </a:r>
              <a:r>
                <a:rPr lang="zh-CN" altLang="en-US" sz="1200" b="1" dirty="0">
                  <a:latin typeface="彩虹粗仿宋" panose="03000509000000000000" pitchFamily="65" charset="-122"/>
                  <a:ea typeface="彩虹粗仿宋" panose="03000509000000000000" pitchFamily="65" charset="-122"/>
                </a:rPr>
                <a:t>外部顾问</a:t>
              </a:r>
              <a:endParaRPr lang="en-US" altLang="zh-CN" sz="1200" b="1" dirty="0">
                <a:latin typeface="彩虹粗仿宋" panose="03000509000000000000" pitchFamily="65" charset="-122"/>
                <a:ea typeface="彩虹粗仿宋" panose="03000509000000000000" pitchFamily="65" charset="-122"/>
              </a:endParaRPr>
            </a:p>
            <a:p>
              <a:pPr defTabSz="7315200"/>
              <a:r>
                <a:rPr lang="zh-CN" altLang="en-US" sz="1200" dirty="0">
                  <a:latin typeface="彩虹粗仿宋" panose="03000509000000000000" pitchFamily="65" charset="-122"/>
                  <a:ea typeface="彩虹粗仿宋" panose="03000509000000000000" pitchFamily="65" charset="-122"/>
                </a:rPr>
                <a:t>浙江大学生物医学工程专业教授，南湖脑机交叉研究院脑机接口与平台中心主任、博士生导师</a:t>
              </a:r>
              <a:endParaRPr lang="zh-CN" altLang="zh-CN" sz="1200" dirty="0">
                <a:latin typeface="彩虹粗仿宋" panose="03000509000000000000" pitchFamily="65" charset="-122"/>
                <a:ea typeface="彩虹粗仿宋" panose="03000509000000000000" pitchFamily="65" charset="-122"/>
              </a:endParaRPr>
            </a:p>
          </p:txBody>
        </p:sp>
        <p:sp>
          <p:nvSpPr>
            <p:cNvPr id="26" name="Rectangle 2"/>
            <p:cNvSpPr>
              <a:spLocks noChangeArrowheads="1"/>
            </p:cNvSpPr>
            <p:nvPr/>
          </p:nvSpPr>
          <p:spPr bwMode="gray">
            <a:xfrm>
              <a:off x="5453244" y="1989980"/>
              <a:ext cx="765612" cy="728464"/>
            </a:xfrm>
            <a:prstGeom prst="rect">
              <a:avLst/>
            </a:prstGeom>
            <a:solidFill>
              <a:schemeClr val="accent6">
                <a:lumMod val="20000"/>
                <a:lumOff val="80000"/>
              </a:schemeClr>
            </a:solidFill>
            <a:ln w="6350">
              <a:solidFill>
                <a:schemeClr val="accent6">
                  <a:lumMod val="20000"/>
                  <a:lumOff val="80000"/>
                </a:schemeClr>
              </a:solidFill>
              <a:miter lim="800000"/>
              <a:headEnd type="none" w="sm" len="sm"/>
              <a:tailEnd type="none" w="sm" len="sm"/>
            </a:ln>
            <a:effectLst/>
          </p:spPr>
          <p:txBody>
            <a:bodyPr vert="horz" wrap="square" lIns="22221" tIns="46527" rIns="22221" bIns="46527" numCol="1" anchor="ctr" anchorCtr="0" compatLnSpc="1"/>
            <a:lstStyle/>
            <a:p>
              <a:pPr algn="ctr" defTabSz="7315200"/>
              <a:r>
                <a:rPr lang="zh-CN" altLang="en-US" sz="1200" dirty="0">
                  <a:latin typeface="彩虹粗仿宋" panose="03000509000000000000" pitchFamily="65" charset="-122"/>
                  <a:ea typeface="彩虹粗仿宋" panose="03000509000000000000" pitchFamily="65" charset="-122"/>
                </a:rPr>
                <a:t>基于</a:t>
              </a:r>
              <a:r>
                <a:rPr lang="en-US" altLang="zh-CN" sz="1200" dirty="0">
                  <a:latin typeface="彩虹粗仿宋" panose="03000509000000000000" pitchFamily="65" charset="-122"/>
                  <a:ea typeface="彩虹粗仿宋" panose="03000509000000000000" pitchFamily="65" charset="-122"/>
                </a:rPr>
                <a:t>863</a:t>
              </a:r>
              <a:r>
                <a:rPr lang="zh-CN" altLang="en-US" sz="1200" dirty="0">
                  <a:latin typeface="彩虹粗仿宋" panose="03000509000000000000" pitchFamily="65" charset="-122"/>
                  <a:ea typeface="彩虹粗仿宋" panose="03000509000000000000" pitchFamily="65" charset="-122"/>
                </a:rPr>
                <a:t>课题开发</a:t>
              </a:r>
              <a:r>
                <a:rPr lang="en-US" altLang="zh-CN" sz="1200" dirty="0">
                  <a:latin typeface="彩虹粗仿宋" panose="03000509000000000000" pitchFamily="65" charset="-122"/>
                  <a:ea typeface="彩虹粗仿宋" panose="03000509000000000000" pitchFamily="65" charset="-122"/>
                </a:rPr>
                <a:t>RNS</a:t>
              </a:r>
              <a:r>
                <a:rPr lang="zh-CN" altLang="en-US" sz="1200" dirty="0">
                  <a:latin typeface="彩虹粗仿宋" panose="03000509000000000000" pitchFamily="65" charset="-122"/>
                  <a:ea typeface="彩虹粗仿宋" panose="03000509000000000000" pitchFamily="65" charset="-122"/>
                </a:rPr>
                <a:t>原型机，作为公司顾问参与后续开发</a:t>
              </a:r>
              <a:endParaRPr lang="zh-CN" altLang="zh-CN" sz="1200" dirty="0">
                <a:latin typeface="彩虹粗仿宋" panose="03000509000000000000" pitchFamily="65" charset="-122"/>
                <a:ea typeface="彩虹粗仿宋" panose="03000509000000000000" pitchFamily="65" charset="-122"/>
              </a:endParaRPr>
            </a:p>
          </p:txBody>
        </p:sp>
        <p:sp>
          <p:nvSpPr>
            <p:cNvPr id="27" name="Rectangle 2"/>
            <p:cNvSpPr>
              <a:spLocks noChangeArrowheads="1"/>
            </p:cNvSpPr>
            <p:nvPr/>
          </p:nvSpPr>
          <p:spPr bwMode="gray">
            <a:xfrm>
              <a:off x="6304617" y="1989980"/>
              <a:ext cx="1875456" cy="728464"/>
            </a:xfrm>
            <a:prstGeom prst="rect">
              <a:avLst/>
            </a:prstGeom>
            <a:solidFill>
              <a:schemeClr val="accent1">
                <a:lumMod val="40000"/>
                <a:lumOff val="60000"/>
              </a:schemeClr>
            </a:solidFill>
            <a:ln w="6350">
              <a:solidFill>
                <a:schemeClr val="accent1">
                  <a:lumMod val="40000"/>
                  <a:lumOff val="60000"/>
                </a:schemeClr>
              </a:solidFill>
              <a:miter lim="800000"/>
              <a:headEnd type="none" w="sm" len="sm"/>
              <a:tailEnd type="none" w="sm" len="sm"/>
            </a:ln>
            <a:effectLst/>
          </p:spPr>
          <p:txBody>
            <a:bodyPr vert="horz" wrap="square" lIns="22221" tIns="46527" rIns="22221" bIns="46527" numCol="1" anchor="ctr" anchorCtr="0" compatLnSpc="1"/>
            <a:lstStyle/>
            <a:p>
              <a:pPr defTabSz="7315200"/>
              <a:r>
                <a:rPr lang="zh-CN" altLang="en-US" b="1" dirty="0">
                  <a:latin typeface="彩虹粗仿宋" panose="03000509000000000000" pitchFamily="65" charset="-122"/>
                  <a:ea typeface="彩虹粗仿宋" panose="03000509000000000000" pitchFamily="65" charset="-122"/>
                </a:rPr>
                <a:t>毛颖 </a:t>
              </a:r>
              <a:r>
                <a:rPr lang="zh-CN" altLang="en-US" sz="1200" b="1" dirty="0">
                  <a:latin typeface="彩虹粗仿宋" panose="03000509000000000000" pitchFamily="65" charset="-122"/>
                  <a:ea typeface="彩虹粗仿宋" panose="03000509000000000000" pitchFamily="65" charset="-122"/>
                </a:rPr>
                <a:t>外部专家</a:t>
              </a:r>
              <a:endParaRPr lang="en-US" altLang="zh-CN" sz="1200" b="1" dirty="0">
                <a:latin typeface="彩虹粗仿宋" panose="03000509000000000000" pitchFamily="65" charset="-122"/>
                <a:ea typeface="彩虹粗仿宋" panose="03000509000000000000" pitchFamily="65" charset="-122"/>
              </a:endParaRPr>
            </a:p>
            <a:p>
              <a:pPr defTabSz="7315200"/>
              <a:r>
                <a:rPr lang="zh-CN" altLang="en-US" sz="1200" dirty="0">
                  <a:latin typeface="彩虹粗仿宋" panose="03000509000000000000" pitchFamily="65" charset="-122"/>
                  <a:ea typeface="彩虹粗仿宋" panose="03000509000000000000" pitchFamily="65" charset="-122"/>
                </a:rPr>
                <a:t>复旦大学附属华山医院院长、中华医学会神经外科学主委、长江特聘教授、国家杰青</a:t>
              </a:r>
              <a:endParaRPr lang="zh-CN" altLang="zh-CN" sz="1200" dirty="0">
                <a:latin typeface="彩虹粗仿宋" panose="03000509000000000000" pitchFamily="65" charset="-122"/>
                <a:ea typeface="彩虹粗仿宋" panose="03000509000000000000" pitchFamily="65" charset="-122"/>
              </a:endParaRPr>
            </a:p>
          </p:txBody>
        </p:sp>
        <p:sp>
          <p:nvSpPr>
            <p:cNvPr id="28" name="Rectangle 2"/>
            <p:cNvSpPr>
              <a:spLocks noChangeArrowheads="1"/>
            </p:cNvSpPr>
            <p:nvPr/>
          </p:nvSpPr>
          <p:spPr bwMode="gray">
            <a:xfrm>
              <a:off x="8176461" y="1989980"/>
              <a:ext cx="765612" cy="728464"/>
            </a:xfrm>
            <a:prstGeom prst="rect">
              <a:avLst/>
            </a:prstGeom>
            <a:solidFill>
              <a:schemeClr val="accent6">
                <a:lumMod val="20000"/>
                <a:lumOff val="80000"/>
              </a:schemeClr>
            </a:solidFill>
            <a:ln w="6350">
              <a:solidFill>
                <a:schemeClr val="accent6">
                  <a:lumMod val="20000"/>
                  <a:lumOff val="80000"/>
                </a:schemeClr>
              </a:solidFill>
              <a:miter lim="800000"/>
              <a:headEnd type="none" w="sm" len="sm"/>
              <a:tailEnd type="none" w="sm" len="sm"/>
            </a:ln>
            <a:effectLst/>
          </p:spPr>
          <p:txBody>
            <a:bodyPr vert="horz" wrap="square" lIns="22221" tIns="46527" rIns="22221" bIns="46527" numCol="1" anchor="ctr" anchorCtr="0" compatLnSpc="1"/>
            <a:lstStyle/>
            <a:p>
              <a:pPr algn="ctr" defTabSz="7315200"/>
              <a:r>
                <a:rPr lang="en-US" altLang="zh-CN" sz="1200" dirty="0">
                  <a:latin typeface="彩虹粗仿宋" panose="03000509000000000000" pitchFamily="65" charset="-122"/>
                  <a:ea typeface="彩虹粗仿宋" panose="03000509000000000000" pitchFamily="65" charset="-122"/>
                </a:rPr>
                <a:t>LITT</a:t>
              </a:r>
              <a:r>
                <a:rPr lang="zh-CN" altLang="en-US" sz="1200" dirty="0">
                  <a:latin typeface="彩虹粗仿宋" panose="03000509000000000000" pitchFamily="65" charset="-122"/>
                  <a:ea typeface="彩虹粗仿宋" panose="03000509000000000000" pitchFamily="65" charset="-122"/>
                </a:rPr>
                <a:t>肿瘤适应症临床试验</a:t>
              </a:r>
              <a:r>
                <a:rPr lang="en-US" altLang="zh-CN" sz="1200" dirty="0">
                  <a:latin typeface="彩虹粗仿宋" panose="03000509000000000000" pitchFamily="65" charset="-122"/>
                  <a:ea typeface="彩虹粗仿宋" panose="03000509000000000000" pitchFamily="65" charset="-122"/>
                </a:rPr>
                <a:t>PI</a:t>
              </a:r>
              <a:r>
                <a:rPr lang="zh-CN" altLang="en-US" sz="1200" dirty="0">
                  <a:latin typeface="彩虹粗仿宋" panose="03000509000000000000" pitchFamily="65" charset="-122"/>
                  <a:ea typeface="彩虹粗仿宋" panose="03000509000000000000" pitchFamily="65" charset="-122"/>
                </a:rPr>
                <a:t>、</a:t>
              </a:r>
              <a:endParaRPr lang="en-US" altLang="zh-CN" sz="1200" dirty="0">
                <a:latin typeface="彩虹粗仿宋" panose="03000509000000000000" pitchFamily="65" charset="-122"/>
                <a:ea typeface="彩虹粗仿宋" panose="03000509000000000000" pitchFamily="65" charset="-122"/>
              </a:endParaRPr>
            </a:p>
            <a:p>
              <a:pPr algn="ctr" defTabSz="7315200"/>
              <a:r>
                <a:rPr lang="en-US" altLang="zh-CN" sz="1200" dirty="0">
                  <a:latin typeface="彩虹粗仿宋" panose="03000509000000000000" pitchFamily="65" charset="-122"/>
                  <a:ea typeface="彩虹粗仿宋" panose="03000509000000000000" pitchFamily="65" charset="-122"/>
                </a:rPr>
                <a:t>RNS</a:t>
              </a:r>
              <a:r>
                <a:rPr lang="zh-CN" altLang="en-US" sz="1200" dirty="0">
                  <a:latin typeface="彩虹粗仿宋" panose="03000509000000000000" pitchFamily="65" charset="-122"/>
                  <a:ea typeface="彩虹粗仿宋" panose="03000509000000000000" pitchFamily="65" charset="-122"/>
                </a:rPr>
                <a:t>临床试验联合</a:t>
              </a:r>
              <a:r>
                <a:rPr lang="en-US" altLang="zh-CN" sz="1200" dirty="0">
                  <a:latin typeface="彩虹粗仿宋" panose="03000509000000000000" pitchFamily="65" charset="-122"/>
                  <a:ea typeface="彩虹粗仿宋" panose="03000509000000000000" pitchFamily="65" charset="-122"/>
                </a:rPr>
                <a:t>PI</a:t>
              </a:r>
              <a:endParaRPr lang="zh-CN" altLang="zh-CN" sz="1200" dirty="0">
                <a:latin typeface="彩虹粗仿宋" panose="03000509000000000000" pitchFamily="65" charset="-122"/>
                <a:ea typeface="彩虹粗仿宋" panose="03000509000000000000" pitchFamily="65" charset="-122"/>
              </a:endParaRPr>
            </a:p>
          </p:txBody>
        </p:sp>
        <p:sp>
          <p:nvSpPr>
            <p:cNvPr id="29" name="Rectangle 2"/>
            <p:cNvSpPr>
              <a:spLocks noChangeArrowheads="1"/>
            </p:cNvSpPr>
            <p:nvPr/>
          </p:nvSpPr>
          <p:spPr bwMode="gray">
            <a:xfrm>
              <a:off x="6304617" y="2812834"/>
              <a:ext cx="1875456" cy="728464"/>
            </a:xfrm>
            <a:prstGeom prst="rect">
              <a:avLst/>
            </a:prstGeom>
            <a:solidFill>
              <a:schemeClr val="accent1">
                <a:lumMod val="40000"/>
                <a:lumOff val="60000"/>
              </a:schemeClr>
            </a:solidFill>
            <a:ln w="6350">
              <a:solidFill>
                <a:schemeClr val="accent1">
                  <a:lumMod val="40000"/>
                  <a:lumOff val="60000"/>
                </a:schemeClr>
              </a:solidFill>
              <a:miter lim="800000"/>
              <a:headEnd type="none" w="sm" len="sm"/>
              <a:tailEnd type="none" w="sm" len="sm"/>
            </a:ln>
            <a:effectLst/>
          </p:spPr>
          <p:txBody>
            <a:bodyPr vert="horz" wrap="square" lIns="22221" tIns="46527" rIns="22221" bIns="46527" numCol="1" anchor="ctr" anchorCtr="0" compatLnSpc="1"/>
            <a:lstStyle/>
            <a:p>
              <a:pPr defTabSz="7315200"/>
              <a:r>
                <a:rPr lang="zh-CN" altLang="en-US" b="1" dirty="0">
                  <a:latin typeface="彩虹粗仿宋" panose="03000509000000000000" pitchFamily="65" charset="-122"/>
                  <a:ea typeface="彩虹粗仿宋" panose="03000509000000000000" pitchFamily="65" charset="-122"/>
                </a:rPr>
                <a:t>赵国光 </a:t>
              </a:r>
              <a:r>
                <a:rPr lang="zh-CN" altLang="en-US" sz="1200" b="1" dirty="0">
                  <a:latin typeface="彩虹粗仿宋" panose="03000509000000000000" pitchFamily="65" charset="-122"/>
                  <a:ea typeface="彩虹粗仿宋" panose="03000509000000000000" pitchFamily="65" charset="-122"/>
                </a:rPr>
                <a:t>外部专家</a:t>
              </a:r>
              <a:endParaRPr lang="en-US" altLang="zh-CN" sz="1200" b="1" dirty="0">
                <a:latin typeface="彩虹粗仿宋" panose="03000509000000000000" pitchFamily="65" charset="-122"/>
                <a:ea typeface="彩虹粗仿宋" panose="03000509000000000000" pitchFamily="65" charset="-122"/>
              </a:endParaRPr>
            </a:p>
            <a:p>
              <a:pPr defTabSz="7315200"/>
              <a:r>
                <a:rPr lang="zh-CN" altLang="en-US" sz="1200" dirty="0">
                  <a:latin typeface="彩虹粗仿宋" panose="03000509000000000000" pitchFamily="65" charset="-122"/>
                  <a:ea typeface="彩虹粗仿宋" panose="03000509000000000000" pitchFamily="65" charset="-122"/>
                </a:rPr>
                <a:t>首都医科大学宣武医院院长、神经外科立体定向与功能性脑病中心主任，北京市突贡专家</a:t>
              </a:r>
              <a:endParaRPr lang="zh-CN" altLang="en-US" sz="1200" dirty="0">
                <a:latin typeface="彩虹粗仿宋" panose="03000509000000000000" pitchFamily="65" charset="-122"/>
                <a:ea typeface="彩虹粗仿宋" panose="03000509000000000000" pitchFamily="65" charset="-122"/>
              </a:endParaRPr>
            </a:p>
          </p:txBody>
        </p:sp>
        <p:sp>
          <p:nvSpPr>
            <p:cNvPr id="30" name="Rectangle 2"/>
            <p:cNvSpPr>
              <a:spLocks noChangeArrowheads="1"/>
            </p:cNvSpPr>
            <p:nvPr/>
          </p:nvSpPr>
          <p:spPr bwMode="gray">
            <a:xfrm>
              <a:off x="8176461" y="2812834"/>
              <a:ext cx="765612" cy="728464"/>
            </a:xfrm>
            <a:prstGeom prst="rect">
              <a:avLst/>
            </a:prstGeom>
            <a:solidFill>
              <a:schemeClr val="accent6">
                <a:lumMod val="20000"/>
                <a:lumOff val="80000"/>
              </a:schemeClr>
            </a:solidFill>
            <a:ln w="6350">
              <a:solidFill>
                <a:schemeClr val="accent6">
                  <a:lumMod val="20000"/>
                  <a:lumOff val="80000"/>
                </a:schemeClr>
              </a:solidFill>
              <a:miter lim="800000"/>
              <a:headEnd type="none" w="sm" len="sm"/>
              <a:tailEnd type="none" w="sm" len="sm"/>
            </a:ln>
            <a:effectLst/>
          </p:spPr>
          <p:txBody>
            <a:bodyPr vert="horz" wrap="square" lIns="22221" tIns="46527" rIns="22221" bIns="46527" numCol="1" anchor="ctr" anchorCtr="0" compatLnSpc="1"/>
            <a:lstStyle/>
            <a:p>
              <a:pPr algn="ctr" defTabSz="7315200"/>
              <a:r>
                <a:rPr lang="en-US" altLang="zh-CN" sz="1200" dirty="0">
                  <a:latin typeface="彩虹粗仿宋" panose="03000509000000000000" pitchFamily="65" charset="-122"/>
                  <a:ea typeface="彩虹粗仿宋" panose="03000509000000000000" pitchFamily="65" charset="-122"/>
                </a:rPr>
                <a:t>RNS</a:t>
              </a:r>
              <a:r>
                <a:rPr lang="zh-CN" altLang="en-US" sz="1200" dirty="0">
                  <a:latin typeface="彩虹粗仿宋" panose="03000509000000000000" pitchFamily="65" charset="-122"/>
                  <a:ea typeface="彩虹粗仿宋" panose="03000509000000000000" pitchFamily="65" charset="-122"/>
                </a:rPr>
                <a:t>临床试验联合</a:t>
              </a:r>
              <a:r>
                <a:rPr lang="en-US" altLang="zh-CN" sz="1200" dirty="0">
                  <a:latin typeface="彩虹粗仿宋" panose="03000509000000000000" pitchFamily="65" charset="-122"/>
                  <a:ea typeface="彩虹粗仿宋" panose="03000509000000000000" pitchFamily="65" charset="-122"/>
                </a:rPr>
                <a:t>PI</a:t>
              </a:r>
              <a:endParaRPr lang="zh-CN" altLang="zh-CN" sz="1200" dirty="0">
                <a:latin typeface="彩虹粗仿宋" panose="03000509000000000000" pitchFamily="65" charset="-122"/>
                <a:ea typeface="彩虹粗仿宋" panose="03000509000000000000" pitchFamily="65" charset="-122"/>
              </a:endParaRPr>
            </a:p>
          </p:txBody>
        </p:sp>
        <p:cxnSp>
          <p:nvCxnSpPr>
            <p:cNvPr id="31" name="直接连接符 462"/>
            <p:cNvCxnSpPr/>
            <p:nvPr/>
          </p:nvCxnSpPr>
          <p:spPr>
            <a:xfrm>
              <a:off x="3505200" y="1866037"/>
              <a:ext cx="0" cy="251957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464"/>
            <p:cNvCxnSpPr/>
            <p:nvPr/>
          </p:nvCxnSpPr>
          <p:spPr>
            <a:xfrm>
              <a:off x="6218856" y="1866037"/>
              <a:ext cx="0" cy="251957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3" name="Rectangle 2"/>
            <p:cNvSpPr>
              <a:spLocks noChangeArrowheads="1"/>
            </p:cNvSpPr>
            <p:nvPr/>
          </p:nvSpPr>
          <p:spPr bwMode="gray">
            <a:xfrm>
              <a:off x="6301005" y="3640760"/>
              <a:ext cx="1875456" cy="728464"/>
            </a:xfrm>
            <a:prstGeom prst="rect">
              <a:avLst/>
            </a:prstGeom>
            <a:solidFill>
              <a:schemeClr val="accent1">
                <a:lumMod val="40000"/>
                <a:lumOff val="60000"/>
              </a:schemeClr>
            </a:solidFill>
            <a:ln w="6350">
              <a:solidFill>
                <a:schemeClr val="accent1">
                  <a:lumMod val="40000"/>
                  <a:lumOff val="60000"/>
                </a:schemeClr>
              </a:solidFill>
              <a:miter lim="800000"/>
              <a:headEnd type="none" w="sm" len="sm"/>
              <a:tailEnd type="none" w="sm" len="sm"/>
            </a:ln>
            <a:effectLst/>
          </p:spPr>
          <p:txBody>
            <a:bodyPr vert="horz" wrap="square" lIns="22221" tIns="46527" rIns="22221" bIns="46527" numCol="1" anchor="ctr" anchorCtr="0" compatLnSpc="1"/>
            <a:lstStyle/>
            <a:p>
              <a:pPr defTabSz="7315200"/>
              <a:r>
                <a:rPr lang="zh-CN" altLang="en-US" b="1" dirty="0">
                  <a:latin typeface="彩虹粗仿宋" panose="03000509000000000000" pitchFamily="65" charset="-122"/>
                  <a:ea typeface="彩虹粗仿宋" panose="03000509000000000000" pitchFamily="65" charset="-122"/>
                </a:rPr>
                <a:t>张建民 </a:t>
              </a:r>
              <a:r>
                <a:rPr lang="zh-CN" altLang="en-US" sz="1200" b="1" dirty="0">
                  <a:latin typeface="彩虹粗仿宋" panose="03000509000000000000" pitchFamily="65" charset="-122"/>
                  <a:ea typeface="彩虹粗仿宋" panose="03000509000000000000" pitchFamily="65" charset="-122"/>
                </a:rPr>
                <a:t>外部专家</a:t>
              </a:r>
              <a:endParaRPr lang="en-US" altLang="zh-CN" sz="1200" b="1" dirty="0">
                <a:latin typeface="彩虹粗仿宋" panose="03000509000000000000" pitchFamily="65" charset="-122"/>
                <a:ea typeface="彩虹粗仿宋" panose="03000509000000000000" pitchFamily="65" charset="-122"/>
              </a:endParaRPr>
            </a:p>
            <a:p>
              <a:pPr defTabSz="7315200"/>
              <a:r>
                <a:rPr lang="zh-CN" altLang="en-US" sz="1200" dirty="0">
                  <a:latin typeface="彩虹粗仿宋" panose="03000509000000000000" pitchFamily="65" charset="-122"/>
                  <a:ea typeface="彩虹粗仿宋" panose="03000509000000000000" pitchFamily="65" charset="-122"/>
                </a:rPr>
                <a:t>浙大二院神经外科主任，浙大脑医学研究所所长，主持国家重点研发计划项目等科研项目</a:t>
              </a:r>
              <a:r>
                <a:rPr lang="en-US" altLang="zh-CN" sz="1200" dirty="0">
                  <a:latin typeface="彩虹粗仿宋" panose="03000509000000000000" pitchFamily="65" charset="-122"/>
                  <a:ea typeface="彩虹粗仿宋" panose="03000509000000000000" pitchFamily="65" charset="-122"/>
                </a:rPr>
                <a:t>10</a:t>
              </a:r>
              <a:r>
                <a:rPr lang="zh-CN" altLang="en-US" sz="1200" dirty="0">
                  <a:latin typeface="彩虹粗仿宋" panose="03000509000000000000" pitchFamily="65" charset="-122"/>
                  <a:ea typeface="彩虹粗仿宋" panose="03000509000000000000" pitchFamily="65" charset="-122"/>
                </a:rPr>
                <a:t>余项</a:t>
              </a:r>
              <a:endParaRPr lang="zh-CN" altLang="en-US" sz="1200" dirty="0">
                <a:latin typeface="彩虹粗仿宋" panose="03000509000000000000" pitchFamily="65" charset="-122"/>
                <a:ea typeface="彩虹粗仿宋" panose="03000509000000000000" pitchFamily="65" charset="-122"/>
              </a:endParaRPr>
            </a:p>
          </p:txBody>
        </p:sp>
        <p:sp>
          <p:nvSpPr>
            <p:cNvPr id="34" name="Rectangle 2"/>
            <p:cNvSpPr>
              <a:spLocks noChangeArrowheads="1"/>
            </p:cNvSpPr>
            <p:nvPr/>
          </p:nvSpPr>
          <p:spPr bwMode="gray">
            <a:xfrm>
              <a:off x="8172849" y="3640760"/>
              <a:ext cx="765612" cy="728464"/>
            </a:xfrm>
            <a:prstGeom prst="rect">
              <a:avLst/>
            </a:prstGeom>
            <a:solidFill>
              <a:schemeClr val="accent6">
                <a:lumMod val="20000"/>
                <a:lumOff val="80000"/>
              </a:schemeClr>
            </a:solidFill>
            <a:ln w="6350">
              <a:solidFill>
                <a:schemeClr val="accent6">
                  <a:lumMod val="20000"/>
                  <a:lumOff val="80000"/>
                </a:schemeClr>
              </a:solidFill>
              <a:miter lim="800000"/>
              <a:headEnd type="none" w="sm" len="sm"/>
              <a:tailEnd type="none" w="sm" len="sm"/>
            </a:ln>
            <a:effectLst/>
          </p:spPr>
          <p:txBody>
            <a:bodyPr vert="horz" wrap="square" lIns="22221" tIns="46527" rIns="22221" bIns="46527" numCol="1" anchor="ctr" anchorCtr="0" compatLnSpc="1"/>
            <a:lstStyle/>
            <a:p>
              <a:pPr algn="ctr" defTabSz="7315200"/>
              <a:r>
                <a:rPr lang="en-US" altLang="zh-CN" sz="1200" dirty="0">
                  <a:latin typeface="彩虹粗仿宋" panose="03000509000000000000" pitchFamily="65" charset="-122"/>
                  <a:ea typeface="彩虹粗仿宋" panose="03000509000000000000" pitchFamily="65" charset="-122"/>
                </a:rPr>
                <a:t>LITT</a:t>
              </a:r>
              <a:r>
                <a:rPr lang="zh-CN" altLang="en-US" sz="1200" dirty="0">
                  <a:latin typeface="彩虹粗仿宋" panose="03000509000000000000" pitchFamily="65" charset="-122"/>
                  <a:ea typeface="彩虹粗仿宋" panose="03000509000000000000" pitchFamily="65" charset="-122"/>
                </a:rPr>
                <a:t>癫痫适应症临床试验</a:t>
              </a:r>
              <a:r>
                <a:rPr lang="en-US" altLang="zh-CN" sz="1200" dirty="0">
                  <a:latin typeface="彩虹粗仿宋" panose="03000509000000000000" pitchFamily="65" charset="-122"/>
                  <a:ea typeface="彩虹粗仿宋" panose="03000509000000000000" pitchFamily="65" charset="-122"/>
                </a:rPr>
                <a:t>PI</a:t>
              </a:r>
              <a:endParaRPr lang="zh-CN" altLang="zh-CN" sz="1200" dirty="0">
                <a:latin typeface="彩虹粗仿宋" panose="03000509000000000000" pitchFamily="65" charset="-122"/>
                <a:ea typeface="彩虹粗仿宋" panose="03000509000000000000" pitchFamily="65" charset="-122"/>
              </a:endParaRPr>
            </a:p>
          </p:txBody>
        </p:sp>
        <p:pic>
          <p:nvPicPr>
            <p:cNvPr id="35" name="图片 3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69962" y="730917"/>
              <a:ext cx="457200" cy="446161"/>
            </a:xfrm>
            <a:prstGeom prst="rect">
              <a:avLst/>
            </a:prstGeom>
          </p:spPr>
        </p:pic>
        <p:pic>
          <p:nvPicPr>
            <p:cNvPr id="36" name="Picture 6" descr="贡比涅技术大学 | Université de Technologie de Compiègne (UTC) - 院校库 - 留学声 | 留学知识库"/>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782402" y="731784"/>
              <a:ext cx="470670" cy="47067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首都医科大学宣武医院-医院主页-丁香园"/>
            <p:cNvPicPr>
              <a:picLocks noChangeAspect="1" noChangeArrowheads="1"/>
            </p:cNvPicPr>
            <p:nvPr/>
          </p:nvPicPr>
          <p:blipFill>
            <a:blip r:embed="rId12">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5306783" y="739981"/>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 descr="GE医疗：未来3年，将研发30多款新技术新品--转化医学网-转化医学核心门户"/>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269962" y="1272465"/>
              <a:ext cx="1145073" cy="40753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宁波健世科技股份有限公司 - 健世科技 - 爱企查"/>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486400" y="1177078"/>
              <a:ext cx="533400" cy="533400"/>
            </a:xfrm>
            <a:prstGeom prst="rect">
              <a:avLst/>
            </a:prstGeom>
            <a:noFill/>
            <a:extLst>
              <a:ext uri="{909E8E84-426E-40DD-AFC4-6F175D3DCCD1}">
                <a14:hiddenFill xmlns:a14="http://schemas.microsoft.com/office/drawing/2010/main">
                  <a:solidFill>
                    <a:srgbClr val="FFFFFF"/>
                  </a:solidFill>
                </a14:hiddenFill>
              </a:ext>
            </a:extLst>
          </p:spPr>
        </p:pic>
        <p:sp>
          <p:nvSpPr>
            <p:cNvPr id="40" name="灯片编号占位符 1"/>
            <p:cNvSpPr txBox="1"/>
            <p:nvPr/>
          </p:nvSpPr>
          <p:spPr>
            <a:xfrm>
              <a:off x="3499384" y="4705350"/>
              <a:ext cx="2133600" cy="273844"/>
            </a:xfrm>
            <a:prstGeom prst="rect">
              <a:avLst/>
            </a:prstGeom>
          </p:spPr>
          <p:txBody>
            <a:bodyPr vert="horz" wrap="square" lIns="91440" tIns="45720" rIns="91440" bIns="45720" rtlCol="0" anchor="ctr">
              <a:normAutofit/>
            </a:bodyPr>
            <a:lstStyle>
              <a:defPPr>
                <a:defRPr lang="zh-CN"/>
              </a:defPPr>
              <a:lvl1pPr marL="0" algn="r"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200" smtClean="0"/>
              </a:fld>
              <a:endParaRPr lang="en-US" sz="1200" dirty="0"/>
            </a:p>
          </p:txBody>
        </p:sp>
      </p:grpSp>
    </p:spTree>
    <p:custDataLst>
      <p:tags r:id="rId1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公司介绍</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indent="0" algn="l" fontAlgn="auto">
              <a:lnSpc>
                <a:spcPct val="100000"/>
              </a:lnSpc>
            </a:pP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股权结构</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504497" y="838905"/>
            <a:ext cx="10689020" cy="738664"/>
          </a:xfrm>
          <a:prstGeom prst="rect">
            <a:avLst/>
          </a:prstGeom>
          <a:noFill/>
        </p:spPr>
        <p:txBody>
          <a:bodyPr wrap="square">
            <a:spAutoFit/>
          </a:bodyPr>
          <a:lstStyle/>
          <a:p>
            <a:pPr algn="just"/>
            <a:r>
              <a:rPr lang="zh-CN" altLang="zh-CN" sz="1400" kern="100" dirty="0">
                <a:effectLst/>
                <a:latin typeface="彩虹粗仿宋" panose="03000509000000000000" pitchFamily="65" charset="-122"/>
                <a:ea typeface="彩虹粗仿宋" panose="03000509000000000000" pitchFamily="65" charset="-122"/>
              </a:rPr>
              <a:t>标的公司为实控人</a:t>
            </a:r>
            <a:r>
              <a:rPr lang="zh-CN" altLang="en-US" sz="1400" kern="100" dirty="0">
                <a:effectLst/>
                <a:latin typeface="彩虹粗仿宋" panose="03000509000000000000" pitchFamily="65" charset="-122"/>
                <a:ea typeface="彩虹粗仿宋" panose="03000509000000000000" pitchFamily="65" charset="-122"/>
              </a:rPr>
              <a:t>曹鹏</a:t>
            </a:r>
            <a:r>
              <a:rPr lang="zh-CN" altLang="zh-CN" sz="1400" kern="100" dirty="0">
                <a:effectLst/>
                <a:latin typeface="彩虹粗仿宋" panose="03000509000000000000" pitchFamily="65" charset="-122"/>
                <a:ea typeface="彩虹粗仿宋" panose="03000509000000000000" pitchFamily="65" charset="-122"/>
              </a:rPr>
              <a:t>唯一控制资产。</a:t>
            </a:r>
            <a:r>
              <a:rPr lang="zh-CN" altLang="en-US" sz="1400" kern="100" dirty="0">
                <a:latin typeface="彩虹粗仿宋" panose="03000509000000000000" pitchFamily="65" charset="-122"/>
                <a:ea typeface="彩虹粗仿宋" panose="03000509000000000000" pitchFamily="65" charset="-122"/>
              </a:rPr>
              <a:t>其</a:t>
            </a:r>
            <a:r>
              <a:rPr lang="zh-CN" altLang="zh-CN" sz="1400" kern="100" dirty="0">
                <a:latin typeface="彩虹粗仿宋" panose="03000509000000000000" pitchFamily="65" charset="-122"/>
                <a:ea typeface="彩虹粗仿宋" panose="03000509000000000000" pitchFamily="65" charset="-122"/>
              </a:rPr>
              <a:t>直接持股标的公司股权比例为</a:t>
            </a:r>
            <a:r>
              <a:rPr lang="en-US" altLang="zh-CN" sz="1400" kern="100" dirty="0">
                <a:latin typeface="彩虹粗仿宋" panose="03000509000000000000" pitchFamily="65" charset="-122"/>
                <a:ea typeface="彩虹粗仿宋" panose="03000509000000000000" pitchFamily="65" charset="-122"/>
              </a:rPr>
              <a:t>10.9294%</a:t>
            </a:r>
            <a:r>
              <a:rPr lang="zh-CN" altLang="en-US" sz="1400" kern="100" dirty="0">
                <a:latin typeface="彩虹粗仿宋" panose="03000509000000000000" pitchFamily="65" charset="-122"/>
                <a:ea typeface="彩虹粗仿宋" panose="03000509000000000000" pitchFamily="65" charset="-122"/>
              </a:rPr>
              <a:t>，</a:t>
            </a:r>
            <a:r>
              <a:rPr lang="zh-CN" altLang="zh-CN" sz="1400" kern="100" dirty="0">
                <a:effectLst/>
                <a:latin typeface="彩虹粗仿宋" panose="03000509000000000000" pitchFamily="65" charset="-122"/>
                <a:ea typeface="彩虹粗仿宋" panose="03000509000000000000" pitchFamily="65" charset="-122"/>
                <a:cs typeface="Times New Roman" panose="02020503050405090304" charset="0"/>
              </a:rPr>
              <a:t>直接或间接</a:t>
            </a:r>
            <a:r>
              <a:rPr lang="zh-CN" altLang="en-US" sz="1400" kern="100" dirty="0">
                <a:effectLst/>
                <a:latin typeface="彩虹粗仿宋" panose="03000509000000000000" pitchFamily="65" charset="-122"/>
                <a:ea typeface="彩虹粗仿宋" panose="03000509000000000000" pitchFamily="65" charset="-122"/>
                <a:cs typeface="Times New Roman" panose="02020503050405090304" charset="0"/>
              </a:rPr>
              <a:t>持股比例为</a:t>
            </a:r>
            <a:r>
              <a:rPr lang="en-US" altLang="zh-CN" sz="1400" kern="100" dirty="0">
                <a:effectLst/>
                <a:latin typeface="彩虹粗仿宋" panose="03000509000000000000" pitchFamily="65" charset="-122"/>
                <a:ea typeface="彩虹粗仿宋" panose="03000509000000000000" pitchFamily="65" charset="-122"/>
                <a:cs typeface="Times New Roman" panose="02020503050405090304" charset="0"/>
              </a:rPr>
              <a:t>25.2404%</a:t>
            </a:r>
            <a:r>
              <a:rPr lang="zh-CN" altLang="en-US" sz="1400" kern="100" dirty="0">
                <a:latin typeface="彩虹粗仿宋" panose="03000509000000000000" pitchFamily="65" charset="-122"/>
                <a:ea typeface="彩虹粗仿宋" panose="03000509000000000000" pitchFamily="65" charset="-122"/>
                <a:cs typeface="Times New Roman" panose="02020503050405090304" charset="0"/>
              </a:rPr>
              <a:t>。</a:t>
            </a:r>
            <a:endParaRPr lang="en-US" altLang="zh-CN" sz="1400" kern="100" dirty="0">
              <a:latin typeface="彩虹粗仿宋" panose="03000509000000000000" pitchFamily="65" charset="-122"/>
              <a:ea typeface="彩虹粗仿宋" panose="03000509000000000000" pitchFamily="65" charset="-122"/>
              <a:cs typeface="Times New Roman" panose="02020503050405090304" charset="0"/>
            </a:endParaRPr>
          </a:p>
          <a:p>
            <a:pPr algn="just"/>
            <a:endParaRPr lang="en-US" altLang="zh-CN" sz="1400" kern="100" dirty="0">
              <a:latin typeface="彩虹粗仿宋" panose="03000509000000000000" pitchFamily="65" charset="-122"/>
              <a:ea typeface="彩虹粗仿宋" panose="03000509000000000000" pitchFamily="65" charset="-122"/>
              <a:cs typeface="Times New Roman" panose="02020503050405090304" charset="0"/>
            </a:endParaRPr>
          </a:p>
          <a:p>
            <a:pPr algn="just"/>
            <a:r>
              <a:rPr lang="zh-CN" altLang="en-US" sz="1400" kern="100" dirty="0">
                <a:latin typeface="彩虹粗仿宋" panose="03000509000000000000" pitchFamily="65" charset="-122"/>
                <a:ea typeface="彩虹粗仿宋" panose="03000509000000000000" pitchFamily="65" charset="-122"/>
                <a:cs typeface="Times New Roman" panose="02020503050405090304" charset="0"/>
              </a:rPr>
              <a:t>公司</a:t>
            </a:r>
            <a:r>
              <a:rPr lang="en-US" altLang="zh-CN" sz="1400" kern="100" dirty="0">
                <a:latin typeface="彩虹粗仿宋" panose="03000509000000000000" pitchFamily="65" charset="-122"/>
                <a:ea typeface="彩虹粗仿宋" panose="03000509000000000000" pitchFamily="65" charset="-122"/>
                <a:cs typeface="Times New Roman" panose="02020503050405090304" charset="0"/>
              </a:rPr>
              <a:t>C</a:t>
            </a:r>
            <a:r>
              <a:rPr lang="zh-CN" altLang="en-US" sz="1400" kern="100" dirty="0">
                <a:latin typeface="彩虹粗仿宋" panose="03000509000000000000" pitchFamily="65" charset="-122"/>
                <a:ea typeface="彩虹粗仿宋" panose="03000509000000000000" pitchFamily="65" charset="-122"/>
                <a:cs typeface="Times New Roman" panose="02020503050405090304" charset="0"/>
              </a:rPr>
              <a:t>轮投资后，前十大股东的持股情况如下：</a:t>
            </a:r>
            <a:endParaRPr lang="zh-CN" altLang="en-US" sz="1400" dirty="0">
              <a:latin typeface="彩虹粗仿宋" panose="03000509000000000000" pitchFamily="65" charset="-122"/>
              <a:ea typeface="彩虹粗仿宋" panose="03000509000000000000" pitchFamily="65" charset="-122"/>
            </a:endParaRPr>
          </a:p>
        </p:txBody>
      </p:sp>
      <p:graphicFrame>
        <p:nvGraphicFramePr>
          <p:cNvPr id="9" name="表格 8"/>
          <p:cNvGraphicFramePr>
            <a:graphicFrameLocks noGrp="1"/>
          </p:cNvGraphicFramePr>
          <p:nvPr/>
        </p:nvGraphicFramePr>
        <p:xfrm>
          <a:off x="504497" y="1706771"/>
          <a:ext cx="11119944" cy="4369387"/>
        </p:xfrm>
        <a:graphic>
          <a:graphicData uri="http://schemas.openxmlformats.org/drawingml/2006/table">
            <a:tbl>
              <a:tblPr firstRow="1" firstCol="1" bandRow="1">
                <a:tableStyleId>{5C22544A-7EE6-4342-B048-85BDC9FD1C3A}</a:tableStyleId>
              </a:tblPr>
              <a:tblGrid>
                <a:gridCol w="1060843"/>
                <a:gridCol w="3847501"/>
                <a:gridCol w="3133600"/>
                <a:gridCol w="3078000"/>
              </a:tblGrid>
              <a:tr h="397217">
                <a:tc>
                  <a:txBody>
                    <a:bodyPr/>
                    <a:lstStyle/>
                    <a:p>
                      <a:pPr algn="ctr">
                        <a:buNone/>
                      </a:pPr>
                      <a:r>
                        <a:rPr lang="zh-CN" sz="1400" kern="100">
                          <a:effectLst/>
                        </a:rPr>
                        <a:t>序号</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股东姓名</a:t>
                      </a:r>
                      <a:r>
                        <a:rPr lang="en-US" sz="1400" kern="100">
                          <a:effectLst/>
                        </a:rPr>
                        <a:t>/</a:t>
                      </a:r>
                      <a:r>
                        <a:rPr lang="zh-CN" sz="1400" kern="100">
                          <a:effectLst/>
                        </a:rPr>
                        <a:t>名称</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认缴出资额</a:t>
                      </a:r>
                      <a:r>
                        <a:rPr lang="en-US" sz="1400" kern="100">
                          <a:effectLst/>
                        </a:rPr>
                        <a:t>/</a:t>
                      </a:r>
                      <a:r>
                        <a:rPr lang="zh-CN" sz="1400" kern="100">
                          <a:effectLst/>
                        </a:rPr>
                        <a:t>人民币元</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持股比例</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mj-lt"/>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1</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曹鹏</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3,889,446</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10.9294%</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Times New Roman" panose="02020503050405090304" charset="0"/>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2</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杭州佳诺智光企业管理合伙企业（有限合伙）</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3,415,800</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9.5984%</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mj-lt"/>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3</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杭州海创光影企业管理合伙企业（有限合伙）</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2,263,416</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6.3603%</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Times New Roman" panose="02020503050405090304" charset="0"/>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4</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50" dirty="0">
                          <a:effectLst/>
                        </a:rPr>
                        <a:t>杭州锦嵘企业管理合伙企业（有限合伙）</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2,146,163</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6.0308%</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mj-lt"/>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5</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50">
                          <a:effectLst/>
                        </a:rPr>
                        <a:t>杭州裕荣惠华企业管理合伙企业（有限合伙）</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880,000</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2.4728%</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Times New Roman" panose="02020503050405090304" charset="0"/>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6</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杭州锦逸融光企业管理合伙企业（有限合伙）</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558,300</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1.5688%</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mj-lt"/>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7</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杭州启明融晶股权投资合伙企业（有限合伙）</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2,449,143</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6.8821%</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Times New Roman" panose="02020503050405090304" charset="0"/>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8</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苏州启明融乾股权投资合伙企业（有限合伙）</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1,268,233</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3.5638%</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mj-lt"/>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9</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杭州海邦数瑞股权投资合伙企业（有限合伙）</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1,286,100</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3.6140%</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r>
              <a:tr h="397217">
                <a:tc>
                  <a:txBody>
                    <a:bodyPr/>
                    <a:lstStyle/>
                    <a:p>
                      <a:pPr marL="0" lvl="0" indent="0" algn="ctr" rtl="0">
                        <a:buFont typeface="Times New Roman" panose="02020503050405090304" charset="0"/>
                        <a:buNone/>
                        <a:tabLst>
                          <a:tab pos="21590" algn="l"/>
                        </a:tabLst>
                      </a:pPr>
                      <a:r>
                        <a:rPr lang="en-US" altLang="zh-CN" sz="1400" kern="100" dirty="0">
                          <a:effectLst/>
                          <a:latin typeface="Times New Roman" panose="02020503050405090304" charset="0"/>
                          <a:ea typeface="宋体" pitchFamily="2" charset="-122"/>
                          <a:cs typeface="Arial" panose="020B0604020202090204" pitchFamily="34" charset="0"/>
                        </a:rPr>
                        <a:t>10</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ctr">
                        <a:buNone/>
                      </a:pPr>
                      <a:r>
                        <a:rPr lang="zh-CN" sz="1400" kern="100">
                          <a:effectLst/>
                        </a:rPr>
                        <a:t>杭州海邦羿谷创业投资合伙企业（有限合伙）</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a:effectLst/>
                        </a:rPr>
                        <a:t>609,700</a:t>
                      </a:r>
                      <a:endParaRPr lang="zh-CN" sz="1400" kern="100">
                        <a:effectLst/>
                        <a:latin typeface="Times New Roman" panose="02020503050405090304" charset="0"/>
                        <a:ea typeface="宋体" pitchFamily="2" charset="-122"/>
                        <a:cs typeface="Arial" panose="020B0604020202090204" pitchFamily="34" charset="0"/>
                      </a:endParaRPr>
                    </a:p>
                  </a:txBody>
                  <a:tcPr marL="68580" marR="68580" marT="0" marB="0" anchor="ctr"/>
                </a:tc>
                <a:tc>
                  <a:txBody>
                    <a:bodyPr/>
                    <a:lstStyle/>
                    <a:p>
                      <a:pPr algn="r">
                        <a:buNone/>
                      </a:pPr>
                      <a:r>
                        <a:rPr lang="en-US" sz="1400" kern="100" dirty="0">
                          <a:effectLst/>
                        </a:rPr>
                        <a:t>1.7133%</a:t>
                      </a:r>
                      <a:endParaRPr lang="zh-CN" sz="1400" kern="100" dirty="0">
                        <a:effectLst/>
                        <a:latin typeface="Times New Roman" panose="02020503050405090304" charset="0"/>
                        <a:ea typeface="宋体" pitchFamily="2" charset="-122"/>
                        <a:cs typeface="Arial" panose="020B0604020202090204" pitchFamily="34" charset="0"/>
                      </a:endParaRPr>
                    </a:p>
                  </a:txBody>
                  <a:tcPr marL="68580" marR="68580" marT="0" marB="0" anchor="ctr"/>
                </a:tc>
              </a:tr>
            </a:tbl>
          </a:graphicData>
        </a:graphic>
      </p:graphicFrame>
      <p:sp>
        <p:nvSpPr>
          <p:cNvPr id="22" name="灯片编号占位符 10"/>
          <p:cNvSpPr>
            <a:spLocks noGrp="1"/>
          </p:cNvSpPr>
          <p:nvPr>
            <p:ph type="sldNum" sz="quarter" idx="12"/>
          </p:nvPr>
        </p:nvSpPr>
        <p:spPr>
          <a:xfrm>
            <a:off x="8610599" y="6240463"/>
            <a:ext cx="2909888" cy="206381"/>
          </a:xfrm>
        </p:spPr>
        <p:txBody>
          <a:bodyPr>
            <a:normAutofit fontScale="85000" lnSpcReduction="20000"/>
          </a:bodyPr>
          <a:lstStyle/>
          <a:p>
            <a:fld id="{BE5F26B5-172A-4DC2-B0B7-181CFC56B87C}" type="slidenum">
              <a:rPr lang="zh-CN" altLang="en-US" smtClean="0"/>
            </a:fld>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知识产权</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indent="0" algn="l" fontAlgn="auto">
              <a:lnSpc>
                <a:spcPct val="100000"/>
              </a:lnSpc>
            </a:pP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知识产权</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nvGrpSpPr>
          <p:cNvPr id="74" name="组合 73"/>
          <p:cNvGrpSpPr/>
          <p:nvPr/>
        </p:nvGrpSpPr>
        <p:grpSpPr>
          <a:xfrm>
            <a:off x="533399" y="663120"/>
            <a:ext cx="11223171" cy="5839082"/>
            <a:chOff x="533400" y="590550"/>
            <a:chExt cx="8458200" cy="4400550"/>
          </a:xfrm>
        </p:grpSpPr>
        <p:sp>
          <p:nvSpPr>
            <p:cNvPr id="2" name="文本框 1"/>
            <p:cNvSpPr txBox="1"/>
            <p:nvPr/>
          </p:nvSpPr>
          <p:spPr>
            <a:xfrm>
              <a:off x="533400" y="590550"/>
              <a:ext cx="8458200" cy="904613"/>
            </a:xfrm>
            <a:prstGeom prst="rect">
              <a:avLst/>
            </a:prstGeom>
            <a:noFill/>
          </p:spPr>
          <p:txBody>
            <a:bodyPr wrap="square">
              <a:spAutoFit/>
            </a:bodyPr>
            <a:lstStyle/>
            <a:p>
              <a:r>
                <a:rPr lang="zh-CN" altLang="zh-CN" kern="100" dirty="0">
                  <a:effectLst/>
                  <a:latin typeface="彩虹粗仿宋" panose="03000509000000000000" pitchFamily="65" charset="-122"/>
                  <a:ea typeface="彩虹粗仿宋" panose="03000509000000000000" pitchFamily="65" charset="-122"/>
                  <a:cs typeface="Times New Roman" panose="02020503050405090304" charset="0"/>
                </a:rPr>
                <a:t>目前，公司申请中、已完成申请的各项专利</a:t>
              </a:r>
              <a:r>
                <a:rPr lang="en-US" altLang="zh-CN" kern="100" dirty="0">
                  <a:effectLst/>
                  <a:latin typeface="彩虹粗仿宋" panose="03000509000000000000" pitchFamily="65" charset="-122"/>
                  <a:ea typeface="彩虹粗仿宋" panose="03000509000000000000" pitchFamily="65" charset="-122"/>
                  <a:cs typeface="Times New Roman" panose="02020503050405090304" charset="0"/>
                </a:rPr>
                <a:t>200</a:t>
              </a:r>
              <a:r>
                <a:rPr lang="zh-CN" altLang="zh-CN" kern="100" dirty="0">
                  <a:effectLst/>
                  <a:latin typeface="彩虹粗仿宋" panose="03000509000000000000" pitchFamily="65" charset="-122"/>
                  <a:ea typeface="彩虹粗仿宋" panose="03000509000000000000" pitchFamily="65" charset="-122"/>
                  <a:cs typeface="Times New Roman" panose="02020503050405090304" charset="0"/>
                </a:rPr>
                <a:t>余项，主要为发明专利，其中授权</a:t>
              </a:r>
              <a:r>
                <a:rPr lang="en-US" altLang="zh-CN" kern="100" dirty="0">
                  <a:effectLst/>
                  <a:latin typeface="彩虹粗仿宋" panose="03000509000000000000" pitchFamily="65" charset="-122"/>
                  <a:ea typeface="彩虹粗仿宋" panose="03000509000000000000" pitchFamily="65" charset="-122"/>
                  <a:cs typeface="Times New Roman" panose="02020503050405090304" charset="0"/>
                </a:rPr>
                <a:t>132</a:t>
              </a:r>
              <a:r>
                <a:rPr lang="zh-CN" altLang="zh-CN" kern="100" dirty="0">
                  <a:effectLst/>
                  <a:latin typeface="彩虹粗仿宋" panose="03000509000000000000" pitchFamily="65" charset="-122"/>
                  <a:ea typeface="彩虹粗仿宋" panose="03000509000000000000" pitchFamily="65" charset="-122"/>
                  <a:cs typeface="Times New Roman" panose="02020503050405090304" charset="0"/>
                </a:rPr>
                <a:t>件，其中</a:t>
              </a:r>
              <a:r>
                <a:rPr lang="zh-CN" altLang="zh-CN" b="1" kern="100" dirty="0">
                  <a:effectLst/>
                  <a:latin typeface="彩虹粗仿宋" panose="03000509000000000000" pitchFamily="65" charset="-122"/>
                  <a:ea typeface="彩虹粗仿宋" panose="03000509000000000000" pitchFamily="65" charset="-122"/>
                  <a:cs typeface="Times New Roman" panose="02020503050405090304" charset="0"/>
                </a:rPr>
                <a:t>授权发明专利</a:t>
              </a:r>
              <a:r>
                <a:rPr lang="en-US" altLang="zh-CN" b="1" kern="100" dirty="0">
                  <a:effectLst/>
                  <a:latin typeface="彩虹粗仿宋" panose="03000509000000000000" pitchFamily="65" charset="-122"/>
                  <a:ea typeface="彩虹粗仿宋" panose="03000509000000000000" pitchFamily="65" charset="-122"/>
                  <a:cs typeface="Times New Roman" panose="02020503050405090304" charset="0"/>
                </a:rPr>
                <a:t>45</a:t>
              </a:r>
              <a:r>
                <a:rPr lang="zh-CN" altLang="zh-CN" b="1" kern="100" dirty="0">
                  <a:effectLst/>
                  <a:latin typeface="彩虹粗仿宋" panose="03000509000000000000" pitchFamily="65" charset="-122"/>
                  <a:ea typeface="彩虹粗仿宋" panose="03000509000000000000" pitchFamily="65" charset="-122"/>
                  <a:cs typeface="Times New Roman" panose="02020503050405090304" charset="0"/>
                </a:rPr>
                <a:t>项</a:t>
              </a:r>
              <a:r>
                <a:rPr lang="zh-CN" altLang="zh-CN" kern="100" dirty="0">
                  <a:effectLst/>
                  <a:latin typeface="彩虹粗仿宋" panose="03000509000000000000" pitchFamily="65" charset="-122"/>
                  <a:ea typeface="彩虹粗仿宋" panose="03000509000000000000" pitchFamily="65" charset="-122"/>
                  <a:cs typeface="Times New Roman" panose="02020503050405090304" charset="0"/>
                </a:rPr>
                <a:t>，软件著作权</a:t>
              </a:r>
              <a:r>
                <a:rPr lang="en-US" altLang="zh-CN" kern="100" dirty="0">
                  <a:effectLst/>
                  <a:latin typeface="彩虹粗仿宋" panose="03000509000000000000" pitchFamily="65" charset="-122"/>
                  <a:ea typeface="彩虹粗仿宋" panose="03000509000000000000" pitchFamily="65" charset="-122"/>
                  <a:cs typeface="Times New Roman" panose="02020503050405090304" charset="0"/>
                </a:rPr>
                <a:t>11</a:t>
              </a:r>
              <a:r>
                <a:rPr lang="zh-CN" altLang="zh-CN" kern="100" dirty="0">
                  <a:effectLst/>
                  <a:latin typeface="彩虹粗仿宋" panose="03000509000000000000" pitchFamily="65" charset="-122"/>
                  <a:ea typeface="彩虹粗仿宋" panose="03000509000000000000" pitchFamily="65" charset="-122"/>
                  <a:cs typeface="Times New Roman" panose="02020503050405090304" charset="0"/>
                </a:rPr>
                <a:t>件，集成电路</a:t>
              </a:r>
              <a:r>
                <a:rPr lang="en-US" altLang="zh-CN" kern="100" dirty="0">
                  <a:effectLst/>
                  <a:latin typeface="彩虹粗仿宋" panose="03000509000000000000" pitchFamily="65" charset="-122"/>
                  <a:ea typeface="彩虹粗仿宋" panose="03000509000000000000" pitchFamily="65" charset="-122"/>
                  <a:cs typeface="Times New Roman" panose="02020503050405090304" charset="0"/>
                </a:rPr>
                <a:t>2</a:t>
              </a:r>
              <a:r>
                <a:rPr lang="zh-CN" altLang="zh-CN" kern="100" dirty="0">
                  <a:effectLst/>
                  <a:latin typeface="彩虹粗仿宋" panose="03000509000000000000" pitchFamily="65" charset="-122"/>
                  <a:ea typeface="彩虹粗仿宋" panose="03000509000000000000" pitchFamily="65" charset="-122"/>
                  <a:cs typeface="Times New Roman" panose="02020503050405090304" charset="0"/>
                </a:rPr>
                <a:t>件</a:t>
              </a:r>
              <a:r>
                <a:rPr lang="zh-CN" altLang="en-US" kern="100" dirty="0">
                  <a:latin typeface="彩虹粗仿宋" panose="03000509000000000000" pitchFamily="65" charset="-122"/>
                  <a:ea typeface="彩虹粗仿宋" panose="03000509000000000000" pitchFamily="65" charset="-122"/>
                  <a:cs typeface="Times New Roman" panose="02020503050405090304" charset="0"/>
                </a:rPr>
                <a:t>。涉及领域包括：</a:t>
              </a:r>
              <a:r>
                <a:rPr lang="zh-CN" altLang="en-US" b="1" kern="100" dirty="0">
                  <a:latin typeface="彩虹粗仿宋" panose="03000509000000000000" pitchFamily="65" charset="-122"/>
                  <a:ea typeface="彩虹粗仿宋" panose="03000509000000000000" pitchFamily="65" charset="-122"/>
                  <a:cs typeface="Times New Roman" panose="02020503050405090304" charset="0"/>
                </a:rPr>
                <a:t>闭环脑机接口技术</a:t>
              </a:r>
              <a:r>
                <a:rPr lang="zh-CN" altLang="en-US" kern="100" dirty="0">
                  <a:latin typeface="彩虹粗仿宋" panose="03000509000000000000" pitchFamily="65" charset="-122"/>
                  <a:ea typeface="彩虹粗仿宋" panose="03000509000000000000" pitchFamily="65" charset="-122"/>
                  <a:cs typeface="Times New Roman" panose="02020503050405090304" charset="0"/>
                </a:rPr>
                <a:t>、</a:t>
              </a:r>
              <a:r>
                <a:rPr lang="zh-CN" altLang="en-US" b="1" kern="100" dirty="0">
                  <a:latin typeface="彩虹粗仿宋" panose="03000509000000000000" pitchFamily="65" charset="-122"/>
                  <a:ea typeface="彩虹粗仿宋" panose="03000509000000000000" pitchFamily="65" charset="-122"/>
                  <a:cs typeface="Times New Roman" panose="02020503050405090304" charset="0"/>
                </a:rPr>
                <a:t>无线充电技术</a:t>
              </a:r>
              <a:r>
                <a:rPr lang="zh-CN" altLang="en-US" kern="100" dirty="0">
                  <a:latin typeface="彩虹粗仿宋" panose="03000509000000000000" pitchFamily="65" charset="-122"/>
                  <a:ea typeface="彩虹粗仿宋" panose="03000509000000000000" pitchFamily="65" charset="-122"/>
                  <a:cs typeface="Times New Roman" panose="02020503050405090304" charset="0"/>
                </a:rPr>
                <a:t>、</a:t>
              </a:r>
              <a:r>
                <a:rPr lang="zh-CN" altLang="en-US" b="1" kern="100" dirty="0">
                  <a:latin typeface="彩虹粗仿宋" panose="03000509000000000000" pitchFamily="65" charset="-122"/>
                  <a:ea typeface="彩虹粗仿宋" panose="03000509000000000000" pitchFamily="65" charset="-122"/>
                  <a:cs typeface="Times New Roman" panose="02020503050405090304" charset="0"/>
                </a:rPr>
                <a:t>无线传输技术</a:t>
              </a:r>
              <a:r>
                <a:rPr lang="zh-CN" altLang="en-US" kern="100" dirty="0">
                  <a:latin typeface="彩虹粗仿宋" panose="03000509000000000000" pitchFamily="65" charset="-122"/>
                  <a:ea typeface="彩虹粗仿宋" panose="03000509000000000000" pitchFamily="65" charset="-122"/>
                  <a:cs typeface="Times New Roman" panose="02020503050405090304" charset="0"/>
                </a:rPr>
                <a:t>、</a:t>
              </a:r>
              <a:r>
                <a:rPr lang="zh-CN" altLang="en-US" b="1" kern="100" dirty="0">
                  <a:latin typeface="彩虹粗仿宋" panose="03000509000000000000" pitchFamily="65" charset="-122"/>
                  <a:ea typeface="彩虹粗仿宋" panose="03000509000000000000" pitchFamily="65" charset="-122"/>
                  <a:cs typeface="Times New Roman" panose="02020503050405090304" charset="0"/>
                </a:rPr>
                <a:t>微型化与微小封装技术</a:t>
              </a:r>
              <a:r>
                <a:rPr lang="zh-CN" altLang="en-US" kern="100" dirty="0">
                  <a:latin typeface="彩虹粗仿宋" panose="03000509000000000000" pitchFamily="65" charset="-122"/>
                  <a:ea typeface="彩虹粗仿宋" panose="03000509000000000000" pitchFamily="65" charset="-122"/>
                  <a:cs typeface="Times New Roman" panose="02020503050405090304" charset="0"/>
                </a:rPr>
                <a:t>、</a:t>
              </a:r>
              <a:r>
                <a:rPr lang="zh-CN" altLang="en-US" b="1" kern="100" dirty="0">
                  <a:latin typeface="彩虹粗仿宋" panose="03000509000000000000" pitchFamily="65" charset="-122"/>
                  <a:ea typeface="彩虹粗仿宋" panose="03000509000000000000" pitchFamily="65" charset="-122"/>
                  <a:cs typeface="Times New Roman" panose="02020503050405090304" charset="0"/>
                </a:rPr>
                <a:t>实时脑电数据处理技术</a:t>
              </a:r>
              <a:r>
                <a:rPr lang="zh-CN" altLang="en-US" kern="100" dirty="0">
                  <a:latin typeface="彩虹粗仿宋" panose="03000509000000000000" pitchFamily="65" charset="-122"/>
                  <a:ea typeface="彩虹粗仿宋" panose="03000509000000000000" pitchFamily="65" charset="-122"/>
                  <a:cs typeface="Times New Roman" panose="02020503050405090304" charset="0"/>
                </a:rPr>
                <a:t>、</a:t>
              </a:r>
              <a:r>
                <a:rPr lang="zh-CN" altLang="en-US" b="1" kern="100" dirty="0">
                  <a:latin typeface="彩虹粗仿宋" panose="03000509000000000000" pitchFamily="65" charset="-122"/>
                  <a:ea typeface="彩虹粗仿宋" panose="03000509000000000000" pitchFamily="65" charset="-122"/>
                  <a:cs typeface="Times New Roman" panose="02020503050405090304" charset="0"/>
                </a:rPr>
                <a:t>植入物</a:t>
              </a:r>
              <a:r>
                <a:rPr lang="en-US" altLang="zh-CN" b="1" kern="100" dirty="0">
                  <a:latin typeface="彩虹粗仿宋" panose="03000509000000000000" pitchFamily="65" charset="-122"/>
                  <a:ea typeface="彩虹粗仿宋" panose="03000509000000000000" pitchFamily="65" charset="-122"/>
                  <a:cs typeface="Times New Roman" panose="02020503050405090304" charset="0"/>
                </a:rPr>
                <a:t>MRI</a:t>
              </a:r>
              <a:r>
                <a:rPr lang="zh-CN" altLang="en-US" b="1" kern="100" dirty="0">
                  <a:latin typeface="彩虹粗仿宋" panose="03000509000000000000" pitchFamily="65" charset="-122"/>
                  <a:ea typeface="彩虹粗仿宋" panose="03000509000000000000" pitchFamily="65" charset="-122"/>
                  <a:cs typeface="Times New Roman" panose="02020503050405090304" charset="0"/>
                </a:rPr>
                <a:t>兼容技术</a:t>
              </a:r>
              <a:r>
                <a:rPr lang="zh-CN" altLang="en-US" kern="100" dirty="0">
                  <a:latin typeface="彩虹粗仿宋" panose="03000509000000000000" pitchFamily="65" charset="-122"/>
                  <a:ea typeface="彩虹粗仿宋" panose="03000509000000000000" pitchFamily="65" charset="-122"/>
                  <a:cs typeface="Times New Roman" panose="02020503050405090304" charset="0"/>
                </a:rPr>
                <a:t>、</a:t>
              </a:r>
              <a:r>
                <a:rPr lang="zh-CN" altLang="en-US" b="1" kern="100" dirty="0">
                  <a:latin typeface="彩虹粗仿宋" panose="03000509000000000000" pitchFamily="65" charset="-122"/>
                  <a:ea typeface="彩虹粗仿宋" panose="03000509000000000000" pitchFamily="65" charset="-122"/>
                  <a:cs typeface="Times New Roman" panose="02020503050405090304" charset="0"/>
                </a:rPr>
                <a:t>影像采集分析技术</a:t>
              </a:r>
              <a:r>
                <a:rPr lang="zh-CN" altLang="en-US" kern="100" dirty="0">
                  <a:latin typeface="彩虹粗仿宋" panose="03000509000000000000" pitchFamily="65" charset="-122"/>
                  <a:ea typeface="彩虹粗仿宋" panose="03000509000000000000" pitchFamily="65" charset="-122"/>
                  <a:cs typeface="Times New Roman" panose="02020503050405090304" charset="0"/>
                </a:rPr>
                <a:t>、</a:t>
              </a:r>
              <a:r>
                <a:rPr lang="zh-CN" altLang="en-US" b="1" kern="100" dirty="0">
                  <a:latin typeface="彩虹粗仿宋" panose="03000509000000000000" pitchFamily="65" charset="-122"/>
                  <a:ea typeface="彩虹粗仿宋" panose="03000509000000000000" pitchFamily="65" charset="-122"/>
                  <a:cs typeface="Times New Roman" panose="02020503050405090304" charset="0"/>
                </a:rPr>
                <a:t>激光能量技术</a:t>
              </a:r>
              <a:r>
                <a:rPr lang="zh-CN" altLang="en-US" kern="100" dirty="0">
                  <a:latin typeface="彩虹粗仿宋" panose="03000509000000000000" pitchFamily="65" charset="-122"/>
                  <a:ea typeface="彩虹粗仿宋" panose="03000509000000000000" pitchFamily="65" charset="-122"/>
                  <a:cs typeface="Times New Roman" panose="02020503050405090304" charset="0"/>
                </a:rPr>
                <a:t>等方面，为后续高速发展建立了坚实的专利保障</a:t>
              </a:r>
              <a:endParaRPr lang="zh-CN" altLang="en-US" dirty="0">
                <a:latin typeface="彩虹粗仿宋" panose="03000509000000000000" pitchFamily="65" charset="-122"/>
                <a:ea typeface="彩虹粗仿宋" panose="03000509000000000000" pitchFamily="65" charset="-122"/>
              </a:endParaRPr>
            </a:p>
          </p:txBody>
        </p:sp>
        <p:grpSp>
          <p:nvGrpSpPr>
            <p:cNvPr id="4" name="组合 3"/>
            <p:cNvGrpSpPr/>
            <p:nvPr/>
          </p:nvGrpSpPr>
          <p:grpSpPr>
            <a:xfrm>
              <a:off x="533400" y="1581150"/>
              <a:ext cx="8382000" cy="3409950"/>
              <a:chOff x="311150" y="2277110"/>
              <a:chExt cx="11483340" cy="4390390"/>
            </a:xfrm>
          </p:grpSpPr>
          <p:grpSp>
            <p:nvGrpSpPr>
              <p:cNvPr id="5" name="组合 4"/>
              <p:cNvGrpSpPr/>
              <p:nvPr/>
            </p:nvGrpSpPr>
            <p:grpSpPr>
              <a:xfrm>
                <a:off x="7202170" y="2277110"/>
                <a:ext cx="4490720" cy="1953260"/>
                <a:chOff x="9713" y="6965"/>
                <a:chExt cx="6712" cy="2808"/>
              </a:xfrm>
            </p:grpSpPr>
            <p:pic>
              <p:nvPicPr>
                <p:cNvPr id="62" name="图片 61"/>
                <p:cNvPicPr>
                  <a:picLocks noChangeAspect="1"/>
                </p:cNvPicPr>
                <p:nvPr/>
              </p:nvPicPr>
              <p:blipFill>
                <a:blip r:embed="rId1"/>
                <a:stretch>
                  <a:fillRect/>
                </a:stretch>
              </p:blipFill>
              <p:spPr>
                <a:xfrm>
                  <a:off x="9713" y="6965"/>
                  <a:ext cx="2053" cy="2809"/>
                </a:xfrm>
                <a:prstGeom prst="rect">
                  <a:avLst/>
                </a:prstGeom>
              </p:spPr>
            </p:pic>
            <p:pic>
              <p:nvPicPr>
                <p:cNvPr id="63" name="图片 62"/>
                <p:cNvPicPr>
                  <a:picLocks noChangeAspect="1"/>
                </p:cNvPicPr>
                <p:nvPr/>
              </p:nvPicPr>
              <p:blipFill>
                <a:blip r:embed="rId1"/>
                <a:stretch>
                  <a:fillRect/>
                </a:stretch>
              </p:blipFill>
              <p:spPr>
                <a:xfrm>
                  <a:off x="10179" y="6965"/>
                  <a:ext cx="2053" cy="2809"/>
                </a:xfrm>
                <a:prstGeom prst="rect">
                  <a:avLst/>
                </a:prstGeom>
              </p:spPr>
            </p:pic>
            <p:pic>
              <p:nvPicPr>
                <p:cNvPr id="64" name="图片 63"/>
                <p:cNvPicPr>
                  <a:picLocks noChangeAspect="1"/>
                </p:cNvPicPr>
                <p:nvPr/>
              </p:nvPicPr>
              <p:blipFill>
                <a:blip r:embed="rId1"/>
                <a:stretch>
                  <a:fillRect/>
                </a:stretch>
              </p:blipFill>
              <p:spPr>
                <a:xfrm>
                  <a:off x="10645" y="6965"/>
                  <a:ext cx="2053" cy="2809"/>
                </a:xfrm>
                <a:prstGeom prst="rect">
                  <a:avLst/>
                </a:prstGeom>
              </p:spPr>
            </p:pic>
            <p:pic>
              <p:nvPicPr>
                <p:cNvPr id="65" name="图片 64"/>
                <p:cNvPicPr>
                  <a:picLocks noChangeAspect="1"/>
                </p:cNvPicPr>
                <p:nvPr/>
              </p:nvPicPr>
              <p:blipFill>
                <a:blip r:embed="rId1"/>
                <a:stretch>
                  <a:fillRect/>
                </a:stretch>
              </p:blipFill>
              <p:spPr>
                <a:xfrm>
                  <a:off x="11111" y="6965"/>
                  <a:ext cx="2053" cy="2809"/>
                </a:xfrm>
                <a:prstGeom prst="rect">
                  <a:avLst/>
                </a:prstGeom>
              </p:spPr>
            </p:pic>
            <p:pic>
              <p:nvPicPr>
                <p:cNvPr id="66" name="图片 65"/>
                <p:cNvPicPr>
                  <a:picLocks noChangeAspect="1"/>
                </p:cNvPicPr>
                <p:nvPr/>
              </p:nvPicPr>
              <p:blipFill>
                <a:blip r:embed="rId1"/>
                <a:stretch>
                  <a:fillRect/>
                </a:stretch>
              </p:blipFill>
              <p:spPr>
                <a:xfrm>
                  <a:off x="11577" y="6965"/>
                  <a:ext cx="2053" cy="2809"/>
                </a:xfrm>
                <a:prstGeom prst="rect">
                  <a:avLst/>
                </a:prstGeom>
              </p:spPr>
            </p:pic>
            <p:pic>
              <p:nvPicPr>
                <p:cNvPr id="67" name="图片 66"/>
                <p:cNvPicPr>
                  <a:picLocks noChangeAspect="1"/>
                </p:cNvPicPr>
                <p:nvPr/>
              </p:nvPicPr>
              <p:blipFill>
                <a:blip r:embed="rId1"/>
                <a:stretch>
                  <a:fillRect/>
                </a:stretch>
              </p:blipFill>
              <p:spPr>
                <a:xfrm>
                  <a:off x="12043" y="6965"/>
                  <a:ext cx="2053" cy="2809"/>
                </a:xfrm>
                <a:prstGeom prst="rect">
                  <a:avLst/>
                </a:prstGeom>
              </p:spPr>
            </p:pic>
            <p:pic>
              <p:nvPicPr>
                <p:cNvPr id="68" name="图片 67"/>
                <p:cNvPicPr>
                  <a:picLocks noChangeAspect="1"/>
                </p:cNvPicPr>
                <p:nvPr/>
              </p:nvPicPr>
              <p:blipFill>
                <a:blip r:embed="rId1"/>
                <a:stretch>
                  <a:fillRect/>
                </a:stretch>
              </p:blipFill>
              <p:spPr>
                <a:xfrm>
                  <a:off x="12509" y="6965"/>
                  <a:ext cx="2053" cy="2809"/>
                </a:xfrm>
                <a:prstGeom prst="rect">
                  <a:avLst/>
                </a:prstGeom>
              </p:spPr>
            </p:pic>
            <p:pic>
              <p:nvPicPr>
                <p:cNvPr id="69" name="图片 68"/>
                <p:cNvPicPr>
                  <a:picLocks noChangeAspect="1"/>
                </p:cNvPicPr>
                <p:nvPr/>
              </p:nvPicPr>
              <p:blipFill>
                <a:blip r:embed="rId1"/>
                <a:stretch>
                  <a:fillRect/>
                </a:stretch>
              </p:blipFill>
              <p:spPr>
                <a:xfrm>
                  <a:off x="12975" y="6965"/>
                  <a:ext cx="2053" cy="2809"/>
                </a:xfrm>
                <a:prstGeom prst="rect">
                  <a:avLst/>
                </a:prstGeom>
              </p:spPr>
            </p:pic>
            <p:pic>
              <p:nvPicPr>
                <p:cNvPr id="70" name="图片 69"/>
                <p:cNvPicPr>
                  <a:picLocks noChangeAspect="1"/>
                </p:cNvPicPr>
                <p:nvPr/>
              </p:nvPicPr>
              <p:blipFill>
                <a:blip r:embed="rId1"/>
                <a:stretch>
                  <a:fillRect/>
                </a:stretch>
              </p:blipFill>
              <p:spPr>
                <a:xfrm>
                  <a:off x="13441" y="6965"/>
                  <a:ext cx="2053" cy="2809"/>
                </a:xfrm>
                <a:prstGeom prst="rect">
                  <a:avLst/>
                </a:prstGeom>
              </p:spPr>
            </p:pic>
            <p:pic>
              <p:nvPicPr>
                <p:cNvPr id="71" name="图片 70"/>
                <p:cNvPicPr>
                  <a:picLocks noChangeAspect="1"/>
                </p:cNvPicPr>
                <p:nvPr/>
              </p:nvPicPr>
              <p:blipFill>
                <a:blip r:embed="rId1"/>
                <a:stretch>
                  <a:fillRect/>
                </a:stretch>
              </p:blipFill>
              <p:spPr>
                <a:xfrm>
                  <a:off x="13907" y="6965"/>
                  <a:ext cx="2053" cy="2809"/>
                </a:xfrm>
                <a:prstGeom prst="rect">
                  <a:avLst/>
                </a:prstGeom>
              </p:spPr>
            </p:pic>
            <p:pic>
              <p:nvPicPr>
                <p:cNvPr id="72" name="图片 71"/>
                <p:cNvPicPr>
                  <a:picLocks noChangeAspect="1"/>
                </p:cNvPicPr>
                <p:nvPr/>
              </p:nvPicPr>
              <p:blipFill>
                <a:blip r:embed="rId1"/>
                <a:stretch>
                  <a:fillRect/>
                </a:stretch>
              </p:blipFill>
              <p:spPr>
                <a:xfrm>
                  <a:off x="14373" y="6965"/>
                  <a:ext cx="2053" cy="2809"/>
                </a:xfrm>
                <a:prstGeom prst="rect">
                  <a:avLst/>
                </a:prstGeom>
              </p:spPr>
            </p:pic>
          </p:grpSp>
          <p:grpSp>
            <p:nvGrpSpPr>
              <p:cNvPr id="6" name="组合 5"/>
              <p:cNvGrpSpPr/>
              <p:nvPr/>
            </p:nvGrpSpPr>
            <p:grpSpPr>
              <a:xfrm>
                <a:off x="311150" y="4653280"/>
                <a:ext cx="11483340" cy="2014220"/>
                <a:chOff x="596" y="6761"/>
                <a:chExt cx="18084" cy="3172"/>
              </a:xfrm>
            </p:grpSpPr>
            <p:pic>
              <p:nvPicPr>
                <p:cNvPr id="26" name="图片 25"/>
                <p:cNvPicPr>
                  <a:picLocks noChangeAspect="1"/>
                </p:cNvPicPr>
                <p:nvPr/>
              </p:nvPicPr>
              <p:blipFill>
                <a:blip r:embed="rId2"/>
                <a:stretch>
                  <a:fillRect/>
                </a:stretch>
              </p:blipFill>
              <p:spPr>
                <a:xfrm>
                  <a:off x="596" y="6761"/>
                  <a:ext cx="2162" cy="3173"/>
                </a:xfrm>
                <a:prstGeom prst="rect">
                  <a:avLst/>
                </a:prstGeom>
              </p:spPr>
            </p:pic>
            <p:pic>
              <p:nvPicPr>
                <p:cNvPr id="27" name="图片 26"/>
                <p:cNvPicPr>
                  <a:picLocks noChangeAspect="1"/>
                </p:cNvPicPr>
                <p:nvPr/>
              </p:nvPicPr>
              <p:blipFill>
                <a:blip r:embed="rId2"/>
                <a:stretch>
                  <a:fillRect/>
                </a:stretch>
              </p:blipFill>
              <p:spPr>
                <a:xfrm>
                  <a:off x="1049" y="6761"/>
                  <a:ext cx="2162" cy="3173"/>
                </a:xfrm>
                <a:prstGeom prst="rect">
                  <a:avLst/>
                </a:prstGeom>
              </p:spPr>
            </p:pic>
            <p:pic>
              <p:nvPicPr>
                <p:cNvPr id="28" name="图片 27"/>
                <p:cNvPicPr>
                  <a:picLocks noChangeAspect="1"/>
                </p:cNvPicPr>
                <p:nvPr/>
              </p:nvPicPr>
              <p:blipFill>
                <a:blip r:embed="rId2"/>
                <a:stretch>
                  <a:fillRect/>
                </a:stretch>
              </p:blipFill>
              <p:spPr>
                <a:xfrm>
                  <a:off x="1503" y="6761"/>
                  <a:ext cx="2162" cy="3173"/>
                </a:xfrm>
                <a:prstGeom prst="rect">
                  <a:avLst/>
                </a:prstGeom>
              </p:spPr>
            </p:pic>
            <p:pic>
              <p:nvPicPr>
                <p:cNvPr id="29" name="图片 28"/>
                <p:cNvPicPr>
                  <a:picLocks noChangeAspect="1"/>
                </p:cNvPicPr>
                <p:nvPr/>
              </p:nvPicPr>
              <p:blipFill>
                <a:blip r:embed="rId2"/>
                <a:stretch>
                  <a:fillRect/>
                </a:stretch>
              </p:blipFill>
              <p:spPr>
                <a:xfrm>
                  <a:off x="1957" y="6761"/>
                  <a:ext cx="2162" cy="3173"/>
                </a:xfrm>
                <a:prstGeom prst="rect">
                  <a:avLst/>
                </a:prstGeom>
              </p:spPr>
            </p:pic>
            <p:pic>
              <p:nvPicPr>
                <p:cNvPr id="30" name="图片 29"/>
                <p:cNvPicPr>
                  <a:picLocks noChangeAspect="1"/>
                </p:cNvPicPr>
                <p:nvPr/>
              </p:nvPicPr>
              <p:blipFill>
                <a:blip r:embed="rId2"/>
                <a:stretch>
                  <a:fillRect/>
                </a:stretch>
              </p:blipFill>
              <p:spPr>
                <a:xfrm>
                  <a:off x="2410" y="6761"/>
                  <a:ext cx="2162" cy="3173"/>
                </a:xfrm>
                <a:prstGeom prst="rect">
                  <a:avLst/>
                </a:prstGeom>
              </p:spPr>
            </p:pic>
            <p:pic>
              <p:nvPicPr>
                <p:cNvPr id="31" name="图片 30"/>
                <p:cNvPicPr>
                  <a:picLocks noChangeAspect="1"/>
                </p:cNvPicPr>
                <p:nvPr/>
              </p:nvPicPr>
              <p:blipFill>
                <a:blip r:embed="rId2"/>
                <a:stretch>
                  <a:fillRect/>
                </a:stretch>
              </p:blipFill>
              <p:spPr>
                <a:xfrm>
                  <a:off x="2864" y="6761"/>
                  <a:ext cx="2162" cy="3173"/>
                </a:xfrm>
                <a:prstGeom prst="rect">
                  <a:avLst/>
                </a:prstGeom>
              </p:spPr>
            </p:pic>
            <p:pic>
              <p:nvPicPr>
                <p:cNvPr id="32" name="图片 31"/>
                <p:cNvPicPr>
                  <a:picLocks noChangeAspect="1"/>
                </p:cNvPicPr>
                <p:nvPr/>
              </p:nvPicPr>
              <p:blipFill>
                <a:blip r:embed="rId2"/>
                <a:stretch>
                  <a:fillRect/>
                </a:stretch>
              </p:blipFill>
              <p:spPr>
                <a:xfrm>
                  <a:off x="3318" y="6761"/>
                  <a:ext cx="2162" cy="3173"/>
                </a:xfrm>
                <a:prstGeom prst="rect">
                  <a:avLst/>
                </a:prstGeom>
              </p:spPr>
            </p:pic>
            <p:pic>
              <p:nvPicPr>
                <p:cNvPr id="33" name="图片 32"/>
                <p:cNvPicPr>
                  <a:picLocks noChangeAspect="1"/>
                </p:cNvPicPr>
                <p:nvPr/>
              </p:nvPicPr>
              <p:blipFill>
                <a:blip r:embed="rId2"/>
                <a:stretch>
                  <a:fillRect/>
                </a:stretch>
              </p:blipFill>
              <p:spPr>
                <a:xfrm>
                  <a:off x="3771" y="6761"/>
                  <a:ext cx="2162" cy="3173"/>
                </a:xfrm>
                <a:prstGeom prst="rect">
                  <a:avLst/>
                </a:prstGeom>
              </p:spPr>
            </p:pic>
            <p:pic>
              <p:nvPicPr>
                <p:cNvPr id="34" name="图片 33"/>
                <p:cNvPicPr>
                  <a:picLocks noChangeAspect="1"/>
                </p:cNvPicPr>
                <p:nvPr/>
              </p:nvPicPr>
              <p:blipFill>
                <a:blip r:embed="rId2"/>
                <a:stretch>
                  <a:fillRect/>
                </a:stretch>
              </p:blipFill>
              <p:spPr>
                <a:xfrm>
                  <a:off x="4225" y="6761"/>
                  <a:ext cx="2162" cy="3173"/>
                </a:xfrm>
                <a:prstGeom prst="rect">
                  <a:avLst/>
                </a:prstGeom>
              </p:spPr>
            </p:pic>
            <p:pic>
              <p:nvPicPr>
                <p:cNvPr id="35" name="图片 34"/>
                <p:cNvPicPr>
                  <a:picLocks noChangeAspect="1"/>
                </p:cNvPicPr>
                <p:nvPr/>
              </p:nvPicPr>
              <p:blipFill>
                <a:blip r:embed="rId2"/>
                <a:stretch>
                  <a:fillRect/>
                </a:stretch>
              </p:blipFill>
              <p:spPr>
                <a:xfrm>
                  <a:off x="4680" y="6761"/>
                  <a:ext cx="2162" cy="3173"/>
                </a:xfrm>
                <a:prstGeom prst="rect">
                  <a:avLst/>
                </a:prstGeom>
              </p:spPr>
            </p:pic>
            <p:pic>
              <p:nvPicPr>
                <p:cNvPr id="36" name="图片 35"/>
                <p:cNvPicPr>
                  <a:picLocks noChangeAspect="1"/>
                </p:cNvPicPr>
                <p:nvPr/>
              </p:nvPicPr>
              <p:blipFill>
                <a:blip r:embed="rId2"/>
                <a:stretch>
                  <a:fillRect/>
                </a:stretch>
              </p:blipFill>
              <p:spPr>
                <a:xfrm>
                  <a:off x="5133" y="6761"/>
                  <a:ext cx="2162" cy="3173"/>
                </a:xfrm>
                <a:prstGeom prst="rect">
                  <a:avLst/>
                </a:prstGeom>
              </p:spPr>
            </p:pic>
            <p:pic>
              <p:nvPicPr>
                <p:cNvPr id="37" name="图片 36"/>
                <p:cNvPicPr>
                  <a:picLocks noChangeAspect="1"/>
                </p:cNvPicPr>
                <p:nvPr/>
              </p:nvPicPr>
              <p:blipFill>
                <a:blip r:embed="rId2"/>
                <a:stretch>
                  <a:fillRect/>
                </a:stretch>
              </p:blipFill>
              <p:spPr>
                <a:xfrm>
                  <a:off x="5587" y="6761"/>
                  <a:ext cx="2162" cy="3173"/>
                </a:xfrm>
                <a:prstGeom prst="rect">
                  <a:avLst/>
                </a:prstGeom>
              </p:spPr>
            </p:pic>
            <p:pic>
              <p:nvPicPr>
                <p:cNvPr id="38" name="图片 37"/>
                <p:cNvPicPr>
                  <a:picLocks noChangeAspect="1"/>
                </p:cNvPicPr>
                <p:nvPr/>
              </p:nvPicPr>
              <p:blipFill>
                <a:blip r:embed="rId2"/>
                <a:stretch>
                  <a:fillRect/>
                </a:stretch>
              </p:blipFill>
              <p:spPr>
                <a:xfrm>
                  <a:off x="6083" y="6761"/>
                  <a:ext cx="2162" cy="3173"/>
                </a:xfrm>
                <a:prstGeom prst="rect">
                  <a:avLst/>
                </a:prstGeom>
              </p:spPr>
            </p:pic>
            <p:pic>
              <p:nvPicPr>
                <p:cNvPr id="39" name="图片 38"/>
                <p:cNvPicPr>
                  <a:picLocks noChangeAspect="1"/>
                </p:cNvPicPr>
                <p:nvPr/>
              </p:nvPicPr>
              <p:blipFill>
                <a:blip r:embed="rId2"/>
                <a:stretch>
                  <a:fillRect/>
                </a:stretch>
              </p:blipFill>
              <p:spPr>
                <a:xfrm>
                  <a:off x="6536" y="6761"/>
                  <a:ext cx="2162" cy="3173"/>
                </a:xfrm>
                <a:prstGeom prst="rect">
                  <a:avLst/>
                </a:prstGeom>
              </p:spPr>
            </p:pic>
            <p:pic>
              <p:nvPicPr>
                <p:cNvPr id="40" name="图片 39"/>
                <p:cNvPicPr>
                  <a:picLocks noChangeAspect="1"/>
                </p:cNvPicPr>
                <p:nvPr/>
              </p:nvPicPr>
              <p:blipFill>
                <a:blip r:embed="rId2"/>
                <a:stretch>
                  <a:fillRect/>
                </a:stretch>
              </p:blipFill>
              <p:spPr>
                <a:xfrm>
                  <a:off x="6990" y="6761"/>
                  <a:ext cx="2162" cy="3173"/>
                </a:xfrm>
                <a:prstGeom prst="rect">
                  <a:avLst/>
                </a:prstGeom>
              </p:spPr>
            </p:pic>
            <p:pic>
              <p:nvPicPr>
                <p:cNvPr id="41" name="图片 40"/>
                <p:cNvPicPr>
                  <a:picLocks noChangeAspect="1"/>
                </p:cNvPicPr>
                <p:nvPr/>
              </p:nvPicPr>
              <p:blipFill>
                <a:blip r:embed="rId2"/>
                <a:stretch>
                  <a:fillRect/>
                </a:stretch>
              </p:blipFill>
              <p:spPr>
                <a:xfrm>
                  <a:off x="7444" y="6761"/>
                  <a:ext cx="2162" cy="3173"/>
                </a:xfrm>
                <a:prstGeom prst="rect">
                  <a:avLst/>
                </a:prstGeom>
              </p:spPr>
            </p:pic>
            <p:pic>
              <p:nvPicPr>
                <p:cNvPr id="42" name="图片 41"/>
                <p:cNvPicPr>
                  <a:picLocks noChangeAspect="1"/>
                </p:cNvPicPr>
                <p:nvPr/>
              </p:nvPicPr>
              <p:blipFill>
                <a:blip r:embed="rId2"/>
                <a:stretch>
                  <a:fillRect/>
                </a:stretch>
              </p:blipFill>
              <p:spPr>
                <a:xfrm>
                  <a:off x="7897" y="6761"/>
                  <a:ext cx="2162" cy="3173"/>
                </a:xfrm>
                <a:prstGeom prst="rect">
                  <a:avLst/>
                </a:prstGeom>
              </p:spPr>
            </p:pic>
            <p:pic>
              <p:nvPicPr>
                <p:cNvPr id="43" name="图片 42"/>
                <p:cNvPicPr>
                  <a:picLocks noChangeAspect="1"/>
                </p:cNvPicPr>
                <p:nvPr/>
              </p:nvPicPr>
              <p:blipFill>
                <a:blip r:embed="rId2"/>
                <a:stretch>
                  <a:fillRect/>
                </a:stretch>
              </p:blipFill>
              <p:spPr>
                <a:xfrm>
                  <a:off x="8351" y="6761"/>
                  <a:ext cx="2162" cy="3173"/>
                </a:xfrm>
                <a:prstGeom prst="rect">
                  <a:avLst/>
                </a:prstGeom>
              </p:spPr>
            </p:pic>
            <p:pic>
              <p:nvPicPr>
                <p:cNvPr id="44" name="图片 43"/>
                <p:cNvPicPr>
                  <a:picLocks noChangeAspect="1"/>
                </p:cNvPicPr>
                <p:nvPr/>
              </p:nvPicPr>
              <p:blipFill>
                <a:blip r:embed="rId2"/>
                <a:stretch>
                  <a:fillRect/>
                </a:stretch>
              </p:blipFill>
              <p:spPr>
                <a:xfrm>
                  <a:off x="8805" y="6761"/>
                  <a:ext cx="2162" cy="3173"/>
                </a:xfrm>
                <a:prstGeom prst="rect">
                  <a:avLst/>
                </a:prstGeom>
              </p:spPr>
            </p:pic>
            <p:pic>
              <p:nvPicPr>
                <p:cNvPr id="45" name="图片 44"/>
                <p:cNvPicPr>
                  <a:picLocks noChangeAspect="1"/>
                </p:cNvPicPr>
                <p:nvPr/>
              </p:nvPicPr>
              <p:blipFill>
                <a:blip r:embed="rId2"/>
                <a:stretch>
                  <a:fillRect/>
                </a:stretch>
              </p:blipFill>
              <p:spPr>
                <a:xfrm>
                  <a:off x="9258" y="6761"/>
                  <a:ext cx="2162" cy="3173"/>
                </a:xfrm>
                <a:prstGeom prst="rect">
                  <a:avLst/>
                </a:prstGeom>
              </p:spPr>
            </p:pic>
            <p:pic>
              <p:nvPicPr>
                <p:cNvPr id="46" name="图片 45"/>
                <p:cNvPicPr>
                  <a:picLocks noChangeAspect="1"/>
                </p:cNvPicPr>
                <p:nvPr/>
              </p:nvPicPr>
              <p:blipFill>
                <a:blip r:embed="rId2"/>
                <a:stretch>
                  <a:fillRect/>
                </a:stretch>
              </p:blipFill>
              <p:spPr>
                <a:xfrm>
                  <a:off x="9712" y="6761"/>
                  <a:ext cx="2162" cy="3173"/>
                </a:xfrm>
                <a:prstGeom prst="rect">
                  <a:avLst/>
                </a:prstGeom>
              </p:spPr>
            </p:pic>
            <p:pic>
              <p:nvPicPr>
                <p:cNvPr id="47" name="图片 46"/>
                <p:cNvPicPr>
                  <a:picLocks noChangeAspect="1"/>
                </p:cNvPicPr>
                <p:nvPr/>
              </p:nvPicPr>
              <p:blipFill>
                <a:blip r:embed="rId2"/>
                <a:stretch>
                  <a:fillRect/>
                </a:stretch>
              </p:blipFill>
              <p:spPr>
                <a:xfrm>
                  <a:off x="10167" y="6761"/>
                  <a:ext cx="2162" cy="3173"/>
                </a:xfrm>
                <a:prstGeom prst="rect">
                  <a:avLst/>
                </a:prstGeom>
              </p:spPr>
            </p:pic>
            <p:pic>
              <p:nvPicPr>
                <p:cNvPr id="48" name="图片 47"/>
                <p:cNvPicPr>
                  <a:picLocks noChangeAspect="1"/>
                </p:cNvPicPr>
                <p:nvPr/>
              </p:nvPicPr>
              <p:blipFill>
                <a:blip r:embed="rId2"/>
                <a:stretch>
                  <a:fillRect/>
                </a:stretch>
              </p:blipFill>
              <p:spPr>
                <a:xfrm>
                  <a:off x="10620" y="6761"/>
                  <a:ext cx="2162" cy="3173"/>
                </a:xfrm>
                <a:prstGeom prst="rect">
                  <a:avLst/>
                </a:prstGeom>
              </p:spPr>
            </p:pic>
            <p:pic>
              <p:nvPicPr>
                <p:cNvPr id="49" name="图片 48"/>
                <p:cNvPicPr>
                  <a:picLocks noChangeAspect="1"/>
                </p:cNvPicPr>
                <p:nvPr/>
              </p:nvPicPr>
              <p:blipFill>
                <a:blip r:embed="rId2"/>
                <a:stretch>
                  <a:fillRect/>
                </a:stretch>
              </p:blipFill>
              <p:spPr>
                <a:xfrm>
                  <a:off x="11074" y="6761"/>
                  <a:ext cx="2162" cy="3173"/>
                </a:xfrm>
                <a:prstGeom prst="rect">
                  <a:avLst/>
                </a:prstGeom>
              </p:spPr>
            </p:pic>
            <p:pic>
              <p:nvPicPr>
                <p:cNvPr id="50" name="图片 49"/>
                <p:cNvPicPr>
                  <a:picLocks noChangeAspect="1"/>
                </p:cNvPicPr>
                <p:nvPr/>
              </p:nvPicPr>
              <p:blipFill>
                <a:blip r:embed="rId2"/>
                <a:stretch>
                  <a:fillRect/>
                </a:stretch>
              </p:blipFill>
              <p:spPr>
                <a:xfrm>
                  <a:off x="11527" y="6761"/>
                  <a:ext cx="2162" cy="3173"/>
                </a:xfrm>
                <a:prstGeom prst="rect">
                  <a:avLst/>
                </a:prstGeom>
              </p:spPr>
            </p:pic>
            <p:pic>
              <p:nvPicPr>
                <p:cNvPr id="51" name="图片 50"/>
                <p:cNvPicPr>
                  <a:picLocks noChangeAspect="1"/>
                </p:cNvPicPr>
                <p:nvPr/>
              </p:nvPicPr>
              <p:blipFill>
                <a:blip r:embed="rId2"/>
                <a:stretch>
                  <a:fillRect/>
                </a:stretch>
              </p:blipFill>
              <p:spPr>
                <a:xfrm>
                  <a:off x="11980" y="6761"/>
                  <a:ext cx="2162" cy="3173"/>
                </a:xfrm>
                <a:prstGeom prst="rect">
                  <a:avLst/>
                </a:prstGeom>
              </p:spPr>
            </p:pic>
            <p:pic>
              <p:nvPicPr>
                <p:cNvPr id="52" name="图片 51"/>
                <p:cNvPicPr>
                  <a:picLocks noChangeAspect="1"/>
                </p:cNvPicPr>
                <p:nvPr/>
              </p:nvPicPr>
              <p:blipFill>
                <a:blip r:embed="rId2"/>
                <a:stretch>
                  <a:fillRect/>
                </a:stretch>
              </p:blipFill>
              <p:spPr>
                <a:xfrm>
                  <a:off x="12434" y="6761"/>
                  <a:ext cx="2162" cy="3173"/>
                </a:xfrm>
                <a:prstGeom prst="rect">
                  <a:avLst/>
                </a:prstGeom>
              </p:spPr>
            </p:pic>
            <p:pic>
              <p:nvPicPr>
                <p:cNvPr id="53" name="图片 52"/>
                <p:cNvPicPr>
                  <a:picLocks noChangeAspect="1"/>
                </p:cNvPicPr>
                <p:nvPr/>
              </p:nvPicPr>
              <p:blipFill>
                <a:blip r:embed="rId2"/>
                <a:stretch>
                  <a:fillRect/>
                </a:stretch>
              </p:blipFill>
              <p:spPr>
                <a:xfrm>
                  <a:off x="12888" y="6761"/>
                  <a:ext cx="2162" cy="3173"/>
                </a:xfrm>
                <a:prstGeom prst="rect">
                  <a:avLst/>
                </a:prstGeom>
              </p:spPr>
            </p:pic>
            <p:pic>
              <p:nvPicPr>
                <p:cNvPr id="54" name="图片 53"/>
                <p:cNvPicPr>
                  <a:picLocks noChangeAspect="1"/>
                </p:cNvPicPr>
                <p:nvPr/>
              </p:nvPicPr>
              <p:blipFill>
                <a:blip r:embed="rId2"/>
                <a:stretch>
                  <a:fillRect/>
                </a:stretch>
              </p:blipFill>
              <p:spPr>
                <a:xfrm>
                  <a:off x="13341" y="6761"/>
                  <a:ext cx="2162" cy="3173"/>
                </a:xfrm>
                <a:prstGeom prst="rect">
                  <a:avLst/>
                </a:prstGeom>
              </p:spPr>
            </p:pic>
            <p:pic>
              <p:nvPicPr>
                <p:cNvPr id="55" name="图片 54"/>
                <p:cNvPicPr>
                  <a:picLocks noChangeAspect="1"/>
                </p:cNvPicPr>
                <p:nvPr/>
              </p:nvPicPr>
              <p:blipFill>
                <a:blip r:embed="rId2"/>
                <a:stretch>
                  <a:fillRect/>
                </a:stretch>
              </p:blipFill>
              <p:spPr>
                <a:xfrm>
                  <a:off x="13795" y="6761"/>
                  <a:ext cx="2162" cy="3173"/>
                </a:xfrm>
                <a:prstGeom prst="rect">
                  <a:avLst/>
                </a:prstGeom>
              </p:spPr>
            </p:pic>
            <p:pic>
              <p:nvPicPr>
                <p:cNvPr id="56" name="图片 55"/>
                <p:cNvPicPr>
                  <a:picLocks noChangeAspect="1"/>
                </p:cNvPicPr>
                <p:nvPr/>
              </p:nvPicPr>
              <p:blipFill>
                <a:blip r:embed="rId2"/>
                <a:stretch>
                  <a:fillRect/>
                </a:stretch>
              </p:blipFill>
              <p:spPr>
                <a:xfrm>
                  <a:off x="14249" y="6761"/>
                  <a:ext cx="2162" cy="3173"/>
                </a:xfrm>
                <a:prstGeom prst="rect">
                  <a:avLst/>
                </a:prstGeom>
              </p:spPr>
            </p:pic>
            <p:pic>
              <p:nvPicPr>
                <p:cNvPr id="57" name="图片 56"/>
                <p:cNvPicPr>
                  <a:picLocks noChangeAspect="1"/>
                </p:cNvPicPr>
                <p:nvPr/>
              </p:nvPicPr>
              <p:blipFill>
                <a:blip r:embed="rId2"/>
                <a:stretch>
                  <a:fillRect/>
                </a:stretch>
              </p:blipFill>
              <p:spPr>
                <a:xfrm>
                  <a:off x="14702" y="6761"/>
                  <a:ext cx="2162" cy="3173"/>
                </a:xfrm>
                <a:prstGeom prst="rect">
                  <a:avLst/>
                </a:prstGeom>
              </p:spPr>
            </p:pic>
            <p:pic>
              <p:nvPicPr>
                <p:cNvPr id="58" name="图片 57"/>
                <p:cNvPicPr>
                  <a:picLocks noChangeAspect="1"/>
                </p:cNvPicPr>
                <p:nvPr/>
              </p:nvPicPr>
              <p:blipFill>
                <a:blip r:embed="rId2"/>
                <a:stretch>
                  <a:fillRect/>
                </a:stretch>
              </p:blipFill>
              <p:spPr>
                <a:xfrm>
                  <a:off x="15156" y="6761"/>
                  <a:ext cx="2162" cy="3173"/>
                </a:xfrm>
                <a:prstGeom prst="rect">
                  <a:avLst/>
                </a:prstGeom>
              </p:spPr>
            </p:pic>
            <p:pic>
              <p:nvPicPr>
                <p:cNvPr id="59" name="图片 58"/>
                <p:cNvPicPr>
                  <a:picLocks noChangeAspect="1"/>
                </p:cNvPicPr>
                <p:nvPr/>
              </p:nvPicPr>
              <p:blipFill>
                <a:blip r:embed="rId2"/>
                <a:stretch>
                  <a:fillRect/>
                </a:stretch>
              </p:blipFill>
              <p:spPr>
                <a:xfrm>
                  <a:off x="15611" y="6761"/>
                  <a:ext cx="2162" cy="3173"/>
                </a:xfrm>
                <a:prstGeom prst="rect">
                  <a:avLst/>
                </a:prstGeom>
              </p:spPr>
            </p:pic>
            <p:pic>
              <p:nvPicPr>
                <p:cNvPr id="60" name="图片 59"/>
                <p:cNvPicPr>
                  <a:picLocks noChangeAspect="1"/>
                </p:cNvPicPr>
                <p:nvPr/>
              </p:nvPicPr>
              <p:blipFill>
                <a:blip r:embed="rId2"/>
                <a:stretch>
                  <a:fillRect/>
                </a:stretch>
              </p:blipFill>
              <p:spPr>
                <a:xfrm>
                  <a:off x="16064" y="6761"/>
                  <a:ext cx="2162" cy="3173"/>
                </a:xfrm>
                <a:prstGeom prst="rect">
                  <a:avLst/>
                </a:prstGeom>
              </p:spPr>
            </p:pic>
            <p:pic>
              <p:nvPicPr>
                <p:cNvPr id="61" name="图片 60"/>
                <p:cNvPicPr>
                  <a:picLocks noChangeAspect="1"/>
                </p:cNvPicPr>
                <p:nvPr/>
              </p:nvPicPr>
              <p:blipFill>
                <a:blip r:embed="rId2"/>
                <a:stretch>
                  <a:fillRect/>
                </a:stretch>
              </p:blipFill>
              <p:spPr>
                <a:xfrm>
                  <a:off x="16518" y="6761"/>
                  <a:ext cx="2162" cy="3173"/>
                </a:xfrm>
                <a:prstGeom prst="rect">
                  <a:avLst/>
                </a:prstGeom>
              </p:spPr>
            </p:pic>
          </p:grpSp>
          <p:grpSp>
            <p:nvGrpSpPr>
              <p:cNvPr id="7" name="组合 6"/>
              <p:cNvGrpSpPr/>
              <p:nvPr/>
            </p:nvGrpSpPr>
            <p:grpSpPr>
              <a:xfrm>
                <a:off x="326390" y="2277110"/>
                <a:ext cx="6421120" cy="1979930"/>
                <a:chOff x="521" y="3540"/>
                <a:chExt cx="10112" cy="3118"/>
              </a:xfrm>
            </p:grpSpPr>
            <p:pic>
              <p:nvPicPr>
                <p:cNvPr id="8" name="图片 7"/>
                <p:cNvPicPr>
                  <a:picLocks noChangeAspect="1"/>
                </p:cNvPicPr>
                <p:nvPr/>
              </p:nvPicPr>
              <p:blipFill>
                <a:blip r:embed="rId3"/>
                <a:stretch>
                  <a:fillRect/>
                </a:stretch>
              </p:blipFill>
              <p:spPr>
                <a:xfrm>
                  <a:off x="521" y="3540"/>
                  <a:ext cx="2161" cy="3118"/>
                </a:xfrm>
                <a:prstGeom prst="rect">
                  <a:avLst/>
                </a:prstGeom>
              </p:spPr>
            </p:pic>
            <p:pic>
              <p:nvPicPr>
                <p:cNvPr id="9" name="图片 8"/>
                <p:cNvPicPr>
                  <a:picLocks noChangeAspect="1"/>
                </p:cNvPicPr>
                <p:nvPr/>
              </p:nvPicPr>
              <p:blipFill>
                <a:blip r:embed="rId3"/>
                <a:stretch>
                  <a:fillRect/>
                </a:stretch>
              </p:blipFill>
              <p:spPr>
                <a:xfrm>
                  <a:off x="1089" y="3540"/>
                  <a:ext cx="2161" cy="3118"/>
                </a:xfrm>
                <a:prstGeom prst="rect">
                  <a:avLst/>
                </a:prstGeom>
              </p:spPr>
            </p:pic>
            <p:pic>
              <p:nvPicPr>
                <p:cNvPr id="10" name="图片 9"/>
                <p:cNvPicPr>
                  <a:picLocks noChangeAspect="1"/>
                </p:cNvPicPr>
                <p:nvPr/>
              </p:nvPicPr>
              <p:blipFill>
                <a:blip r:embed="rId3"/>
                <a:stretch>
                  <a:fillRect/>
                </a:stretch>
              </p:blipFill>
              <p:spPr>
                <a:xfrm>
                  <a:off x="1657" y="3540"/>
                  <a:ext cx="2161" cy="3118"/>
                </a:xfrm>
                <a:prstGeom prst="rect">
                  <a:avLst/>
                </a:prstGeom>
              </p:spPr>
            </p:pic>
            <p:pic>
              <p:nvPicPr>
                <p:cNvPr id="14" name="图片 13"/>
                <p:cNvPicPr>
                  <a:picLocks noChangeAspect="1"/>
                </p:cNvPicPr>
                <p:nvPr/>
              </p:nvPicPr>
              <p:blipFill>
                <a:blip r:embed="rId3"/>
                <a:stretch>
                  <a:fillRect/>
                </a:stretch>
              </p:blipFill>
              <p:spPr>
                <a:xfrm>
                  <a:off x="2225" y="3540"/>
                  <a:ext cx="2161" cy="3118"/>
                </a:xfrm>
                <a:prstGeom prst="rect">
                  <a:avLst/>
                </a:prstGeom>
              </p:spPr>
            </p:pic>
            <p:pic>
              <p:nvPicPr>
                <p:cNvPr id="15" name="图片 14"/>
                <p:cNvPicPr>
                  <a:picLocks noChangeAspect="1"/>
                </p:cNvPicPr>
                <p:nvPr/>
              </p:nvPicPr>
              <p:blipFill>
                <a:blip r:embed="rId3"/>
                <a:stretch>
                  <a:fillRect/>
                </a:stretch>
              </p:blipFill>
              <p:spPr>
                <a:xfrm>
                  <a:off x="2793" y="3540"/>
                  <a:ext cx="2161" cy="3118"/>
                </a:xfrm>
                <a:prstGeom prst="rect">
                  <a:avLst/>
                </a:prstGeom>
              </p:spPr>
            </p:pic>
            <p:pic>
              <p:nvPicPr>
                <p:cNvPr id="16" name="图片 15"/>
                <p:cNvPicPr>
                  <a:picLocks noChangeAspect="1"/>
                </p:cNvPicPr>
                <p:nvPr/>
              </p:nvPicPr>
              <p:blipFill>
                <a:blip r:embed="rId3"/>
                <a:stretch>
                  <a:fillRect/>
                </a:stretch>
              </p:blipFill>
              <p:spPr>
                <a:xfrm>
                  <a:off x="3361" y="3540"/>
                  <a:ext cx="2161" cy="3118"/>
                </a:xfrm>
                <a:prstGeom prst="rect">
                  <a:avLst/>
                </a:prstGeom>
              </p:spPr>
            </p:pic>
            <p:pic>
              <p:nvPicPr>
                <p:cNvPr id="17" name="图片 16"/>
                <p:cNvPicPr>
                  <a:picLocks noChangeAspect="1"/>
                </p:cNvPicPr>
                <p:nvPr/>
              </p:nvPicPr>
              <p:blipFill>
                <a:blip r:embed="rId3"/>
                <a:stretch>
                  <a:fillRect/>
                </a:stretch>
              </p:blipFill>
              <p:spPr>
                <a:xfrm>
                  <a:off x="3929" y="3540"/>
                  <a:ext cx="2161" cy="3118"/>
                </a:xfrm>
                <a:prstGeom prst="rect">
                  <a:avLst/>
                </a:prstGeom>
              </p:spPr>
            </p:pic>
            <p:pic>
              <p:nvPicPr>
                <p:cNvPr id="18" name="图片 17"/>
                <p:cNvPicPr>
                  <a:picLocks noChangeAspect="1"/>
                </p:cNvPicPr>
                <p:nvPr/>
              </p:nvPicPr>
              <p:blipFill>
                <a:blip r:embed="rId3"/>
                <a:stretch>
                  <a:fillRect/>
                </a:stretch>
              </p:blipFill>
              <p:spPr>
                <a:xfrm>
                  <a:off x="4497" y="3540"/>
                  <a:ext cx="2161" cy="3118"/>
                </a:xfrm>
                <a:prstGeom prst="rect">
                  <a:avLst/>
                </a:prstGeom>
              </p:spPr>
            </p:pic>
            <p:pic>
              <p:nvPicPr>
                <p:cNvPr id="19" name="图片 18"/>
                <p:cNvPicPr>
                  <a:picLocks noChangeAspect="1"/>
                </p:cNvPicPr>
                <p:nvPr/>
              </p:nvPicPr>
              <p:blipFill>
                <a:blip r:embed="rId3"/>
                <a:stretch>
                  <a:fillRect/>
                </a:stretch>
              </p:blipFill>
              <p:spPr>
                <a:xfrm>
                  <a:off x="5065" y="3540"/>
                  <a:ext cx="2161" cy="3118"/>
                </a:xfrm>
                <a:prstGeom prst="rect">
                  <a:avLst/>
                </a:prstGeom>
              </p:spPr>
            </p:pic>
            <p:pic>
              <p:nvPicPr>
                <p:cNvPr id="20" name="图片 19"/>
                <p:cNvPicPr>
                  <a:picLocks noChangeAspect="1"/>
                </p:cNvPicPr>
                <p:nvPr/>
              </p:nvPicPr>
              <p:blipFill>
                <a:blip r:embed="rId3"/>
                <a:stretch>
                  <a:fillRect/>
                </a:stretch>
              </p:blipFill>
              <p:spPr>
                <a:xfrm>
                  <a:off x="5633" y="3540"/>
                  <a:ext cx="2161" cy="3118"/>
                </a:xfrm>
                <a:prstGeom prst="rect">
                  <a:avLst/>
                </a:prstGeom>
              </p:spPr>
            </p:pic>
            <p:pic>
              <p:nvPicPr>
                <p:cNvPr id="21" name="图片 20"/>
                <p:cNvPicPr>
                  <a:picLocks noChangeAspect="1"/>
                </p:cNvPicPr>
                <p:nvPr/>
              </p:nvPicPr>
              <p:blipFill>
                <a:blip r:embed="rId3"/>
                <a:stretch>
                  <a:fillRect/>
                </a:stretch>
              </p:blipFill>
              <p:spPr>
                <a:xfrm>
                  <a:off x="6201" y="3540"/>
                  <a:ext cx="2161" cy="3118"/>
                </a:xfrm>
                <a:prstGeom prst="rect">
                  <a:avLst/>
                </a:prstGeom>
              </p:spPr>
            </p:pic>
            <p:pic>
              <p:nvPicPr>
                <p:cNvPr id="22" name="图片 21"/>
                <p:cNvPicPr>
                  <a:picLocks noChangeAspect="1"/>
                </p:cNvPicPr>
                <p:nvPr/>
              </p:nvPicPr>
              <p:blipFill>
                <a:blip r:embed="rId3"/>
                <a:stretch>
                  <a:fillRect/>
                </a:stretch>
              </p:blipFill>
              <p:spPr>
                <a:xfrm>
                  <a:off x="6769" y="3540"/>
                  <a:ext cx="2161" cy="3118"/>
                </a:xfrm>
                <a:prstGeom prst="rect">
                  <a:avLst/>
                </a:prstGeom>
              </p:spPr>
            </p:pic>
            <p:pic>
              <p:nvPicPr>
                <p:cNvPr id="23" name="图片 22"/>
                <p:cNvPicPr>
                  <a:picLocks noChangeAspect="1"/>
                </p:cNvPicPr>
                <p:nvPr/>
              </p:nvPicPr>
              <p:blipFill>
                <a:blip r:embed="rId3"/>
                <a:stretch>
                  <a:fillRect/>
                </a:stretch>
              </p:blipFill>
              <p:spPr>
                <a:xfrm>
                  <a:off x="7337" y="3540"/>
                  <a:ext cx="2161" cy="3118"/>
                </a:xfrm>
                <a:prstGeom prst="rect">
                  <a:avLst/>
                </a:prstGeom>
              </p:spPr>
            </p:pic>
            <p:pic>
              <p:nvPicPr>
                <p:cNvPr id="24" name="图片 23"/>
                <p:cNvPicPr>
                  <a:picLocks noChangeAspect="1"/>
                </p:cNvPicPr>
                <p:nvPr/>
              </p:nvPicPr>
              <p:blipFill>
                <a:blip r:embed="rId3"/>
                <a:stretch>
                  <a:fillRect/>
                </a:stretch>
              </p:blipFill>
              <p:spPr>
                <a:xfrm>
                  <a:off x="7905" y="3540"/>
                  <a:ext cx="2161" cy="3118"/>
                </a:xfrm>
                <a:prstGeom prst="rect">
                  <a:avLst/>
                </a:prstGeom>
              </p:spPr>
            </p:pic>
            <p:pic>
              <p:nvPicPr>
                <p:cNvPr id="25" name="图片 24"/>
                <p:cNvPicPr>
                  <a:picLocks noChangeAspect="1"/>
                </p:cNvPicPr>
                <p:nvPr/>
              </p:nvPicPr>
              <p:blipFill>
                <a:blip r:embed="rId3"/>
                <a:stretch>
                  <a:fillRect/>
                </a:stretch>
              </p:blipFill>
              <p:spPr>
                <a:xfrm>
                  <a:off x="8473" y="3540"/>
                  <a:ext cx="2161" cy="3118"/>
                </a:xfrm>
                <a:prstGeom prst="rect">
                  <a:avLst/>
                </a:prstGeom>
              </p:spPr>
            </p:pic>
          </p:grpSp>
        </p:grpSp>
        <p:sp>
          <p:nvSpPr>
            <p:cNvPr id="73" name="灯片编号占位符 1"/>
            <p:cNvSpPr txBox="1"/>
            <p:nvPr/>
          </p:nvSpPr>
          <p:spPr>
            <a:xfrm>
              <a:off x="3499384" y="4705350"/>
              <a:ext cx="2133600" cy="273844"/>
            </a:xfrm>
            <a:prstGeom prst="rect">
              <a:avLst/>
            </a:prstGeom>
          </p:spPr>
          <p:txBody>
            <a:bodyPr vert="horz" wrap="square" lIns="91440" tIns="45720" rIns="91440" bIns="45720" rtlCol="0" anchor="ctr">
              <a:normAutofit/>
            </a:bodyPr>
            <a:lstStyle>
              <a:defPPr>
                <a:defRPr lang="zh-CN"/>
              </a:defPPr>
              <a:lvl1pPr marL="0" algn="r"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050" smtClean="0"/>
              </a:fld>
              <a:endParaRPr lang="en-US" sz="1050" dirty="0"/>
            </a:p>
          </p:txBody>
        </p:sp>
      </p:gr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latin typeface="微软雅黑" panose="020B0503020204020204" charset="-122"/>
                <a:ea typeface="微软雅黑" panose="020B0503020204020204" charset="-122"/>
              </a:rPr>
              <a:t>公司介绍</a:t>
            </a:r>
            <a:endParaRPr lang="zh-CN" altLang="en-US" sz="1600" b="1" dirty="0">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indent="0" algn="l" fontAlgn="auto">
              <a:lnSpc>
                <a:spcPct val="100000"/>
              </a:lnSpc>
            </a:pP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主要产品管线</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nvGrpSpPr>
          <p:cNvPr id="3" name="组合 2"/>
          <p:cNvGrpSpPr/>
          <p:nvPr/>
        </p:nvGrpSpPr>
        <p:grpSpPr>
          <a:xfrm>
            <a:off x="245828" y="844225"/>
            <a:ext cx="11484865" cy="4819328"/>
            <a:chOff x="-36384" y="754227"/>
            <a:chExt cx="8928744" cy="3870966"/>
          </a:xfrm>
        </p:grpSpPr>
        <p:grpSp>
          <p:nvGrpSpPr>
            <p:cNvPr id="4" name="组合 3"/>
            <p:cNvGrpSpPr/>
            <p:nvPr/>
          </p:nvGrpSpPr>
          <p:grpSpPr>
            <a:xfrm>
              <a:off x="-36384" y="754227"/>
              <a:ext cx="8928744" cy="3869655"/>
              <a:chOff x="-36384" y="754227"/>
              <a:chExt cx="8928744" cy="3869655"/>
            </a:xfrm>
          </p:grpSpPr>
          <p:grpSp>
            <p:nvGrpSpPr>
              <p:cNvPr id="54" name="组合 53"/>
              <p:cNvGrpSpPr/>
              <p:nvPr/>
            </p:nvGrpSpPr>
            <p:grpSpPr>
              <a:xfrm>
                <a:off x="-36384" y="754227"/>
                <a:ext cx="8928744" cy="3869655"/>
                <a:chOff x="-319993" y="776932"/>
                <a:chExt cx="8928744" cy="3869655"/>
              </a:xfrm>
            </p:grpSpPr>
            <p:sp>
              <p:nvSpPr>
                <p:cNvPr id="56" name="矩形"/>
                <p:cNvSpPr/>
                <p:nvPr/>
              </p:nvSpPr>
              <p:spPr>
                <a:xfrm>
                  <a:off x="373049" y="1748330"/>
                  <a:ext cx="8235702" cy="360000"/>
                </a:xfrm>
                <a:prstGeom prst="rect">
                  <a:avLst/>
                </a:prstGeom>
                <a:solidFill>
                  <a:srgbClr val="F5F6F8"/>
                </a:solidFill>
                <a:ln w="12700">
                  <a:miter lim="400000"/>
                </a:ln>
              </p:spPr>
              <p:txBody>
                <a:bodyPr lIns="45718" tIns="45718" rIns="45718" bIns="45718" anchor="ctr"/>
                <a:lstStyle/>
                <a:p>
                  <a:endParaRPr sz="14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grpSp>
              <p:nvGrpSpPr>
                <p:cNvPr id="57" name="组合 56"/>
                <p:cNvGrpSpPr/>
                <p:nvPr/>
              </p:nvGrpSpPr>
              <p:grpSpPr>
                <a:xfrm>
                  <a:off x="-319993" y="776932"/>
                  <a:ext cx="8928744" cy="3869655"/>
                  <a:chOff x="-430340" y="691340"/>
                  <a:chExt cx="8928744" cy="4042548"/>
                </a:xfrm>
              </p:grpSpPr>
              <p:sp>
                <p:nvSpPr>
                  <p:cNvPr id="58" name="矩形"/>
                  <p:cNvSpPr/>
                  <p:nvPr/>
                </p:nvSpPr>
                <p:spPr>
                  <a:xfrm>
                    <a:off x="262702" y="2131168"/>
                    <a:ext cx="8235702" cy="488910"/>
                  </a:xfrm>
                  <a:prstGeom prst="rect">
                    <a:avLst/>
                  </a:prstGeom>
                  <a:solidFill>
                    <a:srgbClr val="F5F6F8"/>
                  </a:solidFill>
                  <a:ln w="12700">
                    <a:miter lim="400000"/>
                  </a:ln>
                </p:spPr>
                <p:txBody>
                  <a:bodyPr lIns="45718" tIns="45718" rIns="45718" bIns="45718" anchor="ctr"/>
                  <a:lstStyle/>
                  <a:p>
                    <a:endParaRPr sz="14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59" name="三角形"/>
                  <p:cNvSpPr/>
                  <p:nvPr/>
                </p:nvSpPr>
                <p:spPr>
                  <a:xfrm>
                    <a:off x="227172" y="705182"/>
                    <a:ext cx="1270003" cy="52479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rgbClr val="EBEBEB"/>
                  </a:solidFill>
                  <a:ln w="12700">
                    <a:miter lim="400000"/>
                  </a:ln>
                </p:spPr>
                <p:txBody>
                  <a:bodyPr lIns="45718" tIns="45718" rIns="45718" bIns="45718" anchor="ctr"/>
                  <a:lstStyle/>
                  <a:p>
                    <a:pPr>
                      <a:defRPr b="1">
                        <a:latin typeface="+mn-lt"/>
                        <a:ea typeface="+mn-ea"/>
                        <a:cs typeface="+mn-cs"/>
                        <a:sym typeface="Helvetica"/>
                      </a:defRPr>
                    </a:pPr>
                    <a:endParaRPr sz="16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0" name="矩形"/>
                  <p:cNvSpPr/>
                  <p:nvPr/>
                </p:nvSpPr>
                <p:spPr>
                  <a:xfrm>
                    <a:off x="262702" y="1281111"/>
                    <a:ext cx="8235702" cy="376085"/>
                  </a:xfrm>
                  <a:prstGeom prst="rect">
                    <a:avLst/>
                  </a:prstGeom>
                  <a:solidFill>
                    <a:srgbClr val="F5F6F8"/>
                  </a:solidFill>
                  <a:ln w="12700">
                    <a:miter lim="400000"/>
                  </a:ln>
                </p:spPr>
                <p:txBody>
                  <a:bodyPr lIns="45718" tIns="45718" rIns="45718" bIns="45718" anchor="ctr"/>
                  <a:lstStyle/>
                  <a:p>
                    <a:endParaRPr sz="14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1" name="矩形"/>
                  <p:cNvSpPr/>
                  <p:nvPr/>
                </p:nvSpPr>
                <p:spPr>
                  <a:xfrm>
                    <a:off x="262702" y="2669022"/>
                    <a:ext cx="8235702" cy="676952"/>
                  </a:xfrm>
                  <a:prstGeom prst="rect">
                    <a:avLst/>
                  </a:prstGeom>
                  <a:solidFill>
                    <a:srgbClr val="F5F6F8"/>
                  </a:solidFill>
                  <a:ln w="12700">
                    <a:miter lim="400000"/>
                  </a:ln>
                </p:spPr>
                <p:txBody>
                  <a:bodyPr lIns="45718" tIns="45718" rIns="45718" bIns="45718" anchor="ctr"/>
                  <a:lstStyle/>
                  <a:p>
                    <a:endParaRPr sz="14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2" name="矩形"/>
                  <p:cNvSpPr/>
                  <p:nvPr/>
                </p:nvSpPr>
                <p:spPr>
                  <a:xfrm>
                    <a:off x="262702" y="3394919"/>
                    <a:ext cx="8235702" cy="376085"/>
                  </a:xfrm>
                  <a:prstGeom prst="rect">
                    <a:avLst/>
                  </a:prstGeom>
                  <a:solidFill>
                    <a:srgbClr val="EBEBEB"/>
                  </a:solidFill>
                  <a:ln w="12700">
                    <a:miter lim="400000"/>
                  </a:ln>
                </p:spPr>
                <p:txBody>
                  <a:bodyPr lIns="45718" tIns="45718" rIns="45718" bIns="45718" anchor="ctr"/>
                  <a:lstStyle/>
                  <a:p>
                    <a:endParaRPr sz="14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3" name="矩形"/>
                  <p:cNvSpPr/>
                  <p:nvPr/>
                </p:nvSpPr>
                <p:spPr>
                  <a:xfrm>
                    <a:off x="262702" y="3819948"/>
                    <a:ext cx="8235702" cy="376085"/>
                  </a:xfrm>
                  <a:prstGeom prst="rect">
                    <a:avLst/>
                  </a:prstGeom>
                  <a:solidFill>
                    <a:schemeClr val="tx2">
                      <a:lumMod val="60000"/>
                      <a:lumOff val="40000"/>
                    </a:schemeClr>
                  </a:solidFill>
                  <a:ln w="12700">
                    <a:miter lim="400000"/>
                  </a:ln>
                </p:spPr>
                <p:txBody>
                  <a:bodyPr lIns="45718" tIns="45718" rIns="45718" bIns="45718" anchor="ctr"/>
                  <a:lstStyle/>
                  <a:p>
                    <a:endParaRPr sz="14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4" name="矩形"/>
                  <p:cNvSpPr/>
                  <p:nvPr/>
                </p:nvSpPr>
                <p:spPr>
                  <a:xfrm>
                    <a:off x="262702" y="4244978"/>
                    <a:ext cx="8235702" cy="488910"/>
                  </a:xfrm>
                  <a:prstGeom prst="rect">
                    <a:avLst/>
                  </a:prstGeom>
                  <a:solidFill>
                    <a:srgbClr val="06194B"/>
                  </a:solidFill>
                  <a:ln w="12700">
                    <a:miter lim="400000"/>
                  </a:ln>
                </p:spPr>
                <p:txBody>
                  <a:bodyPr lIns="45718" tIns="45718" rIns="45718" bIns="45718" anchor="ctr"/>
                  <a:lstStyle/>
                  <a:p>
                    <a:endParaRPr sz="14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5" name="文本框 9"/>
                  <p:cNvSpPr txBox="1"/>
                  <p:nvPr/>
                </p:nvSpPr>
                <p:spPr>
                  <a:xfrm>
                    <a:off x="880968" y="691340"/>
                    <a:ext cx="560851" cy="304417"/>
                  </a:xfrm>
                  <a:prstGeom prst="rect">
                    <a:avLst/>
                  </a:prstGeom>
                  <a:ln w="12700">
                    <a:miter lim="400000"/>
                  </a:ln>
                </p:spPr>
                <p:txBody>
                  <a:bodyPr wrap="none" lIns="45718" tIns="45718" rIns="45718" bIns="45718">
                    <a:spAutoFit/>
                  </a:bodyPr>
                  <a:lstStyle>
                    <a:lvl1pPr>
                      <a:lnSpc>
                        <a:spcPct val="120000"/>
                      </a:lnSpc>
                      <a:spcBef>
                        <a:spcPts val="600"/>
                      </a:spcBef>
                      <a:defRPr sz="1400" b="1" spc="80">
                        <a:latin typeface="+mn-lt"/>
                        <a:ea typeface="+mn-ea"/>
                        <a:cs typeface="+mn-cs"/>
                        <a:sym typeface="Helvetica"/>
                      </a:defRPr>
                    </a:lvl1pPr>
                  </a:lstStyle>
                  <a:p>
                    <a:r>
                      <a:rPr sz="16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Stage</a:t>
                    </a:r>
                    <a:endParaRPr sz="16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66" name="文本框 10"/>
                  <p:cNvSpPr txBox="1"/>
                  <p:nvPr/>
                </p:nvSpPr>
                <p:spPr>
                  <a:xfrm>
                    <a:off x="312495" y="946610"/>
                    <a:ext cx="761146" cy="304417"/>
                  </a:xfrm>
                  <a:prstGeom prst="rect">
                    <a:avLst/>
                  </a:prstGeom>
                  <a:ln w="12700">
                    <a:miter lim="400000"/>
                  </a:ln>
                </p:spPr>
                <p:txBody>
                  <a:bodyPr wrap="none" lIns="45718" tIns="45718" rIns="45718" bIns="45718">
                    <a:spAutoFit/>
                  </a:bodyPr>
                  <a:lstStyle>
                    <a:lvl1pPr>
                      <a:lnSpc>
                        <a:spcPct val="120000"/>
                      </a:lnSpc>
                      <a:spcBef>
                        <a:spcPts val="600"/>
                      </a:spcBef>
                      <a:defRPr sz="1400" b="1" spc="80">
                        <a:latin typeface="+mn-lt"/>
                        <a:ea typeface="+mn-ea"/>
                        <a:cs typeface="+mn-cs"/>
                        <a:sym typeface="Helvetica"/>
                      </a:defRPr>
                    </a:lvl1pPr>
                  </a:lstStyle>
                  <a:p>
                    <a:r>
                      <a:rPr sz="16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Product</a:t>
                    </a:r>
                    <a:endParaRPr sz="16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67" name="文本框 28"/>
                  <p:cNvSpPr txBox="1"/>
                  <p:nvPr/>
                </p:nvSpPr>
                <p:spPr>
                  <a:xfrm>
                    <a:off x="2125401" y="794912"/>
                    <a:ext cx="1006479" cy="284079"/>
                  </a:xfrm>
                  <a:prstGeom prst="rect">
                    <a:avLst/>
                  </a:prstGeom>
                  <a:ln w="12700">
                    <a:miter lim="400000"/>
                  </a:ln>
                </p:spPr>
                <p:txBody>
                  <a:bodyPr lIns="45718" tIns="45718" rIns="45718" bIns="45718" anchor="ctr">
                    <a:spAutoFit/>
                  </a:bodyPr>
                  <a:lstStyle>
                    <a:lvl1pPr algn="ctr">
                      <a:defRPr sz="1400" b="1" spc="70">
                        <a:solidFill>
                          <a:srgbClr val="2A2A2A"/>
                        </a:solidFill>
                      </a:defRPr>
                    </a:lvl1pPr>
                  </a:lstStyle>
                  <a:p>
                    <a:r>
                      <a:rPr sz="1600"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设计开发</a:t>
                    </a:r>
                    <a:endParaRPr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8" name="文本框 33"/>
                  <p:cNvSpPr txBox="1"/>
                  <p:nvPr/>
                </p:nvSpPr>
                <p:spPr>
                  <a:xfrm>
                    <a:off x="7274302" y="784712"/>
                    <a:ext cx="1006479" cy="490684"/>
                  </a:xfrm>
                  <a:prstGeom prst="rect">
                    <a:avLst/>
                  </a:prstGeom>
                  <a:ln w="12700">
                    <a:miter lim="400000"/>
                  </a:ln>
                </p:spPr>
                <p:txBody>
                  <a:bodyPr wrap="square" lIns="45718" tIns="45718" rIns="45718" bIns="45718">
                    <a:spAutoFit/>
                  </a:bodyPr>
                  <a:lstStyle/>
                  <a:p>
                    <a:pPr algn="ctr">
                      <a:defRPr sz="1400" b="1">
                        <a:solidFill>
                          <a:srgbClr val="2A2A2A"/>
                        </a:solidFill>
                        <a:latin typeface="+mn-lt"/>
                        <a:ea typeface="+mn-ea"/>
                        <a:cs typeface="+mn-cs"/>
                        <a:sym typeface="Helvetica"/>
                      </a:defRPr>
                    </a:pPr>
                    <a:r>
                      <a:rPr sz="16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CE</a:t>
                    </a:r>
                    <a:r>
                      <a:rPr lang="en-US" sz="16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/FDA/HSA</a:t>
                    </a:r>
                    <a:endParaRPr sz="16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69" name="文本框 36"/>
                  <p:cNvSpPr txBox="1"/>
                  <p:nvPr/>
                </p:nvSpPr>
                <p:spPr>
                  <a:xfrm>
                    <a:off x="291506" y="1273143"/>
                    <a:ext cx="1438334" cy="387382"/>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立体定向手术计划软件</a:t>
                    </a:r>
                    <a:br>
                      <a:rPr lang="en-US" altLang="zh-CN"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b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（规划与导航）</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70" name="文本框 42"/>
                  <p:cNvSpPr txBox="1"/>
                  <p:nvPr/>
                </p:nvSpPr>
                <p:spPr>
                  <a:xfrm>
                    <a:off x="6212836" y="1341413"/>
                    <a:ext cx="845448" cy="258254"/>
                  </a:xfrm>
                  <a:prstGeom prst="rect">
                    <a:avLst/>
                  </a:prstGeom>
                  <a:ln w="12700">
                    <a:miter lim="400000"/>
                  </a:ln>
                </p:spPr>
                <p:txBody>
                  <a:bodyPr wrap="square" lIns="45718" tIns="45718" rIns="45718" bIns="45718">
                    <a:spAutoFit/>
                  </a:bodyPr>
                  <a:lstStyle>
                    <a:lvl1pPr algn="ctr">
                      <a:defRPr sz="1400" b="1" i="1">
                        <a:latin typeface="+mn-lt"/>
                        <a:ea typeface="+mn-ea"/>
                        <a:cs typeface="+mn-cs"/>
                        <a:sym typeface="Helvetica"/>
                      </a:defRPr>
                    </a:lvl1pPr>
                  </a:lstStyle>
                  <a:p>
                    <a:r>
                      <a:rPr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2025</a:t>
                    </a:r>
                    <a:r>
                      <a:rPr lang="en-US"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.10.27</a:t>
                    </a:r>
                    <a:endParaRPr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1" name="文本框 44"/>
                  <p:cNvSpPr txBox="1"/>
                  <p:nvPr/>
                </p:nvSpPr>
                <p:spPr>
                  <a:xfrm>
                    <a:off x="6231362" y="2161666"/>
                    <a:ext cx="932794" cy="258254"/>
                  </a:xfrm>
                  <a:prstGeom prst="rect">
                    <a:avLst/>
                  </a:prstGeom>
                  <a:ln w="12700">
                    <a:miter lim="400000"/>
                  </a:ln>
                </p:spPr>
                <p:txBody>
                  <a:bodyPr wrap="square" lIns="45718" tIns="45718" rIns="45718" bIns="45718">
                    <a:spAutoFit/>
                  </a:bodyPr>
                  <a:lstStyle>
                    <a:lvl1pPr algn="ctr">
                      <a:defRPr sz="1400" b="1" i="1">
                        <a:latin typeface="+mn-lt"/>
                        <a:ea typeface="+mn-ea"/>
                        <a:cs typeface="+mn-cs"/>
                        <a:sym typeface="Helvetica"/>
                      </a:defRPr>
                    </a:lvl1pPr>
                  </a:lstStyle>
                  <a:p>
                    <a:r>
                      <a:rPr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5.10.27</a:t>
                    </a:r>
                    <a:endParaRPr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2" name="文本框 13"/>
                  <p:cNvSpPr txBox="1"/>
                  <p:nvPr/>
                </p:nvSpPr>
                <p:spPr>
                  <a:xfrm>
                    <a:off x="6178975" y="804321"/>
                    <a:ext cx="881382" cy="284079"/>
                  </a:xfrm>
                  <a:prstGeom prst="rect">
                    <a:avLst/>
                  </a:prstGeom>
                  <a:ln w="12700">
                    <a:miter lim="400000"/>
                  </a:ln>
                </p:spPr>
                <p:txBody>
                  <a:bodyPr lIns="45718" tIns="45718" rIns="45718" bIns="45718">
                    <a:spAutoFit/>
                  </a:bodyPr>
                  <a:lstStyle>
                    <a:lvl1pPr algn="ctr">
                      <a:defRPr sz="1400" b="1">
                        <a:solidFill>
                          <a:srgbClr val="2A2A2A"/>
                        </a:solidFill>
                        <a:latin typeface="+mn-lt"/>
                        <a:ea typeface="+mn-ea"/>
                        <a:cs typeface="+mn-cs"/>
                        <a:sym typeface="Helvetica"/>
                      </a:defRPr>
                    </a:lvl1pPr>
                  </a:lstStyle>
                  <a:p>
                    <a:r>
                      <a:rPr sz="160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NMPA</a:t>
                    </a:r>
                    <a:endParaRPr sz="160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73" name="文本框 20"/>
                  <p:cNvSpPr txBox="1"/>
                  <p:nvPr/>
                </p:nvSpPr>
                <p:spPr>
                  <a:xfrm>
                    <a:off x="289720" y="1687390"/>
                    <a:ext cx="1394462" cy="387382"/>
                  </a:xfrm>
                  <a:prstGeom prst="rect">
                    <a:avLst/>
                  </a:prstGeom>
                  <a:ln w="12700">
                    <a:miter lim="400000"/>
                  </a:ln>
                </p:spPr>
                <p:txBody>
                  <a:bodyPr lIns="45718" tIns="45718" rIns="45718" bIns="45718">
                    <a:spAutoFit/>
                  </a:bodyPr>
                  <a:lstStyle/>
                  <a:p>
                    <a:pPr algn="ctr" defTabSz="914400">
                      <a:defRPr sz="1600" b="1" spc="74">
                        <a:latin typeface="Calibri" panose="020F0502020204030204"/>
                        <a:ea typeface="Calibri" panose="020F0502020204030204"/>
                        <a:cs typeface="Calibri" panose="020F0502020204030204"/>
                        <a:sym typeface="Calibri" panose="020F0502020204030204"/>
                      </a:defRPr>
                    </a:pP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颅内深部电极</a:t>
                    </a:r>
                    <a:r>
                      <a:rPr lang="en-US" altLang="zh-CN"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SEEG</a:t>
                    </a:r>
                    <a:endParaRPr lang="en-US" altLang="zh-CN"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a:p>
                    <a:pPr algn="ctr" defTabSz="914400">
                      <a:defRPr sz="1600" b="1" spc="74">
                        <a:latin typeface="Calibri" panose="020F0502020204030204"/>
                        <a:ea typeface="Calibri" panose="020F0502020204030204"/>
                        <a:cs typeface="Calibri" panose="020F0502020204030204"/>
                        <a:sym typeface="Calibri" panose="020F0502020204030204"/>
                      </a:defRPr>
                    </a:pPr>
                    <a:r>
                      <a:rPr lang="zh-CN" altLang="en-US" sz="1200" b="1" spc="74"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（致痫灶检测）</a:t>
                    </a:r>
                    <a:endParaRPr sz="1200" b="1" spc="74"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74" name="文本框 22"/>
                  <p:cNvSpPr txBox="1"/>
                  <p:nvPr/>
                </p:nvSpPr>
                <p:spPr>
                  <a:xfrm>
                    <a:off x="6231362" y="1772956"/>
                    <a:ext cx="913150" cy="258254"/>
                  </a:xfrm>
                  <a:prstGeom prst="rect">
                    <a:avLst/>
                  </a:prstGeom>
                  <a:ln w="12700">
                    <a:miter lim="400000"/>
                  </a:ln>
                </p:spPr>
                <p:txBody>
                  <a:bodyPr wrap="square" lIns="45718" tIns="45718" rIns="45718" bIns="45718">
                    <a:spAutoFit/>
                  </a:bodyPr>
                  <a:lstStyle>
                    <a:lvl1pPr algn="ctr">
                      <a:defRPr sz="1400" b="1" i="1">
                        <a:latin typeface="+mn-lt"/>
                        <a:ea typeface="+mn-ea"/>
                        <a:cs typeface="+mn-cs"/>
                        <a:sym typeface="Helvetica"/>
                      </a:defRPr>
                    </a:lvl1pPr>
                  </a:lstStyle>
                  <a:p>
                    <a:r>
                      <a:rPr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2025</a:t>
                    </a:r>
                    <a:r>
                      <a:rPr lang="en-US"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.09.05</a:t>
                    </a:r>
                    <a:endParaRPr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5" name="文本框 28"/>
                  <p:cNvSpPr txBox="1"/>
                  <p:nvPr/>
                </p:nvSpPr>
                <p:spPr>
                  <a:xfrm>
                    <a:off x="4059796" y="794912"/>
                    <a:ext cx="1191263" cy="284079"/>
                  </a:xfrm>
                  <a:prstGeom prst="rect">
                    <a:avLst/>
                  </a:prstGeom>
                  <a:ln w="12700">
                    <a:miter lim="400000"/>
                  </a:ln>
                </p:spPr>
                <p:txBody>
                  <a:bodyPr lIns="45718" tIns="45718" rIns="45718" bIns="45718" anchor="ctr">
                    <a:spAutoFit/>
                  </a:bodyPr>
                  <a:lstStyle>
                    <a:lvl1pPr algn="ctr">
                      <a:defRPr sz="1400" b="1" spc="70">
                        <a:solidFill>
                          <a:srgbClr val="2A2A2A"/>
                        </a:solidFill>
                      </a:defRPr>
                    </a:lvl1pPr>
                  </a:lstStyle>
                  <a:p>
                    <a:r>
                      <a:rPr sz="16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临床验证</a:t>
                    </a:r>
                    <a:endParaRPr sz="16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6" name="直接连接符 8"/>
                  <p:cNvSpPr/>
                  <p:nvPr/>
                </p:nvSpPr>
                <p:spPr>
                  <a:xfrm>
                    <a:off x="227684" y="1249503"/>
                    <a:ext cx="8246745" cy="2"/>
                  </a:xfrm>
                  <a:prstGeom prst="line">
                    <a:avLst/>
                  </a:prstGeom>
                  <a:ln w="15875">
                    <a:solidFill>
                      <a:srgbClr val="2A2A2A"/>
                    </a:solidFill>
                    <a:miter/>
                  </a:ln>
                </p:spPr>
                <p:txBody>
                  <a:bodyPr lIns="45718" tIns="45718" rIns="45718" bIns="45718"/>
                  <a:lstStyle/>
                  <a:p>
                    <a:endParaRPr sz="32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7" name="燕尾形 31"/>
                  <p:cNvSpPr/>
                  <p:nvPr/>
                </p:nvSpPr>
                <p:spPr>
                  <a:xfrm>
                    <a:off x="5642943" y="843921"/>
                    <a:ext cx="144148" cy="186058"/>
                  </a:xfrm>
                  <a:prstGeom prst="chevron">
                    <a:avLst>
                      <a:gd name="adj" fmla="val 50000"/>
                    </a:avLst>
                  </a:prstGeom>
                  <a:solidFill>
                    <a:srgbClr val="FE6333"/>
                  </a:solidFill>
                  <a:ln w="12700">
                    <a:miter lim="400000"/>
                  </a:ln>
                </p:spPr>
                <p:txBody>
                  <a:bodyPr lIns="45718" tIns="45718" rIns="45718" bIns="45718" anchor="ctr"/>
                  <a:lstStyle/>
                  <a:p>
                    <a:pPr algn="ctr">
                      <a:defRPr sz="1600">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8" name="燕尾形 31"/>
                  <p:cNvSpPr/>
                  <p:nvPr/>
                </p:nvSpPr>
                <p:spPr>
                  <a:xfrm>
                    <a:off x="3523764" y="843921"/>
                    <a:ext cx="144148" cy="186058"/>
                  </a:xfrm>
                  <a:prstGeom prst="chevron">
                    <a:avLst>
                      <a:gd name="adj" fmla="val 50000"/>
                    </a:avLst>
                  </a:prstGeom>
                  <a:solidFill>
                    <a:srgbClr val="FE6333"/>
                  </a:solidFill>
                  <a:ln w="12700">
                    <a:miter lim="400000"/>
                  </a:ln>
                </p:spPr>
                <p:txBody>
                  <a:bodyPr lIns="45718" tIns="45718" rIns="45718" bIns="45718" anchor="ctr"/>
                  <a:lstStyle/>
                  <a:p>
                    <a:pPr algn="ctr">
                      <a:defRPr sz="1600">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9" name="箭头: 右 60"/>
                  <p:cNvSpPr/>
                  <p:nvPr/>
                </p:nvSpPr>
                <p:spPr>
                  <a:xfrm>
                    <a:off x="2302725" y="1339471"/>
                    <a:ext cx="3636000" cy="225651"/>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rgbClr val="031F6D"/>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0" name="Oval 28"/>
                  <p:cNvSpPr/>
                  <p:nvPr/>
                </p:nvSpPr>
                <p:spPr>
                  <a:xfrm>
                    <a:off x="-430340" y="1295346"/>
                    <a:ext cx="694021" cy="2034281"/>
                  </a:xfrm>
                  <a:prstGeom prst="ellipse">
                    <a:avLst/>
                  </a:prstGeom>
                  <a:solidFill>
                    <a:srgbClr val="F5F6F8"/>
                  </a:solidFill>
                  <a:ln w="38100">
                    <a:solidFill>
                      <a:srgbClr val="FFFFFF">
                        <a:alpha val="80000"/>
                      </a:srgbClr>
                    </a:solidFill>
                    <a:miter/>
                  </a:ln>
                </p:spPr>
                <p:txBody>
                  <a:bodyPr lIns="45718" tIns="45718" rIns="45718" bIns="45718" anchor="ctr"/>
                  <a:lstStyle/>
                  <a:p>
                    <a:pPr algn="ctr" defTabSz="914400">
                      <a:defRPr sz="1800">
                        <a:solidFill>
                          <a:srgbClr val="FFFFFF"/>
                        </a:solidFill>
                      </a:defRPr>
                    </a:pPr>
                    <a:r>
                      <a:rPr lang="zh-CN" altLang="en-US" sz="20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癫痫</a:t>
                    </a:r>
                    <a:endParaRPr sz="20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1" name="Oval 28"/>
                  <p:cNvSpPr/>
                  <p:nvPr/>
                </p:nvSpPr>
                <p:spPr>
                  <a:xfrm>
                    <a:off x="-386416" y="3417555"/>
                    <a:ext cx="606173" cy="376085"/>
                  </a:xfrm>
                  <a:prstGeom prst="ellipse">
                    <a:avLst/>
                  </a:prstGeom>
                  <a:solidFill>
                    <a:srgbClr val="EBEBEB"/>
                  </a:solidFill>
                  <a:ln w="25400">
                    <a:solidFill>
                      <a:srgbClr val="FFFFFF">
                        <a:alpha val="80000"/>
                      </a:srgbClr>
                    </a:solidFill>
                    <a:miter/>
                  </a:ln>
                </p:spPr>
                <p:txBody>
                  <a:bodyPr lIns="45718" tIns="45718" rIns="45718" bIns="45718" anchor="ctr"/>
                  <a:lstStyle/>
                  <a:p>
                    <a:pPr algn="ctr" defTabSz="914400">
                      <a:defRPr sz="1800">
                        <a:solidFill>
                          <a:srgbClr val="FFFFFF"/>
                        </a:solidFill>
                      </a:defRPr>
                    </a:pPr>
                    <a:endParaRPr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2" name="Oval 28"/>
                  <p:cNvSpPr/>
                  <p:nvPr/>
                </p:nvSpPr>
                <p:spPr>
                  <a:xfrm>
                    <a:off x="-386416" y="3793639"/>
                    <a:ext cx="606173" cy="376085"/>
                  </a:xfrm>
                  <a:prstGeom prst="ellipse">
                    <a:avLst/>
                  </a:prstGeom>
                  <a:solidFill>
                    <a:srgbClr val="7595C6"/>
                  </a:solidFill>
                  <a:ln w="25400">
                    <a:solidFill>
                      <a:srgbClr val="FFFFFF">
                        <a:alpha val="80000"/>
                      </a:srgbClr>
                    </a:solidFill>
                    <a:miter/>
                  </a:ln>
                </p:spPr>
                <p:txBody>
                  <a:bodyPr lIns="45718" tIns="45718" rIns="45718" bIns="45718" anchor="ctr"/>
                  <a:lstStyle/>
                  <a:p>
                    <a:pPr algn="ctr" defTabSz="914400">
                      <a:defRPr sz="1800">
                        <a:solidFill>
                          <a:srgbClr val="FFFFFF"/>
                        </a:solidFill>
                      </a:defRPr>
                    </a:pPr>
                    <a:r>
                      <a:rPr lang="zh-CN" altLang="en-US" sz="14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截瘫</a:t>
                    </a:r>
                    <a:endParaRPr sz="14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grpSp>
          </p:grpSp>
          <p:sp>
            <p:nvSpPr>
              <p:cNvPr id="55" name="Oval 28"/>
              <p:cNvSpPr/>
              <p:nvPr/>
            </p:nvSpPr>
            <p:spPr>
              <a:xfrm>
                <a:off x="7540" y="4155882"/>
                <a:ext cx="606173" cy="468000"/>
              </a:xfrm>
              <a:prstGeom prst="ellipse">
                <a:avLst/>
              </a:prstGeom>
              <a:solidFill>
                <a:srgbClr val="06194B"/>
              </a:solidFill>
              <a:ln w="25400">
                <a:solidFill>
                  <a:srgbClr val="FFFFFF">
                    <a:alpha val="80000"/>
                  </a:srgbClr>
                </a:solidFill>
                <a:miter/>
              </a:ln>
            </p:spPr>
            <p:txBody>
              <a:bodyPr lIns="45718" tIns="45718" rIns="45718" bIns="45718" anchor="ctr"/>
              <a:lstStyle/>
              <a:p>
                <a:pPr algn="ctr" defTabSz="914400">
                  <a:defRPr sz="1800">
                    <a:solidFill>
                      <a:srgbClr val="FFFFFF"/>
                    </a:solidFill>
                  </a:defRPr>
                </a:pPr>
                <a:endParaRPr sz="14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grpSp>
        <p:sp>
          <p:nvSpPr>
            <p:cNvPr id="5" name="文本框 42"/>
            <p:cNvSpPr txBox="1"/>
            <p:nvPr/>
          </p:nvSpPr>
          <p:spPr>
            <a:xfrm>
              <a:off x="7846196" y="1375119"/>
              <a:ext cx="776610"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6</a:t>
              </a:r>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Q</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endPar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 name="文本框 36"/>
            <p:cNvSpPr txBox="1"/>
            <p:nvPr/>
          </p:nvSpPr>
          <p:spPr>
            <a:xfrm>
              <a:off x="1331730" y="2160115"/>
              <a:ext cx="901648" cy="222487"/>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激光治疗设备</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7" name="文本框 36"/>
            <p:cNvSpPr txBox="1"/>
            <p:nvPr/>
          </p:nvSpPr>
          <p:spPr>
            <a:xfrm>
              <a:off x="1331730" y="2348947"/>
              <a:ext cx="901648" cy="222487"/>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消融光纤套件</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8" name="文本框 36"/>
            <p:cNvSpPr txBox="1"/>
            <p:nvPr/>
          </p:nvSpPr>
          <p:spPr>
            <a:xfrm>
              <a:off x="686128" y="2786663"/>
              <a:ext cx="810561" cy="370814"/>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dirty="0" err="1">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Epilcure</a:t>
              </a:r>
              <a:endParaRPr lang="en-US" altLang="zh-CN"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（神经调控）</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9" name="文本框 36"/>
            <p:cNvSpPr txBox="1"/>
            <p:nvPr/>
          </p:nvSpPr>
          <p:spPr>
            <a:xfrm>
              <a:off x="1331730" y="2651502"/>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神经刺激器</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10" name="文本框 36"/>
            <p:cNvSpPr txBox="1"/>
            <p:nvPr/>
          </p:nvSpPr>
          <p:spPr>
            <a:xfrm>
              <a:off x="1331730" y="2816938"/>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电极导线套件</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14" name="文本框 36"/>
            <p:cNvSpPr txBox="1"/>
            <p:nvPr/>
          </p:nvSpPr>
          <p:spPr>
            <a:xfrm>
              <a:off x="1331730" y="2982374"/>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程控充电套件</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15" name="文本框 36"/>
            <p:cNvSpPr txBox="1"/>
            <p:nvPr/>
          </p:nvSpPr>
          <p:spPr>
            <a:xfrm>
              <a:off x="1331730" y="3147810"/>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调试管理软件</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16" name="文本框 36"/>
            <p:cNvSpPr txBox="1"/>
            <p:nvPr/>
          </p:nvSpPr>
          <p:spPr>
            <a:xfrm>
              <a:off x="638351" y="2174564"/>
              <a:ext cx="837391" cy="370814"/>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dirty="0" err="1">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LaserRO</a:t>
              </a:r>
              <a:endParaRPr lang="en-US" altLang="zh-CN"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（微创毁损）</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17" name="箭头: 右 60"/>
            <p:cNvSpPr/>
            <p:nvPr/>
          </p:nvSpPr>
          <p:spPr>
            <a:xfrm>
              <a:off x="2696681" y="1815813"/>
              <a:ext cx="3636000" cy="216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rgbClr val="031F6D"/>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8" name="箭头: 右 60"/>
            <p:cNvSpPr/>
            <p:nvPr/>
          </p:nvSpPr>
          <p:spPr>
            <a:xfrm>
              <a:off x="2693143" y="2198040"/>
              <a:ext cx="3636000" cy="144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rgbClr val="031F6D"/>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9" name="箭头: 右 60"/>
            <p:cNvSpPr/>
            <p:nvPr/>
          </p:nvSpPr>
          <p:spPr>
            <a:xfrm>
              <a:off x="2693143" y="2427750"/>
              <a:ext cx="3636000" cy="144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rgbClr val="031F6D"/>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0" name="文本框 42"/>
            <p:cNvSpPr txBox="1"/>
            <p:nvPr/>
          </p:nvSpPr>
          <p:spPr>
            <a:xfrm>
              <a:off x="7846194" y="2171721"/>
              <a:ext cx="776610"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6</a:t>
              </a:r>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Q</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endPar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1" name="箭头: 右 60"/>
            <p:cNvSpPr/>
            <p:nvPr/>
          </p:nvSpPr>
          <p:spPr>
            <a:xfrm>
              <a:off x="2693143" y="2687502"/>
              <a:ext cx="3636000" cy="108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rgbClr val="031F6D"/>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2" name="箭头: 右 60"/>
            <p:cNvSpPr/>
            <p:nvPr/>
          </p:nvSpPr>
          <p:spPr>
            <a:xfrm>
              <a:off x="2693143" y="2843512"/>
              <a:ext cx="3636000" cy="108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rgbClr val="031F6D"/>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3" name="箭头: 右 60"/>
            <p:cNvSpPr/>
            <p:nvPr/>
          </p:nvSpPr>
          <p:spPr>
            <a:xfrm>
              <a:off x="2693143" y="2999522"/>
              <a:ext cx="3636000" cy="108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rgbClr val="031F6D"/>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4" name="箭头: 右 60"/>
            <p:cNvSpPr/>
            <p:nvPr/>
          </p:nvSpPr>
          <p:spPr>
            <a:xfrm>
              <a:off x="2693143" y="3155532"/>
              <a:ext cx="3636000" cy="108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rgbClr val="031F6D"/>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5" name="文本框 44"/>
            <p:cNvSpPr txBox="1"/>
            <p:nvPr/>
          </p:nvSpPr>
          <p:spPr>
            <a:xfrm>
              <a:off x="6606792" y="2382854"/>
              <a:ext cx="898346" cy="247208"/>
            </a:xfrm>
            <a:prstGeom prst="rect">
              <a:avLst/>
            </a:prstGeom>
            <a:ln w="12700">
              <a:miter lim="400000"/>
            </a:ln>
          </p:spPr>
          <p:txBody>
            <a:bodyPr wrap="square" lIns="45718" tIns="45718" rIns="45718" bIns="45718">
              <a:spAutoFit/>
            </a:bodyPr>
            <a:lstStyle>
              <a:lvl1pPr algn="ctr">
                <a:defRPr sz="1400" b="1" i="1">
                  <a:latin typeface="+mn-lt"/>
                  <a:ea typeface="+mn-ea"/>
                  <a:cs typeface="+mn-cs"/>
                  <a:sym typeface="Helvetica"/>
                </a:defRPr>
              </a:lvl1pPr>
            </a:lstStyle>
            <a:p>
              <a:r>
                <a:rPr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5.10.27</a:t>
              </a:r>
              <a:endParaRPr dirty="0">
                <a:solidFill>
                  <a:srgbClr val="FE3C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6" name="文本框 42"/>
            <p:cNvSpPr txBox="1"/>
            <p:nvPr/>
          </p:nvSpPr>
          <p:spPr>
            <a:xfrm>
              <a:off x="7827668" y="2382854"/>
              <a:ext cx="776610"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6</a:t>
              </a:r>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Q</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endPar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7" name="文本框 36"/>
            <p:cNvSpPr txBox="1"/>
            <p:nvPr/>
          </p:nvSpPr>
          <p:spPr>
            <a:xfrm>
              <a:off x="6550592" y="2666670"/>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2026 Q4</a:t>
              </a:r>
              <a:endParaRPr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28" name="文本框 36"/>
            <p:cNvSpPr txBox="1"/>
            <p:nvPr/>
          </p:nvSpPr>
          <p:spPr>
            <a:xfrm>
              <a:off x="6550592" y="2821990"/>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2026 Q4</a:t>
              </a:r>
              <a:endParaRPr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29" name="文本框 36"/>
            <p:cNvSpPr txBox="1"/>
            <p:nvPr/>
          </p:nvSpPr>
          <p:spPr>
            <a:xfrm>
              <a:off x="6550592" y="2977310"/>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2026 Q4</a:t>
              </a:r>
              <a:endParaRPr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30" name="文本框 36"/>
            <p:cNvSpPr txBox="1"/>
            <p:nvPr/>
          </p:nvSpPr>
          <p:spPr>
            <a:xfrm>
              <a:off x="6550592" y="3132630"/>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2026 Q4</a:t>
              </a:r>
              <a:endParaRPr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31" name="文本框 36"/>
            <p:cNvSpPr txBox="1"/>
            <p:nvPr/>
          </p:nvSpPr>
          <p:spPr>
            <a:xfrm>
              <a:off x="7774694" y="2681850"/>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2028 Q4</a:t>
              </a:r>
              <a:endParaRPr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32" name="文本框 36"/>
            <p:cNvSpPr txBox="1"/>
            <p:nvPr/>
          </p:nvSpPr>
          <p:spPr>
            <a:xfrm>
              <a:off x="7774694" y="2837170"/>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2028 Q4</a:t>
              </a:r>
              <a:endParaRPr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33" name="文本框 36"/>
            <p:cNvSpPr txBox="1"/>
            <p:nvPr/>
          </p:nvSpPr>
          <p:spPr>
            <a:xfrm>
              <a:off x="7774694" y="2992490"/>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2028 Q4</a:t>
              </a:r>
              <a:endParaRPr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34" name="文本框 36"/>
            <p:cNvSpPr txBox="1"/>
            <p:nvPr/>
          </p:nvSpPr>
          <p:spPr>
            <a:xfrm>
              <a:off x="7774694" y="3147810"/>
              <a:ext cx="901648" cy="144000"/>
            </a:xfrm>
            <a:prstGeom prst="rect">
              <a:avLst/>
            </a:prstGeom>
            <a:ln w="12700">
              <a:miter lim="400000"/>
            </a:ln>
          </p:spPr>
          <p:txBody>
            <a:bodyPr wrap="square" lIns="45718" tIns="0" rIns="45718" bIns="0">
              <a:no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2028 Q4</a:t>
              </a:r>
              <a:endParaRPr sz="1200" i="1"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35" name="文本框 36"/>
            <p:cNvSpPr txBox="1"/>
            <p:nvPr/>
          </p:nvSpPr>
          <p:spPr>
            <a:xfrm>
              <a:off x="686128" y="3353958"/>
              <a:ext cx="810561" cy="370814"/>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dirty="0" err="1">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iSBS</a:t>
              </a:r>
              <a:endParaRPr lang="en-US" altLang="zh-CN"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a:p>
              <a:pPr algn="ctr"/>
              <a:r>
                <a:rPr lang="zh-CN" altLang="en-US"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（神经调控）</a:t>
              </a:r>
              <a:endParaRPr sz="1200" dirty="0">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36" name="文本框 35"/>
            <p:cNvSpPr txBox="1"/>
            <p:nvPr/>
          </p:nvSpPr>
          <p:spPr>
            <a:xfrm>
              <a:off x="25932" y="3437285"/>
              <a:ext cx="562300" cy="247212"/>
            </a:xfrm>
            <a:prstGeom prst="rect">
              <a:avLst/>
            </a:prstGeom>
            <a:noFill/>
          </p:spPr>
          <p:txBody>
            <a:bodyPr wrap="none" rtlCol="0">
              <a:spAutoFit/>
            </a:bodyPr>
            <a:lstStyle/>
            <a:p>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帕金森</a:t>
              </a:r>
              <a:endPar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7" name="文本框 36"/>
            <p:cNvSpPr txBox="1"/>
            <p:nvPr/>
          </p:nvSpPr>
          <p:spPr>
            <a:xfrm>
              <a:off x="42283" y="4273818"/>
              <a:ext cx="562300" cy="247212"/>
            </a:xfrm>
            <a:prstGeom prst="rect">
              <a:avLst/>
            </a:prstGeom>
            <a:noFill/>
          </p:spPr>
          <p:txBody>
            <a:bodyPr wrap="none" rtlCol="0">
              <a:spAutoFit/>
            </a:bodyPr>
            <a:lstStyle/>
            <a:p>
              <a:r>
                <a:rPr lang="zh-CN" altLang="en-US" sz="14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脑肿瘤</a:t>
              </a:r>
              <a:endParaRPr lang="zh-CN" altLang="en-US" sz="14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8" name="箭头: 右 60"/>
            <p:cNvSpPr/>
            <p:nvPr/>
          </p:nvSpPr>
          <p:spPr>
            <a:xfrm>
              <a:off x="2693143" y="3437285"/>
              <a:ext cx="1620000" cy="216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rgbClr val="031F6D"/>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9" name="文本框 42"/>
            <p:cNvSpPr txBox="1"/>
            <p:nvPr/>
          </p:nvSpPr>
          <p:spPr>
            <a:xfrm>
              <a:off x="6625316" y="3437285"/>
              <a:ext cx="776610"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9</a:t>
              </a:r>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H2</a:t>
              </a:r>
              <a:endPar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0" name="文本框 42"/>
            <p:cNvSpPr txBox="1"/>
            <p:nvPr/>
          </p:nvSpPr>
          <p:spPr>
            <a:xfrm>
              <a:off x="7837213" y="3429871"/>
              <a:ext cx="776610"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9</a:t>
              </a:r>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H2</a:t>
              </a:r>
              <a:endPar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1" name="文本框 36"/>
            <p:cNvSpPr txBox="1"/>
            <p:nvPr/>
          </p:nvSpPr>
          <p:spPr>
            <a:xfrm>
              <a:off x="706451" y="3731030"/>
              <a:ext cx="810561" cy="370814"/>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EES</a:t>
              </a:r>
              <a:endParaRPr lang="en-US" altLang="zh-CN"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a:p>
              <a:pPr algn="ctr"/>
              <a:r>
                <a:rPr lang="zh-CN" altLang="en-US"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（神经调控）</a:t>
              </a:r>
              <a:endParaRPr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42" name="箭头: 右 60"/>
            <p:cNvSpPr/>
            <p:nvPr/>
          </p:nvSpPr>
          <p:spPr>
            <a:xfrm>
              <a:off x="2693143" y="3831865"/>
              <a:ext cx="1620000" cy="216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chemeClr val="bg1"/>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3" name="文本框 42"/>
            <p:cNvSpPr txBox="1"/>
            <p:nvPr/>
          </p:nvSpPr>
          <p:spPr>
            <a:xfrm>
              <a:off x="6618344" y="3837081"/>
              <a:ext cx="776610"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30</a:t>
              </a:r>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H2</a:t>
              </a:r>
              <a:endPar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4" name="文本框 42"/>
            <p:cNvSpPr txBox="1"/>
            <p:nvPr/>
          </p:nvSpPr>
          <p:spPr>
            <a:xfrm>
              <a:off x="7837213" y="3817037"/>
              <a:ext cx="776610"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30</a:t>
              </a:r>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H2</a:t>
              </a:r>
              <a:endPar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5" name="文本框 36"/>
            <p:cNvSpPr txBox="1"/>
            <p:nvPr/>
          </p:nvSpPr>
          <p:spPr>
            <a:xfrm>
              <a:off x="1352446" y="4189118"/>
              <a:ext cx="901648" cy="222487"/>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zh-CN" altLang="en-US"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激光治疗设备</a:t>
              </a:r>
              <a:endParaRPr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46" name="文本框 36"/>
            <p:cNvSpPr txBox="1"/>
            <p:nvPr/>
          </p:nvSpPr>
          <p:spPr>
            <a:xfrm>
              <a:off x="1352446" y="4377950"/>
              <a:ext cx="901648" cy="222487"/>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zh-CN" altLang="en-US"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消融光纤套件</a:t>
              </a:r>
              <a:endParaRPr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47" name="文本框 36"/>
            <p:cNvSpPr txBox="1"/>
            <p:nvPr/>
          </p:nvSpPr>
          <p:spPr>
            <a:xfrm>
              <a:off x="659067" y="4203567"/>
              <a:ext cx="837391" cy="370814"/>
            </a:xfrm>
            <a:prstGeom prst="rect">
              <a:avLst/>
            </a:prstGeom>
            <a:ln w="12700">
              <a:miter lim="400000"/>
            </a:ln>
          </p:spPr>
          <p:txBody>
            <a:bodyPr wrap="square" lIns="45718" tIns="45718" rIns="45718" bIns="45718">
              <a:spAutoFit/>
            </a:bodyPr>
            <a:lstStyle>
              <a:lvl1pPr defTabSz="914400">
                <a:defRPr sz="1600" b="1">
                  <a:latin typeface="Calibri" panose="020F0502020204030204"/>
                  <a:ea typeface="Calibri" panose="020F0502020204030204"/>
                  <a:cs typeface="Calibri" panose="020F0502020204030204"/>
                  <a:sym typeface="Calibri" panose="020F0502020204030204"/>
                </a:defRPr>
              </a:lvl1pPr>
            </a:lstStyle>
            <a:p>
              <a:pPr algn="ctr"/>
              <a:r>
                <a:rPr lang="en-US" altLang="zh-CN" sz="1200" dirty="0" err="1">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LaserRO</a:t>
              </a:r>
              <a:endParaRPr lang="en-US" altLang="zh-CN"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a:p>
              <a:pPr algn="ctr"/>
              <a:r>
                <a:rPr lang="zh-CN" altLang="en-US"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（微创毁损）</a:t>
              </a:r>
              <a:endParaRPr sz="1200" dirty="0">
                <a:solidFill>
                  <a:schemeClr val="bg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endParaRPr>
            </a:p>
          </p:txBody>
        </p:sp>
        <p:sp>
          <p:nvSpPr>
            <p:cNvPr id="48" name="箭头: 右 60"/>
            <p:cNvSpPr/>
            <p:nvPr/>
          </p:nvSpPr>
          <p:spPr>
            <a:xfrm>
              <a:off x="2693143" y="4197236"/>
              <a:ext cx="3636000" cy="144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chemeClr val="bg1"/>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9" name="箭头: 右 60"/>
            <p:cNvSpPr/>
            <p:nvPr/>
          </p:nvSpPr>
          <p:spPr>
            <a:xfrm>
              <a:off x="2693143" y="4426946"/>
              <a:ext cx="3636000" cy="144000"/>
            </a:xfrm>
            <a:custGeom>
              <a:avLst/>
              <a:gdLst/>
              <a:ahLst/>
              <a:cxnLst>
                <a:cxn ang="0">
                  <a:pos x="wd2" y="hd2"/>
                </a:cxn>
                <a:cxn ang="5400000">
                  <a:pos x="wd2" y="hd2"/>
                </a:cxn>
                <a:cxn ang="10800000">
                  <a:pos x="wd2" y="hd2"/>
                </a:cxn>
                <a:cxn ang="16200000">
                  <a:pos x="wd2" y="hd2"/>
                </a:cxn>
              </a:cxnLst>
              <a:rect l="0" t="0" r="r" b="b"/>
              <a:pathLst>
                <a:path w="21600" h="21600" extrusionOk="0">
                  <a:moveTo>
                    <a:pt x="20154" y="0"/>
                  </a:moveTo>
                  <a:lnTo>
                    <a:pt x="20884" y="8396"/>
                  </a:lnTo>
                  <a:lnTo>
                    <a:pt x="0" y="8396"/>
                  </a:lnTo>
                  <a:lnTo>
                    <a:pt x="0" y="13204"/>
                  </a:lnTo>
                  <a:lnTo>
                    <a:pt x="20884" y="13204"/>
                  </a:lnTo>
                  <a:lnTo>
                    <a:pt x="20154" y="21600"/>
                  </a:lnTo>
                  <a:lnTo>
                    <a:pt x="20656" y="21600"/>
                  </a:lnTo>
                  <a:lnTo>
                    <a:pt x="21600" y="10800"/>
                  </a:lnTo>
                  <a:lnTo>
                    <a:pt x="20656" y="0"/>
                  </a:lnTo>
                  <a:lnTo>
                    <a:pt x="20154" y="0"/>
                  </a:lnTo>
                  <a:close/>
                </a:path>
              </a:pathLst>
            </a:custGeom>
            <a:solidFill>
              <a:schemeClr val="bg1"/>
            </a:solidFill>
            <a:ln w="12700">
              <a:miter lim="400000"/>
            </a:ln>
          </p:spPr>
          <p:txBody>
            <a:bodyPr lIns="45718" tIns="45718" rIns="45718" bIns="45718" anchor="ctr"/>
            <a:lstStyle/>
            <a:p>
              <a:pPr algn="ctr">
                <a:defRPr sz="1600">
                  <a:solidFill>
                    <a:srgbClr val="E54F4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50" name="文本框 44"/>
            <p:cNvSpPr txBox="1"/>
            <p:nvPr/>
          </p:nvSpPr>
          <p:spPr>
            <a:xfrm>
              <a:off x="6642110" y="4175411"/>
              <a:ext cx="776608"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6</a:t>
              </a:r>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Q</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endPar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51" name="文本框 44"/>
            <p:cNvSpPr txBox="1"/>
            <p:nvPr/>
          </p:nvSpPr>
          <p:spPr>
            <a:xfrm>
              <a:off x="6625318" y="4402706"/>
              <a:ext cx="776608"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6</a:t>
              </a:r>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Q</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endPar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52" name="文本框 44"/>
            <p:cNvSpPr txBox="1"/>
            <p:nvPr/>
          </p:nvSpPr>
          <p:spPr>
            <a:xfrm>
              <a:off x="7827526" y="4157403"/>
              <a:ext cx="776608"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7</a:t>
              </a:r>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Q</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endPar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53" name="文本框 44"/>
            <p:cNvSpPr txBox="1"/>
            <p:nvPr/>
          </p:nvSpPr>
          <p:spPr>
            <a:xfrm>
              <a:off x="7827526" y="4377950"/>
              <a:ext cx="776608" cy="222487"/>
            </a:xfrm>
            <a:prstGeom prst="rect">
              <a:avLst/>
            </a:prstGeom>
            <a:ln w="12700">
              <a:miter lim="400000"/>
            </a:ln>
          </p:spPr>
          <p:txBody>
            <a:bodyPr lIns="45718" tIns="45718" rIns="45718" bIns="45718">
              <a:spAutoFit/>
            </a:bodyPr>
            <a:lstStyle>
              <a:lvl1pPr algn="ctr">
                <a:defRPr sz="1400" b="1" i="1">
                  <a:latin typeface="+mn-lt"/>
                  <a:ea typeface="+mn-ea"/>
                  <a:cs typeface="+mn-cs"/>
                  <a:sym typeface="Helvetica"/>
                </a:defRPr>
              </a:lvl1pPr>
            </a:lstStyle>
            <a:p>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7</a:t>
              </a:r>
              <a:r>
                <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Q</a:t>
              </a: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endParaRPr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grpSp>
      <p:sp>
        <p:nvSpPr>
          <p:cNvPr id="83" name="文本框 42"/>
          <p:cNvSpPr txBox="1"/>
          <p:nvPr/>
        </p:nvSpPr>
        <p:spPr>
          <a:xfrm>
            <a:off x="10373478" y="2290872"/>
            <a:ext cx="998938" cy="276995"/>
          </a:xfrm>
          <a:prstGeom prst="rect">
            <a:avLst/>
          </a:prstGeom>
          <a:ln w="12700">
            <a:miter lim="400000"/>
          </a:ln>
        </p:spPr>
        <p:txBody>
          <a:bodyPr wrap="square" lIns="45718" tIns="45718" rIns="45718" bIns="45718">
            <a:spAutoFit/>
          </a:bodyPr>
          <a:lstStyle>
            <a:lvl1pPr algn="ctr">
              <a:defRPr sz="1400" b="1" i="1">
                <a:latin typeface="+mn-lt"/>
                <a:ea typeface="+mn-ea"/>
                <a:cs typeface="+mn-cs"/>
                <a:sym typeface="Helvetica"/>
              </a:defRPr>
            </a:lvl1pPr>
          </a:lstStyle>
          <a:p>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6</a:t>
            </a:r>
            <a:r>
              <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Q</a:t>
            </a:r>
            <a:r>
              <a:rPr lang="en-US"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endParaRPr sz="12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4" name="Rectangle 2"/>
          <p:cNvSpPr>
            <a:spLocks noChangeArrowheads="1"/>
          </p:cNvSpPr>
          <p:nvPr/>
        </p:nvSpPr>
        <p:spPr bwMode="gray">
          <a:xfrm>
            <a:off x="9947688" y="2323548"/>
            <a:ext cx="543847" cy="232219"/>
          </a:xfrm>
          <a:prstGeom prst="rect">
            <a:avLst/>
          </a:prstGeom>
          <a:solidFill>
            <a:schemeClr val="accent6"/>
          </a:solidFill>
          <a:ln w="6350">
            <a:solidFill>
              <a:schemeClr val="accent6"/>
            </a:solidFill>
            <a:miter lim="800000"/>
            <a:headEnd type="none" w="sm" len="sm"/>
            <a:tailEnd type="none" w="sm" len="sm"/>
          </a:ln>
          <a:effectLst/>
        </p:spPr>
        <p:txBody>
          <a:bodyPr vert="horz" wrap="square" lIns="22221" tIns="46527" rIns="22221" bIns="46527" numCol="1" anchor="ctr" anchorCtr="0" compatLnSpc="1"/>
          <a:lstStyle/>
          <a:p>
            <a:pPr algn="ctr" defTabSz="7315200"/>
            <a:r>
              <a:rPr lang="zh-CN" altLang="en-US" sz="1400" b="1" dirty="0">
                <a:solidFill>
                  <a:schemeClr val="bg1"/>
                </a:solidFill>
                <a:latin typeface="彩虹粗仿宋" panose="03000509000000000000" pitchFamily="65" charset="-122"/>
                <a:ea typeface="彩虹粗仿宋" panose="03000509000000000000" pitchFamily="65" charset="-122"/>
              </a:rPr>
              <a:t>创新</a:t>
            </a:r>
            <a:endParaRPr lang="zh-CN" altLang="zh-CN" sz="1400" b="1" dirty="0">
              <a:solidFill>
                <a:schemeClr val="bg1"/>
              </a:solidFill>
              <a:latin typeface="彩虹粗仿宋" panose="03000509000000000000" pitchFamily="65" charset="-122"/>
              <a:ea typeface="彩虹粗仿宋" panose="03000509000000000000" pitchFamily="65" charset="-122"/>
            </a:endParaRPr>
          </a:p>
        </p:txBody>
      </p:sp>
      <p:sp>
        <p:nvSpPr>
          <p:cNvPr id="85" name="Rectangle 2"/>
          <p:cNvSpPr>
            <a:spLocks noChangeArrowheads="1"/>
          </p:cNvSpPr>
          <p:nvPr/>
        </p:nvSpPr>
        <p:spPr bwMode="gray">
          <a:xfrm>
            <a:off x="9953813" y="2785301"/>
            <a:ext cx="543847" cy="232219"/>
          </a:xfrm>
          <a:prstGeom prst="rect">
            <a:avLst/>
          </a:prstGeom>
          <a:solidFill>
            <a:schemeClr val="accent6"/>
          </a:solidFill>
          <a:ln w="6350">
            <a:solidFill>
              <a:schemeClr val="accent6"/>
            </a:solidFill>
            <a:miter lim="800000"/>
            <a:headEnd type="none" w="sm" len="sm"/>
            <a:tailEnd type="none" w="sm" len="sm"/>
          </a:ln>
          <a:effectLst/>
        </p:spPr>
        <p:txBody>
          <a:bodyPr vert="horz" wrap="square" lIns="22221" tIns="46527" rIns="22221" bIns="46527" numCol="1" anchor="ctr" anchorCtr="0" compatLnSpc="1"/>
          <a:lstStyle/>
          <a:p>
            <a:pPr algn="ctr" defTabSz="7315200"/>
            <a:r>
              <a:rPr lang="zh-CN" altLang="en-US" sz="1400" b="1" dirty="0">
                <a:solidFill>
                  <a:schemeClr val="bg1"/>
                </a:solidFill>
                <a:latin typeface="彩虹粗仿宋" panose="03000509000000000000" pitchFamily="65" charset="-122"/>
                <a:ea typeface="彩虹粗仿宋" panose="03000509000000000000" pitchFamily="65" charset="-122"/>
              </a:rPr>
              <a:t>创新</a:t>
            </a:r>
            <a:endParaRPr lang="zh-CN" altLang="zh-CN" sz="1400" b="1" dirty="0">
              <a:solidFill>
                <a:schemeClr val="bg1"/>
              </a:solidFill>
              <a:latin typeface="彩虹粗仿宋" panose="03000509000000000000" pitchFamily="65" charset="-122"/>
              <a:ea typeface="彩虹粗仿宋" panose="03000509000000000000" pitchFamily="65" charset="-122"/>
            </a:endParaRPr>
          </a:p>
        </p:txBody>
      </p:sp>
      <p:sp>
        <p:nvSpPr>
          <p:cNvPr id="86" name="Rectangle 2"/>
          <p:cNvSpPr>
            <a:spLocks noChangeArrowheads="1"/>
          </p:cNvSpPr>
          <p:nvPr/>
        </p:nvSpPr>
        <p:spPr bwMode="gray">
          <a:xfrm>
            <a:off x="9947688" y="3069137"/>
            <a:ext cx="543847" cy="232219"/>
          </a:xfrm>
          <a:prstGeom prst="rect">
            <a:avLst/>
          </a:prstGeom>
          <a:solidFill>
            <a:schemeClr val="accent6"/>
          </a:solidFill>
          <a:ln w="6350">
            <a:solidFill>
              <a:schemeClr val="accent6"/>
            </a:solidFill>
            <a:miter lim="800000"/>
            <a:headEnd type="none" w="sm" len="sm"/>
            <a:tailEnd type="none" w="sm" len="sm"/>
          </a:ln>
          <a:effectLst/>
        </p:spPr>
        <p:txBody>
          <a:bodyPr vert="horz" wrap="square" lIns="22221" tIns="46527" rIns="22221" bIns="46527" numCol="1" anchor="ctr" anchorCtr="0" compatLnSpc="1"/>
          <a:lstStyle/>
          <a:p>
            <a:pPr algn="ctr" defTabSz="7315200"/>
            <a:r>
              <a:rPr lang="zh-CN" altLang="en-US" sz="1400" b="1" dirty="0">
                <a:solidFill>
                  <a:schemeClr val="bg1"/>
                </a:solidFill>
                <a:latin typeface="彩虹粗仿宋" panose="03000509000000000000" pitchFamily="65" charset="-122"/>
                <a:ea typeface="彩虹粗仿宋" panose="03000509000000000000" pitchFamily="65" charset="-122"/>
              </a:rPr>
              <a:t>创新</a:t>
            </a:r>
            <a:endParaRPr lang="zh-CN" altLang="zh-CN" sz="1400" b="1" dirty="0">
              <a:solidFill>
                <a:schemeClr val="bg1"/>
              </a:solidFill>
              <a:latin typeface="彩虹粗仿宋" panose="03000509000000000000" pitchFamily="65" charset="-122"/>
              <a:ea typeface="彩虹粗仿宋" panose="03000509000000000000" pitchFamily="65" charset="-122"/>
            </a:endParaRPr>
          </a:p>
        </p:txBody>
      </p:sp>
      <p:sp>
        <p:nvSpPr>
          <p:cNvPr id="87" name="文本框 86"/>
          <p:cNvSpPr txBox="1"/>
          <p:nvPr/>
        </p:nvSpPr>
        <p:spPr>
          <a:xfrm>
            <a:off x="0" y="5992002"/>
            <a:ext cx="12191999" cy="400110"/>
          </a:xfrm>
          <a:prstGeom prst="rect">
            <a:avLst/>
          </a:prstGeom>
          <a:noFill/>
        </p:spPr>
        <p:txBody>
          <a:bodyPr wrap="square">
            <a:spAutoFit/>
          </a:bodyPr>
          <a:lstStyle/>
          <a:p>
            <a:pPr algn="ctr"/>
            <a:r>
              <a:rPr lang="zh-CN" altLang="en-US" sz="2000" b="1" dirty="0">
                <a:latin typeface="彩虹粗仿宋" panose="03000509000000000000" pitchFamily="65" charset="-122"/>
                <a:ea typeface="彩虹粗仿宋" panose="03000509000000000000" pitchFamily="65" charset="-122"/>
                <a:sym typeface="微软雅黑" panose="020B0503020204020204" charset="-122"/>
              </a:rPr>
              <a:t>公司仅用</a:t>
            </a:r>
            <a:r>
              <a:rPr lang="en-US" altLang="zh-CN" sz="2000" b="1" dirty="0">
                <a:latin typeface="彩虹粗仿宋" panose="03000509000000000000" pitchFamily="65" charset="-122"/>
                <a:ea typeface="彩虹粗仿宋" panose="03000509000000000000" pitchFamily="65" charset="-122"/>
                <a:sym typeface="微软雅黑" panose="020B0503020204020204" charset="-122"/>
              </a:rPr>
              <a:t>5</a:t>
            </a:r>
            <a:r>
              <a:rPr lang="zh-CN" altLang="en-US" sz="2000" b="1" dirty="0">
                <a:latin typeface="彩虹粗仿宋" panose="03000509000000000000" pitchFamily="65" charset="-122"/>
                <a:ea typeface="彩虹粗仿宋" panose="03000509000000000000" pitchFamily="65" charset="-122"/>
                <a:sym typeface="微软雅黑" panose="020B0503020204020204" charset="-122"/>
              </a:rPr>
              <a:t>年时间即获得</a:t>
            </a:r>
            <a:r>
              <a:rPr lang="en-US" altLang="zh-CN" sz="2000" b="1" dirty="0">
                <a:latin typeface="彩虹粗仿宋" panose="03000509000000000000" pitchFamily="65" charset="-122"/>
                <a:ea typeface="彩虹粗仿宋" panose="03000509000000000000" pitchFamily="65" charset="-122"/>
                <a:sym typeface="微软雅黑" panose="020B0503020204020204" charset="-122"/>
              </a:rPr>
              <a:t>4</a:t>
            </a:r>
            <a:r>
              <a:rPr lang="zh-CN" altLang="en-US" sz="2000" b="1" dirty="0">
                <a:latin typeface="彩虹粗仿宋" panose="03000509000000000000" pitchFamily="65" charset="-122"/>
                <a:ea typeface="彩虹粗仿宋" panose="03000509000000000000" pitchFamily="65" charset="-122"/>
                <a:sym typeface="微软雅黑" panose="020B0503020204020204" charset="-122"/>
              </a:rPr>
              <a:t>款</a:t>
            </a:r>
            <a:r>
              <a:rPr lang="en-US" altLang="zh-CN" sz="2000" b="1" dirty="0">
                <a:latin typeface="彩虹粗仿宋" panose="03000509000000000000" pitchFamily="65" charset="-122"/>
                <a:ea typeface="彩虹粗仿宋" panose="03000509000000000000" pitchFamily="65" charset="-122"/>
                <a:sym typeface="微软雅黑" panose="020B0503020204020204" charset="-122"/>
              </a:rPr>
              <a:t>III</a:t>
            </a:r>
            <a:r>
              <a:rPr lang="zh-CN" altLang="en-US" sz="2000" b="1" dirty="0">
                <a:latin typeface="彩虹粗仿宋" panose="03000509000000000000" pitchFamily="65" charset="-122"/>
                <a:ea typeface="彩虹粗仿宋" panose="03000509000000000000" pitchFamily="65" charset="-122"/>
                <a:sym typeface="微软雅黑" panose="020B0503020204020204" charset="-122"/>
              </a:rPr>
              <a:t>类有源医疗器械注册证，即将获得自我造血能力</a:t>
            </a:r>
            <a:endParaRPr lang="zh-CN" altLang="en-US" sz="2000" b="1" dirty="0">
              <a:latin typeface="彩虹粗仿宋" panose="03000509000000000000" pitchFamily="65" charset="-122"/>
              <a:ea typeface="彩虹粗仿宋" panose="03000509000000000000" pitchFamily="65" charset="-122"/>
              <a:sym typeface="微软雅黑" panose="020B0503020204020204" charset="-122"/>
            </a:endParaRPr>
          </a:p>
        </p:txBody>
      </p:sp>
      <p:sp>
        <p:nvSpPr>
          <p:cNvPr id="88" name="Rectangle 2"/>
          <p:cNvSpPr>
            <a:spLocks noChangeArrowheads="1"/>
          </p:cNvSpPr>
          <p:nvPr/>
        </p:nvSpPr>
        <p:spPr bwMode="gray">
          <a:xfrm>
            <a:off x="9947688" y="3628135"/>
            <a:ext cx="543847" cy="232219"/>
          </a:xfrm>
          <a:prstGeom prst="rect">
            <a:avLst/>
          </a:prstGeom>
          <a:solidFill>
            <a:schemeClr val="accent6"/>
          </a:solidFill>
          <a:ln w="6350">
            <a:solidFill>
              <a:schemeClr val="accent6"/>
            </a:solidFill>
            <a:miter lim="800000"/>
            <a:headEnd type="none" w="sm" len="sm"/>
            <a:tailEnd type="none" w="sm" len="sm"/>
          </a:ln>
          <a:effectLst/>
        </p:spPr>
        <p:txBody>
          <a:bodyPr vert="horz" wrap="square" lIns="22221" tIns="46527" rIns="22221" bIns="46527" numCol="1" anchor="ctr" anchorCtr="0" compatLnSpc="1"/>
          <a:lstStyle/>
          <a:p>
            <a:pPr algn="ctr" defTabSz="7315200"/>
            <a:r>
              <a:rPr lang="zh-CN" altLang="en-US" sz="1400" b="1" dirty="0">
                <a:solidFill>
                  <a:schemeClr val="bg1"/>
                </a:solidFill>
                <a:latin typeface="彩虹粗仿宋" panose="03000509000000000000" pitchFamily="65" charset="-122"/>
                <a:ea typeface="彩虹粗仿宋" panose="03000509000000000000" pitchFamily="65" charset="-122"/>
              </a:rPr>
              <a:t>创新</a:t>
            </a:r>
            <a:endParaRPr lang="zh-CN" altLang="zh-CN" sz="1400" b="1" dirty="0">
              <a:solidFill>
                <a:schemeClr val="bg1"/>
              </a:solidFill>
              <a:latin typeface="彩虹粗仿宋" panose="03000509000000000000" pitchFamily="65" charset="-122"/>
              <a:ea typeface="彩虹粗仿宋" panose="03000509000000000000" pitchFamily="65" charset="-122"/>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管线数据</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1</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LITT</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SEEG——</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标的公司持续经营的基础</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 name="Shape 1"/>
          <p:cNvSpPr/>
          <p:nvPr/>
        </p:nvSpPr>
        <p:spPr>
          <a:xfrm>
            <a:off x="239427" y="708794"/>
            <a:ext cx="3293987" cy="1951467"/>
          </a:xfrm>
          <a:prstGeom prst="rect">
            <a:avLst/>
          </a:prstGeom>
          <a:solidFill>
            <a:srgbClr val="EBEBEB"/>
          </a:solidFill>
          <a:ln w="198">
            <a:noFill/>
            <a:prstDash val="solid"/>
          </a:ln>
        </p:spPr>
        <p:txBody>
          <a:bodyPr>
            <a:noAutofit/>
          </a:bodyPr>
          <a:lstStyle/>
          <a:p>
            <a:pPr lvl="0" algn="l">
              <a:buClrTx/>
              <a:buSzTx/>
              <a:buFontTx/>
            </a:pPr>
            <a:endParaRPr lang="en-US" sz="2800">
              <a:ln>
                <a:noFill/>
              </a:ln>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 name="文本框 6"/>
          <p:cNvSpPr txBox="1"/>
          <p:nvPr/>
        </p:nvSpPr>
        <p:spPr>
          <a:xfrm>
            <a:off x="7008232" y="2370594"/>
            <a:ext cx="4144915" cy="1023738"/>
          </a:xfrm>
          <a:prstGeom prst="rect">
            <a:avLst/>
          </a:prstGeom>
          <a:ln w="12700">
            <a:miter lim="400000"/>
          </a:ln>
        </p:spPr>
        <p:txBody>
          <a:bodyPr lIns="45718" tIns="45718" rIns="45718" bIns="45718">
            <a:spAutoFit/>
          </a:bodyPr>
          <a:lstStyle/>
          <a:p>
            <a:pPr>
              <a:lnSpc>
                <a:spcPct val="150000"/>
              </a:lnSpc>
              <a:defRPr sz="1100" b="1" spc="-3">
                <a:solidFill>
                  <a:srgbClr val="FE3C00"/>
                </a:solidFill>
              </a:defRPr>
            </a:pPr>
            <a:r>
              <a:rPr sz="1400"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01. </a:t>
            </a:r>
            <a:r>
              <a:rPr sz="1400" dirty="0">
                <a:solidFill>
                  <a:srgbClr val="FF762B"/>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sz="1400" b="0" dirty="0" err="1">
                <a:solidFill>
                  <a:srgbClr val="031F6D"/>
                </a:solidFill>
                <a:latin typeface="微软雅黑" panose="020B0503020204020204" charset="-122"/>
                <a:ea typeface="微软雅黑" panose="020B0503020204020204" charset="-122"/>
                <a:cs typeface="微软雅黑" panose="020B0503020204020204" charset="-122"/>
                <a:sym typeface="微软雅黑" panose="020B0503020204020204" charset="-122"/>
              </a:rPr>
              <a:t>轻量化连接器，操作安全可靠</a:t>
            </a:r>
            <a:endParaRPr sz="1400" b="0" dirty="0">
              <a:solidFill>
                <a:srgbClr val="031F6D"/>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nSpc>
                <a:spcPct val="150000"/>
              </a:lnSpc>
              <a:defRPr sz="1100" b="1" spc="-3">
                <a:solidFill>
                  <a:srgbClr val="FE3C00"/>
                </a:solidFill>
              </a:defRPr>
            </a:pPr>
            <a:r>
              <a:rPr sz="1400"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r>
              <a:rPr sz="1400" dirty="0">
                <a:latin typeface="微软雅黑" panose="020B0503020204020204" charset="-122"/>
                <a:ea typeface="微软雅黑" panose="020B0503020204020204" charset="-122"/>
                <a:cs typeface="微软雅黑" panose="020B0503020204020204" charset="-122"/>
                <a:sym typeface="微软雅黑" panose="020B0503020204020204" charset="-122"/>
              </a:rPr>
              <a:t> </a:t>
            </a:r>
            <a:r>
              <a:rPr sz="1400" dirty="0">
                <a:solidFill>
                  <a:srgbClr val="ED767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sz="1400" b="0" dirty="0">
                <a:solidFill>
                  <a:srgbClr val="031F6D"/>
                </a:solidFill>
                <a:latin typeface="微软雅黑" panose="020B0503020204020204" charset="-122"/>
                <a:ea typeface="微软雅黑" panose="020B0503020204020204" charset="-122"/>
                <a:cs typeface="微软雅黑" panose="020B0503020204020204" charset="-122"/>
                <a:sym typeface="微软雅黑" panose="020B0503020204020204" charset="-122"/>
              </a:rPr>
              <a:t>抗弯折、抗拉连接线，10N拉力下依然导通</a:t>
            </a:r>
            <a:endParaRPr sz="1400" b="0" dirty="0">
              <a:solidFill>
                <a:srgbClr val="031F6D"/>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nSpc>
                <a:spcPct val="150000"/>
              </a:lnSpc>
              <a:defRPr sz="1100" b="1" spc="-3">
                <a:solidFill>
                  <a:srgbClr val="FE3C00"/>
                </a:solidFill>
              </a:defRPr>
            </a:pPr>
            <a:r>
              <a:rPr sz="1400" dirty="0">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03. </a:t>
            </a:r>
            <a:r>
              <a:rPr sz="1400" dirty="0">
                <a:solidFill>
                  <a:srgbClr val="FF762B"/>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sz="1400" b="0" dirty="0" err="1">
                <a:solidFill>
                  <a:srgbClr val="031F6D"/>
                </a:solidFill>
                <a:latin typeface="微软雅黑" panose="020B0503020204020204" charset="-122"/>
                <a:ea typeface="微软雅黑" panose="020B0503020204020204" charset="-122"/>
                <a:cs typeface="微软雅黑" panose="020B0503020204020204" charset="-122"/>
                <a:sym typeface="微软雅黑" panose="020B0503020204020204" charset="-122"/>
              </a:rPr>
              <a:t>铂铱合金，磁共振兼容</a:t>
            </a:r>
            <a:endParaRPr sz="1400" b="0" dirty="0">
              <a:solidFill>
                <a:srgbClr val="031F6D"/>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4" name="组合 13"/>
          <p:cNvGrpSpPr/>
          <p:nvPr/>
        </p:nvGrpSpPr>
        <p:grpSpPr>
          <a:xfrm>
            <a:off x="3995976" y="1966678"/>
            <a:ext cx="2878336" cy="2084399"/>
            <a:chOff x="3134798" y="1597080"/>
            <a:chExt cx="2151796" cy="1515223"/>
          </a:xfrm>
        </p:grpSpPr>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134798" y="1597080"/>
              <a:ext cx="2151796" cy="1515223"/>
            </a:xfrm>
            <a:prstGeom prst="rect">
              <a:avLst/>
            </a:prstGeom>
          </p:spPr>
        </p:pic>
        <p:sp>
          <p:nvSpPr>
            <p:cNvPr id="16" name="Oval 190"/>
            <p:cNvSpPr/>
            <p:nvPr/>
          </p:nvSpPr>
          <p:spPr>
            <a:xfrm>
              <a:off x="3350553" y="1762421"/>
              <a:ext cx="324000" cy="324000"/>
            </a:xfrm>
            <a:prstGeom prst="ellipse">
              <a:avLst/>
            </a:prstGeom>
            <a:solidFill>
              <a:srgbClr val="031F6D"/>
            </a:solidFill>
            <a:ln w="12700">
              <a:miter lim="400000"/>
            </a:ln>
          </p:spPr>
          <p:txBody>
            <a:bodyPr lIns="45718" tIns="45718" rIns="45718" bIns="45718" anchor="ctr"/>
            <a:lstStyle/>
            <a:p>
              <a:pPr algn="ctr" defTabSz="914400">
                <a:defRPr sz="1800">
                  <a:solidFill>
                    <a:srgbClr val="FFFFF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sz="28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TextBox 191"/>
            <p:cNvSpPr txBox="1"/>
            <p:nvPr/>
          </p:nvSpPr>
          <p:spPr>
            <a:xfrm>
              <a:off x="3394570" y="1786558"/>
              <a:ext cx="361315" cy="223731"/>
            </a:xfrm>
            <a:prstGeom prst="rect">
              <a:avLst/>
            </a:prstGeom>
            <a:ln w="12700">
              <a:miter lim="400000"/>
            </a:ln>
          </p:spPr>
          <p:txBody>
            <a:bodyPr wrap="square" lIns="45718" tIns="45718" rIns="45718" bIns="45718">
              <a:spAutoFit/>
            </a:bodyPr>
            <a:lstStyle>
              <a:lvl1pPr defTabSz="914400">
                <a:defRPr sz="1400">
                  <a:solidFill>
                    <a:srgbClr val="FFFFF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lvl1pPr>
            </a:lstStyle>
            <a:p>
              <a:r>
                <a:rPr b="1" dirty="0">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b="1"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Oval 190"/>
            <p:cNvSpPr/>
            <p:nvPr/>
          </p:nvSpPr>
          <p:spPr>
            <a:xfrm>
              <a:off x="4694729" y="1813789"/>
              <a:ext cx="324000" cy="324000"/>
            </a:xfrm>
            <a:prstGeom prst="ellipse">
              <a:avLst/>
            </a:prstGeom>
            <a:solidFill>
              <a:srgbClr val="031F6D"/>
            </a:solidFill>
            <a:ln w="12700">
              <a:miter lim="400000"/>
            </a:ln>
          </p:spPr>
          <p:txBody>
            <a:bodyPr lIns="45718" tIns="45718" rIns="45718" bIns="45718" anchor="ctr"/>
            <a:lstStyle/>
            <a:p>
              <a:pPr algn="ctr" defTabSz="914400">
                <a:defRPr sz="1800">
                  <a:solidFill>
                    <a:srgbClr val="FFFFF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sz="28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TextBox 191"/>
            <p:cNvSpPr txBox="1"/>
            <p:nvPr/>
          </p:nvSpPr>
          <p:spPr>
            <a:xfrm>
              <a:off x="4729550" y="1838515"/>
              <a:ext cx="361950" cy="223731"/>
            </a:xfrm>
            <a:prstGeom prst="rect">
              <a:avLst/>
            </a:prstGeom>
            <a:ln w="12700">
              <a:miter lim="400000"/>
            </a:ln>
          </p:spPr>
          <p:txBody>
            <a:bodyPr wrap="square" lIns="45718" tIns="45718" rIns="45718" bIns="45718">
              <a:spAutoFit/>
            </a:bodyPr>
            <a:lstStyle>
              <a:lvl1pPr defTabSz="914400">
                <a:defRPr sz="1400">
                  <a:solidFill>
                    <a:srgbClr val="FFFFF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lvl1pPr>
            </a:lstStyle>
            <a:p>
              <a:r>
                <a:rPr b="1" dirty="0">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b="1"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Oval 190"/>
            <p:cNvSpPr/>
            <p:nvPr/>
          </p:nvSpPr>
          <p:spPr>
            <a:xfrm>
              <a:off x="3724597" y="2542177"/>
              <a:ext cx="324000" cy="324000"/>
            </a:xfrm>
            <a:prstGeom prst="ellipse">
              <a:avLst/>
            </a:prstGeom>
            <a:solidFill>
              <a:srgbClr val="031F6D"/>
            </a:solidFill>
            <a:ln w="12700">
              <a:miter lim="400000"/>
            </a:ln>
          </p:spPr>
          <p:txBody>
            <a:bodyPr lIns="45718" tIns="45718" rIns="45718" bIns="45718" anchor="ctr"/>
            <a:lstStyle/>
            <a:p>
              <a:pPr algn="ctr" defTabSz="914400">
                <a:defRPr sz="1800">
                  <a:solidFill>
                    <a:srgbClr val="FFFFF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pPr>
              <a:endParaRPr sz="28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TextBox 191"/>
            <p:cNvSpPr txBox="1"/>
            <p:nvPr/>
          </p:nvSpPr>
          <p:spPr>
            <a:xfrm>
              <a:off x="3756728" y="2571750"/>
              <a:ext cx="361950" cy="223731"/>
            </a:xfrm>
            <a:prstGeom prst="rect">
              <a:avLst/>
            </a:prstGeom>
            <a:ln w="12700">
              <a:miter lim="400000"/>
            </a:ln>
          </p:spPr>
          <p:txBody>
            <a:bodyPr wrap="square" lIns="45718" tIns="45718" rIns="45718" bIns="45718">
              <a:spAutoFit/>
            </a:bodyPr>
            <a:lstStyle>
              <a:lvl1pPr defTabSz="914400">
                <a:defRPr sz="1400">
                  <a:solidFill>
                    <a:srgbClr val="FFFFFF"/>
                  </a:solidFill>
                  <a:latin typeface="ITC Avant Garde Gothic Std Medium" panose="020B0702020202020204"/>
                  <a:ea typeface="ITC Avant Garde Gothic Std Medium" panose="020B0702020202020204"/>
                  <a:cs typeface="ITC Avant Garde Gothic Std Medium" panose="020B0702020202020204"/>
                  <a:sym typeface="ITC Avant Garde Gothic Std Medium" panose="020B0702020202020204"/>
                </a:defRPr>
              </a:lvl1pPr>
            </a:lstStyle>
            <a:p>
              <a:r>
                <a:rPr b="1" dirty="0">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b="1"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22" name="市场（癫痫诊断与治疗临床利用率最高消耗品）"/>
          <p:cNvSpPr txBox="1"/>
          <p:nvPr/>
        </p:nvSpPr>
        <p:spPr>
          <a:xfrm>
            <a:off x="4010355" y="1304382"/>
            <a:ext cx="7026185" cy="400105"/>
          </a:xfrm>
          <a:prstGeom prst="rect">
            <a:avLst/>
          </a:prstGeom>
          <a:ln w="12700">
            <a:miter lim="400000"/>
          </a:ln>
        </p:spPr>
        <p:txBody>
          <a:bodyPr wrap="square" lIns="45718" tIns="45718" rIns="45718" bIns="45718">
            <a:spAutoFit/>
          </a:bodyPr>
          <a:lstStyle>
            <a:lvl1pPr defTabSz="914400">
              <a:defRPr sz="1400">
                <a:solidFill>
                  <a:srgbClr val="000000"/>
                </a:solidFill>
              </a:defRPr>
            </a:lvl1pPr>
          </a:lstStyle>
          <a:p>
            <a:endParaRPr sz="20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23" name="图像" descr="图像"/>
          <p:cNvPicPr>
            <a:picLocks noChangeAspect="1"/>
          </p:cNvPicPr>
          <p:nvPr/>
        </p:nvPicPr>
        <p:blipFill>
          <a:blip r:embed="rId2"/>
          <a:stretch>
            <a:fillRect/>
          </a:stretch>
        </p:blipFill>
        <p:spPr>
          <a:xfrm>
            <a:off x="3878056" y="5139993"/>
            <a:ext cx="1442616" cy="1229279"/>
          </a:xfrm>
          <a:prstGeom prst="rect">
            <a:avLst/>
          </a:prstGeom>
          <a:ln w="12700">
            <a:miter lim="400000"/>
            <a:headEnd/>
            <a:tailEnd/>
          </a:ln>
        </p:spPr>
      </p:pic>
      <p:pic>
        <p:nvPicPr>
          <p:cNvPr id="24" name="图像" descr="图像"/>
          <p:cNvPicPr>
            <a:picLocks noChangeAspect="1"/>
          </p:cNvPicPr>
          <p:nvPr/>
        </p:nvPicPr>
        <p:blipFill>
          <a:blip r:embed="rId3"/>
          <a:stretch>
            <a:fillRect/>
          </a:stretch>
        </p:blipFill>
        <p:spPr>
          <a:xfrm>
            <a:off x="6601834" y="5019026"/>
            <a:ext cx="743419" cy="1298483"/>
          </a:xfrm>
          <a:prstGeom prst="rect">
            <a:avLst/>
          </a:prstGeom>
          <a:ln w="12700">
            <a:miter lim="400000"/>
            <a:headEnd/>
            <a:tailEnd/>
          </a:ln>
        </p:spPr>
      </p:pic>
      <p:pic>
        <p:nvPicPr>
          <p:cNvPr id="25" name="图像" descr="图像"/>
          <p:cNvPicPr>
            <a:picLocks noChangeAspect="1"/>
          </p:cNvPicPr>
          <p:nvPr/>
        </p:nvPicPr>
        <p:blipFill>
          <a:blip r:embed="rId4"/>
          <a:stretch>
            <a:fillRect/>
          </a:stretch>
        </p:blipFill>
        <p:spPr>
          <a:xfrm>
            <a:off x="8143364" y="5062747"/>
            <a:ext cx="2893176" cy="1229278"/>
          </a:xfrm>
          <a:prstGeom prst="rect">
            <a:avLst/>
          </a:prstGeom>
          <a:ln w="12700">
            <a:miter lim="400000"/>
            <a:headEnd/>
            <a:tailEnd/>
          </a:ln>
        </p:spPr>
      </p:pic>
      <p:sp>
        <p:nvSpPr>
          <p:cNvPr id="26" name="箭头: 右 44"/>
          <p:cNvSpPr/>
          <p:nvPr/>
        </p:nvSpPr>
        <p:spPr>
          <a:xfrm>
            <a:off x="7463155" y="5623991"/>
            <a:ext cx="425187" cy="160192"/>
          </a:xfrm>
          <a:prstGeom prst="rightArrow">
            <a:avLst>
              <a:gd name="adj1" fmla="val 51092"/>
              <a:gd name="adj2" fmla="val 86018"/>
            </a:avLst>
          </a:prstGeom>
          <a:solidFill>
            <a:srgbClr val="06194B"/>
          </a:solidFill>
          <a:ln w="25400">
            <a:solidFill>
              <a:srgbClr val="002671"/>
            </a:solidFill>
          </a:ln>
        </p:spPr>
        <p:txBody>
          <a:bodyPr lIns="45718" tIns="45718" rIns="45718" bIns="45718" anchor="ctr"/>
          <a:lstStyle/>
          <a:p>
            <a:pPr algn="ctr">
              <a:defRPr>
                <a:solidFill>
                  <a:srgbClr val="FFFFFF"/>
                </a:solidFill>
              </a:defRPr>
            </a:pPr>
            <a:endParaRPr sz="28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 name="箭头: 右 44"/>
          <p:cNvSpPr/>
          <p:nvPr/>
        </p:nvSpPr>
        <p:spPr>
          <a:xfrm>
            <a:off x="5696468" y="5623991"/>
            <a:ext cx="425187" cy="160193"/>
          </a:xfrm>
          <a:prstGeom prst="rightArrow">
            <a:avLst>
              <a:gd name="adj1" fmla="val 51092"/>
              <a:gd name="adj2" fmla="val 86018"/>
            </a:avLst>
          </a:prstGeom>
          <a:solidFill>
            <a:srgbClr val="06194B"/>
          </a:solidFill>
          <a:ln w="25400">
            <a:solidFill>
              <a:srgbClr val="002671"/>
            </a:solidFill>
          </a:ln>
        </p:spPr>
        <p:txBody>
          <a:bodyPr lIns="45718" tIns="45718" rIns="45718" bIns="45718" anchor="ctr"/>
          <a:lstStyle/>
          <a:p>
            <a:pPr algn="ctr">
              <a:defRPr>
                <a:solidFill>
                  <a:srgbClr val="FFFFFF"/>
                </a:solidFill>
              </a:defRPr>
            </a:pPr>
            <a:endParaRPr sz="28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28"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6156" y="2846323"/>
            <a:ext cx="2374223" cy="3489766"/>
          </a:xfrm>
          <a:prstGeom prst="rect">
            <a:avLst/>
          </a:prstGeom>
          <a:effectLst>
            <a:outerShdw blurRad="50800" dist="38100" dir="5400000" algn="t" rotWithShape="0">
              <a:prstClr val="black">
                <a:alpha val="40000"/>
              </a:prstClr>
            </a:outerShdw>
          </a:effectLst>
        </p:spPr>
      </p:pic>
      <p:pic>
        <p:nvPicPr>
          <p:cNvPr id="29" name="图片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2057" y="3726376"/>
            <a:ext cx="6966393" cy="1153700"/>
          </a:xfrm>
          <a:prstGeom prst="rect">
            <a:avLst/>
          </a:prstGeom>
        </p:spPr>
      </p:pic>
      <p:sp>
        <p:nvSpPr>
          <p:cNvPr id="30" name="矩形 29"/>
          <p:cNvSpPr/>
          <p:nvPr/>
        </p:nvSpPr>
        <p:spPr>
          <a:xfrm>
            <a:off x="3742767" y="733813"/>
            <a:ext cx="8218005" cy="59398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产品一：颅内深部电极</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国械注准</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20253071815】</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，国产第</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家获批上市</a:t>
            </a:r>
            <a:endPar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1" name="文本框 30"/>
          <p:cNvSpPr txBox="1"/>
          <p:nvPr/>
        </p:nvSpPr>
        <p:spPr>
          <a:xfrm>
            <a:off x="3693978" y="1358266"/>
            <a:ext cx="7708361" cy="646331"/>
          </a:xfrm>
          <a:prstGeom prst="rect">
            <a:avLst/>
          </a:prstGeom>
          <a:noFill/>
        </p:spPr>
        <p:txBody>
          <a:bodyPr wrap="square">
            <a:spAutoFit/>
          </a:bodyPr>
          <a:lstStyle/>
          <a:p>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癫痫诊断与治疗临床利用率最高消耗品，市场空间约</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2.49</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亿元</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年</a:t>
            </a:r>
            <a:endPar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5%</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理论市场渗透率）</a:t>
            </a:r>
            <a:endPar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4" name="Shape 2"/>
          <p:cNvSpPr/>
          <p:nvPr/>
        </p:nvSpPr>
        <p:spPr>
          <a:xfrm>
            <a:off x="417228" y="780804"/>
            <a:ext cx="385767" cy="399510"/>
          </a:xfrm>
          <a:prstGeom prst="ellipse">
            <a:avLst/>
          </a:prstGeom>
          <a:solidFill>
            <a:srgbClr val="EBEBEB"/>
          </a:solidFill>
          <a:ln w="28575">
            <a:solidFill>
              <a:schemeClr val="bg1"/>
            </a:solidFill>
          </a:ln>
        </p:spPr>
        <p:style>
          <a:lnRef idx="0">
            <a:srgbClr val="FFFFFF"/>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en-US" sz="24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5" name="Text 3"/>
          <p:cNvSpPr/>
          <p:nvPr/>
        </p:nvSpPr>
        <p:spPr>
          <a:xfrm>
            <a:off x="1012623" y="854687"/>
            <a:ext cx="1384995" cy="287385"/>
          </a:xfrm>
          <a:prstGeom prst="rect">
            <a:avLst/>
          </a:prstGeom>
          <a:noFill/>
        </p:spPr>
        <p:txBody>
          <a:bodyPr wrap="none" lIns="0" tIns="0" rIns="0" bIns="0" rtlCol="0" anchor="ctr">
            <a:spAutoFit/>
          </a:bodyPr>
          <a:lstStyle/>
          <a:p>
            <a:pPr marL="0" indent="0">
              <a:buNone/>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微创神经外科</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6" name="Text 4"/>
          <p:cNvSpPr/>
          <p:nvPr/>
        </p:nvSpPr>
        <p:spPr>
          <a:xfrm>
            <a:off x="417228" y="1288069"/>
            <a:ext cx="2931892" cy="670565"/>
          </a:xfrm>
          <a:prstGeom prst="rect">
            <a:avLst/>
          </a:prstGeom>
          <a:noFill/>
        </p:spPr>
        <p:txBody>
          <a:bodyPr wrap="square" lIns="0" tIns="0" rIns="0" bIns="0" rtlCol="0" anchor="ctr">
            <a:spAutoFit/>
          </a:bodyPr>
          <a:lstStyle/>
          <a:p>
            <a:pPr marL="0" indent="0">
              <a:buNone/>
            </a:pPr>
            <a:r>
              <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提供微创神经外科手术解决方案，通过精准定位和微创手术技术，降低手术创伤，提高治疗效果。 </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7" name="Text 5"/>
          <p:cNvSpPr/>
          <p:nvPr/>
        </p:nvSpPr>
        <p:spPr>
          <a:xfrm>
            <a:off x="515157" y="2330268"/>
            <a:ext cx="2611164" cy="191590"/>
          </a:xfrm>
          <a:prstGeom prst="rect">
            <a:avLst/>
          </a:prstGeom>
          <a:noFill/>
        </p:spPr>
        <p:txBody>
          <a:bodyPr wrap="none" lIns="0" tIns="0" rIns="0" bIns="0" rtlCol="0" anchor="ctr">
            <a:spAutoFit/>
          </a:bodyPr>
          <a:lstStyle/>
          <a:p>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LaserRO™</a:t>
            </a:r>
            <a:r>
              <a:rPr lang="zh-CN" alt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磁共振引导激光消融系统</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8" name="Text 7"/>
          <p:cNvSpPr/>
          <p:nvPr/>
        </p:nvSpPr>
        <p:spPr>
          <a:xfrm>
            <a:off x="515157" y="2069328"/>
            <a:ext cx="2232984" cy="191590"/>
          </a:xfrm>
          <a:prstGeom prst="rect">
            <a:avLst/>
          </a:prstGeom>
          <a:noFill/>
        </p:spPr>
        <p:txBody>
          <a:bodyPr wrap="none" lIns="0" tIns="0" rIns="0" bIns="0" rtlCol="0" anchor="ctr">
            <a:spAutoFit/>
          </a:bodyPr>
          <a:lstStyle/>
          <a:p>
            <a:r>
              <a:rPr lang="en-US" sz="12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SEEG</a:t>
            </a:r>
            <a:r>
              <a:rPr lang="zh-CN" altLang="en-US" sz="12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立体定向脑电图监测电极</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39" name="图片 19" descr="神经"/>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1664" y="815158"/>
            <a:ext cx="287490" cy="297732"/>
          </a:xfrm>
          <a:prstGeom prst="rect">
            <a:avLst/>
          </a:prstGeom>
        </p:spPr>
      </p:pic>
    </p:spTree>
    <p:custDataLst>
      <p:tags r:id="rId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赛道选择</a:t>
            </a:r>
            <a:endParaRPr lang="zh-CN" altLang="en-US" sz="1600" b="1">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496060" y="0"/>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癫痫为脑机接口创新医疗器械的理想突破口</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endParaRPr>
          </a:p>
        </p:txBody>
      </p:sp>
      <p:sp>
        <p:nvSpPr>
          <p:cNvPr id="4" name="灯片编号占位符 10"/>
          <p:cNvSpPr>
            <a:spLocks noGrp="1"/>
          </p:cNvSpPr>
          <p:nvPr>
            <p:ph type="sldNum" sz="quarter" idx="12"/>
          </p:nvPr>
        </p:nvSpPr>
        <p:spPr>
          <a:xfrm>
            <a:off x="8610599" y="6240463"/>
            <a:ext cx="2909888" cy="206381"/>
          </a:xfrm>
        </p:spPr>
        <p:txBody>
          <a:bodyPr>
            <a:normAutofit fontScale="85000" lnSpcReduction="20000"/>
          </a:bodyPr>
          <a:lstStyle/>
          <a:p>
            <a:fld id="{BE5F26B5-172A-4DC2-B0B7-181CFC56B87C}" type="slidenum">
              <a:rPr lang="zh-CN" altLang="en-US" smtClean="0"/>
            </a:fld>
            <a:endParaRPr lang="zh-CN" altLang="en-US"/>
          </a:p>
        </p:txBody>
      </p:sp>
      <p:grpSp>
        <p:nvGrpSpPr>
          <p:cNvPr id="51" name="组合 50"/>
          <p:cNvGrpSpPr/>
          <p:nvPr/>
        </p:nvGrpSpPr>
        <p:grpSpPr>
          <a:xfrm>
            <a:off x="278765" y="980057"/>
            <a:ext cx="11749351" cy="5106365"/>
            <a:chOff x="278765" y="646229"/>
            <a:chExt cx="8728435" cy="3793450"/>
          </a:xfrm>
        </p:grpSpPr>
        <p:sp>
          <p:nvSpPr>
            <p:cNvPr id="5" name="矩形: 圆角 7"/>
            <p:cNvSpPr/>
            <p:nvPr/>
          </p:nvSpPr>
          <p:spPr>
            <a:xfrm>
              <a:off x="4930787" y="1109219"/>
              <a:ext cx="4075531" cy="1210934"/>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600" dirty="0">
                <a:solidFill>
                  <a:schemeClr val="tx1"/>
                </a:solidFill>
                <a:latin typeface="彩虹粗仿宋" panose="03000509000000000000" pitchFamily="65" charset="-122"/>
                <a:ea typeface="彩虹粗仿宋" panose="03000509000000000000" pitchFamily="65" charset="-122"/>
              </a:endParaRPr>
            </a:p>
            <a:p>
              <a:pPr algn="ctr"/>
              <a:endParaRPr lang="en-US" altLang="zh-CN" sz="1600" dirty="0">
                <a:solidFill>
                  <a:schemeClr val="tx1"/>
                </a:solidFill>
                <a:latin typeface="彩虹粗仿宋" panose="03000509000000000000" pitchFamily="65" charset="-122"/>
                <a:ea typeface="彩虹粗仿宋" panose="03000509000000000000" pitchFamily="65" charset="-122"/>
              </a:endParaRPr>
            </a:p>
          </p:txBody>
        </p:sp>
        <p:sp>
          <p:nvSpPr>
            <p:cNvPr id="6" name="Rechteck 7"/>
            <p:cNvSpPr/>
            <p:nvPr/>
          </p:nvSpPr>
          <p:spPr bwMode="gray">
            <a:xfrm>
              <a:off x="1210089" y="2836979"/>
              <a:ext cx="933450" cy="270000"/>
            </a:xfrm>
            <a:prstGeom prst="rect">
              <a:avLst/>
            </a:prstGeom>
            <a:solidFill>
              <a:schemeClr val="tx2">
                <a:lumMod val="20000"/>
                <a:lumOff val="80000"/>
              </a:schemeClr>
            </a:solidFill>
            <a:ln w="57150">
              <a:noFill/>
              <a:miter lim="800000"/>
            </a:ln>
            <a:effectLst/>
          </p:spPr>
          <p:txBody>
            <a:bodyPr lIns="0" tIns="0" rIns="0" bIns="0" anchor="ctr"/>
            <a:lstStyle/>
            <a:p>
              <a:pPr algn="ctr">
                <a:lnSpc>
                  <a:spcPct val="95000"/>
                </a:lnSpc>
                <a:spcAft>
                  <a:spcPts val="600"/>
                </a:spcAft>
                <a:buClr>
                  <a:srgbClr val="969696"/>
                </a:buClr>
                <a:defRPr/>
              </a:pPr>
              <a:r>
                <a:rPr lang="zh-CN" altLang="en-US" sz="120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癫痫病灶毁损</a:t>
              </a:r>
              <a:endParaRPr lang="zh-CN" altLang="en-US" sz="120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sp>
          <p:nvSpPr>
            <p:cNvPr id="8" name="文本框 7"/>
            <p:cNvSpPr txBox="1"/>
            <p:nvPr/>
          </p:nvSpPr>
          <p:spPr>
            <a:xfrm>
              <a:off x="1945630" y="3651885"/>
              <a:ext cx="1557655" cy="407270"/>
            </a:xfrm>
            <a:prstGeom prst="rect">
              <a:avLst/>
            </a:prstGeom>
            <a:noFill/>
          </p:spPr>
          <p:txBody>
            <a:bodyPr wrap="square" lIns="35100" rIns="35100">
              <a:spAutoFit/>
            </a:bodyPr>
            <a:lstStyle/>
            <a:p>
              <a:pPr marL="128270" lvl="0" indent="-128270" algn="l">
                <a:lnSpc>
                  <a:spcPct val="150000"/>
                </a:lnSpc>
                <a:buClr>
                  <a:schemeClr val="tx2"/>
                </a:buClr>
                <a:buSzTx/>
                <a:buFont typeface="微软雅黑" panose="020B0503020204020204" charset="-122"/>
                <a:buChar char="•"/>
                <a:defRPr/>
              </a:pPr>
              <a:r>
                <a:rPr lang="zh-CN" altLang="en-US" sz="105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磁共振引导激光消融微创手术系统 ( </a:t>
              </a:r>
              <a:r>
                <a:rPr lang="zh-CN" altLang="en-US" sz="1050" kern="0" dirty="0">
                  <a:solidFill>
                    <a:schemeClr val="tx2"/>
                  </a:solidFill>
                  <a:latin typeface="Arial" panose="020B0604020202090204" pitchFamily="34" charset="0"/>
                  <a:ea typeface="微软雅黑" panose="020B0503020204020204" charset="-122"/>
                  <a:cs typeface="Arial" panose="020B0604020202090204" pitchFamily="34" charset="0"/>
                  <a:sym typeface="微软雅黑" panose="020B0503020204020204" charset="-122"/>
                </a:rPr>
                <a:t>MRgLITT </a:t>
              </a:r>
              <a:r>
                <a:rPr lang="zh-CN" altLang="en-US" sz="105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a:t>
              </a:r>
              <a:endParaRPr lang="zh-CN" altLang="en-US" sz="105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cxnSp>
          <p:nvCxnSpPr>
            <p:cNvPr id="9" name="肘形连接符 29"/>
            <p:cNvCxnSpPr>
              <a:stCxn id="6" idx="2"/>
              <a:endCxn id="10" idx="0"/>
            </p:cNvCxnSpPr>
            <p:nvPr/>
          </p:nvCxnSpPr>
          <p:spPr>
            <a:xfrm rot="16200000" flipH="1">
              <a:off x="2093663" y="2690130"/>
              <a:ext cx="214071" cy="104776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hteck 7"/>
            <p:cNvSpPr/>
            <p:nvPr/>
          </p:nvSpPr>
          <p:spPr bwMode="gray">
            <a:xfrm>
              <a:off x="2040582" y="3321050"/>
              <a:ext cx="1368000" cy="346877"/>
            </a:xfrm>
            <a:prstGeom prst="rect">
              <a:avLst/>
            </a:prstGeom>
            <a:solidFill>
              <a:schemeClr val="accent6"/>
            </a:solidFill>
            <a:ln w="57150">
              <a:noFill/>
              <a:miter lim="800000"/>
            </a:ln>
            <a:effectLst/>
          </p:spPr>
          <p:txBody>
            <a:bodyPr lIns="0" tIns="0" rIns="0" bIns="0" anchor="ctr"/>
            <a:lstStyle/>
            <a:p>
              <a:pPr algn="ctr">
                <a:buClr>
                  <a:srgbClr val="969696"/>
                </a:buClr>
                <a:defRPr/>
              </a:pPr>
              <a:r>
                <a:rPr lang="zh-CN" altLang="en-US" sz="1200" b="1" kern="0" dirty="0">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微创手术治疗</a:t>
              </a:r>
              <a:endParaRPr lang="zh-CN" altLang="en-US" sz="1200" b="1" kern="0" dirty="0">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sp>
          <p:nvSpPr>
            <p:cNvPr id="11" name="Rechteck 7"/>
            <p:cNvSpPr/>
            <p:nvPr/>
          </p:nvSpPr>
          <p:spPr bwMode="gray">
            <a:xfrm>
              <a:off x="293048" y="3321263"/>
              <a:ext cx="1368000" cy="360000"/>
            </a:xfrm>
            <a:prstGeom prst="rect">
              <a:avLst/>
            </a:prstGeom>
            <a:solidFill>
              <a:schemeClr val="accent1"/>
            </a:solidFill>
            <a:ln w="57150">
              <a:noFill/>
              <a:miter lim="800000"/>
            </a:ln>
            <a:effectLst/>
          </p:spPr>
          <p:txBody>
            <a:bodyPr lIns="0" tIns="0" rIns="0" bIns="0" anchor="ctr"/>
            <a:lstStyle/>
            <a:p>
              <a:pPr algn="ctr">
                <a:buClr>
                  <a:srgbClr val="969696"/>
                </a:buClr>
                <a:defRPr/>
              </a:pPr>
              <a:r>
                <a:rPr lang="zh-CN" altLang="en-US" sz="1200" kern="0" dirty="0">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传统手术治疗</a:t>
              </a:r>
              <a:endParaRPr lang="zh-CN" altLang="en-US" sz="1200" kern="0" dirty="0">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sp>
          <p:nvSpPr>
            <p:cNvPr id="12" name="文本框 11"/>
            <p:cNvSpPr txBox="1"/>
            <p:nvPr/>
          </p:nvSpPr>
          <p:spPr>
            <a:xfrm>
              <a:off x="293048" y="3651885"/>
              <a:ext cx="1368000" cy="587518"/>
            </a:xfrm>
            <a:prstGeom prst="rect">
              <a:avLst/>
            </a:prstGeom>
            <a:noFill/>
          </p:spPr>
          <p:txBody>
            <a:bodyPr wrap="square" lIns="35100" rIns="35100">
              <a:spAutoFit/>
            </a:bodyPr>
            <a:lstStyle/>
            <a:p>
              <a:pPr marL="128270" indent="-128270">
                <a:lnSpc>
                  <a:spcPct val="150000"/>
                </a:lnSpc>
                <a:buClr>
                  <a:schemeClr val="tx2"/>
                </a:buClr>
                <a:buSzPct val="100000"/>
                <a:buFont typeface="微软雅黑" panose="020B0503020204020204" charset="-122"/>
                <a:buChar char="•"/>
                <a:defRPr/>
              </a:pPr>
              <a:r>
                <a:rPr lang="zh-CN" altLang="en-US" sz="105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颞叶切除术</a:t>
              </a:r>
              <a:endParaRPr lang="zh-CN" altLang="en-US" sz="105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a:p>
              <a:pPr marL="128270" indent="-128270">
                <a:lnSpc>
                  <a:spcPct val="150000"/>
                </a:lnSpc>
                <a:buClr>
                  <a:schemeClr val="tx2"/>
                </a:buClr>
                <a:buSzPct val="100000"/>
                <a:buFont typeface="微软雅黑" panose="020B0503020204020204" charset="-122"/>
                <a:buChar char="•"/>
                <a:defRPr/>
              </a:pPr>
              <a:r>
                <a:rPr lang="zh-CN" altLang="en-US" sz="105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额叶切除术</a:t>
              </a:r>
              <a:endParaRPr lang="zh-CN" altLang="en-US" sz="105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a:p>
              <a:pPr marL="128270" indent="-128270">
                <a:lnSpc>
                  <a:spcPct val="150000"/>
                </a:lnSpc>
                <a:buClr>
                  <a:schemeClr val="tx2"/>
                </a:buClr>
                <a:buSzPct val="100000"/>
                <a:buFont typeface="微软雅黑" panose="020B0503020204020204" charset="-122"/>
                <a:buChar char="•"/>
                <a:defRPr/>
              </a:pPr>
              <a:r>
                <a:rPr lang="zh-CN" altLang="en-US" sz="105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局部和枕叶切除术</a:t>
              </a:r>
              <a:endParaRPr lang="zh-CN" altLang="en-US" sz="105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cxnSp>
          <p:nvCxnSpPr>
            <p:cNvPr id="15" name="肘形连接符 34"/>
            <p:cNvCxnSpPr>
              <a:stCxn id="6" idx="2"/>
              <a:endCxn id="11" idx="0"/>
            </p:cNvCxnSpPr>
            <p:nvPr/>
          </p:nvCxnSpPr>
          <p:spPr>
            <a:xfrm rot="5400000">
              <a:off x="1220143" y="2864168"/>
              <a:ext cx="213995" cy="699770"/>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肘形连接符 54"/>
            <p:cNvCxnSpPr>
              <a:stCxn id="18" idx="2"/>
              <a:endCxn id="6" idx="0"/>
            </p:cNvCxnSpPr>
            <p:nvPr/>
          </p:nvCxnSpPr>
          <p:spPr>
            <a:xfrm rot="5400000">
              <a:off x="2767320" y="1592580"/>
              <a:ext cx="154305" cy="2334895"/>
            </a:xfrm>
            <a:prstGeom prst="bentConnector3">
              <a:avLst>
                <a:gd name="adj1" fmla="val 50206"/>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肘形连接符 60"/>
            <p:cNvCxnSpPr>
              <a:stCxn id="18" idx="2"/>
              <a:endCxn id="24" idx="0"/>
            </p:cNvCxnSpPr>
            <p:nvPr/>
          </p:nvCxnSpPr>
          <p:spPr>
            <a:xfrm rot="5400000" flipV="1">
              <a:off x="4783128" y="1911668"/>
              <a:ext cx="154305" cy="1696720"/>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Rechteck 7"/>
            <p:cNvSpPr/>
            <p:nvPr/>
          </p:nvSpPr>
          <p:spPr bwMode="gray">
            <a:xfrm>
              <a:off x="3230976" y="2412908"/>
              <a:ext cx="1562100" cy="270000"/>
            </a:xfrm>
            <a:prstGeom prst="rect">
              <a:avLst/>
            </a:prstGeom>
            <a:solidFill>
              <a:schemeClr val="tx2">
                <a:lumMod val="20000"/>
                <a:lumOff val="80000"/>
              </a:schemeClr>
            </a:solidFill>
            <a:ln w="57150">
              <a:noFill/>
              <a:miter lim="800000"/>
            </a:ln>
            <a:effectLst/>
          </p:spPr>
          <p:txBody>
            <a:bodyPr lIns="0" tIns="0" rIns="0" bIns="0" anchor="ctr"/>
            <a:lstStyle/>
            <a:p>
              <a:pPr algn="ctr">
                <a:lnSpc>
                  <a:spcPct val="95000"/>
                </a:lnSpc>
                <a:spcAft>
                  <a:spcPts val="600"/>
                </a:spcAft>
                <a:buClr>
                  <a:srgbClr val="969696"/>
                </a:buClr>
                <a:defRPr/>
              </a:pPr>
              <a:r>
                <a:rPr lang="zh-CN" altLang="en-US" sz="1200" kern="0" noProof="1">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药物难治性癫痫手术治疗</a:t>
              </a:r>
              <a:endParaRPr lang="zh-CN" altLang="en-US" sz="1200" kern="0" noProof="1">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sp>
          <p:nvSpPr>
            <p:cNvPr id="19" name="Rechteck 7"/>
            <p:cNvSpPr/>
            <p:nvPr/>
          </p:nvSpPr>
          <p:spPr bwMode="gray">
            <a:xfrm>
              <a:off x="424277" y="2412908"/>
              <a:ext cx="1563687" cy="270000"/>
            </a:xfrm>
            <a:prstGeom prst="rect">
              <a:avLst/>
            </a:prstGeom>
            <a:solidFill>
              <a:schemeClr val="bg1">
                <a:lumMod val="95000"/>
              </a:schemeClr>
            </a:solidFill>
            <a:ln w="57150">
              <a:noFill/>
              <a:miter lim="800000"/>
            </a:ln>
            <a:effectLst/>
          </p:spPr>
          <p:txBody>
            <a:bodyPr lIns="0" tIns="0" rIns="0" bIns="0" anchor="ctr"/>
            <a:lstStyle/>
            <a:p>
              <a:pPr algn="ctr">
                <a:lnSpc>
                  <a:spcPct val="95000"/>
                </a:lnSpc>
                <a:spcAft>
                  <a:spcPts val="600"/>
                </a:spcAft>
                <a:buClr>
                  <a:srgbClr val="969696"/>
                </a:buClr>
                <a:defRPr/>
              </a:pPr>
              <a:r>
                <a:rPr lang="zh-CN" altLang="en-US" sz="1200" kern="0" noProof="1">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药物治疗</a:t>
              </a:r>
              <a:endParaRPr lang="zh-CN" altLang="en-US" sz="1200" kern="0" noProof="1">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sp>
          <p:nvSpPr>
            <p:cNvPr id="20" name="Rechteck 7"/>
            <p:cNvSpPr/>
            <p:nvPr/>
          </p:nvSpPr>
          <p:spPr bwMode="gray">
            <a:xfrm>
              <a:off x="2143539" y="1974550"/>
              <a:ext cx="931863" cy="270000"/>
            </a:xfrm>
            <a:prstGeom prst="rect">
              <a:avLst/>
            </a:prstGeom>
            <a:solidFill>
              <a:schemeClr val="bg1">
                <a:lumMod val="95000"/>
              </a:schemeClr>
            </a:solidFill>
            <a:ln w="57150">
              <a:noFill/>
              <a:miter lim="800000"/>
            </a:ln>
            <a:effectLst/>
          </p:spPr>
          <p:txBody>
            <a:bodyPr lIns="0" tIns="0" rIns="0" bIns="0" anchor="ctr"/>
            <a:lstStyle/>
            <a:p>
              <a:pPr algn="ctr">
                <a:lnSpc>
                  <a:spcPct val="95000"/>
                </a:lnSpc>
                <a:spcAft>
                  <a:spcPts val="600"/>
                </a:spcAft>
                <a:buClr>
                  <a:srgbClr val="969696"/>
                </a:buClr>
                <a:defRPr/>
              </a:pPr>
              <a:r>
                <a:rPr lang="zh-CN" altLang="en-US" sz="1200" kern="0" noProof="1">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癫痫患者</a:t>
              </a:r>
              <a:endParaRPr lang="zh-CN" altLang="en-US" sz="1200" kern="0" noProof="1">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cxnSp>
          <p:nvCxnSpPr>
            <p:cNvPr id="21" name="肘形连接符 66"/>
            <p:cNvCxnSpPr>
              <a:stCxn id="20" idx="2"/>
              <a:endCxn id="18" idx="0"/>
            </p:cNvCxnSpPr>
            <p:nvPr/>
          </p:nvCxnSpPr>
          <p:spPr>
            <a:xfrm rot="16200000" flipH="1">
              <a:off x="3226569" y="1627451"/>
              <a:ext cx="168359" cy="140255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肘形连接符 69"/>
            <p:cNvCxnSpPr>
              <a:stCxn id="20" idx="2"/>
              <a:endCxn id="19" idx="0"/>
            </p:cNvCxnSpPr>
            <p:nvPr/>
          </p:nvCxnSpPr>
          <p:spPr>
            <a:xfrm rot="5400000">
              <a:off x="1823616" y="1627053"/>
              <a:ext cx="168359" cy="1403351"/>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Rechteck 9"/>
            <p:cNvSpPr/>
            <p:nvPr/>
          </p:nvSpPr>
          <p:spPr bwMode="gray">
            <a:xfrm>
              <a:off x="3912624" y="3321050"/>
              <a:ext cx="1368000" cy="337968"/>
            </a:xfrm>
            <a:prstGeom prst="rect">
              <a:avLst/>
            </a:prstGeom>
            <a:solidFill>
              <a:schemeClr val="accent1"/>
            </a:solidFill>
            <a:ln w="57150">
              <a:noFill/>
              <a:miter lim="800000"/>
            </a:ln>
            <a:effectLst/>
          </p:spPr>
          <p:txBody>
            <a:bodyPr lIns="0" tIns="0" rIns="0" bIns="0" anchor="ctr"/>
            <a:lstStyle/>
            <a:p>
              <a:pPr algn="ctr">
                <a:buClr>
                  <a:srgbClr val="969696"/>
                </a:buClr>
                <a:defRPr/>
              </a:pPr>
              <a:r>
                <a:rPr lang="zh-CN" altLang="en-US" sz="1200" kern="0" noProof="1">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迷走神经刺激器</a:t>
              </a:r>
              <a:br>
                <a:rPr lang="en-US" altLang="zh-CN" sz="1200" kern="0" noProof="1">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br>
              <a:r>
                <a:rPr lang="zh-CN" altLang="en-US" sz="1200" kern="0" noProof="1">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（开环刺激，</a:t>
              </a:r>
              <a:r>
                <a:rPr lang="en-US" altLang="zh-CN" sz="1200" kern="0" noProof="1">
                  <a:solidFill>
                    <a:schemeClr val="bg1"/>
                  </a:solidFill>
                  <a:latin typeface="Arial" panose="020B0604020202090204" pitchFamily="34" charset="0"/>
                  <a:ea typeface="微软雅黑" panose="020B0503020204020204" charset="-122"/>
                  <a:cs typeface="Arial" panose="020B0604020202090204" pitchFamily="34" charset="0"/>
                  <a:sym typeface="微软雅黑" panose="020B0503020204020204" charset="-122"/>
                </a:rPr>
                <a:t>VNS</a:t>
              </a:r>
              <a:r>
                <a:rPr lang="zh-CN" altLang="en-US" sz="1200" kern="0" noProof="1">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a:t>
              </a:r>
              <a:endParaRPr lang="zh-CN" altLang="en-US" sz="1200" kern="0" noProof="1">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sp>
          <p:nvSpPr>
            <p:cNvPr id="24" name="Rechteck 7"/>
            <p:cNvSpPr/>
            <p:nvPr/>
          </p:nvSpPr>
          <p:spPr bwMode="gray">
            <a:xfrm>
              <a:off x="5241800" y="2836979"/>
              <a:ext cx="933450" cy="270000"/>
            </a:xfrm>
            <a:prstGeom prst="rect">
              <a:avLst/>
            </a:prstGeom>
            <a:solidFill>
              <a:schemeClr val="tx2">
                <a:lumMod val="20000"/>
                <a:lumOff val="80000"/>
              </a:schemeClr>
            </a:solidFill>
            <a:ln w="57150">
              <a:noFill/>
              <a:miter lim="800000"/>
            </a:ln>
            <a:effectLst/>
          </p:spPr>
          <p:txBody>
            <a:bodyPr lIns="0" tIns="0" rIns="0" bIns="0" anchor="ctr"/>
            <a:lstStyle/>
            <a:p>
              <a:pPr algn="ctr">
                <a:lnSpc>
                  <a:spcPct val="95000"/>
                </a:lnSpc>
                <a:spcAft>
                  <a:spcPts val="600"/>
                </a:spcAft>
                <a:buClr>
                  <a:srgbClr val="969696"/>
                </a:buClr>
                <a:defRPr/>
              </a:pPr>
              <a:r>
                <a:rPr lang="zh-CN" altLang="en-US" sz="120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神经调控</a:t>
              </a:r>
              <a:endParaRPr lang="zh-CN" altLang="en-US" sz="1200" kern="0" dirty="0">
                <a:solidFill>
                  <a:schemeClr val="tx2"/>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sp>
          <p:nvSpPr>
            <p:cNvPr id="25" name="文本框 24"/>
            <p:cNvSpPr txBox="1"/>
            <p:nvPr/>
          </p:nvSpPr>
          <p:spPr>
            <a:xfrm>
              <a:off x="3624570" y="3651885"/>
              <a:ext cx="1872615" cy="787794"/>
            </a:xfrm>
            <a:prstGeom prst="rect">
              <a:avLst/>
            </a:prstGeom>
            <a:noFill/>
          </p:spPr>
          <p:txBody>
            <a:bodyPr wrap="square" lIns="35100" rIns="35100">
              <a:spAutoFit/>
            </a:bodyPr>
            <a:lstStyle>
              <a:defPPr>
                <a:defRPr lang="en-US"/>
              </a:defPPr>
              <a:lvl1pPr marL="171450" indent="-171450">
                <a:lnSpc>
                  <a:spcPct val="150000"/>
                </a:lnSpc>
                <a:buClr>
                  <a:schemeClr val="tx2"/>
                </a:buClr>
                <a:buSzPct val="100000"/>
                <a:buFont typeface="Arial" panose="020B0604020202090204" pitchFamily="34" charset="0"/>
                <a:buChar char="•"/>
                <a:defRPr sz="1000" kern="0">
                  <a:solidFill>
                    <a:schemeClr val="tx2"/>
                  </a:solidFill>
                  <a:latin typeface="Arial" panose="020B0604020202090204" pitchFamily="34" charset="0"/>
                  <a:ea typeface="微软雅黑" panose="020B0503020204020204" charset="-122"/>
                  <a:cs typeface="Arial" panose="020B0604020202090204" pitchFamily="34" charset="0"/>
                </a:defRPr>
              </a:lvl1pPr>
            </a:lstStyle>
            <a:p>
              <a:pPr>
                <a:defRPr/>
              </a:pPr>
              <a:r>
                <a:rPr lang="zh-CN" altLang="en-US" sz="1050" dirty="0">
                  <a:latin typeface="微软雅黑" panose="020B0503020204020204" charset="-122"/>
                  <a:ea typeface="微软雅黑" panose="020B0503020204020204" charset="-122"/>
                  <a:sym typeface="微软雅黑" panose="020B0503020204020204" charset="-122"/>
                </a:rPr>
                <a:t>刺激迷走神经，刺激位点不准确</a:t>
              </a:r>
              <a:endParaRPr lang="en-US" altLang="zh-CN" sz="1050" dirty="0">
                <a:latin typeface="微软雅黑" panose="020B0503020204020204" charset="-122"/>
                <a:ea typeface="微软雅黑" panose="020B0503020204020204" charset="-122"/>
                <a:sym typeface="微软雅黑" panose="020B0503020204020204" charset="-122"/>
              </a:endParaRPr>
            </a:p>
            <a:p>
              <a:pPr>
                <a:defRPr/>
              </a:pPr>
              <a:r>
                <a:rPr lang="zh-CN" altLang="en-US" sz="1050" dirty="0">
                  <a:latin typeface="微软雅黑" panose="020B0503020204020204" charset="-122"/>
                  <a:ea typeface="微软雅黑" panose="020B0503020204020204" charset="-122"/>
                  <a:sym typeface="微软雅黑" panose="020B0503020204020204" charset="-122"/>
                </a:rPr>
                <a:t>开环模式，连续刺激，伴有副作用，耗电量大</a:t>
              </a:r>
              <a:endParaRPr lang="en-US" altLang="zh-CN" sz="1050" dirty="0">
                <a:latin typeface="微软雅黑" panose="020B0503020204020204" charset="-122"/>
                <a:ea typeface="微软雅黑" panose="020B0503020204020204" charset="-122"/>
                <a:sym typeface="微软雅黑" panose="020B0503020204020204" charset="-122"/>
              </a:endParaRPr>
            </a:p>
            <a:p>
              <a:pPr>
                <a:defRPr/>
              </a:pPr>
              <a:r>
                <a:rPr lang="zh-CN" altLang="en-US" sz="1050" dirty="0">
                  <a:latin typeface="微软雅黑" panose="020B0503020204020204" charset="-122"/>
                  <a:ea typeface="微软雅黑" panose="020B0503020204020204" charset="-122"/>
                  <a:sym typeface="微软雅黑" panose="020B0503020204020204" charset="-122"/>
                </a:rPr>
                <a:t>体积大，</a:t>
              </a:r>
              <a:r>
                <a:rPr lang="zh-CN" altLang="en-US" sz="1050" b="1" dirty="0">
                  <a:solidFill>
                    <a:srgbClr val="C00000"/>
                  </a:solidFill>
                  <a:latin typeface="微软雅黑" panose="020B0503020204020204" charset="-122"/>
                  <a:ea typeface="微软雅黑" panose="020B0503020204020204" charset="-122"/>
                  <a:sym typeface="微软雅黑" panose="020B0503020204020204" charset="-122"/>
                </a:rPr>
                <a:t>仅胸前植入</a:t>
              </a:r>
              <a:r>
                <a:rPr lang="zh-CN" altLang="en-US" sz="1050" dirty="0">
                  <a:latin typeface="微软雅黑" panose="020B0503020204020204" charset="-122"/>
                  <a:ea typeface="微软雅黑" panose="020B0503020204020204" charset="-122"/>
                  <a:sym typeface="微软雅黑" panose="020B0503020204020204" charset="-122"/>
                </a:rPr>
                <a:t>，不美观、易感染</a:t>
              </a:r>
              <a:endParaRPr lang="zh-CN" altLang="en-US" sz="1050" dirty="0">
                <a:latin typeface="微软雅黑" panose="020B0503020204020204" charset="-122"/>
                <a:ea typeface="微软雅黑" panose="020B0503020204020204" charset="-122"/>
                <a:sym typeface="微软雅黑" panose="020B0503020204020204" charset="-122"/>
              </a:endParaRPr>
            </a:p>
          </p:txBody>
        </p:sp>
        <p:sp>
          <p:nvSpPr>
            <p:cNvPr id="26" name="文本框 25"/>
            <p:cNvSpPr txBox="1"/>
            <p:nvPr/>
          </p:nvSpPr>
          <p:spPr>
            <a:xfrm>
              <a:off x="5645775" y="3651885"/>
              <a:ext cx="2647315" cy="767574"/>
            </a:xfrm>
            <a:prstGeom prst="rect">
              <a:avLst/>
            </a:prstGeom>
            <a:noFill/>
          </p:spPr>
          <p:txBody>
            <a:bodyPr wrap="square" lIns="35100" rIns="35100">
              <a:spAutoFit/>
            </a:bodyPr>
            <a:lstStyle>
              <a:defPPr>
                <a:defRPr lang="en-US"/>
              </a:defPPr>
              <a:lvl1pPr marL="171450" indent="-171450">
                <a:lnSpc>
                  <a:spcPct val="150000"/>
                </a:lnSpc>
                <a:buClr>
                  <a:schemeClr val="accent5"/>
                </a:buClr>
                <a:buSzPct val="100000"/>
                <a:buFont typeface="Arial" panose="020B0604020202090204" pitchFamily="34" charset="0"/>
                <a:buChar char="•"/>
                <a:defRPr sz="1000" kern="0">
                  <a:solidFill>
                    <a:schemeClr val="accent5"/>
                  </a:solidFill>
                  <a:latin typeface="Arial" panose="020B0604020202090204" pitchFamily="34" charset="0"/>
                  <a:ea typeface="微软雅黑" panose="020B0503020204020204" charset="-122"/>
                  <a:cs typeface="Arial" panose="020B0604020202090204" pitchFamily="34" charset="0"/>
                </a:defRPr>
              </a:lvl1pPr>
            </a:lstStyle>
            <a:p>
              <a:pPr>
                <a:buClr>
                  <a:srgbClr val="031F6D"/>
                </a:buClr>
                <a:defRPr/>
              </a:pPr>
              <a:r>
                <a:rPr lang="zh-CN" altLang="en-US" sz="1050" dirty="0">
                  <a:solidFill>
                    <a:srgbClr val="031F6D"/>
                  </a:solidFill>
                  <a:latin typeface="微软雅黑" panose="020B0503020204020204" charset="-122"/>
                  <a:ea typeface="微软雅黑" panose="020B0503020204020204" charset="-122"/>
                  <a:sym typeface="微软雅黑" panose="020B0503020204020204" charset="-122"/>
                </a:rPr>
                <a:t>直接刺激病灶点，覆盖皮层和深部多灶区</a:t>
              </a:r>
              <a:endParaRPr lang="en-US" altLang="zh-CN" sz="1050" dirty="0">
                <a:solidFill>
                  <a:srgbClr val="031F6D"/>
                </a:solidFill>
                <a:latin typeface="微软雅黑" panose="020B0503020204020204" charset="-122"/>
                <a:ea typeface="微软雅黑" panose="020B0503020204020204" charset="-122"/>
                <a:sym typeface="微软雅黑" panose="020B0503020204020204" charset="-122"/>
              </a:endParaRPr>
            </a:p>
            <a:p>
              <a:pPr>
                <a:buClr>
                  <a:srgbClr val="031F6D"/>
                </a:buClr>
                <a:defRPr/>
              </a:pPr>
              <a:r>
                <a:rPr lang="zh-CN" altLang="en-US" sz="1050" dirty="0">
                  <a:solidFill>
                    <a:schemeClr val="tx2"/>
                  </a:solidFill>
                  <a:latin typeface="微软雅黑" panose="020B0503020204020204" charset="-122"/>
                  <a:sym typeface="微软雅黑" panose="020B0503020204020204" charset="-122"/>
                </a:rPr>
                <a:t>闭环模式，减少不必要刺激</a:t>
              </a:r>
              <a:endParaRPr lang="en-US" altLang="zh-CN" sz="1050" dirty="0">
                <a:solidFill>
                  <a:schemeClr val="tx2"/>
                </a:solidFill>
                <a:latin typeface="微软雅黑" panose="020B0503020204020204" charset="-122"/>
                <a:sym typeface="微软雅黑" panose="020B0503020204020204" charset="-122"/>
              </a:endParaRPr>
            </a:p>
            <a:p>
              <a:pPr>
                <a:buClr>
                  <a:srgbClr val="031F6D"/>
                </a:buClr>
                <a:defRPr/>
              </a:pPr>
              <a:r>
                <a:rPr lang="zh-CN" altLang="en-US" sz="1050" dirty="0">
                  <a:solidFill>
                    <a:schemeClr val="tx2"/>
                  </a:solidFill>
                  <a:latin typeface="微软雅黑" panose="020B0503020204020204" charset="-122"/>
                  <a:sym typeface="微软雅黑" panose="020B0503020204020204" charset="-122"/>
                </a:rPr>
                <a:t>体积小，颅骨植入，无导线断裂等风险</a:t>
              </a:r>
              <a:endParaRPr lang="en-US" altLang="zh-CN" sz="1050" dirty="0">
                <a:solidFill>
                  <a:schemeClr val="tx2"/>
                </a:solidFill>
                <a:latin typeface="微软雅黑" panose="020B0503020204020204" charset="-122"/>
                <a:sym typeface="微软雅黑" panose="020B0503020204020204" charset="-122"/>
              </a:endParaRPr>
            </a:p>
            <a:p>
              <a:pPr>
                <a:buClr>
                  <a:srgbClr val="031F6D"/>
                </a:buClr>
                <a:defRPr/>
              </a:pPr>
              <a:r>
                <a:rPr lang="zh-CN" altLang="en-US" sz="1050" dirty="0">
                  <a:solidFill>
                    <a:srgbClr val="031F6D"/>
                  </a:solidFill>
                  <a:latin typeface="微软雅黑" panose="020B0503020204020204" charset="-122"/>
                  <a:ea typeface="微软雅黑" panose="020B0503020204020204" charset="-122"/>
                  <a:sym typeface="微软雅黑" panose="020B0503020204020204" charset="-122"/>
                </a:rPr>
                <a:t>长期颅内脑电数据产出，用于治疗优化和科研</a:t>
              </a:r>
              <a:endParaRPr lang="zh-CN" altLang="en-US" sz="1050" dirty="0">
                <a:solidFill>
                  <a:srgbClr val="031F6D"/>
                </a:solidFill>
                <a:latin typeface="微软雅黑" panose="020B0503020204020204" charset="-122"/>
                <a:ea typeface="微软雅黑" panose="020B0503020204020204" charset="-122"/>
                <a:sym typeface="微软雅黑" panose="020B0503020204020204" charset="-122"/>
              </a:endParaRPr>
            </a:p>
          </p:txBody>
        </p:sp>
        <p:sp>
          <p:nvSpPr>
            <p:cNvPr id="27" name="Rechteck 9"/>
            <p:cNvSpPr/>
            <p:nvPr/>
          </p:nvSpPr>
          <p:spPr bwMode="gray">
            <a:xfrm>
              <a:off x="5690710" y="3321050"/>
              <a:ext cx="1368000" cy="337968"/>
            </a:xfrm>
            <a:prstGeom prst="rect">
              <a:avLst/>
            </a:prstGeom>
            <a:solidFill>
              <a:schemeClr val="accent6"/>
            </a:solidFill>
            <a:ln w="57150">
              <a:noFill/>
              <a:miter lim="800000"/>
            </a:ln>
            <a:effectLst/>
          </p:spPr>
          <p:txBody>
            <a:bodyPr lIns="0" tIns="0" rIns="0" bIns="0" anchor="ctr"/>
            <a:lstStyle/>
            <a:p>
              <a:pPr algn="ctr">
                <a:buClr>
                  <a:srgbClr val="969696"/>
                </a:buClr>
                <a:defRPr/>
              </a:pPr>
              <a:r>
                <a:rPr lang="zh-CN" altLang="en-US" sz="1200" b="1" kern="0" dirty="0">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反应性神经刺激器</a:t>
              </a:r>
              <a:br>
                <a:rPr lang="en-US" altLang="zh-CN" sz="1200" b="1" kern="0" dirty="0">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br>
              <a:r>
                <a:rPr lang="zh-CN" altLang="en-US" sz="1200" b="1" kern="0" dirty="0">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（闭环刺激，</a:t>
              </a:r>
              <a:r>
                <a:rPr lang="en-US" altLang="zh-CN" sz="1200" b="1" kern="0" dirty="0">
                  <a:solidFill>
                    <a:schemeClr val="bg1"/>
                  </a:solidFill>
                  <a:latin typeface="Arial" panose="020B0604020202090204" pitchFamily="34" charset="0"/>
                  <a:ea typeface="微软雅黑" panose="020B0503020204020204" charset="-122"/>
                  <a:cs typeface="Arial" panose="020B0604020202090204" pitchFamily="34" charset="0"/>
                  <a:sym typeface="微软雅黑" panose="020B0503020204020204" charset="-122"/>
                </a:rPr>
                <a:t>RNS</a:t>
              </a:r>
              <a:r>
                <a:rPr lang="zh-CN" altLang="en-US" sz="1200" b="1" kern="0" dirty="0">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a:t>
              </a:r>
              <a:endParaRPr lang="zh-CN" altLang="en-US" sz="1200" b="1" kern="0" noProof="1">
                <a:solidFill>
                  <a:schemeClr val="bg1"/>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cxnSp>
          <p:nvCxnSpPr>
            <p:cNvPr id="28" name="连接符: 肘形 55"/>
            <p:cNvCxnSpPr>
              <a:stCxn id="24" idx="2"/>
              <a:endCxn id="23" idx="0"/>
            </p:cNvCxnSpPr>
            <p:nvPr/>
          </p:nvCxnSpPr>
          <p:spPr>
            <a:xfrm rot="5400000">
              <a:off x="5045540" y="2658064"/>
              <a:ext cx="214071" cy="1111901"/>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56"/>
            <p:cNvCxnSpPr>
              <a:stCxn id="24" idx="2"/>
              <a:endCxn id="27" idx="0"/>
            </p:cNvCxnSpPr>
            <p:nvPr/>
          </p:nvCxnSpPr>
          <p:spPr>
            <a:xfrm rot="16200000" flipH="1">
              <a:off x="5934582" y="2880921"/>
              <a:ext cx="214071" cy="666185"/>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278765" y="768303"/>
              <a:ext cx="4365166" cy="1002862"/>
            </a:xfrm>
            <a:prstGeom prst="rect">
              <a:avLst/>
            </a:prstGeom>
            <a:noFill/>
          </p:spPr>
          <p:txBody>
            <a:bodyPr wrap="square" lIns="0" tIns="0" rIns="0" bIns="0" rtlCol="0">
              <a:noAutofit/>
            </a:bodyPr>
            <a:lstStyle/>
            <a:p>
              <a:pPr algn="l">
                <a:lnSpc>
                  <a:spcPct val="150000"/>
                </a:lnSpc>
                <a:buClr>
                  <a:srgbClr val="193983"/>
                </a:buClr>
                <a:buSzTx/>
              </a:pPr>
              <a:r>
                <a:rPr lang="zh-CN" altLang="en-US" sz="16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癫痫</a:t>
              </a: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是一种由多种病因引起的慢性脑部疾病，以脑神经元过度放电导致反复性、发作性和短暂性的中枢神经系统功能失常为特征。</a:t>
              </a:r>
              <a:endParaRPr lang="en-US" altLang="zh-CN"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algn="l">
                <a:lnSpc>
                  <a:spcPct val="150000"/>
                </a:lnSpc>
                <a:buClr>
                  <a:srgbClr val="193983"/>
                </a:buClr>
                <a:buSzTx/>
              </a:pPr>
              <a:r>
                <a:rPr lang="zh-TW"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癫痫是</a:t>
              </a:r>
              <a:r>
                <a:rPr lang="zh-CN" altLang="en-US" sz="16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全世界发病率最高</a:t>
              </a:r>
              <a:r>
                <a:rPr lang="zh-TW"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的神经系统</a:t>
              </a: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疾病</a:t>
              </a:r>
              <a:r>
                <a:rPr lang="zh-TW"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之一</a:t>
              </a: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zh-TW"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仅次于头痛</a:t>
              </a: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endParaRPr lang="zh-CN" altLang="en-US" sz="1600" kern="25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grpSp>
          <p:nvGrpSpPr>
            <p:cNvPr id="31" name="组合 30"/>
            <p:cNvGrpSpPr/>
            <p:nvPr/>
          </p:nvGrpSpPr>
          <p:grpSpPr>
            <a:xfrm>
              <a:off x="4931663" y="646229"/>
              <a:ext cx="4075537" cy="801921"/>
              <a:chOff x="6441110" y="2627766"/>
              <a:chExt cx="5169746" cy="1154798"/>
            </a:xfrm>
          </p:grpSpPr>
          <p:sp>
            <p:nvSpPr>
              <p:cNvPr id="32" name="Rechteck 7"/>
              <p:cNvSpPr/>
              <p:nvPr/>
            </p:nvSpPr>
            <p:spPr>
              <a:xfrm>
                <a:off x="6441110" y="2627766"/>
                <a:ext cx="5169746" cy="1011767"/>
              </a:xfrm>
              <a:prstGeom prst="roundRect">
                <a:avLst/>
              </a:prstGeom>
              <a:solidFill>
                <a:schemeClr val="accent1"/>
              </a:solidFill>
              <a:ln w="12700" cap="flat" cmpd="sng" algn="ctr">
                <a:noFill/>
                <a:prstDash val="solid"/>
                <a:miter lim="800000"/>
              </a:ln>
              <a:effectLst/>
            </p:spPr>
            <p:txBody>
              <a:bodyPr rtlCol="0" anchor="ctr"/>
              <a:lstStyle/>
              <a:p>
                <a:pPr algn="ctr"/>
                <a:endParaRPr lang="en-US" altLang="zh-CN" sz="1200" b="1" kern="0" dirty="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7839624" y="2748394"/>
                <a:ext cx="1003968" cy="273502"/>
              </a:xfrm>
              <a:prstGeom prst="rect">
                <a:avLst/>
              </a:prstGeom>
              <a:noFill/>
            </p:spPr>
            <p:txBody>
              <a:bodyPr wrap="none" lIns="0" tIns="0" rIns="0" bIns="0" rtlCol="0">
                <a:noAutofit/>
              </a:bodyPr>
              <a:lstStyle/>
              <a:p>
                <a:pPr algn="ctr">
                  <a:defRPr/>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1000</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万</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4" name="文本框 33"/>
              <p:cNvSpPr txBox="1"/>
              <p:nvPr/>
            </p:nvSpPr>
            <p:spPr>
              <a:xfrm>
                <a:off x="9146996" y="2767325"/>
                <a:ext cx="1003968" cy="273502"/>
              </a:xfrm>
              <a:prstGeom prst="rect">
                <a:avLst/>
              </a:prstGeom>
              <a:noFill/>
            </p:spPr>
            <p:txBody>
              <a:bodyPr wrap="none" lIns="0" tIns="0" rIns="0" bIns="0" rtlCol="0">
                <a:noAutofit/>
              </a:bodyPr>
              <a:lstStyle/>
              <a:p>
                <a:pPr algn="ctr">
                  <a:buClrTx/>
                  <a:buSzTx/>
                  <a:buFontTx/>
                  <a:defRPr/>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70%</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5" name="文本框 34"/>
              <p:cNvSpPr txBox="1"/>
              <p:nvPr/>
            </p:nvSpPr>
            <p:spPr>
              <a:xfrm>
                <a:off x="10416007" y="2793189"/>
                <a:ext cx="1003968" cy="273502"/>
              </a:xfrm>
              <a:prstGeom prst="rect">
                <a:avLst/>
              </a:prstGeom>
              <a:noFill/>
            </p:spPr>
            <p:txBody>
              <a:bodyPr wrap="none" lIns="0" tIns="0" rIns="0" bIns="0" rtlCol="0">
                <a:noAutofit/>
              </a:bodyPr>
              <a:lstStyle/>
              <a:p>
                <a:pPr algn="ctr">
                  <a:defRPr/>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30%</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6" name="矩形: 圆角 116"/>
              <p:cNvSpPr/>
              <p:nvPr/>
            </p:nvSpPr>
            <p:spPr>
              <a:xfrm>
                <a:off x="6516260" y="3200229"/>
                <a:ext cx="1186936" cy="582334"/>
              </a:xfrm>
              <a:prstGeom prst="roundRect">
                <a:avLst/>
              </a:prstGeom>
              <a:solidFill>
                <a:schemeClr val="bg1"/>
              </a:solidFill>
              <a:ln>
                <a:noFill/>
              </a:ln>
              <a:effectLst>
                <a:outerShdw blurRad="63500" sx="101000" sy="101000" algn="ctr" rotWithShape="0">
                  <a:schemeClr val="tx1">
                    <a:lumMod val="95000"/>
                    <a:lumOff val="5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7" name="矩形: 圆角 117"/>
              <p:cNvSpPr/>
              <p:nvPr/>
            </p:nvSpPr>
            <p:spPr>
              <a:xfrm>
                <a:off x="7785506" y="3200229"/>
                <a:ext cx="1186936" cy="582334"/>
              </a:xfrm>
              <a:prstGeom prst="roundRect">
                <a:avLst/>
              </a:prstGeom>
              <a:solidFill>
                <a:schemeClr val="bg1"/>
              </a:solidFill>
              <a:ln>
                <a:noFill/>
              </a:ln>
              <a:effectLst>
                <a:outerShdw blurRad="63500" sx="101000" sy="101000" algn="ctr" rotWithShape="0">
                  <a:schemeClr val="tx1">
                    <a:lumMod val="95000"/>
                    <a:lumOff val="5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8" name="矩形: 圆角 118"/>
              <p:cNvSpPr/>
              <p:nvPr/>
            </p:nvSpPr>
            <p:spPr>
              <a:xfrm>
                <a:off x="9055277" y="3200229"/>
                <a:ext cx="1186936" cy="582334"/>
              </a:xfrm>
              <a:prstGeom prst="roundRect">
                <a:avLst/>
              </a:prstGeom>
              <a:solidFill>
                <a:schemeClr val="bg1"/>
              </a:solidFill>
              <a:ln>
                <a:noFill/>
              </a:ln>
              <a:effectLst>
                <a:outerShdw blurRad="63500" sx="101000" sy="101000" algn="ctr" rotWithShape="0">
                  <a:schemeClr val="tx1">
                    <a:lumMod val="95000"/>
                    <a:lumOff val="5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9" name="文本框 38"/>
              <p:cNvSpPr txBox="1"/>
              <p:nvPr/>
            </p:nvSpPr>
            <p:spPr>
              <a:xfrm>
                <a:off x="6516259" y="3200230"/>
                <a:ext cx="1178025" cy="582334"/>
              </a:xfrm>
              <a:prstGeom prst="rect">
                <a:avLst/>
              </a:prstGeom>
              <a:noFill/>
            </p:spPr>
            <p:txBody>
              <a:bodyPr wrap="square" anchor="ctr" anchorCtr="1">
                <a:noAutofit/>
              </a:bodyPr>
              <a:lstStyle/>
              <a:p>
                <a:pPr algn="ctr">
                  <a:lnSpc>
                    <a:spcPct val="100000"/>
                  </a:lnSpc>
                  <a:buClrTx/>
                  <a:buSzTx/>
                  <a:buFontTx/>
                  <a:defRPr/>
                </a:pPr>
                <a:r>
                  <a:rPr lang="zh-CN" altLang="en-US" sz="1200"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全球</a:t>
                </a:r>
                <a:endParaRPr lang="en-US" altLang="zh-CN" sz="1200"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0" name="文本框 39"/>
              <p:cNvSpPr txBox="1"/>
              <p:nvPr/>
            </p:nvSpPr>
            <p:spPr>
              <a:xfrm>
                <a:off x="7785506" y="3200231"/>
                <a:ext cx="1186936" cy="582333"/>
              </a:xfrm>
              <a:prstGeom prst="rect">
                <a:avLst/>
              </a:prstGeom>
              <a:noFill/>
            </p:spPr>
            <p:txBody>
              <a:bodyPr wrap="square" anchor="ctr" anchorCtr="1">
                <a:noAutofit/>
              </a:bodyPr>
              <a:lstStyle/>
              <a:p>
                <a:pPr algn="ctr">
                  <a:lnSpc>
                    <a:spcPct val="100000"/>
                  </a:lnSpc>
                  <a:buClrTx/>
                  <a:buSzTx/>
                  <a:buFontTx/>
                  <a:defRPr/>
                </a:pPr>
                <a:r>
                  <a:rPr lang="zh-CN" altLang="en-US" sz="1200" dirty="0">
                    <a:solidFill>
                      <a:srgbClr val="000000"/>
                    </a:solidFill>
                    <a:latin typeface="微软雅黑" panose="020B0503020204020204" charset="-122"/>
                    <a:ea typeface="微软雅黑" panose="020B0503020204020204" charset="-122"/>
                    <a:cs typeface="Arial" panose="020B0604020202090204" pitchFamily="34" charset="0"/>
                    <a:sym typeface="微软雅黑" panose="020B0503020204020204" charset="-122"/>
                  </a:rPr>
                  <a:t>中国</a:t>
                </a:r>
                <a:endParaRPr lang="en-US" altLang="zh-CN" sz="1200" dirty="0">
                  <a:solidFill>
                    <a:srgbClr val="000000"/>
                  </a:solidFill>
                  <a:latin typeface="微软雅黑" panose="020B0503020204020204" charset="-122"/>
                  <a:ea typeface="微软雅黑" panose="020B0503020204020204" charset="-122"/>
                  <a:cs typeface="Arial" panose="020B0604020202090204" pitchFamily="34" charset="0"/>
                  <a:sym typeface="微软雅黑" panose="020B0503020204020204" charset="-122"/>
                </a:endParaRPr>
              </a:p>
            </p:txBody>
          </p:sp>
          <p:sp>
            <p:nvSpPr>
              <p:cNvPr id="41" name="文本框 40"/>
              <p:cNvSpPr txBox="1"/>
              <p:nvPr/>
            </p:nvSpPr>
            <p:spPr>
              <a:xfrm>
                <a:off x="9054752" y="3200231"/>
                <a:ext cx="1187461" cy="582333"/>
              </a:xfrm>
              <a:prstGeom prst="rect">
                <a:avLst/>
              </a:prstGeom>
              <a:noFill/>
            </p:spPr>
            <p:txBody>
              <a:bodyPr wrap="square" anchor="ctr" anchorCtr="1">
                <a:noAutofit/>
              </a:bodyPr>
              <a:lstStyle/>
              <a:p>
                <a:pPr algn="ctr" fontAlgn="auto">
                  <a:defRPr/>
                </a:pPr>
                <a:r>
                  <a:rPr lang="zh-CN" altLang="en-US" sz="1200"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可药物控制</a:t>
                </a:r>
                <a:endParaRPr lang="en-US" altLang="zh-CN" sz="1200"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2" name="矩形: 圆角 122"/>
              <p:cNvSpPr/>
              <p:nvPr/>
            </p:nvSpPr>
            <p:spPr>
              <a:xfrm>
                <a:off x="10324523" y="3200229"/>
                <a:ext cx="1186936" cy="582334"/>
              </a:xfrm>
              <a:prstGeom prst="roundRect">
                <a:avLst/>
              </a:prstGeom>
              <a:solidFill>
                <a:schemeClr val="bg1"/>
              </a:solidFill>
              <a:ln>
                <a:noFill/>
              </a:ln>
              <a:effectLst>
                <a:outerShdw blurRad="63500" sx="101000" sy="101000" algn="ctr" rotWithShape="0">
                  <a:schemeClr val="tx1">
                    <a:lumMod val="95000"/>
                    <a:lumOff val="5000"/>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3" name="直接连接符 123"/>
              <p:cNvCxnSpPr/>
              <p:nvPr/>
            </p:nvCxnSpPr>
            <p:spPr>
              <a:xfrm>
                <a:off x="7747235" y="2771171"/>
                <a:ext cx="0" cy="26723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4" name="直接连接符 124"/>
              <p:cNvCxnSpPr/>
              <p:nvPr/>
            </p:nvCxnSpPr>
            <p:spPr>
              <a:xfrm>
                <a:off x="9024869" y="2774020"/>
                <a:ext cx="0" cy="26723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5" name="直接连接符 125"/>
              <p:cNvCxnSpPr/>
              <p:nvPr/>
            </p:nvCxnSpPr>
            <p:spPr>
              <a:xfrm>
                <a:off x="10286251" y="2787695"/>
                <a:ext cx="0" cy="267235"/>
              </a:xfrm>
              <a:prstGeom prst="line">
                <a:avLst/>
              </a:prstGeom>
              <a:ln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6" name="文本框 45"/>
              <p:cNvSpPr txBox="1"/>
              <p:nvPr>
                <p:custDataLst>
                  <p:tags r:id="rId1"/>
                </p:custDataLst>
              </p:nvPr>
            </p:nvSpPr>
            <p:spPr>
              <a:xfrm>
                <a:off x="6626823" y="2745324"/>
                <a:ext cx="1003968" cy="250974"/>
              </a:xfrm>
              <a:prstGeom prst="rect">
                <a:avLst/>
              </a:prstGeom>
              <a:noFill/>
            </p:spPr>
            <p:txBody>
              <a:bodyPr wrap="none" lIns="0" tIns="0" rIns="0" bIns="0" rtlCol="0">
                <a:noAutofit/>
              </a:bodyPr>
              <a:lstStyle/>
              <a:p>
                <a:pPr algn="ctr">
                  <a:defRPr/>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5000</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万</a:t>
                </a:r>
                <a:r>
                  <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文本框 46"/>
              <p:cNvSpPr txBox="1"/>
              <p:nvPr/>
            </p:nvSpPr>
            <p:spPr>
              <a:xfrm>
                <a:off x="10324523" y="3200231"/>
                <a:ext cx="1186936" cy="582332"/>
              </a:xfrm>
              <a:prstGeom prst="rect">
                <a:avLst/>
              </a:prstGeom>
              <a:noFill/>
            </p:spPr>
            <p:txBody>
              <a:bodyPr wrap="square" anchor="ctr" anchorCtr="1">
                <a:noAutofit/>
              </a:bodyPr>
              <a:lstStyle/>
              <a:p>
                <a:pPr algn="ctr" fontAlgn="auto">
                  <a:defRPr/>
                </a:pPr>
                <a:r>
                  <a:rPr lang="zh-CN" altLang="en-US" sz="1200"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药物难治性</a:t>
                </a:r>
                <a:endParaRPr lang="en-US" altLang="zh-CN" sz="1200" dirty="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48" name="文本框 47"/>
            <p:cNvSpPr txBox="1"/>
            <p:nvPr/>
          </p:nvSpPr>
          <p:spPr>
            <a:xfrm>
              <a:off x="4990906" y="1482648"/>
              <a:ext cx="1770802" cy="708793"/>
            </a:xfrm>
            <a:prstGeom prst="rect">
              <a:avLst/>
            </a:prstGeom>
            <a:noFill/>
          </p:spPr>
          <p:txBody>
            <a:bodyPr wrap="square">
              <a:spAutoFit/>
            </a:bodyPr>
            <a:lstStyle/>
            <a:p>
              <a:pPr marL="171450" indent="-171450">
                <a:buFont typeface="Arial" panose="020B0604020202090204" pitchFamily="34" charset="0"/>
                <a:buChar char="•"/>
              </a:pPr>
              <a:r>
                <a:rPr lang="zh-CN" altLang="en-US" sz="1400" dirty="0">
                  <a:solidFill>
                    <a:schemeClr val="tx1"/>
                  </a:solidFill>
                  <a:latin typeface="彩虹粗仿宋" panose="03000509000000000000" pitchFamily="65" charset="-122"/>
                  <a:ea typeface="彩虹粗仿宋" panose="03000509000000000000" pitchFamily="65" charset="-122"/>
                </a:rPr>
                <a:t>诊疗链路清晰</a:t>
              </a:r>
              <a:endParaRPr lang="zh-CN" altLang="en-US" sz="1400" dirty="0">
                <a:solidFill>
                  <a:schemeClr val="tx1"/>
                </a:solidFill>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dirty="0">
                  <a:solidFill>
                    <a:schemeClr val="tx1"/>
                  </a:solidFill>
                  <a:latin typeface="彩虹粗仿宋" panose="03000509000000000000" pitchFamily="65" charset="-122"/>
                  <a:ea typeface="彩虹粗仿宋" panose="03000509000000000000" pitchFamily="65" charset="-122"/>
                </a:rPr>
                <a:t>疾病负担较重</a:t>
              </a:r>
              <a:endParaRPr lang="zh-CN" altLang="en-US" sz="1400" dirty="0">
                <a:solidFill>
                  <a:schemeClr val="tx1"/>
                </a:solidFill>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dirty="0">
                  <a:solidFill>
                    <a:schemeClr val="tx1"/>
                  </a:solidFill>
                  <a:latin typeface="彩虹粗仿宋" panose="03000509000000000000" pitchFamily="65" charset="-122"/>
                  <a:ea typeface="彩虹粗仿宋" panose="03000509000000000000" pitchFamily="65" charset="-122"/>
                </a:rPr>
                <a:t>传统治疗手段效果有限</a:t>
              </a:r>
              <a:endParaRPr lang="zh-CN" altLang="en-US" sz="1400" dirty="0">
                <a:solidFill>
                  <a:schemeClr val="tx1"/>
                </a:solidFill>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dirty="0">
                  <a:solidFill>
                    <a:schemeClr val="tx1"/>
                  </a:solidFill>
                  <a:latin typeface="彩虹粗仿宋" panose="03000509000000000000" pitchFamily="65" charset="-122"/>
                  <a:ea typeface="彩虹粗仿宋" panose="03000509000000000000" pitchFamily="65" charset="-122"/>
                </a:rPr>
                <a:t>创新技术初步得到验证</a:t>
              </a:r>
              <a:endParaRPr lang="zh-CN" altLang="en-US" sz="1400" dirty="0">
                <a:solidFill>
                  <a:schemeClr val="tx1"/>
                </a:solidFill>
                <a:latin typeface="彩虹粗仿宋" panose="03000509000000000000" pitchFamily="65" charset="-122"/>
                <a:ea typeface="彩虹粗仿宋" panose="03000509000000000000" pitchFamily="65" charset="-122"/>
              </a:endParaRPr>
            </a:p>
          </p:txBody>
        </p:sp>
        <p:sp>
          <p:nvSpPr>
            <p:cNvPr id="49" name="文本框 48"/>
            <p:cNvSpPr txBox="1"/>
            <p:nvPr/>
          </p:nvSpPr>
          <p:spPr>
            <a:xfrm>
              <a:off x="6968554" y="1486447"/>
              <a:ext cx="2037764" cy="708793"/>
            </a:xfrm>
            <a:prstGeom prst="rect">
              <a:avLst/>
            </a:prstGeom>
            <a:noFill/>
          </p:spPr>
          <p:txBody>
            <a:bodyPr wrap="square">
              <a:spAutoFit/>
            </a:bodyPr>
            <a:lstStyle/>
            <a:p>
              <a:pPr marL="171450" indent="-171450">
                <a:buFont typeface="Arial" panose="020B0604020202090204" pitchFamily="34" charset="0"/>
                <a:buChar char="•"/>
              </a:pPr>
              <a:r>
                <a:rPr lang="zh-CN" altLang="en-US" sz="1400" dirty="0">
                  <a:solidFill>
                    <a:schemeClr val="tx1"/>
                  </a:solidFill>
                  <a:latin typeface="彩虹粗仿宋" panose="03000509000000000000" pitchFamily="65" charset="-122"/>
                  <a:ea typeface="彩虹粗仿宋" panose="03000509000000000000" pitchFamily="65" charset="-122"/>
                </a:rPr>
                <a:t>市场推广难度小</a:t>
              </a:r>
              <a:endParaRPr lang="en-US" altLang="zh-CN" sz="1400" dirty="0">
                <a:solidFill>
                  <a:schemeClr val="tx1"/>
                </a:solidFill>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dirty="0">
                  <a:solidFill>
                    <a:schemeClr val="tx1"/>
                  </a:solidFill>
                  <a:latin typeface="彩虹粗仿宋" panose="03000509000000000000" pitchFamily="65" charset="-122"/>
                  <a:ea typeface="彩虹粗仿宋" panose="03000509000000000000" pitchFamily="65" charset="-122"/>
                </a:rPr>
                <a:t>患者及家属实际治疗意愿强</a:t>
              </a:r>
              <a:endParaRPr lang="en-US" altLang="zh-CN" sz="1400" dirty="0">
                <a:solidFill>
                  <a:schemeClr val="tx1"/>
                </a:solidFill>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dirty="0">
                  <a:solidFill>
                    <a:schemeClr val="tx1"/>
                  </a:solidFill>
                  <a:latin typeface="彩虹粗仿宋" panose="03000509000000000000" pitchFamily="65" charset="-122"/>
                  <a:ea typeface="彩虹粗仿宋" panose="03000509000000000000" pitchFamily="65" charset="-122"/>
                </a:rPr>
                <a:t>存量患者基数巨大</a:t>
              </a:r>
              <a:endParaRPr lang="en-US" altLang="zh-CN" sz="1400" dirty="0">
                <a:solidFill>
                  <a:schemeClr val="tx1"/>
                </a:solidFill>
                <a:latin typeface="彩虹粗仿宋" panose="03000509000000000000" pitchFamily="65" charset="-122"/>
                <a:ea typeface="彩虹粗仿宋" panose="03000509000000000000" pitchFamily="65" charset="-122"/>
              </a:endParaRPr>
            </a:p>
            <a:p>
              <a:pPr marL="171450" indent="-171450">
                <a:buFont typeface="Arial" panose="020B0604020202090204" pitchFamily="34" charset="0"/>
                <a:buChar char="•"/>
              </a:pPr>
              <a:r>
                <a:rPr lang="zh-CN" altLang="en-US" sz="1400" dirty="0">
                  <a:solidFill>
                    <a:schemeClr val="tx1"/>
                  </a:solidFill>
                  <a:latin typeface="彩虹粗仿宋" panose="03000509000000000000" pitchFamily="65" charset="-122"/>
                  <a:ea typeface="彩虹粗仿宋" panose="03000509000000000000" pitchFamily="65" charset="-122"/>
                </a:rPr>
                <a:t>科学风险小，竞争格局良好</a:t>
              </a:r>
              <a:endParaRPr lang="zh-CN" altLang="en-US" sz="1400" dirty="0">
                <a:solidFill>
                  <a:schemeClr val="tx1"/>
                </a:solidFill>
                <a:latin typeface="彩虹粗仿宋" panose="03000509000000000000" pitchFamily="65" charset="-122"/>
                <a:ea typeface="彩虹粗仿宋" panose="03000509000000000000" pitchFamily="65" charset="-122"/>
              </a:endParaRPr>
            </a:p>
          </p:txBody>
        </p:sp>
        <p:sp>
          <p:nvSpPr>
            <p:cNvPr id="50" name="箭头: 右 13"/>
            <p:cNvSpPr/>
            <p:nvPr/>
          </p:nvSpPr>
          <p:spPr>
            <a:xfrm>
              <a:off x="6794117" y="1686107"/>
              <a:ext cx="142027" cy="338148"/>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a:xfrm>
            <a:off x="8610599" y="6271993"/>
            <a:ext cx="2909888" cy="206381"/>
          </a:xfrm>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sym typeface="+mn-ea"/>
              </a:rPr>
              <a:t>管线数据</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1</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 LITT</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SEEG——</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标的公司持续经营的基础</a:t>
            </a:r>
            <a:endPar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7" name="表格 16"/>
          <p:cNvGraphicFramePr>
            <a:graphicFrameLocks noGrp="1"/>
          </p:cNvGraphicFramePr>
          <p:nvPr/>
        </p:nvGraphicFramePr>
        <p:xfrm>
          <a:off x="3742055" y="1512365"/>
          <a:ext cx="8235797" cy="3114680"/>
        </p:xfrm>
        <a:graphic>
          <a:graphicData uri="http://schemas.openxmlformats.org/drawingml/2006/table">
            <a:tbl>
              <a:tblPr>
                <a:tableStyleId>{5C22544A-7EE6-4342-B048-85BDC9FD1C3A}</a:tableStyleId>
              </a:tblPr>
              <a:tblGrid>
                <a:gridCol w="899208"/>
                <a:gridCol w="1338384"/>
                <a:gridCol w="1185762"/>
                <a:gridCol w="1209241"/>
                <a:gridCol w="1080100"/>
                <a:gridCol w="1279682"/>
                <a:gridCol w="1243420"/>
              </a:tblGrid>
              <a:tr h="439632">
                <a:tc gridSpan="2">
                  <a:txBody>
                    <a:bodyPr/>
                    <a:lstStyle/>
                    <a:p>
                      <a:pPr algn="ctr" fontAlgn="ctr">
                        <a:buNone/>
                      </a:pPr>
                      <a:r>
                        <a:rPr lang="zh-CN" sz="1200" b="1" u="none" strike="noStrike" dirty="0">
                          <a:solidFill>
                            <a:schemeClr val="bg1"/>
                          </a:solidFill>
                          <a:effectLst/>
                          <a:latin typeface="彩虹粗仿宋" panose="03000509000000000000" pitchFamily="65" charset="-122"/>
                          <a:ea typeface="彩虹粗仿宋" panose="03000509000000000000" pitchFamily="65" charset="-122"/>
                        </a:rPr>
                        <a:t>公司</a:t>
                      </a:r>
                      <a:endParaRPr lang="zh-CN" sz="1200" b="1" i="0" u="none" strike="noStrike" dirty="0">
                        <a:solidFill>
                          <a:schemeClr val="bg1"/>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accent1"/>
                    </a:solidFill>
                  </a:tcPr>
                </a:tc>
                <a:tc hMerge="1">
                  <a:tcPr/>
                </a:tc>
                <a:tc>
                  <a:txBody>
                    <a:bodyPr/>
                    <a:lstStyle/>
                    <a:p>
                      <a:pPr algn="ctr" fontAlgn="ctr">
                        <a:buNone/>
                      </a:pPr>
                      <a:r>
                        <a:rPr lang="zh-CN" sz="1200" b="1" u="none" strike="noStrike" dirty="0">
                          <a:solidFill>
                            <a:schemeClr val="bg1"/>
                          </a:solidFill>
                          <a:effectLst/>
                          <a:latin typeface="彩虹粗仿宋" panose="03000509000000000000" pitchFamily="65" charset="-122"/>
                          <a:ea typeface="彩虹粗仿宋" panose="03000509000000000000" pitchFamily="65" charset="-122"/>
                        </a:rPr>
                        <a:t>美敦力</a:t>
                      </a:r>
                      <a:endParaRPr lang="zh-CN" sz="1200" b="1" i="0" u="none" strike="noStrike" dirty="0">
                        <a:solidFill>
                          <a:schemeClr val="bg1"/>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accent1"/>
                    </a:solidFill>
                  </a:tcPr>
                </a:tc>
                <a:tc>
                  <a:txBody>
                    <a:bodyPr/>
                    <a:lstStyle/>
                    <a:p>
                      <a:pPr algn="ctr" fontAlgn="ctr">
                        <a:buNone/>
                      </a:pPr>
                      <a:r>
                        <a:rPr lang="en-US" sz="1200" b="1" u="none" strike="noStrike" dirty="0" err="1">
                          <a:solidFill>
                            <a:schemeClr val="bg1"/>
                          </a:solidFill>
                          <a:effectLst/>
                          <a:latin typeface="彩虹粗仿宋" panose="03000509000000000000" pitchFamily="65" charset="-122"/>
                          <a:ea typeface="彩虹粗仿宋" panose="03000509000000000000" pitchFamily="65" charset="-122"/>
                        </a:rPr>
                        <a:t>Monteris</a:t>
                      </a:r>
                      <a:r>
                        <a:rPr lang="en-US" sz="1200" b="1" u="none" strike="noStrike" dirty="0">
                          <a:solidFill>
                            <a:schemeClr val="bg1"/>
                          </a:solidFill>
                          <a:effectLst/>
                          <a:latin typeface="彩虹粗仿宋" panose="03000509000000000000" pitchFamily="65" charset="-122"/>
                          <a:ea typeface="彩虹粗仿宋" panose="03000509000000000000" pitchFamily="65" charset="-122"/>
                        </a:rPr>
                        <a:t> </a:t>
                      </a:r>
                      <a:endParaRPr lang="zh-CN" sz="1200" b="1" i="0" u="none" strike="noStrike" dirty="0">
                        <a:solidFill>
                          <a:schemeClr val="bg1"/>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accent1"/>
                    </a:solidFill>
                  </a:tcPr>
                </a:tc>
                <a:tc>
                  <a:txBody>
                    <a:bodyPr/>
                    <a:lstStyle/>
                    <a:p>
                      <a:pPr algn="ctr" fontAlgn="ctr">
                        <a:buNone/>
                      </a:pPr>
                      <a:r>
                        <a:rPr lang="zh-CN" sz="1200" b="1" u="none" strike="noStrike" dirty="0">
                          <a:solidFill>
                            <a:schemeClr val="bg1"/>
                          </a:solidFill>
                          <a:effectLst/>
                          <a:latin typeface="彩虹粗仿宋" panose="03000509000000000000" pitchFamily="65" charset="-122"/>
                          <a:ea typeface="彩虹粗仿宋" panose="03000509000000000000" pitchFamily="65" charset="-122"/>
                        </a:rPr>
                        <a:t>华科精准</a:t>
                      </a:r>
                      <a:endParaRPr lang="zh-CN" sz="1200" b="1" i="0" u="none" strike="noStrike" dirty="0">
                        <a:solidFill>
                          <a:schemeClr val="bg1"/>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accent1"/>
                    </a:solidFill>
                  </a:tcPr>
                </a:tc>
                <a:tc>
                  <a:txBody>
                    <a:bodyPr/>
                    <a:lstStyle/>
                    <a:p>
                      <a:pPr algn="ctr" fontAlgn="ctr">
                        <a:buNone/>
                      </a:pPr>
                      <a:r>
                        <a:rPr lang="zh-CN" altLang="en-US" sz="1200" b="1" u="none" strike="noStrike" dirty="0">
                          <a:solidFill>
                            <a:schemeClr val="bg1"/>
                          </a:solidFill>
                          <a:effectLst/>
                          <a:latin typeface="彩虹粗仿宋" panose="03000509000000000000" pitchFamily="65" charset="-122"/>
                          <a:ea typeface="彩虹粗仿宋" panose="03000509000000000000" pitchFamily="65" charset="-122"/>
                        </a:rPr>
                        <a:t>佳量脑科学</a:t>
                      </a:r>
                      <a:endParaRPr lang="zh-CN" sz="1200" b="1" i="0" u="none" strike="noStrike" dirty="0">
                        <a:solidFill>
                          <a:schemeClr val="bg1"/>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accent6"/>
                    </a:solidFill>
                  </a:tcPr>
                </a:tc>
                <a:tc>
                  <a:txBody>
                    <a:bodyPr/>
                    <a:lstStyle/>
                    <a:p>
                      <a:pPr algn="ctr" fontAlgn="ctr">
                        <a:buNone/>
                      </a:pPr>
                      <a:r>
                        <a:rPr lang="zh-CN" sz="1200" b="1" u="none" strike="noStrike" dirty="0">
                          <a:solidFill>
                            <a:schemeClr val="bg1"/>
                          </a:solidFill>
                          <a:effectLst/>
                          <a:latin typeface="彩虹粗仿宋" panose="03000509000000000000" pitchFamily="65" charset="-122"/>
                          <a:ea typeface="彩虹粗仿宋" panose="03000509000000000000" pitchFamily="65" charset="-122"/>
                        </a:rPr>
                        <a:t>竞争优势</a:t>
                      </a:r>
                      <a:endParaRPr lang="zh-CN" sz="1200" b="1" i="0" u="none" strike="noStrike" dirty="0">
                        <a:solidFill>
                          <a:schemeClr val="bg1"/>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bg1">
                        <a:lumMod val="50000"/>
                      </a:schemeClr>
                    </a:solidFill>
                  </a:tcPr>
                </a:tc>
              </a:tr>
              <a:tr h="873729">
                <a:tc rowSpan="4">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主要指标</a:t>
                      </a:r>
                      <a:endParaRPr lang="zh-CN" sz="1200" b="1"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光源波长(nm)</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单光源(980)</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zh-CN" sz="1200" u="none" strike="noStrike">
                          <a:effectLst/>
                          <a:latin typeface="彩虹粗仿宋" panose="03000509000000000000" pitchFamily="65" charset="-122"/>
                          <a:ea typeface="彩虹粗仿宋" panose="03000509000000000000" pitchFamily="65" charset="-122"/>
                        </a:rPr>
                        <a:t>单光源(1064)</a:t>
                      </a:r>
                      <a:endParaRPr lang="zh-CN" sz="1200" b="0" i="0" u="none" strike="noStrike">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单光源(980)</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双光源双波长(980/1064)</a:t>
                      </a:r>
                      <a:endParaRPr lang="zh-CN" sz="1200" b="1"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accent6">
                        <a:lumMod val="20000"/>
                        <a:lumOff val="80000"/>
                      </a:schemeClr>
                    </a:solidFill>
                  </a:tcP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国际首创，灵活选择消融范围</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bg1">
                        <a:lumMod val="85000"/>
                      </a:schemeClr>
                    </a:solidFill>
                  </a:tcPr>
                </a:tc>
              </a:tr>
              <a:tr h="463795">
                <a:tc vMerge="1">
                  <a:tcP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导管外径(mm)</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en-US" sz="1200" u="none" strike="noStrike" dirty="0">
                          <a:effectLst/>
                          <a:latin typeface="彩虹粗仿宋" panose="03000509000000000000" pitchFamily="65" charset="-122"/>
                          <a:ea typeface="彩虹粗仿宋" panose="03000509000000000000" pitchFamily="65" charset="-122"/>
                        </a:rPr>
                        <a:t>1.65</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en-US" sz="1200" u="none" strike="noStrike" dirty="0">
                          <a:effectLst/>
                          <a:latin typeface="彩虹粗仿宋" panose="03000509000000000000" pitchFamily="65" charset="-122"/>
                          <a:ea typeface="彩虹粗仿宋" panose="03000509000000000000" pitchFamily="65" charset="-122"/>
                        </a:rPr>
                        <a:t>2.2、3.3、1.6</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en-US" sz="1200" u="none" strike="noStrike" dirty="0">
                          <a:effectLst/>
                          <a:latin typeface="彩虹粗仿宋" panose="03000509000000000000" pitchFamily="65" charset="-122"/>
                          <a:ea typeface="彩虹粗仿宋" panose="03000509000000000000" pitchFamily="65" charset="-122"/>
                        </a:rPr>
                        <a:t>1.8</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en-US" sz="1200" u="none" strike="noStrike" dirty="0">
                          <a:effectLst/>
                          <a:latin typeface="彩虹粗仿宋" panose="03000509000000000000" pitchFamily="65" charset="-122"/>
                          <a:ea typeface="彩虹粗仿宋" panose="03000509000000000000" pitchFamily="65" charset="-122"/>
                        </a:rPr>
                        <a:t>1.55、2.3</a:t>
                      </a:r>
                      <a:endParaRPr lang="zh-CN" sz="1200" b="1"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accent6">
                        <a:lumMod val="20000"/>
                        <a:lumOff val="80000"/>
                      </a:schemeClr>
                    </a:solidFill>
                  </a:tcP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全球最细</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bg1">
                        <a:lumMod val="85000"/>
                      </a:schemeClr>
                    </a:solidFill>
                  </a:tcPr>
                </a:tc>
              </a:tr>
              <a:tr h="873729">
                <a:tc vMerge="1">
                  <a:tcPr/>
                </a:tc>
                <a:tc>
                  <a:txBody>
                    <a:bodyPr/>
                    <a:lstStyle/>
                    <a:p>
                      <a:pPr algn="ctr" fontAlgn="ctr">
                        <a:buNone/>
                      </a:pPr>
                      <a:r>
                        <a:rPr lang="zh-CN" sz="1200" u="none" strike="noStrike">
                          <a:effectLst/>
                          <a:latin typeface="彩虹粗仿宋" panose="03000509000000000000" pitchFamily="65" charset="-122"/>
                          <a:ea typeface="彩虹粗仿宋" panose="03000509000000000000" pitchFamily="65" charset="-122"/>
                        </a:rPr>
                        <a:t>耗材结构</a:t>
                      </a:r>
                      <a:endParaRPr lang="zh-CN" sz="1200" b="0" i="0" u="none" strike="noStrike">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分离式</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分离式</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zh-CN" sz="1200" u="none" strike="noStrike">
                          <a:effectLst/>
                          <a:latin typeface="彩虹粗仿宋" panose="03000509000000000000" pitchFamily="65" charset="-122"/>
                          <a:ea typeface="彩虹粗仿宋" panose="03000509000000000000" pitchFamily="65" charset="-122"/>
                        </a:rPr>
                        <a:t>分离式</a:t>
                      </a:r>
                      <a:endParaRPr lang="zh-CN" sz="1200" b="0" i="0" u="none" strike="noStrike">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zh-CN" sz="1200" u="none" strike="noStrike" dirty="0">
                          <a:effectLst/>
                          <a:latin typeface="彩虹粗仿宋" panose="03000509000000000000" pitchFamily="65" charset="-122"/>
                          <a:ea typeface="彩虹粗仿宋" panose="03000509000000000000" pitchFamily="65" charset="-122"/>
                        </a:rPr>
                        <a:t>一体化正中准直</a:t>
                      </a:r>
                      <a:endParaRPr lang="zh-CN" sz="1200" b="1"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accent6">
                        <a:lumMod val="20000"/>
                        <a:lumOff val="80000"/>
                      </a:schemeClr>
                    </a:solidFill>
                  </a:tcPr>
                </a:tc>
                <a:tc>
                  <a:txBody>
                    <a:bodyPr/>
                    <a:lstStyle/>
                    <a:p>
                      <a:pPr algn="ctr" fontAlgn="ctr">
                        <a:buNone/>
                      </a:pPr>
                      <a:r>
                        <a:rPr lang="zh-CN" altLang="en-US" sz="1200" u="none" strike="noStrike" dirty="0">
                          <a:effectLst/>
                          <a:latin typeface="彩虹粗仿宋" panose="03000509000000000000" pitchFamily="65" charset="-122"/>
                          <a:ea typeface="彩虹粗仿宋" panose="03000509000000000000" pitchFamily="65" charset="-122"/>
                        </a:rPr>
                        <a:t>创新设计，</a:t>
                      </a:r>
                      <a:r>
                        <a:rPr lang="zh-CN" sz="1200" u="none" strike="noStrike" dirty="0">
                          <a:effectLst/>
                          <a:latin typeface="彩虹粗仿宋" panose="03000509000000000000" pitchFamily="65" charset="-122"/>
                          <a:ea typeface="彩虹粗仿宋" panose="03000509000000000000" pitchFamily="65" charset="-122"/>
                        </a:rPr>
                        <a:t>降低手术难度和热失控风险</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bg1">
                        <a:lumMod val="85000"/>
                      </a:schemeClr>
                    </a:solidFill>
                  </a:tcPr>
                </a:tc>
              </a:tr>
              <a:tr h="463795">
                <a:tc vMerge="1">
                  <a:tcPr/>
                </a:tc>
                <a:tc>
                  <a:txBody>
                    <a:bodyPr/>
                    <a:lstStyle/>
                    <a:p>
                      <a:pPr algn="ctr" fontAlgn="ctr">
                        <a:buNone/>
                      </a:pPr>
                      <a:r>
                        <a:rPr lang="zh-CN" sz="1200" u="none" strike="noStrike">
                          <a:effectLst/>
                          <a:latin typeface="彩虹粗仿宋" panose="03000509000000000000" pitchFamily="65" charset="-122"/>
                          <a:ea typeface="彩虹粗仿宋" panose="03000509000000000000" pitchFamily="65" charset="-122"/>
                        </a:rPr>
                        <a:t>手术创口</a:t>
                      </a:r>
                      <a:endParaRPr lang="zh-CN" sz="1200" b="0" i="0" u="none" strike="noStrike">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en-US" sz="1200" u="none" strike="noStrike" dirty="0">
                          <a:effectLst/>
                          <a:latin typeface="彩虹粗仿宋" panose="03000509000000000000" pitchFamily="65" charset="-122"/>
                          <a:ea typeface="彩虹粗仿宋" panose="03000509000000000000" pitchFamily="65" charset="-122"/>
                        </a:rPr>
                        <a:t>3.2mm</a:t>
                      </a:r>
                      <a:endParaRPr lang="zh-CN" sz="1200" b="0" i="0" u="none" strike="noStrike" dirty="0">
                        <a:solidFill>
                          <a:srgbClr val="1E1C11"/>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en-US" sz="1200" u="none" strike="noStrike">
                          <a:effectLst/>
                          <a:latin typeface="彩虹粗仿宋" panose="03000509000000000000" pitchFamily="65" charset="-122"/>
                          <a:ea typeface="彩虹粗仿宋" panose="03000509000000000000" pitchFamily="65" charset="-122"/>
                        </a:rPr>
                        <a:t>4.5mm</a:t>
                      </a:r>
                      <a:endParaRPr lang="zh-CN" sz="1200" b="0" i="0" u="none" strike="noStrike">
                        <a:solidFill>
                          <a:srgbClr val="1E1C11"/>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en-US" sz="1200" u="none" strike="noStrike" dirty="0">
                          <a:effectLst/>
                          <a:latin typeface="彩虹粗仿宋" panose="03000509000000000000" pitchFamily="65" charset="-122"/>
                          <a:ea typeface="彩虹粗仿宋" panose="03000509000000000000" pitchFamily="65" charset="-122"/>
                        </a:rPr>
                        <a:t>3.2mm</a:t>
                      </a:r>
                      <a:endParaRPr lang="zh-CN" sz="1200" b="0" i="0" u="none" strike="noStrike" dirty="0">
                        <a:solidFill>
                          <a:srgbClr val="1E1C11"/>
                        </a:solidFill>
                        <a:effectLst/>
                        <a:latin typeface="彩虹粗仿宋" panose="03000509000000000000" pitchFamily="65" charset="-122"/>
                        <a:ea typeface="彩虹粗仿宋" panose="03000509000000000000" pitchFamily="65" charset="-122"/>
                      </a:endParaRPr>
                    </a:p>
                  </a:txBody>
                  <a:tcPr marL="3887" marR="3887" marT="3887" marB="0" anchor="ctr"/>
                </a:tc>
                <a:tc>
                  <a:txBody>
                    <a:bodyPr/>
                    <a:lstStyle/>
                    <a:p>
                      <a:pPr algn="ctr" fontAlgn="ctr">
                        <a:buNone/>
                      </a:pPr>
                      <a:r>
                        <a:rPr lang="en-US" sz="1200" u="none" strike="noStrike" dirty="0">
                          <a:effectLst/>
                          <a:latin typeface="彩虹粗仿宋" panose="03000509000000000000" pitchFamily="65" charset="-122"/>
                          <a:ea typeface="彩虹粗仿宋" panose="03000509000000000000" pitchFamily="65" charset="-122"/>
                        </a:rPr>
                        <a:t>2.8mm、3.4mm</a:t>
                      </a:r>
                      <a:endParaRPr lang="zh-CN" sz="1200" b="0" i="0" u="none" strike="noStrike" dirty="0">
                        <a:solidFill>
                          <a:srgbClr val="031F6D"/>
                        </a:solidFill>
                        <a:effectLst/>
                        <a:latin typeface="彩虹粗仿宋" panose="03000509000000000000" pitchFamily="65" charset="-122"/>
                        <a:ea typeface="彩虹粗仿宋" panose="03000509000000000000" pitchFamily="65" charset="-122"/>
                      </a:endParaRPr>
                    </a:p>
                  </a:txBody>
                  <a:tcPr marL="3887" marR="3887" marT="3887" marB="0" anchor="ctr">
                    <a:solidFill>
                      <a:schemeClr val="accent6">
                        <a:lumMod val="20000"/>
                        <a:lumOff val="80000"/>
                      </a:schemeClr>
                    </a:solidFill>
                  </a:tcPr>
                </a:tc>
                <a:tc>
                  <a:txBody>
                    <a:bodyPr/>
                    <a:lstStyle/>
                    <a:p>
                      <a:pPr algn="ctr" fontAlgn="b">
                        <a:buNone/>
                      </a:pPr>
                      <a:r>
                        <a:rPr lang="zh-CN" sz="1200" u="none" strike="noStrike" dirty="0">
                          <a:effectLst/>
                          <a:latin typeface="彩虹粗仿宋" panose="03000509000000000000" pitchFamily="65" charset="-122"/>
                          <a:ea typeface="彩虹粗仿宋" panose="03000509000000000000" pitchFamily="65" charset="-122"/>
                        </a:rPr>
                        <a:t>附带损伤最小</a:t>
                      </a:r>
                      <a:endParaRPr lang="zh-CN" sz="1200" b="0" i="0" u="none" strike="noStrike" dirty="0">
                        <a:solidFill>
                          <a:srgbClr val="000000"/>
                        </a:solidFill>
                        <a:effectLst/>
                        <a:latin typeface="彩虹粗仿宋" panose="03000509000000000000" pitchFamily="65" charset="-122"/>
                        <a:ea typeface="彩虹粗仿宋" panose="03000509000000000000" pitchFamily="65" charset="-122"/>
                      </a:endParaRPr>
                    </a:p>
                  </a:txBody>
                  <a:tcPr marL="3887" marR="3887" marT="3887" marB="0" anchor="b">
                    <a:solidFill>
                      <a:schemeClr val="bg1">
                        <a:lumMod val="85000"/>
                      </a:schemeClr>
                    </a:solidFill>
                  </a:tcPr>
                </a:tc>
              </a:tr>
            </a:tbl>
          </a:graphicData>
        </a:graphic>
      </p:graphicFrame>
      <p:sp>
        <p:nvSpPr>
          <p:cNvPr id="2" name="Shape 1"/>
          <p:cNvSpPr/>
          <p:nvPr/>
        </p:nvSpPr>
        <p:spPr>
          <a:xfrm>
            <a:off x="233931" y="698280"/>
            <a:ext cx="3298485" cy="1967849"/>
          </a:xfrm>
          <a:prstGeom prst="rect">
            <a:avLst/>
          </a:prstGeom>
          <a:solidFill>
            <a:srgbClr val="EBEBEB"/>
          </a:solidFill>
          <a:ln w="198">
            <a:noFill/>
            <a:prstDash val="solid"/>
          </a:ln>
        </p:spPr>
        <p:txBody>
          <a:bodyPr>
            <a:noAutofit/>
          </a:bodyPr>
          <a:lstStyle/>
          <a:p>
            <a:pPr lvl="0" algn="l">
              <a:buClrTx/>
              <a:buSzTx/>
              <a:buFontTx/>
            </a:pPr>
            <a:endParaRPr lang="en-US" sz="2400">
              <a:ln>
                <a:noFill/>
              </a:ln>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 name="Shape 2"/>
          <p:cNvSpPr/>
          <p:nvPr/>
        </p:nvSpPr>
        <p:spPr>
          <a:xfrm>
            <a:off x="417228" y="780804"/>
            <a:ext cx="385767" cy="399510"/>
          </a:xfrm>
          <a:prstGeom prst="ellipse">
            <a:avLst/>
          </a:prstGeom>
          <a:solidFill>
            <a:srgbClr val="EBEBEB"/>
          </a:solidFill>
          <a:ln w="28575">
            <a:solidFill>
              <a:schemeClr val="bg1"/>
            </a:solidFill>
          </a:ln>
        </p:spPr>
        <p:style>
          <a:lnRef idx="0">
            <a:srgbClr val="FFFFFF"/>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en-US" sz="24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5" name="Text 3"/>
          <p:cNvSpPr/>
          <p:nvPr/>
        </p:nvSpPr>
        <p:spPr>
          <a:xfrm>
            <a:off x="1012623" y="854687"/>
            <a:ext cx="1384995" cy="287385"/>
          </a:xfrm>
          <a:prstGeom prst="rect">
            <a:avLst/>
          </a:prstGeom>
          <a:noFill/>
        </p:spPr>
        <p:txBody>
          <a:bodyPr wrap="none" lIns="0" tIns="0" rIns="0" bIns="0" rtlCol="0" anchor="ctr">
            <a:spAutoFit/>
          </a:bodyPr>
          <a:lstStyle/>
          <a:p>
            <a:pPr marL="0" indent="0">
              <a:buNone/>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微创神经外科</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 name="Text 4"/>
          <p:cNvSpPr/>
          <p:nvPr/>
        </p:nvSpPr>
        <p:spPr>
          <a:xfrm>
            <a:off x="417228" y="1288069"/>
            <a:ext cx="2931892" cy="670565"/>
          </a:xfrm>
          <a:prstGeom prst="rect">
            <a:avLst/>
          </a:prstGeom>
          <a:noFill/>
        </p:spPr>
        <p:txBody>
          <a:bodyPr wrap="square" lIns="0" tIns="0" rIns="0" bIns="0" rtlCol="0" anchor="ctr">
            <a:spAutoFit/>
          </a:bodyPr>
          <a:lstStyle/>
          <a:p>
            <a:pPr marL="0" indent="0">
              <a:buNone/>
            </a:pPr>
            <a:r>
              <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提供微创神经外科手术解决方案，通过精准定位和微创手术技术，降低手术创伤，提高治疗效果。 </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 name="Text 5"/>
          <p:cNvSpPr/>
          <p:nvPr/>
        </p:nvSpPr>
        <p:spPr>
          <a:xfrm>
            <a:off x="515157" y="2330268"/>
            <a:ext cx="2611164" cy="191590"/>
          </a:xfrm>
          <a:prstGeom prst="rect">
            <a:avLst/>
          </a:prstGeom>
          <a:noFill/>
        </p:spPr>
        <p:txBody>
          <a:bodyPr wrap="none" lIns="0" tIns="0" rIns="0" bIns="0" rtlCol="0" anchor="ctr">
            <a:spAutoFit/>
          </a:bodyPr>
          <a:lstStyle/>
          <a:p>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LaserRO™</a:t>
            </a:r>
            <a:r>
              <a:rPr lang="zh-CN" alt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磁共振引导激光消融系统</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 name="Text 7"/>
          <p:cNvSpPr/>
          <p:nvPr/>
        </p:nvSpPr>
        <p:spPr>
          <a:xfrm>
            <a:off x="515157" y="2069328"/>
            <a:ext cx="2232984" cy="191590"/>
          </a:xfrm>
          <a:prstGeom prst="rect">
            <a:avLst/>
          </a:prstGeom>
          <a:noFill/>
        </p:spPr>
        <p:txBody>
          <a:bodyPr wrap="none" lIns="0" tIns="0" rIns="0" bIns="0" rtlCol="0" anchor="ctr">
            <a:spAutoFit/>
          </a:bodyPr>
          <a:lstStyle/>
          <a:p>
            <a:r>
              <a:rPr lang="en-US" sz="12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SEEG</a:t>
            </a:r>
            <a:r>
              <a:rPr lang="zh-CN" altLang="en-US" sz="12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立体定向脑电图监测电极</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9" name="图片 19" descr="神经"/>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1664" y="815158"/>
            <a:ext cx="287490" cy="297732"/>
          </a:xfrm>
          <a:prstGeom prst="rect">
            <a:avLst/>
          </a:prstGeom>
        </p:spPr>
      </p:pic>
      <p:sp>
        <p:nvSpPr>
          <p:cNvPr id="10" name="市场（癫痫诊断与治疗临床利用率最高消耗品）"/>
          <p:cNvSpPr txBox="1"/>
          <p:nvPr/>
        </p:nvSpPr>
        <p:spPr>
          <a:xfrm>
            <a:off x="4010008" y="1298868"/>
            <a:ext cx="7035780" cy="383176"/>
          </a:xfrm>
          <a:prstGeom prst="rect">
            <a:avLst/>
          </a:prstGeom>
          <a:ln w="12700">
            <a:miter lim="400000"/>
          </a:ln>
        </p:spPr>
        <p:txBody>
          <a:bodyPr wrap="square" lIns="45718" tIns="45718" rIns="45718" bIns="45718">
            <a:spAutoFit/>
          </a:bodyPr>
          <a:lstStyle>
            <a:lvl1pPr defTabSz="914400">
              <a:defRPr sz="1400">
                <a:solidFill>
                  <a:srgbClr val="000000"/>
                </a:solidFill>
              </a:defRPr>
            </a:lvl1pPr>
          </a:lstStyle>
          <a:p>
            <a:endParaRPr sz="18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矩形 13"/>
          <p:cNvSpPr/>
          <p:nvPr/>
        </p:nvSpPr>
        <p:spPr>
          <a:xfrm>
            <a:off x="3742055" y="723509"/>
            <a:ext cx="8229228" cy="59897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产品二：磁共振引导激光消融系统 </a:t>
            </a:r>
            <a:r>
              <a:rPr lang="en-US" altLang="zh-CN"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LaserRO</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，国内第</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家获批上市</a:t>
            </a:r>
            <a:endPar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15" name="图片 2" descr="图片 2"/>
          <p:cNvPicPr>
            <a:picLocks noChangeAspect="1"/>
          </p:cNvPicPr>
          <p:nvPr/>
        </p:nvPicPr>
        <p:blipFill>
          <a:blip r:embed="rId3"/>
          <a:srcRect b="4466"/>
          <a:stretch>
            <a:fillRect/>
          </a:stretch>
        </p:blipFill>
        <p:spPr>
          <a:xfrm>
            <a:off x="417228" y="2932045"/>
            <a:ext cx="3320424" cy="3873313"/>
          </a:xfrm>
          <a:prstGeom prst="rect">
            <a:avLst/>
          </a:prstGeom>
          <a:ln w="12700">
            <a:miter lim="400000"/>
            <a:headEnd/>
            <a:tailEnd/>
          </a:ln>
        </p:spPr>
      </p:pic>
      <p:pic>
        <p:nvPicPr>
          <p:cNvPr id="16" name="图片 4" descr="图片 4"/>
          <p:cNvPicPr>
            <a:picLocks noChangeAspect="1"/>
          </p:cNvPicPr>
          <p:nvPr/>
        </p:nvPicPr>
        <p:blipFill>
          <a:blip r:embed="rId4"/>
          <a:srcRect l="16533" t="5144" r="11469" b="4163"/>
          <a:stretch>
            <a:fillRect/>
          </a:stretch>
        </p:blipFill>
        <p:spPr>
          <a:xfrm flipH="1">
            <a:off x="3126321" y="4654567"/>
            <a:ext cx="2397841" cy="2123268"/>
          </a:xfrm>
          <a:prstGeom prst="rect">
            <a:avLst/>
          </a:prstGeom>
          <a:ln w="12700">
            <a:miter lim="400000"/>
            <a:headEnd/>
            <a:tailEnd/>
          </a:ln>
        </p:spPr>
      </p:pic>
      <p:pic>
        <p:nvPicPr>
          <p:cNvPr id="18" name="图片 17"/>
          <p:cNvPicPr>
            <a:picLocks noChangeAspect="1"/>
          </p:cNvPicPr>
          <p:nvPr/>
        </p:nvPicPr>
        <p:blipFill rotWithShape="1">
          <a:blip r:embed="rId5"/>
          <a:srcRect l="8135" t="66650" r="6599"/>
          <a:stretch>
            <a:fillRect/>
          </a:stretch>
        </p:blipFill>
        <p:spPr bwMode="auto">
          <a:xfrm>
            <a:off x="5944190" y="5145401"/>
            <a:ext cx="6027093" cy="1141599"/>
          </a:xfrm>
          <a:prstGeom prst="rect">
            <a:avLst/>
          </a:prstGeom>
          <a:ln>
            <a:noFill/>
          </a:ln>
        </p:spPr>
      </p:pic>
    </p:spTree>
    <p:custDataLst>
      <p:tags r:id="rId6"/>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a:xfrm>
            <a:off x="7468083" y="6240463"/>
            <a:ext cx="4052403" cy="206381"/>
          </a:xfrm>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sym typeface="+mn-ea"/>
              </a:rPr>
              <a:t>管线数据</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indent="0" algn="l" fontAlgn="auto">
              <a:lnSpc>
                <a:spcPct val="100000"/>
              </a:lnSpc>
            </a:pPr>
            <a:endParaRPr lang="zh-CN" altLang="en-US" sz="2000" spc="20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 name="灯片编号占位符 10"/>
          <p:cNvSpPr txBox="1"/>
          <p:nvPr/>
        </p:nvSpPr>
        <p:spPr>
          <a:xfrm>
            <a:off x="7468083" y="6240463"/>
            <a:ext cx="4052403" cy="206381"/>
          </a:xfrm>
          <a:prstGeom prst="rect">
            <a:avLst/>
          </a:prstGeom>
        </p:spPr>
        <p:txBody>
          <a:bodyPr vert="horz" wrap="square" lIns="91440" tIns="45720" rIns="91440" bIns="45720" rtlCol="0" anchor="ctr">
            <a:normAutofit fontScale="85000" lnSpcReduction="20000"/>
          </a:bodyPr>
          <a:lstStyle>
            <a:defPPr>
              <a:defRPr lang="zh-CN"/>
            </a:defPPr>
            <a:lvl1pPr marL="0" algn="r"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E5F26B5-172A-4DC2-B0B7-181CFC56B87C}" type="slidenum">
              <a:rPr lang="zh-CN" altLang="en-US" smtClean="0"/>
            </a:fld>
            <a:endParaRPr lang="zh-CN" altLang="en-US"/>
          </a:p>
        </p:txBody>
      </p:sp>
      <p:sp>
        <p:nvSpPr>
          <p:cNvPr id="5" name="Shape 1"/>
          <p:cNvSpPr/>
          <p:nvPr/>
        </p:nvSpPr>
        <p:spPr>
          <a:xfrm>
            <a:off x="233931" y="698280"/>
            <a:ext cx="3298485" cy="1967849"/>
          </a:xfrm>
          <a:prstGeom prst="rect">
            <a:avLst/>
          </a:prstGeom>
          <a:solidFill>
            <a:srgbClr val="EBEBEB"/>
          </a:solidFill>
          <a:ln w="198">
            <a:noFill/>
            <a:prstDash val="solid"/>
          </a:ln>
        </p:spPr>
        <p:txBody>
          <a:bodyPr>
            <a:noAutofit/>
          </a:bodyPr>
          <a:lstStyle/>
          <a:p>
            <a:pPr lvl="0" algn="l">
              <a:buClrTx/>
              <a:buSzTx/>
              <a:buFontTx/>
            </a:pPr>
            <a:endParaRPr lang="en-US" sz="2400">
              <a:ln>
                <a:noFill/>
              </a:ln>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 name="市场（癫痫诊断与治疗临床利用率最高消耗品）"/>
          <p:cNvSpPr txBox="1"/>
          <p:nvPr/>
        </p:nvSpPr>
        <p:spPr>
          <a:xfrm>
            <a:off x="4010008" y="1298868"/>
            <a:ext cx="7035780" cy="383176"/>
          </a:xfrm>
          <a:prstGeom prst="rect">
            <a:avLst/>
          </a:prstGeom>
          <a:ln w="12700">
            <a:miter lim="400000"/>
          </a:ln>
        </p:spPr>
        <p:txBody>
          <a:bodyPr wrap="square" lIns="45718" tIns="45718" rIns="45718" bIns="45718">
            <a:spAutoFit/>
          </a:bodyPr>
          <a:lstStyle>
            <a:lvl1pPr defTabSz="914400">
              <a:defRPr sz="1400">
                <a:solidFill>
                  <a:srgbClr val="000000"/>
                </a:solidFill>
              </a:defRPr>
            </a:lvl1pPr>
          </a:lstStyle>
          <a:p>
            <a:endParaRPr sz="18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矩形 6"/>
          <p:cNvSpPr/>
          <p:nvPr/>
        </p:nvSpPr>
        <p:spPr>
          <a:xfrm>
            <a:off x="3742055" y="723509"/>
            <a:ext cx="8229228" cy="59897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产品三：闭环神经调控系统 </a:t>
            </a:r>
            <a:r>
              <a:rPr lang="en-US" altLang="zh-CN"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Epilcure</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，有望为国内首批脑机接口医疗器械</a:t>
            </a:r>
            <a:endPar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3" name="Shape 2"/>
          <p:cNvSpPr/>
          <p:nvPr/>
        </p:nvSpPr>
        <p:spPr>
          <a:xfrm>
            <a:off x="417228" y="780804"/>
            <a:ext cx="385767" cy="399510"/>
          </a:xfrm>
          <a:prstGeom prst="ellipse">
            <a:avLst/>
          </a:prstGeom>
          <a:solidFill>
            <a:srgbClr val="EBEBEB"/>
          </a:solidFill>
          <a:ln w="28575">
            <a:solidFill>
              <a:schemeClr val="bg1"/>
            </a:solidFill>
          </a:ln>
        </p:spPr>
        <p:style>
          <a:lnRef idx="0">
            <a:srgbClr val="FFFFFF"/>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en-US" sz="24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4" name="Text 3"/>
          <p:cNvSpPr/>
          <p:nvPr/>
        </p:nvSpPr>
        <p:spPr>
          <a:xfrm>
            <a:off x="1012623" y="859880"/>
            <a:ext cx="1384995" cy="276999"/>
          </a:xfrm>
          <a:prstGeom prst="rect">
            <a:avLst/>
          </a:prstGeom>
          <a:noFill/>
        </p:spPr>
        <p:txBody>
          <a:bodyPr wrap="none" lIns="0" tIns="0" rIns="0" bIns="0" rtlCol="0" anchor="ctr">
            <a:spAutoFit/>
          </a:bodyPr>
          <a:lstStyle/>
          <a:p>
            <a:r>
              <a:rPr lang="en-US" altLang="zh-CN"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闭环神经调控</a:t>
            </a:r>
            <a:endParaRPr lang="en-US" altLang="zh-CN"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5" name="Text 4"/>
          <p:cNvSpPr/>
          <p:nvPr/>
        </p:nvSpPr>
        <p:spPr>
          <a:xfrm>
            <a:off x="417228" y="1300186"/>
            <a:ext cx="2931892" cy="646331"/>
          </a:xfrm>
          <a:prstGeom prst="rect">
            <a:avLst/>
          </a:prstGeom>
          <a:noFill/>
        </p:spPr>
        <p:txBody>
          <a:bodyPr wrap="square" lIns="0" tIns="0" rIns="0" bIns="0" rtlCol="0" anchor="ctr">
            <a:spAutoFit/>
          </a:bodyPr>
          <a:lstStyle/>
          <a:p>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基于实时感知和自适应调节的闭环神经调控系统，为神经疾病提供精准、个性化治疗方案</a:t>
            </a:r>
            <a:r>
              <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endPar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7" name="Text 7"/>
          <p:cNvSpPr/>
          <p:nvPr/>
        </p:nvSpPr>
        <p:spPr>
          <a:xfrm>
            <a:off x="515157" y="2156870"/>
            <a:ext cx="2589683" cy="184666"/>
          </a:xfrm>
          <a:prstGeom prst="rect">
            <a:avLst/>
          </a:prstGeom>
          <a:noFill/>
        </p:spPr>
        <p:txBody>
          <a:bodyPr wrap="none" lIns="0" tIns="0" rIns="0" bIns="0" rtlCol="0" anchor="ctr">
            <a:spAutoFit/>
          </a:bodyPr>
          <a:lstStyle/>
          <a:p>
            <a:r>
              <a:rPr lang="en-US" altLang="zh-CN" sz="12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Epilcure</a:t>
            </a:r>
            <a:r>
              <a:rPr lang="en-US" altLang="zh-CN"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zh-CN" alt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altLang="zh-CN"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难治性癫痫闭环调控系统</a:t>
            </a:r>
            <a:endPar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70" name="图片 36" descr="神经学"/>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6511" y="857228"/>
            <a:ext cx="252000" cy="252000"/>
          </a:xfrm>
          <a:prstGeom prst="rect">
            <a:avLst/>
          </a:prstGeom>
        </p:spPr>
      </p:pic>
      <p:grpSp>
        <p:nvGrpSpPr>
          <p:cNvPr id="71" name="组合 70"/>
          <p:cNvGrpSpPr/>
          <p:nvPr/>
        </p:nvGrpSpPr>
        <p:grpSpPr>
          <a:xfrm>
            <a:off x="201087" y="3168617"/>
            <a:ext cx="4465397" cy="3186099"/>
            <a:chOff x="-26860" y="2456490"/>
            <a:chExt cx="3880769" cy="2612775"/>
          </a:xfrm>
        </p:grpSpPr>
        <p:pic>
          <p:nvPicPr>
            <p:cNvPr id="72" name="图片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60" y="2510398"/>
              <a:ext cx="3085206" cy="2558867"/>
            </a:xfrm>
            <a:prstGeom prst="rect">
              <a:avLst/>
            </a:prstGeom>
          </p:spPr>
        </p:pic>
        <p:pic>
          <p:nvPicPr>
            <p:cNvPr id="73" name="Picture 2" descr="7b0a202020202266696c746572223a202230220a7d0a"/>
            <p:cNvPicPr>
              <a:picLocks noChangeAspect="1" noChangeArrowheads="1"/>
            </p:cNvPicPr>
            <p:nvPr/>
          </p:nvPicPr>
          <p:blipFill>
            <a:blip r:embed="rId4"/>
            <a:srcRect/>
            <a:stretch>
              <a:fillRect/>
            </a:stretch>
          </p:blipFill>
          <p:spPr bwMode="auto">
            <a:xfrm>
              <a:off x="2064100" y="2456490"/>
              <a:ext cx="1789809" cy="1613353"/>
            </a:xfrm>
            <a:prstGeom prst="rect">
              <a:avLst/>
            </a:prstGeom>
            <a:noFill/>
            <a:extLst>
              <a:ext uri="{909E8E84-426E-40DD-AFC4-6F175D3DCCD1}">
                <a14:hiddenFill xmlns:a14="http://schemas.microsoft.com/office/drawing/2010/main">
                  <a:solidFill>
                    <a:srgbClr val="FFFFFF"/>
                  </a:solidFill>
                </a14:hiddenFill>
              </a:ext>
            </a:extLst>
          </p:spPr>
        </p:pic>
      </p:grpSp>
      <p:sp>
        <p:nvSpPr>
          <p:cNvPr id="81" name="Shape 47"/>
          <p:cNvSpPr/>
          <p:nvPr/>
        </p:nvSpPr>
        <p:spPr>
          <a:xfrm>
            <a:off x="4340771" y="5626260"/>
            <a:ext cx="7391443" cy="832953"/>
          </a:xfrm>
          <a:prstGeom prst="rect">
            <a:avLst/>
          </a:prstGeom>
          <a:solidFill>
            <a:srgbClr val="EBEBEB"/>
          </a:solidFill>
        </p:spPr>
        <p:txBody>
          <a:bodyPr/>
          <a:lstStyle/>
          <a:p>
            <a:endParaRPr lang="en-US" sz="12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2" name="Text 48"/>
          <p:cNvSpPr/>
          <p:nvPr/>
        </p:nvSpPr>
        <p:spPr>
          <a:xfrm>
            <a:off x="4910906" y="5378835"/>
            <a:ext cx="3000339" cy="215444"/>
          </a:xfrm>
          <a:prstGeom prst="rect">
            <a:avLst/>
          </a:prstGeom>
          <a:noFill/>
        </p:spPr>
        <p:txBody>
          <a:bodyPr wrap="square" lIns="0" tIns="0" rIns="0" bIns="0" rtlCol="0" anchor="ctr">
            <a:spAutoFit/>
          </a:bodyPr>
          <a:lstStyle/>
          <a:p>
            <a:pPr marL="0" indent="0">
              <a:buNone/>
            </a:pPr>
            <a:r>
              <a:rPr lang="en-US" sz="14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临床进展</a:t>
            </a: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（入组完成，随访中）</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3" name="Shape 49"/>
          <p:cNvSpPr/>
          <p:nvPr/>
        </p:nvSpPr>
        <p:spPr>
          <a:xfrm>
            <a:off x="4436316" y="5729965"/>
            <a:ext cx="7183903" cy="133381"/>
          </a:xfrm>
          <a:prstGeom prst="roundRect">
            <a:avLst/>
          </a:prstGeom>
          <a:solidFill>
            <a:srgbClr val="FFFFFF"/>
          </a:solidFill>
        </p:spPr>
        <p:txBody>
          <a:bodyPr/>
          <a:lstStyle/>
          <a:p>
            <a:endParaRPr lang="en-US" sz="12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4" name="Shape 50"/>
          <p:cNvSpPr/>
          <p:nvPr/>
        </p:nvSpPr>
        <p:spPr>
          <a:xfrm>
            <a:off x="4436316" y="5729965"/>
            <a:ext cx="7183901" cy="133381"/>
          </a:xfrm>
          <a:prstGeom prst="roundRect">
            <a:avLst/>
          </a:prstGeom>
          <a:solidFill>
            <a:srgbClr val="031F6D"/>
          </a:solidFill>
        </p:spPr>
        <p:txBody>
          <a:bodyPr/>
          <a:lstStyle/>
          <a:p>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5" name="Text 51"/>
          <p:cNvSpPr/>
          <p:nvPr/>
        </p:nvSpPr>
        <p:spPr>
          <a:xfrm>
            <a:off x="4443832" y="5907313"/>
            <a:ext cx="1714478" cy="184666"/>
          </a:xfrm>
          <a:prstGeom prst="rect">
            <a:avLst/>
          </a:prstGeom>
          <a:noFill/>
        </p:spPr>
        <p:txBody>
          <a:bodyPr wrap="square" lIns="0" tIns="0" rIns="0" bIns="0" rtlCol="0" anchor="ctr">
            <a:spAutoFit/>
          </a:bodyPr>
          <a:lstStyle/>
          <a:p>
            <a:pPr marL="0" indent="0">
              <a:buNone/>
            </a:pP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入组患者数超</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百例</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6" name="Text 52"/>
          <p:cNvSpPr/>
          <p:nvPr/>
        </p:nvSpPr>
        <p:spPr>
          <a:xfrm>
            <a:off x="11136795" y="5700487"/>
            <a:ext cx="468910" cy="184666"/>
          </a:xfrm>
          <a:prstGeom prst="rect">
            <a:avLst/>
          </a:prstGeom>
          <a:noFill/>
        </p:spPr>
        <p:txBody>
          <a:bodyPr wrap="square" lIns="0" tIns="0" rIns="0" bIns="0" rtlCol="0" anchor="ctr">
            <a:spAutoFit/>
          </a:bodyPr>
          <a:lstStyle/>
          <a:p>
            <a:pPr marL="0" indent="0">
              <a:buNone/>
            </a:pPr>
            <a:r>
              <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100%</a:t>
            </a:r>
            <a:endParaRPr lang="en-US" sz="1200"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7" name="Text 53"/>
          <p:cNvSpPr/>
          <p:nvPr/>
        </p:nvSpPr>
        <p:spPr>
          <a:xfrm>
            <a:off x="4436316" y="6175740"/>
            <a:ext cx="7183903" cy="184666"/>
          </a:xfrm>
          <a:prstGeom prst="rect">
            <a:avLst/>
          </a:prstGeom>
          <a:noFill/>
        </p:spPr>
        <p:txBody>
          <a:bodyPr wrap="squar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初步数据显示，Epilcure™系统可使难治性癫痫患者发作频率平均减少65%，其中30%患者实现完全无发作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4" name="Text 15"/>
          <p:cNvSpPr/>
          <p:nvPr/>
        </p:nvSpPr>
        <p:spPr>
          <a:xfrm>
            <a:off x="6581247" y="1474766"/>
            <a:ext cx="771045" cy="215444"/>
          </a:xfrm>
          <a:prstGeom prst="rect">
            <a:avLst/>
          </a:prstGeom>
          <a:noFill/>
        </p:spPr>
        <p:txBody>
          <a:bodyPr wrap="none" lIns="0" tIns="0" rIns="0" bIns="0" rtlCol="0" anchor="ctr">
            <a:spAutoFit/>
          </a:bodyPr>
          <a:lstStyle/>
          <a:p>
            <a:pPr marL="0" indent="0">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技术优势 </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5" name="Text 17"/>
          <p:cNvSpPr/>
          <p:nvPr/>
        </p:nvSpPr>
        <p:spPr>
          <a:xfrm>
            <a:off x="6592487" y="1780000"/>
            <a:ext cx="615553" cy="177353"/>
          </a:xfrm>
          <a:prstGeom prst="rect">
            <a:avLst/>
          </a:prstGeom>
          <a:noFill/>
        </p:spPr>
        <p:txBody>
          <a:bodyPr wrap="none" lIns="0" tIns="0" rIns="0" bIns="0" rtlCol="0" anchor="ctr">
            <a:spAutoFit/>
          </a:bodyPr>
          <a:lstStyle/>
          <a:p>
            <a:pPr marL="0" indent="0">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闭环模式</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6" name="Text 18"/>
          <p:cNvSpPr/>
          <p:nvPr/>
        </p:nvSpPr>
        <p:spPr>
          <a:xfrm>
            <a:off x="6595126" y="1966861"/>
            <a:ext cx="5163188" cy="354707"/>
          </a:xfrm>
          <a:prstGeom prst="rect">
            <a:avLst/>
          </a:prstGeom>
          <a:noFill/>
        </p:spPr>
        <p:txBody>
          <a:bodyPr wrap="square" lIns="0" tIns="0" rIns="0" bIns="0" rtlCol="0" anchor="ctr">
            <a:spAutoFit/>
          </a:bodyPr>
          <a:lstStyle/>
          <a:p>
            <a:pPr marL="0" indent="0">
              <a:buNone/>
            </a:pP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实时监测脑电活动，检测到异常放电时精准刺激，形成完整闭环，提高治疗效果，减少副作用</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7" name="Text 20"/>
          <p:cNvSpPr/>
          <p:nvPr/>
        </p:nvSpPr>
        <p:spPr>
          <a:xfrm>
            <a:off x="6598125" y="2450643"/>
            <a:ext cx="769441" cy="177353"/>
          </a:xfrm>
          <a:prstGeom prst="rect">
            <a:avLst/>
          </a:prstGeom>
          <a:noFill/>
        </p:spPr>
        <p:txBody>
          <a:bodyPr wrap="none" lIns="0" tIns="0" rIns="0" bIns="0" rtlCol="0" anchor="ctr">
            <a:spAutoFit/>
          </a:bodyPr>
          <a:lstStyle/>
          <a:p>
            <a:pPr marL="0" indent="0">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微型化设计</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8" name="Text 21"/>
          <p:cNvSpPr/>
          <p:nvPr/>
        </p:nvSpPr>
        <p:spPr>
          <a:xfrm>
            <a:off x="6610159" y="2737928"/>
            <a:ext cx="5122341" cy="177353"/>
          </a:xfrm>
          <a:prstGeom prst="rect">
            <a:avLst/>
          </a:prstGeom>
          <a:noFill/>
        </p:spPr>
        <p:txBody>
          <a:bodyPr wrap="squar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颅骨植入式设计，体积减少20%，重量减轻10%，提高患者舒适度和美观度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9" name="Text 23"/>
          <p:cNvSpPr/>
          <p:nvPr/>
        </p:nvSpPr>
        <p:spPr>
          <a:xfrm>
            <a:off x="6598125" y="3059239"/>
            <a:ext cx="769441" cy="177353"/>
          </a:xfrm>
          <a:prstGeom prst="rect">
            <a:avLst/>
          </a:prstGeom>
          <a:noFill/>
        </p:spPr>
        <p:txBody>
          <a:bodyPr wrap="none" lIns="0" tIns="0" rIns="0" bIns="0" rtlCol="0" anchor="ctr">
            <a:spAutoFit/>
          </a:bodyPr>
          <a:lstStyle/>
          <a:p>
            <a:pPr marL="0" indent="0">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可充电设计</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0" name="Text 24"/>
          <p:cNvSpPr/>
          <p:nvPr/>
        </p:nvSpPr>
        <p:spPr>
          <a:xfrm>
            <a:off x="6592486" y="3315310"/>
            <a:ext cx="4484421" cy="177353"/>
          </a:xfrm>
          <a:prstGeom prst="rect">
            <a:avLst/>
          </a:prstGeom>
          <a:noFill/>
        </p:spPr>
        <p:txBody>
          <a:bodyPr wrap="squar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无线充电技术，电池寿命8-10年，减少更换频率，降低患者负担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grpSp>
        <p:nvGrpSpPr>
          <p:cNvPr id="88" name="组合 87"/>
          <p:cNvGrpSpPr/>
          <p:nvPr/>
        </p:nvGrpSpPr>
        <p:grpSpPr>
          <a:xfrm>
            <a:off x="6154638" y="1809839"/>
            <a:ext cx="284268" cy="291857"/>
            <a:chOff x="4703763" y="1131570"/>
            <a:chExt cx="216535" cy="231483"/>
          </a:xfrm>
        </p:grpSpPr>
        <p:sp>
          <p:nvSpPr>
            <p:cNvPr id="89" name="椭圆 88"/>
            <p:cNvSpPr/>
            <p:nvPr/>
          </p:nvSpPr>
          <p:spPr>
            <a:xfrm>
              <a:off x="4703763" y="1131570"/>
              <a:ext cx="216535" cy="216535"/>
            </a:xfrm>
            <a:prstGeom prst="ellipse">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彩虹粗仿宋" panose="03000509000000000000" pitchFamily="65" charset="-122"/>
                <a:ea typeface="彩虹粗仿宋" panose="03000509000000000000" pitchFamily="65" charset="-122"/>
                <a:sym typeface="微软雅黑" panose="020B0503020204020204" charset="-122"/>
              </a:endParaRPr>
            </a:p>
          </p:txBody>
        </p:sp>
        <p:pic>
          <p:nvPicPr>
            <p:cNvPr id="90" name="图片 71" descr="闭环"/>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16111" y="1190333"/>
              <a:ext cx="172720" cy="172720"/>
            </a:xfrm>
            <a:prstGeom prst="rect">
              <a:avLst/>
            </a:prstGeom>
          </p:spPr>
        </p:pic>
      </p:grpSp>
      <p:grpSp>
        <p:nvGrpSpPr>
          <p:cNvPr id="91" name="组合 90"/>
          <p:cNvGrpSpPr/>
          <p:nvPr/>
        </p:nvGrpSpPr>
        <p:grpSpPr>
          <a:xfrm>
            <a:off x="6172562" y="2410473"/>
            <a:ext cx="284268" cy="273011"/>
            <a:chOff x="4703763" y="1482090"/>
            <a:chExt cx="216535" cy="216535"/>
          </a:xfrm>
        </p:grpSpPr>
        <p:sp>
          <p:nvSpPr>
            <p:cNvPr id="92" name="椭圆 91"/>
            <p:cNvSpPr/>
            <p:nvPr/>
          </p:nvSpPr>
          <p:spPr>
            <a:xfrm>
              <a:off x="4703763" y="1482090"/>
              <a:ext cx="216535" cy="216535"/>
            </a:xfrm>
            <a:prstGeom prst="ellipse">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彩虹粗仿宋" panose="03000509000000000000" pitchFamily="65" charset="-122"/>
                <a:ea typeface="彩虹粗仿宋" panose="03000509000000000000" pitchFamily="65" charset="-122"/>
                <a:sym typeface="微软雅黑" panose="020B0503020204020204" charset="-122"/>
              </a:endParaRPr>
            </a:p>
          </p:txBody>
        </p:sp>
        <p:grpSp>
          <p:nvGrpSpPr>
            <p:cNvPr id="93" name="组合 92"/>
            <p:cNvGrpSpPr/>
            <p:nvPr/>
          </p:nvGrpSpPr>
          <p:grpSpPr>
            <a:xfrm>
              <a:off x="4787900" y="1515745"/>
              <a:ext cx="76537" cy="136928"/>
              <a:chOff x="3571" y="3143"/>
              <a:chExt cx="227" cy="340"/>
            </a:xfrm>
            <a:solidFill>
              <a:srgbClr val="031F6D"/>
            </a:solidFill>
          </p:grpSpPr>
          <p:sp>
            <p:nvSpPr>
              <p:cNvPr id="94" name="圆角矩形 23"/>
              <p:cNvSpPr/>
              <p:nvPr/>
            </p:nvSpPr>
            <p:spPr>
              <a:xfrm>
                <a:off x="3571" y="3143"/>
                <a:ext cx="172"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dirty="0">
                  <a:latin typeface="彩虹粗仿宋" panose="03000509000000000000" pitchFamily="65" charset="-122"/>
                  <a:ea typeface="彩虹粗仿宋" panose="03000509000000000000" pitchFamily="65" charset="-122"/>
                  <a:sym typeface="微软雅黑" panose="020B0503020204020204" charset="-122"/>
                </a:endParaRPr>
              </a:p>
            </p:txBody>
          </p:sp>
          <p:sp>
            <p:nvSpPr>
              <p:cNvPr id="95" name="圆角矩形 26"/>
              <p:cNvSpPr/>
              <p:nvPr/>
            </p:nvSpPr>
            <p:spPr>
              <a:xfrm>
                <a:off x="3571" y="3256"/>
                <a:ext cx="227"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彩虹粗仿宋" panose="03000509000000000000" pitchFamily="65" charset="-122"/>
                  <a:ea typeface="彩虹粗仿宋" panose="03000509000000000000" pitchFamily="65" charset="-122"/>
                  <a:sym typeface="微软雅黑" panose="020B0503020204020204" charset="-122"/>
                </a:endParaRPr>
              </a:p>
            </p:txBody>
          </p:sp>
        </p:grpSp>
      </p:grpSp>
      <p:grpSp>
        <p:nvGrpSpPr>
          <p:cNvPr id="96" name="组合 95"/>
          <p:cNvGrpSpPr/>
          <p:nvPr/>
        </p:nvGrpSpPr>
        <p:grpSpPr>
          <a:xfrm>
            <a:off x="6156305" y="3020627"/>
            <a:ext cx="284268" cy="273011"/>
            <a:chOff x="4703763" y="1832610"/>
            <a:chExt cx="216535" cy="216535"/>
          </a:xfrm>
        </p:grpSpPr>
        <p:sp>
          <p:nvSpPr>
            <p:cNvPr id="97" name="椭圆 96"/>
            <p:cNvSpPr/>
            <p:nvPr/>
          </p:nvSpPr>
          <p:spPr>
            <a:xfrm>
              <a:off x="4703763" y="1832610"/>
              <a:ext cx="216535" cy="216535"/>
            </a:xfrm>
            <a:prstGeom prst="ellipse">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彩虹粗仿宋" panose="03000509000000000000" pitchFamily="65" charset="-122"/>
                <a:ea typeface="彩虹粗仿宋" panose="03000509000000000000" pitchFamily="65" charset="-122"/>
                <a:sym typeface="微软雅黑" panose="020B0503020204020204" charset="-122"/>
              </a:endParaRPr>
            </a:p>
          </p:txBody>
        </p:sp>
        <p:pic>
          <p:nvPicPr>
            <p:cNvPr id="98" name="图片 27" descr="battery-low-line"/>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44720" y="1868170"/>
              <a:ext cx="144145" cy="144145"/>
            </a:xfrm>
            <a:prstGeom prst="rect">
              <a:avLst/>
            </a:prstGeom>
          </p:spPr>
        </p:pic>
      </p:grpSp>
      <p:pic>
        <p:nvPicPr>
          <p:cNvPr id="99" name="图片 31" descr="优势"/>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27729" y="1426903"/>
            <a:ext cx="324000" cy="311170"/>
          </a:xfrm>
          <a:prstGeom prst="rect">
            <a:avLst/>
          </a:prstGeom>
        </p:spPr>
      </p:pic>
      <p:grpSp>
        <p:nvGrpSpPr>
          <p:cNvPr id="100" name="组合 99"/>
          <p:cNvGrpSpPr/>
          <p:nvPr/>
        </p:nvGrpSpPr>
        <p:grpSpPr>
          <a:xfrm>
            <a:off x="5423338" y="3596031"/>
            <a:ext cx="6342767" cy="1651583"/>
            <a:chOff x="4714875" y="2182491"/>
            <a:chExt cx="4143375" cy="1333030"/>
          </a:xfrm>
        </p:grpSpPr>
        <p:sp>
          <p:nvSpPr>
            <p:cNvPr id="101" name="Text 25"/>
            <p:cNvSpPr/>
            <p:nvPr/>
          </p:nvSpPr>
          <p:spPr>
            <a:xfrm>
              <a:off x="5023413" y="2200638"/>
              <a:ext cx="587327" cy="171362"/>
            </a:xfrm>
            <a:prstGeom prst="rect">
              <a:avLst/>
            </a:prstGeom>
            <a:noFill/>
          </p:spPr>
          <p:txBody>
            <a:bodyPr wrap="none" lIns="0" tIns="0" rIns="0" bIns="0" rtlCol="0" anchor="ctr">
              <a:spAutoFit/>
            </a:bodyPr>
            <a:lstStyle/>
            <a:p>
              <a:pPr marL="0" indent="0">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竞争优势 </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2" name="Shape 26"/>
            <p:cNvSpPr/>
            <p:nvPr/>
          </p:nvSpPr>
          <p:spPr>
            <a:xfrm>
              <a:off x="4714875" y="2454275"/>
              <a:ext cx="951230" cy="208280"/>
            </a:xfrm>
            <a:prstGeom prst="rect">
              <a:avLst/>
            </a:prstGeom>
            <a:solidFill>
              <a:srgbClr val="EBEBEB"/>
            </a:solidFill>
          </p:spPr>
          <p:txBody>
            <a:bodyPr/>
            <a:lstStyle/>
            <a:p>
              <a:endParaRPr lang="en-US" sz="12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3" name="Shape 27"/>
            <p:cNvSpPr/>
            <p:nvPr/>
          </p:nvSpPr>
          <p:spPr>
            <a:xfrm>
              <a:off x="4714875" y="2658110"/>
              <a:ext cx="951230" cy="5080"/>
            </a:xfrm>
            <a:prstGeom prst="rect">
              <a:avLst/>
            </a:prstGeom>
            <a:solidFill>
              <a:srgbClr val="4299E1"/>
            </a:solidFill>
          </p:spPr>
          <p:txBody>
            <a:bodyPr/>
            <a:lstStyle/>
            <a:p>
              <a:endParaRPr lang="en-US" sz="12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4" name="Text 28"/>
            <p:cNvSpPr/>
            <p:nvPr/>
          </p:nvSpPr>
          <p:spPr>
            <a:xfrm>
              <a:off x="4714875" y="2430620"/>
              <a:ext cx="951230" cy="256226"/>
            </a:xfrm>
            <a:prstGeom prst="rect">
              <a:avLst/>
            </a:prstGeom>
            <a:noFill/>
          </p:spPr>
          <p:txBody>
            <a:bodyPr wrap="square" lIns="68072" tIns="68072" rIns="68072" bIns="68072" rtlCol="0" anchor="ctr">
              <a:spAutoFit/>
            </a:bodyPr>
            <a:lstStyle/>
            <a:p>
              <a:pPr marL="0" indent="0" algn="l">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参数</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5" name="Shape 29"/>
            <p:cNvSpPr/>
            <p:nvPr/>
          </p:nvSpPr>
          <p:spPr>
            <a:xfrm>
              <a:off x="5666105" y="2454275"/>
              <a:ext cx="1529715" cy="208280"/>
            </a:xfrm>
            <a:prstGeom prst="rect">
              <a:avLst/>
            </a:prstGeom>
            <a:solidFill>
              <a:srgbClr val="EBEBEB"/>
            </a:solidFill>
          </p:spPr>
          <p:txBody>
            <a:bodyPr/>
            <a:lstStyle/>
            <a:p>
              <a:endParaRPr lang="en-US" sz="12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6" name="Shape 30"/>
            <p:cNvSpPr/>
            <p:nvPr/>
          </p:nvSpPr>
          <p:spPr>
            <a:xfrm>
              <a:off x="5666105" y="2658110"/>
              <a:ext cx="1529715" cy="5080"/>
            </a:xfrm>
            <a:prstGeom prst="rect">
              <a:avLst/>
            </a:prstGeom>
            <a:solidFill>
              <a:srgbClr val="4299E1"/>
            </a:solidFill>
          </p:spPr>
          <p:txBody>
            <a:bodyPr/>
            <a:lstStyle/>
            <a:p>
              <a:endParaRPr lang="en-US" sz="12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7" name="Text 31"/>
            <p:cNvSpPr/>
            <p:nvPr/>
          </p:nvSpPr>
          <p:spPr>
            <a:xfrm>
              <a:off x="5666105" y="2430620"/>
              <a:ext cx="1529715" cy="256226"/>
            </a:xfrm>
            <a:prstGeom prst="rect">
              <a:avLst/>
            </a:prstGeom>
            <a:noFill/>
          </p:spPr>
          <p:txBody>
            <a:bodyPr wrap="square" lIns="68072" tIns="68072" rIns="68072" bIns="68072" rtlCol="0" anchor="ctr">
              <a:spAutoFit/>
            </a:bodyPr>
            <a:lstStyle/>
            <a:p>
              <a:pPr marL="0" indent="0" algn="l">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Epilcure™</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8" name="Shape 32"/>
            <p:cNvSpPr/>
            <p:nvPr/>
          </p:nvSpPr>
          <p:spPr>
            <a:xfrm>
              <a:off x="7195820" y="2454275"/>
              <a:ext cx="1662430" cy="208280"/>
            </a:xfrm>
            <a:prstGeom prst="rect">
              <a:avLst/>
            </a:prstGeom>
            <a:solidFill>
              <a:srgbClr val="EBEBEB"/>
            </a:solidFill>
          </p:spPr>
          <p:txBody>
            <a:bodyPr/>
            <a:lstStyle/>
            <a:p>
              <a:endParaRPr lang="en-US" sz="12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9" name="Shape 33"/>
            <p:cNvSpPr/>
            <p:nvPr/>
          </p:nvSpPr>
          <p:spPr>
            <a:xfrm>
              <a:off x="7195820" y="2658110"/>
              <a:ext cx="1662430" cy="5080"/>
            </a:xfrm>
            <a:prstGeom prst="rect">
              <a:avLst/>
            </a:prstGeom>
            <a:solidFill>
              <a:srgbClr val="4299E1"/>
            </a:solidFill>
          </p:spPr>
          <p:txBody>
            <a:bodyPr/>
            <a:lstStyle/>
            <a:p>
              <a:endParaRPr lang="en-US" sz="12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0" name="Text 34"/>
            <p:cNvSpPr/>
            <p:nvPr/>
          </p:nvSpPr>
          <p:spPr>
            <a:xfrm>
              <a:off x="7195820" y="2430620"/>
              <a:ext cx="1662430" cy="256226"/>
            </a:xfrm>
            <a:prstGeom prst="rect">
              <a:avLst/>
            </a:prstGeom>
            <a:noFill/>
          </p:spPr>
          <p:txBody>
            <a:bodyPr wrap="square" lIns="68072" tIns="68072" rIns="68072" bIns="68072" rtlCol="0" anchor="ctr">
              <a:spAutoFit/>
            </a:bodyPr>
            <a:lstStyle/>
            <a:p>
              <a:pPr marL="0" indent="0" algn="l">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NeuroPace RNS</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1" name="Text 35"/>
            <p:cNvSpPr/>
            <p:nvPr/>
          </p:nvSpPr>
          <p:spPr>
            <a:xfrm>
              <a:off x="4714875" y="2633820"/>
              <a:ext cx="951230" cy="256226"/>
            </a:xfrm>
            <a:prstGeom prst="rect">
              <a:avLst/>
            </a:prstGeom>
            <a:noFill/>
          </p:spPr>
          <p:txBody>
            <a:bodyPr wrap="square" lIns="68072" tIns="68072" rIns="68072" bIns="68072"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刺激模式</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2" name="Text 36"/>
            <p:cNvSpPr/>
            <p:nvPr/>
          </p:nvSpPr>
          <p:spPr>
            <a:xfrm>
              <a:off x="5723255" y="2685317"/>
              <a:ext cx="586105" cy="146881"/>
            </a:xfrm>
            <a:prstGeom prst="rect">
              <a:avLst/>
            </a:prstGeom>
            <a:noFill/>
          </p:spPr>
          <p:txBody>
            <a:bodyPr wrap="none" lIns="0" tIns="0" rIns="0" bIns="0" rtlCol="0" anchor="ctr">
              <a:spAutoFit/>
            </a:bodyPr>
            <a:lstStyle/>
            <a:p>
              <a:pPr marL="0" indent="0">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多模态闭环</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3" name="Text 37"/>
            <p:cNvSpPr/>
            <p:nvPr/>
          </p:nvSpPr>
          <p:spPr>
            <a:xfrm>
              <a:off x="7195820" y="2633820"/>
              <a:ext cx="1662430" cy="256226"/>
            </a:xfrm>
            <a:prstGeom prst="rect">
              <a:avLst/>
            </a:prstGeom>
            <a:noFill/>
          </p:spPr>
          <p:txBody>
            <a:bodyPr wrap="square" lIns="68072" tIns="68072" rIns="68072" bIns="68072"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单一闭环</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4" name="Text 38"/>
            <p:cNvSpPr/>
            <p:nvPr/>
          </p:nvSpPr>
          <p:spPr>
            <a:xfrm>
              <a:off x="4714875" y="2842100"/>
              <a:ext cx="951230" cy="256226"/>
            </a:xfrm>
            <a:prstGeom prst="rect">
              <a:avLst/>
            </a:prstGeom>
            <a:noFill/>
          </p:spPr>
          <p:txBody>
            <a:bodyPr wrap="square" lIns="68072" tIns="68072" rIns="68072" bIns="68072"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植入位置</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5" name="Text 39"/>
            <p:cNvSpPr/>
            <p:nvPr/>
          </p:nvSpPr>
          <p:spPr>
            <a:xfrm>
              <a:off x="5723255" y="2894230"/>
              <a:ext cx="468884" cy="146881"/>
            </a:xfrm>
            <a:prstGeom prst="rect">
              <a:avLst/>
            </a:prstGeom>
            <a:noFill/>
          </p:spPr>
          <p:txBody>
            <a:bodyPr wrap="none" lIns="0" tIns="0" rIns="0" bIns="0" rtlCol="0" anchor="ctr">
              <a:spAutoFit/>
            </a:bodyPr>
            <a:lstStyle/>
            <a:p>
              <a:pPr marL="0" indent="0">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颅骨植入</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6" name="Text 40"/>
            <p:cNvSpPr/>
            <p:nvPr/>
          </p:nvSpPr>
          <p:spPr>
            <a:xfrm>
              <a:off x="7195820" y="2842100"/>
              <a:ext cx="1662430" cy="256226"/>
            </a:xfrm>
            <a:prstGeom prst="rect">
              <a:avLst/>
            </a:prstGeom>
            <a:noFill/>
          </p:spPr>
          <p:txBody>
            <a:bodyPr wrap="square" lIns="68072" tIns="68072" rIns="68072" bIns="68072"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颅骨植入</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7" name="Text 41"/>
            <p:cNvSpPr/>
            <p:nvPr/>
          </p:nvSpPr>
          <p:spPr>
            <a:xfrm>
              <a:off x="4714875" y="3051015"/>
              <a:ext cx="951230" cy="256226"/>
            </a:xfrm>
            <a:prstGeom prst="rect">
              <a:avLst/>
            </a:prstGeom>
            <a:noFill/>
          </p:spPr>
          <p:txBody>
            <a:bodyPr wrap="square" lIns="68072" tIns="68072" rIns="68072" bIns="68072"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体积</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8" name="Text 42"/>
            <p:cNvSpPr/>
            <p:nvPr/>
          </p:nvSpPr>
          <p:spPr>
            <a:xfrm>
              <a:off x="5723255" y="3102511"/>
              <a:ext cx="487201" cy="146881"/>
            </a:xfrm>
            <a:prstGeom prst="rect">
              <a:avLst/>
            </a:prstGeom>
            <a:noFill/>
          </p:spPr>
          <p:txBody>
            <a:bodyPr wrap="none" lIns="0" tIns="0" rIns="0" bIns="0" rtlCol="0" anchor="ctr">
              <a:spAutoFit/>
            </a:bodyPr>
            <a:lstStyle/>
            <a:p>
              <a:pPr marL="0" indent="0">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减少20%</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9" name="Text 43"/>
            <p:cNvSpPr/>
            <p:nvPr/>
          </p:nvSpPr>
          <p:spPr>
            <a:xfrm>
              <a:off x="7195820" y="3051015"/>
              <a:ext cx="1662430" cy="256226"/>
            </a:xfrm>
            <a:prstGeom prst="rect">
              <a:avLst/>
            </a:prstGeom>
            <a:noFill/>
          </p:spPr>
          <p:txBody>
            <a:bodyPr wrap="square" lIns="68072" tIns="68072" rIns="68072" bIns="68072"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标准体积</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20" name="Text 44"/>
            <p:cNvSpPr/>
            <p:nvPr/>
          </p:nvSpPr>
          <p:spPr>
            <a:xfrm>
              <a:off x="4714875" y="3259295"/>
              <a:ext cx="951230" cy="256226"/>
            </a:xfrm>
            <a:prstGeom prst="rect">
              <a:avLst/>
            </a:prstGeom>
            <a:noFill/>
          </p:spPr>
          <p:txBody>
            <a:bodyPr wrap="square" lIns="68072" tIns="68072" rIns="68072" bIns="68072"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电池</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21" name="Text 45"/>
            <p:cNvSpPr/>
            <p:nvPr/>
          </p:nvSpPr>
          <p:spPr>
            <a:xfrm>
              <a:off x="5723255" y="3310793"/>
              <a:ext cx="853516" cy="146881"/>
            </a:xfrm>
            <a:prstGeom prst="rect">
              <a:avLst/>
            </a:prstGeom>
            <a:noFill/>
          </p:spPr>
          <p:txBody>
            <a:bodyPr wrap="none" lIns="0" tIns="0" rIns="0" bIns="0" rtlCol="0" anchor="ctr">
              <a:spAutoFit/>
            </a:bodyPr>
            <a:lstStyle/>
            <a:p>
              <a:pPr marL="0" indent="0">
                <a:buNone/>
              </a:pPr>
              <a:r>
                <a:rPr 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可充电，8-10年</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22" name="Text 46"/>
            <p:cNvSpPr/>
            <p:nvPr/>
          </p:nvSpPr>
          <p:spPr>
            <a:xfrm>
              <a:off x="7195820" y="3259295"/>
              <a:ext cx="1662430" cy="256226"/>
            </a:xfrm>
            <a:prstGeom prst="rect">
              <a:avLst/>
            </a:prstGeom>
            <a:noFill/>
          </p:spPr>
          <p:txBody>
            <a:bodyPr wrap="square" lIns="68072" tIns="68072" rIns="68072" bIns="68072"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不可充电，3-5年</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123" name="图片 64" descr="Therapeutic"/>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18368" y="2182491"/>
              <a:ext cx="211651" cy="211651"/>
            </a:xfrm>
            <a:prstGeom prst="rect">
              <a:avLst/>
            </a:prstGeom>
          </p:spPr>
        </p:pic>
      </p:grpSp>
      <p:sp>
        <p:nvSpPr>
          <p:cNvPr id="124" name="Text 5"/>
          <p:cNvSpPr/>
          <p:nvPr/>
        </p:nvSpPr>
        <p:spPr>
          <a:xfrm>
            <a:off x="4221221" y="1474766"/>
            <a:ext cx="771045" cy="215444"/>
          </a:xfrm>
          <a:prstGeom prst="rect">
            <a:avLst/>
          </a:prstGeom>
          <a:noFill/>
        </p:spPr>
        <p:txBody>
          <a:bodyPr wrap="none" lIns="0" tIns="0" rIns="0" bIns="0" rtlCol="0" anchor="ctr">
            <a:spAutoFit/>
          </a:bodyPr>
          <a:lstStyle/>
          <a:p>
            <a:pPr marL="0" indent="0">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产品组成 </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125" name="图片 65" descr="产品文件"/>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827791" y="1438488"/>
            <a:ext cx="288000" cy="288000"/>
          </a:xfrm>
          <a:prstGeom prst="rect">
            <a:avLst/>
          </a:prstGeom>
        </p:spPr>
      </p:pic>
      <p:sp>
        <p:nvSpPr>
          <p:cNvPr id="126" name="矩形 917"/>
          <p:cNvSpPr txBox="1"/>
          <p:nvPr/>
        </p:nvSpPr>
        <p:spPr>
          <a:xfrm>
            <a:off x="3715713" y="1786137"/>
            <a:ext cx="1599275" cy="1167688"/>
          </a:xfrm>
          <a:prstGeom prst="rect">
            <a:avLst/>
          </a:prstGeom>
          <a:ln w="12700">
            <a:miter lim="400000"/>
          </a:ln>
        </p:spPr>
        <p:txBody>
          <a:bodyPr wrap="square" lIns="45718" tIns="45718" rIns="45718" bIns="45718">
            <a:spAutoFit/>
          </a:bodyPr>
          <a:lstStyle/>
          <a:p>
            <a:pPr>
              <a:lnSpc>
                <a:spcPct val="150000"/>
              </a:lnSpc>
              <a:defRPr sz="1100">
                <a:solidFill>
                  <a:srgbClr val="ED7672"/>
                </a:solidFill>
              </a:defRPr>
            </a:pPr>
            <a:r>
              <a:rPr sz="1200" b="1" dirty="0">
                <a:solidFill>
                  <a:schemeClr val="accent5">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01. </a:t>
            </a:r>
            <a:r>
              <a:rPr sz="1200" dirty="0">
                <a:solidFill>
                  <a:schemeClr val="accent5">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r>
              <a:rPr lang="zh-CN" altLang="en-US" sz="1200" b="1" dirty="0">
                <a:solidFill>
                  <a:srgbClr val="031F6D"/>
                </a:solidFill>
                <a:latin typeface="彩虹粗仿宋" panose="03000509000000000000" pitchFamily="65" charset="-122"/>
                <a:ea typeface="彩虹粗仿宋" panose="03000509000000000000" pitchFamily="65" charset="-122"/>
                <a:sym typeface="微软雅黑" panose="020B0503020204020204" charset="-122"/>
              </a:rPr>
              <a:t>神经刺激器</a:t>
            </a:r>
            <a:endParaRPr sz="1200" b="1" dirty="0">
              <a:solidFill>
                <a:srgbClr val="031F6D"/>
              </a:solidFill>
              <a:latin typeface="彩虹粗仿宋" panose="03000509000000000000" pitchFamily="65" charset="-122"/>
              <a:ea typeface="彩虹粗仿宋" panose="03000509000000000000" pitchFamily="65" charset="-122"/>
              <a:sym typeface="微软雅黑" panose="020B0503020204020204" charset="-122"/>
            </a:endParaRPr>
          </a:p>
          <a:p>
            <a:pPr>
              <a:lnSpc>
                <a:spcPct val="150000"/>
              </a:lnSpc>
              <a:defRPr sz="1100">
                <a:solidFill>
                  <a:srgbClr val="ED7672"/>
                </a:solidFill>
              </a:defRPr>
            </a:pPr>
            <a:r>
              <a:rPr sz="1200" b="1" dirty="0">
                <a:solidFill>
                  <a:schemeClr val="accent5">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02.  </a:t>
            </a:r>
            <a:r>
              <a:rPr lang="zh-CN" alt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电极导线套件</a:t>
            </a:r>
            <a:endParaRPr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a:lnSpc>
                <a:spcPct val="150000"/>
              </a:lnSpc>
              <a:defRPr sz="1100">
                <a:solidFill>
                  <a:srgbClr val="ED7672"/>
                </a:solidFill>
              </a:defRPr>
            </a:pPr>
            <a:r>
              <a:rPr sz="1200" b="1" dirty="0">
                <a:solidFill>
                  <a:schemeClr val="accent5">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03.</a:t>
            </a:r>
            <a:r>
              <a:rPr sz="1200" dirty="0">
                <a:solidFill>
                  <a:schemeClr val="accent5">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r>
              <a:rPr lang="zh-CN" alt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调试管理软件</a:t>
            </a:r>
            <a:endParaRPr lang="en-US" altLang="zh-CN"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a:lnSpc>
                <a:spcPct val="150000"/>
              </a:lnSpc>
              <a:defRPr sz="1100">
                <a:solidFill>
                  <a:srgbClr val="ED7672"/>
                </a:solidFill>
              </a:defRPr>
            </a:pPr>
            <a:r>
              <a:rPr lang="en-US" altLang="zh-CN" sz="1200" b="1" dirty="0">
                <a:solidFill>
                  <a:schemeClr val="accent5">
                    <a:lumMod val="75000"/>
                  </a:schemeClr>
                </a:solidFill>
                <a:latin typeface="彩虹粗仿宋" panose="03000509000000000000" pitchFamily="65" charset="-122"/>
                <a:ea typeface="彩虹粗仿宋" panose="03000509000000000000" pitchFamily="65" charset="-122"/>
                <a:sym typeface="微软雅黑" panose="020B0503020204020204" charset="-122"/>
              </a:rPr>
              <a:t>04.</a:t>
            </a:r>
            <a:r>
              <a:rPr lang="zh-CN" altLang="en-US" sz="1200" b="1" dirty="0">
                <a:solidFill>
                  <a:schemeClr val="accent5">
                    <a:lumMod val="75000"/>
                  </a:schemeClr>
                </a:solidFill>
                <a:latin typeface="彩虹粗仿宋" panose="03000509000000000000" pitchFamily="65" charset="-122"/>
                <a:ea typeface="彩虹粗仿宋" panose="03000509000000000000" pitchFamily="65" charset="-122"/>
                <a:sym typeface="微软雅黑" panose="020B0503020204020204" charset="-122"/>
              </a:rPr>
              <a:t>  </a:t>
            </a:r>
            <a:r>
              <a:rPr lang="zh-CN" alt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患者程控仪</a:t>
            </a:r>
            <a:endParaRPr lang="en-US" altLang="zh-CN"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130" name="图形 129" descr="住院治疗 纯色填充"/>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5462" y="5298914"/>
            <a:ext cx="360000" cy="360000"/>
          </a:xfrm>
          <a:prstGeom prst="rect">
            <a:avLst/>
          </a:prstGeom>
        </p:spPr>
      </p:pic>
      <p:sp>
        <p:nvSpPr>
          <p:cNvPr id="132" name="标题 13"/>
          <p:cNvSpPr>
            <a:spLocks noGrp="1"/>
          </p:cNvSpPr>
          <p:nvPr/>
        </p:nvSpPr>
        <p:spPr>
          <a:xfrm>
            <a:off x="1496060" y="-8095"/>
            <a:ext cx="1008697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2</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 </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脑机接口</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RNS——</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标的公司估值增长的关键</a:t>
            </a:r>
            <a:endPar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7"/>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sym typeface="+mn-ea"/>
              </a:rPr>
              <a:t>管线数据</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indent="0" algn="l" fontAlgn="auto">
              <a:lnSpc>
                <a:spcPct val="100000"/>
              </a:lnSpc>
            </a:pPr>
            <a:endParaRPr lang="zh-CN" altLang="en-US" sz="2000" spc="20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5" name="Shape 1"/>
          <p:cNvSpPr/>
          <p:nvPr/>
        </p:nvSpPr>
        <p:spPr>
          <a:xfrm>
            <a:off x="233931" y="698280"/>
            <a:ext cx="3298485" cy="1967849"/>
          </a:xfrm>
          <a:prstGeom prst="rect">
            <a:avLst/>
          </a:prstGeom>
          <a:solidFill>
            <a:srgbClr val="EBEBEB"/>
          </a:solidFill>
          <a:ln w="198">
            <a:noFill/>
            <a:prstDash val="solid"/>
          </a:ln>
        </p:spPr>
        <p:txBody>
          <a:bodyPr>
            <a:noAutofit/>
          </a:bodyPr>
          <a:lstStyle/>
          <a:p>
            <a:pPr lvl="0" algn="l">
              <a:buClrTx/>
              <a:buSzTx/>
              <a:buFontTx/>
            </a:pPr>
            <a:endParaRPr lang="en-US" sz="2400">
              <a:ln>
                <a:noFill/>
              </a:ln>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 name="矩形 6"/>
          <p:cNvSpPr/>
          <p:nvPr/>
        </p:nvSpPr>
        <p:spPr>
          <a:xfrm>
            <a:off x="3742055" y="723509"/>
            <a:ext cx="8229228" cy="59897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产品三：闭环神经调控系统 </a:t>
            </a:r>
            <a:r>
              <a:rPr lang="en-US" altLang="zh-CN"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Epilcure</a:t>
            </a:r>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，有望为国内首批脑机接口医疗器械</a:t>
            </a:r>
            <a:endPar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3" name="Shape 2"/>
          <p:cNvSpPr/>
          <p:nvPr/>
        </p:nvSpPr>
        <p:spPr>
          <a:xfrm>
            <a:off x="417228" y="780804"/>
            <a:ext cx="385767" cy="399510"/>
          </a:xfrm>
          <a:prstGeom prst="ellipse">
            <a:avLst/>
          </a:prstGeom>
          <a:solidFill>
            <a:srgbClr val="EBEBEB"/>
          </a:solidFill>
          <a:ln w="28575">
            <a:solidFill>
              <a:schemeClr val="bg1"/>
            </a:solidFill>
          </a:ln>
        </p:spPr>
        <p:style>
          <a:lnRef idx="0">
            <a:srgbClr val="FFFFFF"/>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en-US" sz="24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4" name="Text 3"/>
          <p:cNvSpPr/>
          <p:nvPr/>
        </p:nvSpPr>
        <p:spPr>
          <a:xfrm>
            <a:off x="1012623" y="859880"/>
            <a:ext cx="1384995" cy="276999"/>
          </a:xfrm>
          <a:prstGeom prst="rect">
            <a:avLst/>
          </a:prstGeom>
          <a:noFill/>
        </p:spPr>
        <p:txBody>
          <a:bodyPr wrap="none" lIns="0" tIns="0" rIns="0" bIns="0" rtlCol="0" anchor="ctr">
            <a:spAutoFit/>
          </a:bodyPr>
          <a:lstStyle/>
          <a:p>
            <a:r>
              <a:rPr lang="en-US" altLang="zh-CN"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闭环神经调控</a:t>
            </a:r>
            <a:endParaRPr lang="en-US" altLang="zh-CN"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5" name="Text 4"/>
          <p:cNvSpPr/>
          <p:nvPr/>
        </p:nvSpPr>
        <p:spPr>
          <a:xfrm>
            <a:off x="417228" y="1300186"/>
            <a:ext cx="2931892" cy="646331"/>
          </a:xfrm>
          <a:prstGeom prst="rect">
            <a:avLst/>
          </a:prstGeom>
          <a:noFill/>
        </p:spPr>
        <p:txBody>
          <a:bodyPr wrap="square" lIns="0" tIns="0" rIns="0" bIns="0" rtlCol="0" anchor="ctr">
            <a:spAutoFit/>
          </a:bodyPr>
          <a:lstStyle/>
          <a:p>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基于实时感知和自适应调节的闭环神经调控系统，为神经疾病提供精准、个性化治疗方案</a:t>
            </a:r>
            <a:r>
              <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endPar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7" name="Text 7"/>
          <p:cNvSpPr/>
          <p:nvPr/>
        </p:nvSpPr>
        <p:spPr>
          <a:xfrm>
            <a:off x="515157" y="2156870"/>
            <a:ext cx="2589683" cy="184666"/>
          </a:xfrm>
          <a:prstGeom prst="rect">
            <a:avLst/>
          </a:prstGeom>
          <a:noFill/>
        </p:spPr>
        <p:txBody>
          <a:bodyPr wrap="none" lIns="0" tIns="0" rIns="0" bIns="0" rtlCol="0" anchor="ctr">
            <a:spAutoFit/>
          </a:bodyPr>
          <a:lstStyle/>
          <a:p>
            <a:r>
              <a:rPr lang="en-US" altLang="zh-CN" sz="12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Epilcure</a:t>
            </a:r>
            <a:r>
              <a:rPr lang="en-US" altLang="zh-CN"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zh-CN" alt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altLang="zh-CN"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难治性癫痫闭环调控系统</a:t>
            </a:r>
            <a:endPar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70" name="图片 36" descr="神经学"/>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6511" y="857228"/>
            <a:ext cx="252000" cy="252000"/>
          </a:xfrm>
          <a:prstGeom prst="rect">
            <a:avLst/>
          </a:prstGeom>
        </p:spPr>
      </p:pic>
      <p:sp>
        <p:nvSpPr>
          <p:cNvPr id="132" name="标题 13"/>
          <p:cNvSpPr>
            <a:spLocks noGrp="1"/>
          </p:cNvSpPr>
          <p:nvPr/>
        </p:nvSpPr>
        <p:spPr>
          <a:xfrm>
            <a:off x="1496060" y="-8095"/>
            <a:ext cx="1008697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2</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、脑机接口</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RNS——</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标的公司估值增长的关键</a:t>
            </a:r>
            <a:endPar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4" name="图片 3"/>
          <p:cNvPicPr>
            <a:picLocks noChangeAspect="1"/>
          </p:cNvPicPr>
          <p:nvPr/>
        </p:nvPicPr>
        <p:blipFill>
          <a:blip r:embed="rId3"/>
          <a:stretch>
            <a:fillRect/>
          </a:stretch>
        </p:blipFill>
        <p:spPr>
          <a:xfrm>
            <a:off x="99060" y="3002915"/>
            <a:ext cx="4579620" cy="2966720"/>
          </a:xfrm>
          <a:prstGeom prst="rect">
            <a:avLst/>
          </a:prstGeom>
        </p:spPr>
      </p:pic>
      <p:sp>
        <p:nvSpPr>
          <p:cNvPr id="8" name="文本框 7"/>
          <p:cNvSpPr txBox="1"/>
          <p:nvPr/>
        </p:nvSpPr>
        <p:spPr>
          <a:xfrm>
            <a:off x="5082540" y="3457575"/>
            <a:ext cx="6096000" cy="1599565"/>
          </a:xfrm>
          <a:prstGeom prst="rect">
            <a:avLst/>
          </a:prstGeom>
          <a:noFill/>
        </p:spPr>
        <p:txBody>
          <a:bodyPr wrap="square" rtlCol="0" anchor="t">
            <a:spAutoFit/>
          </a:bodyPr>
          <a:lstStyle/>
          <a:p>
            <a:pPr algn="l">
              <a:buClrTx/>
              <a:buSzTx/>
              <a:buFontTx/>
            </a:pPr>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mn-ea"/>
              </a:rPr>
              <a:t>1.高灵敏度的电位采集与电极阵列：能够捕获颅内微弱而纯净的神经信号。</a:t>
            </a:r>
            <a:endPar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mn-ea"/>
            </a:endParaRPr>
          </a:p>
          <a:p>
            <a:pPr algn="l">
              <a:buClrTx/>
              <a:buSzTx/>
              <a:buFontTx/>
            </a:pPr>
            <a:endPar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endParaRPr>
          </a:p>
          <a:p>
            <a:pPr algn="l">
              <a:buClrTx/>
              <a:buSzTx/>
              <a:buFontTx/>
            </a:pPr>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mn-ea"/>
              </a:rPr>
              <a:t>2.精密的脑电识别算法：用于解析复杂的脑电模式，例如识别癫痫发作前兆。</a:t>
            </a:r>
            <a:endPar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endParaRPr>
          </a:p>
          <a:p>
            <a:pPr algn="l">
              <a:buClrTx/>
              <a:buSzTx/>
              <a:buFontTx/>
            </a:pPr>
            <a:endPar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mn-ea"/>
            </a:endParaRPr>
          </a:p>
          <a:p>
            <a:pPr algn="l">
              <a:buClrTx/>
              <a:buSzTx/>
              <a:buFontTx/>
            </a:pPr>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mn-ea"/>
              </a:rPr>
              <a:t>3.控制芯片：负责设备内部的信号处理和控制逻辑。</a:t>
            </a:r>
            <a:endPar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endParaRPr>
          </a:p>
          <a:p>
            <a:pPr algn="l">
              <a:buClrTx/>
              <a:buSzTx/>
              <a:buFontTx/>
            </a:pPr>
            <a:endPar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mn-ea"/>
            </a:endParaRPr>
          </a:p>
          <a:p>
            <a:pPr algn="l">
              <a:buClrTx/>
              <a:buSzTx/>
              <a:buFontTx/>
            </a:pPr>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mn-ea"/>
              </a:rPr>
              <a:t>4.高效的输出刺激系统：根据识别结果，精准地对神经系统进行调控干预。</a:t>
            </a:r>
            <a:endPar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mn-ea"/>
            </a:endParaRPr>
          </a:p>
        </p:txBody>
      </p:sp>
      <p:sp>
        <p:nvSpPr>
          <p:cNvPr id="24" name="文本框 23"/>
          <p:cNvSpPr txBox="1"/>
          <p:nvPr/>
        </p:nvSpPr>
        <p:spPr>
          <a:xfrm>
            <a:off x="207010" y="3194050"/>
            <a:ext cx="1934845" cy="328295"/>
          </a:xfrm>
          <a:prstGeom prst="rect">
            <a:avLst/>
          </a:prstGeom>
          <a:solidFill>
            <a:schemeClr val="bg1"/>
          </a:solidFill>
        </p:spPr>
        <p:txBody>
          <a:bodyPr wrap="square" rtlCol="0">
            <a:noAutofit/>
          </a:bodyPr>
          <a:lstStyle/>
          <a:p>
            <a:r>
              <a:rPr lang="zh-CN" altLang="en-US" sz="1400"/>
              <a:t>电位采集与电极阵列</a:t>
            </a:r>
            <a:endParaRPr lang="zh-CN" altLang="en-US" sz="1400"/>
          </a:p>
        </p:txBody>
      </p:sp>
      <p:sp>
        <p:nvSpPr>
          <p:cNvPr id="25" name="文本框 24"/>
          <p:cNvSpPr txBox="1"/>
          <p:nvPr/>
        </p:nvSpPr>
        <p:spPr>
          <a:xfrm>
            <a:off x="2892425" y="4170045"/>
            <a:ext cx="998220" cy="328295"/>
          </a:xfrm>
          <a:prstGeom prst="rect">
            <a:avLst/>
          </a:prstGeom>
          <a:solidFill>
            <a:schemeClr val="bg1"/>
          </a:solidFill>
        </p:spPr>
        <p:txBody>
          <a:bodyPr wrap="square" rtlCol="0">
            <a:noAutofit/>
          </a:bodyPr>
          <a:lstStyle/>
          <a:p>
            <a:r>
              <a:rPr lang="zh-CN" altLang="en-US" sz="1400"/>
              <a:t>控制芯片</a:t>
            </a:r>
            <a:endParaRPr lang="zh-CN" altLang="en-US" sz="1400"/>
          </a:p>
        </p:txBody>
      </p:sp>
      <p:sp>
        <p:nvSpPr>
          <p:cNvPr id="26" name="文本框 25"/>
          <p:cNvSpPr txBox="1"/>
          <p:nvPr/>
        </p:nvSpPr>
        <p:spPr>
          <a:xfrm>
            <a:off x="4083685" y="1570990"/>
            <a:ext cx="7437755" cy="953135"/>
          </a:xfrm>
          <a:prstGeom prst="rect">
            <a:avLst/>
          </a:prstGeom>
        </p:spPr>
        <p:txBody>
          <a:bodyPr wrap="square">
            <a:spAutoFit/>
          </a:bodyPr>
          <a:lstStyle/>
          <a:p>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rPr>
              <a:t>Epilcure™闭环神经调控系统通过四大核心模块构建完整的治疗闭环：以高灵敏度电极阵列捕获颅内微弱神经信号，经控制芯片实时处理后，由精密算法解析脑电模式、识别癫痫发作前兆，最终通过高效刺激系统精准输出干预信号，实现对难治性癫痫的自适应闭环调控，为患者提供精准、个性化的治疗方案。</a:t>
            </a:r>
            <a:endPar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endParaRPr>
          </a:p>
        </p:txBody>
      </p:sp>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赛道选择</a:t>
            </a:r>
            <a:endParaRPr lang="zh-CN" altLang="en-US" sz="1600" b="1">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496060" y="0"/>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脑机接口与传统神经电生理医疗器械：闭环治疗</a:t>
            </a:r>
            <a:r>
              <a:rPr lang="en-US" altLang="zh-CN" sz="2000" dirty="0">
                <a:solidFill>
                  <a:srgbClr val="5353B5"/>
                </a:solidFill>
                <a:latin typeface="微软雅黑" panose="020B0503020204020204" charset="-122"/>
                <a:ea typeface="微软雅黑" panose="020B0503020204020204" charset="-122"/>
                <a:cs typeface="微软雅黑" panose="020B0503020204020204" charset="-122"/>
              </a:rPr>
              <a:t>vs</a:t>
            </a:r>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诊疗工具</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endParaRPr>
          </a:p>
        </p:txBody>
      </p:sp>
      <p:sp>
        <p:nvSpPr>
          <p:cNvPr id="41" name="灯片编号占位符 10"/>
          <p:cNvSpPr>
            <a:spLocks noGrp="1"/>
          </p:cNvSpPr>
          <p:nvPr>
            <p:ph type="sldNum" sz="quarter" idx="12"/>
          </p:nvPr>
        </p:nvSpPr>
        <p:spPr>
          <a:xfrm>
            <a:off x="8610599" y="6240463"/>
            <a:ext cx="2909888" cy="206381"/>
          </a:xfrm>
        </p:spPr>
        <p:txBody>
          <a:bodyPr>
            <a:normAutofit fontScale="87500" lnSpcReduction="20000"/>
          </a:bodyPr>
          <a:lstStyle/>
          <a:p>
            <a:fld id="{BE5F26B5-172A-4DC2-B0B7-181CFC56B87C}" type="slidenum">
              <a:rPr lang="zh-CN" altLang="en-US" smtClean="0">
                <a:latin typeface="微软雅黑" panose="020B0503020204020204" charset="-122"/>
                <a:ea typeface="微软雅黑" panose="020B0503020204020204" charset="-122"/>
              </a:rPr>
            </a:fld>
            <a:endParaRPr lang="zh-CN" altLang="en-US">
              <a:latin typeface="微软雅黑" panose="020B0503020204020204" charset="-122"/>
              <a:ea typeface="微软雅黑" panose="020B0503020204020204" charset="-122"/>
            </a:endParaRPr>
          </a:p>
        </p:txBody>
      </p:sp>
      <p:sp>
        <p:nvSpPr>
          <p:cNvPr id="6" name="AutoShape 6"/>
          <p:cNvSpPr/>
          <p:nvPr/>
        </p:nvSpPr>
        <p:spPr>
          <a:xfrm>
            <a:off x="762000" y="2667000"/>
            <a:ext cx="5207000" cy="3810000"/>
          </a:xfrm>
          <a:prstGeom prst="roundRect">
            <a:avLst>
              <a:gd name="adj" fmla="val 2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 name="AutoShape 7"/>
          <p:cNvSpPr/>
          <p:nvPr/>
        </p:nvSpPr>
        <p:spPr>
          <a:xfrm>
            <a:off x="762000" y="2667000"/>
            <a:ext cx="5207000" cy="762000"/>
          </a:xfrm>
          <a:prstGeom prst="roundRect">
            <a:avLst>
              <a:gd name="adj" fmla="val 0"/>
            </a:avLst>
          </a:prstGeom>
          <a:solidFill>
            <a:srgbClr val="EEEEEE">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 name="AutoShape 8"/>
          <p:cNvSpPr/>
          <p:nvPr/>
        </p:nvSpPr>
        <p:spPr>
          <a:xfrm>
            <a:off x="889000" y="2768600"/>
            <a:ext cx="4953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神经电生理器械 (以SEEG为代表)</a:t>
            </a:r>
            <a:endParaRPr lang="en-US" sz="1800" b="1"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9" name="AutoShape 9"/>
          <p:cNvSpPr/>
          <p:nvPr/>
        </p:nvSpPr>
        <p:spPr>
          <a:xfrm>
            <a:off x="889000" y="3683000"/>
            <a:ext cx="4953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E6E6E"/>
                </a:solidFill>
                <a:latin typeface="微软雅黑" panose="020B0503020204020204" charset="-122"/>
                <a:ea typeface="微软雅黑" panose="020B0503020204020204" charset="-122"/>
                <a:cs typeface="微软雅黑" panose="020B0503020204020204" charset="-122"/>
                <a:sym typeface="Noto Sans SC" panose="020B0200000000000000" charset="-122"/>
              </a:rPr>
              <a:t>🔹 功能定位：</a:t>
            </a:r>
            <a:r>
              <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rPr>
              <a:t>只读不写，诊断工具 (一次性耗材)</a:t>
            </a:r>
            <a:endParaRPr lang="en-US" sz="1100">
              <a:latin typeface="微软雅黑" panose="020B0503020204020204" charset="-122"/>
              <a:ea typeface="微软雅黑" panose="020B0503020204020204" charset="-122"/>
              <a:cs typeface="微软雅黑" panose="020B0503020204020204" charset="-122"/>
            </a:endParaRPr>
          </a:p>
          <a:p>
            <a:pPr indent="0" algn="l">
              <a:lnSpc>
                <a:spcPct val="125000"/>
              </a:lnSpc>
            </a:pPr>
            <a:r>
              <a:rPr lang="en-US" sz="1300" b="1" i="0" u="none" strike="noStrike">
                <a:solidFill>
                  <a:srgbClr val="6E6E6E"/>
                </a:solidFill>
                <a:latin typeface="微软雅黑" panose="020B0503020204020204" charset="-122"/>
                <a:ea typeface="微软雅黑" panose="020B0503020204020204" charset="-122"/>
                <a:cs typeface="微软雅黑" panose="020B0503020204020204" charset="-122"/>
                <a:sym typeface="Noto Sans SC" panose="020B0200000000000000" charset="-122"/>
              </a:rPr>
              <a:t>🔹 工作流程：</a:t>
            </a:r>
            <a:r>
              <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rPr>
              <a:t>短期植入，术后取出，无持续服务</a:t>
            </a:r>
            <a:endPar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pPr>
            <a:r>
              <a:rPr lang="en-US" sz="1300" b="1" i="0" u="none" strike="noStrike">
                <a:solidFill>
                  <a:srgbClr val="6E6E6E"/>
                </a:solidFill>
                <a:latin typeface="微软雅黑" panose="020B0503020204020204" charset="-122"/>
                <a:ea typeface="微软雅黑" panose="020B0503020204020204" charset="-122"/>
                <a:cs typeface="微软雅黑" panose="020B0503020204020204" charset="-122"/>
                <a:sym typeface="Noto Sans SC" panose="020B0200000000000000" charset="-122"/>
              </a:rPr>
              <a:t>🔹 核心价值：</a:t>
            </a:r>
            <a:r>
              <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rPr>
              <a:t>术前病灶定位，单一环节价值</a:t>
            </a:r>
            <a:endPar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pPr>
            <a:r>
              <a:rPr lang="en-US" sz="1300" b="1" i="0" u="none" strike="noStrike">
                <a:solidFill>
                  <a:srgbClr val="6E6E6E"/>
                </a:solidFill>
                <a:latin typeface="微软雅黑" panose="020B0503020204020204" charset="-122"/>
                <a:ea typeface="微软雅黑" panose="020B0503020204020204" charset="-122"/>
                <a:cs typeface="微软雅黑" panose="020B0503020204020204" charset="-122"/>
                <a:sym typeface="Noto Sans SC" panose="020B0200000000000000" charset="-122"/>
              </a:rPr>
              <a:t>🔹 技术壁垒：</a:t>
            </a:r>
            <a:r>
              <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rPr>
              <a:t>主要依赖精密制造工艺</a:t>
            </a:r>
            <a:endPar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pPr>
            <a:r>
              <a:rPr lang="en-US" sz="1300" b="1" i="0" u="none" strike="noStrike">
                <a:solidFill>
                  <a:srgbClr val="6E6E6E"/>
                </a:solidFill>
                <a:latin typeface="微软雅黑" panose="020B0503020204020204" charset="-122"/>
                <a:ea typeface="微软雅黑" panose="020B0503020204020204" charset="-122"/>
                <a:cs typeface="微软雅黑" panose="020B0503020204020204" charset="-122"/>
                <a:sym typeface="Noto Sans SC" panose="020B0200000000000000" charset="-122"/>
              </a:rPr>
              <a:t>🔹 商业模式：</a:t>
            </a:r>
            <a:r>
              <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rPr>
              <a:t>单纯的“卖货”型耗材生意</a:t>
            </a:r>
            <a:endPar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pPr>
            <a:r>
              <a:rPr lang="en-US" sz="1300" b="1" i="0" u="none" strike="noStrike">
                <a:solidFill>
                  <a:srgbClr val="6E6E6E"/>
                </a:solidFill>
                <a:latin typeface="微软雅黑" panose="020B0503020204020204" charset="-122"/>
                <a:ea typeface="微软雅黑" panose="020B0503020204020204" charset="-122"/>
                <a:cs typeface="微软雅黑" panose="020B0503020204020204" charset="-122"/>
                <a:sym typeface="Noto Sans SC" panose="020B0200000000000000" charset="-122"/>
              </a:rPr>
              <a:t>🔹 估值逻辑：</a:t>
            </a:r>
            <a:r>
              <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rPr>
              <a:t>传统高值耗材PE/PB逻辑，天花板低</a:t>
            </a:r>
            <a:endParaRPr lang="en-US" sz="1300" b="0" i="0" u="none" strike="noStrike">
              <a:solidFill>
                <a:srgbClr val="5A5A5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0" name="AutoShape 10"/>
          <p:cNvSpPr/>
          <p:nvPr/>
        </p:nvSpPr>
        <p:spPr>
          <a:xfrm>
            <a:off x="6223000" y="2667000"/>
            <a:ext cx="5207000" cy="3810000"/>
          </a:xfrm>
          <a:prstGeom prst="roundRect">
            <a:avLst>
              <a:gd name="adj" fmla="val 2666"/>
            </a:avLst>
          </a:prstGeom>
          <a:solidFill>
            <a:srgbClr val="FFFFFF">
              <a:alpha val="100000"/>
            </a:srgbClr>
          </a:solidFill>
          <a:ln w="25400" cap="flat" cmpd="sng">
            <a:solidFill>
              <a:schemeClr val="accent1">
                <a:alpha val="100000"/>
              </a:scheme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n>
                <a:solidFill>
                  <a:srgbClr val="6161E1"/>
                </a:solidFill>
              </a:ln>
              <a:solidFill>
                <a:schemeClr val="accent1"/>
              </a:solidFill>
              <a:latin typeface="微软雅黑" panose="020B0503020204020204" charset="-122"/>
              <a:ea typeface="微软雅黑" panose="020B0503020204020204" charset="-122"/>
            </a:endParaRPr>
          </a:p>
        </p:txBody>
      </p:sp>
      <p:sp>
        <p:nvSpPr>
          <p:cNvPr id="11" name="AutoShape 11"/>
          <p:cNvSpPr/>
          <p:nvPr/>
        </p:nvSpPr>
        <p:spPr>
          <a:xfrm>
            <a:off x="6223000" y="2667000"/>
            <a:ext cx="5207000" cy="762000"/>
          </a:xfrm>
          <a:prstGeom prst="roundRect">
            <a:avLst>
              <a:gd name="adj" fmla="val 0"/>
            </a:avLst>
          </a:prstGeom>
          <a:solidFill>
            <a:schemeClr val="accent1"/>
          </a:solidFill>
          <a:ln w="25400" cap="flat" cmpd="sng">
            <a:solidFill>
              <a:schemeClr val="accent1"/>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2" name="AutoShape 12"/>
          <p:cNvSpPr/>
          <p:nvPr/>
        </p:nvSpPr>
        <p:spPr>
          <a:xfrm>
            <a:off x="6350000" y="2768600"/>
            <a:ext cx="4953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F172A"/>
                </a:solidFill>
                <a:latin typeface="微软雅黑" panose="020B0503020204020204" charset="-122"/>
                <a:ea typeface="微软雅黑" panose="020B0503020204020204" charset="-122"/>
                <a:cs typeface="微软雅黑" panose="020B0503020204020204" charset="-122"/>
                <a:sym typeface="Noto Sans SC" panose="020B0200000000000000" charset="-122"/>
              </a:rPr>
              <a:t>佳量 Epilcure® RNS 脑机接口</a:t>
            </a:r>
            <a:endParaRPr lang="en-US" sz="1800" b="1" i="0" u="none" strike="noStrike">
              <a:solidFill>
                <a:srgbClr val="0F172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 name="AutoShape 13"/>
          <p:cNvSpPr/>
          <p:nvPr/>
        </p:nvSpPr>
        <p:spPr>
          <a:xfrm>
            <a:off x="6567805" y="3683000"/>
            <a:ext cx="4953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E7490"/>
                </a:solidFill>
                <a:latin typeface="微软雅黑" panose="020B0503020204020204" charset="-122"/>
                <a:ea typeface="微软雅黑" panose="020B0503020204020204" charset="-122"/>
                <a:cs typeface="微软雅黑" panose="020B0503020204020204" charset="-122"/>
                <a:sym typeface="Noto Sans SC" panose="020B0200000000000000" charset="-122"/>
              </a:rPr>
              <a:t>💎 功能定位：</a:t>
            </a:r>
            <a:r>
              <a:rPr lang="en-US" sz="13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可读可写，闭环治疗</a:t>
            </a:r>
            <a:r>
              <a:rPr lang="en-US" sz="13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(解决疾病根本需求)</a:t>
            </a:r>
            <a:endParaRPr lang="en-US" sz="1100">
              <a:latin typeface="微软雅黑" panose="020B0503020204020204" charset="-122"/>
              <a:ea typeface="微软雅黑" panose="020B0503020204020204" charset="-122"/>
              <a:cs typeface="微软雅黑" panose="020B0503020204020204" charset="-122"/>
            </a:endParaRPr>
          </a:p>
          <a:p>
            <a:pPr indent="0" algn="l">
              <a:lnSpc>
                <a:spcPct val="125000"/>
              </a:lnSpc>
            </a:pPr>
            <a:r>
              <a:rPr lang="en-US" sz="1300" b="1" i="0" u="none" strike="noStrike">
                <a:solidFill>
                  <a:srgbClr val="0E7490"/>
                </a:solidFill>
                <a:latin typeface="微软雅黑" panose="020B0503020204020204" charset="-122"/>
                <a:ea typeface="微软雅黑" panose="020B0503020204020204" charset="-122"/>
                <a:cs typeface="微软雅黑" panose="020B0503020204020204" charset="-122"/>
                <a:sym typeface="Noto Sans SC" panose="020B0200000000000000" charset="-122"/>
              </a:rPr>
              <a:t>💎 工作流程：</a:t>
            </a:r>
            <a:r>
              <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24h实时监测+自动刺激，持续守护生命</a:t>
            </a:r>
            <a:endPar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pPr>
            <a:r>
              <a:rPr lang="en-US" sz="1300" b="1" i="0" u="none" strike="noStrike">
                <a:solidFill>
                  <a:srgbClr val="0E7490"/>
                </a:solidFill>
                <a:latin typeface="微软雅黑" panose="020B0503020204020204" charset="-122"/>
                <a:ea typeface="微软雅黑" panose="020B0503020204020204" charset="-122"/>
                <a:cs typeface="微软雅黑" panose="020B0503020204020204" charset="-122"/>
                <a:sym typeface="Noto Sans SC" panose="020B0200000000000000" charset="-122"/>
              </a:rPr>
              <a:t>💎 核心价值：</a:t>
            </a:r>
            <a:r>
              <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治疗级有源植入设备，构建生态入口</a:t>
            </a:r>
            <a:endPar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pPr>
            <a:r>
              <a:rPr lang="en-US" sz="1300" b="1" i="0" u="none" strike="noStrike">
                <a:solidFill>
                  <a:srgbClr val="0E7490"/>
                </a:solidFill>
                <a:latin typeface="微软雅黑" panose="020B0503020204020204" charset="-122"/>
                <a:ea typeface="微软雅黑" panose="020B0503020204020204" charset="-122"/>
                <a:cs typeface="微软雅黑" panose="020B0503020204020204" charset="-122"/>
                <a:sym typeface="Noto Sans SC" panose="020B0200000000000000" charset="-122"/>
              </a:rPr>
              <a:t>💎 技术壁垒：</a:t>
            </a:r>
            <a:r>
              <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自研BCMod平台+AI算法+长期临床数据</a:t>
            </a:r>
            <a:endPar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pPr>
            <a:r>
              <a:rPr lang="en-US" sz="1300" b="1" i="0" u="none" strike="noStrike">
                <a:solidFill>
                  <a:srgbClr val="0E7490"/>
                </a:solidFill>
                <a:latin typeface="微软雅黑" panose="020B0503020204020204" charset="-122"/>
                <a:ea typeface="微软雅黑" panose="020B0503020204020204" charset="-122"/>
                <a:cs typeface="微软雅黑" panose="020B0503020204020204" charset="-122"/>
                <a:sym typeface="Noto Sans SC" panose="020B0200000000000000" charset="-122"/>
              </a:rPr>
              <a:t>💎 商业模式：</a:t>
            </a:r>
            <a:r>
              <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设备+算法订阅+生态拓展，平台化爆发</a:t>
            </a:r>
            <a:endPar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25000"/>
              </a:lnSpc>
            </a:pPr>
            <a:r>
              <a:rPr lang="en-US" sz="1300" b="1" i="0" u="none" strike="noStrike">
                <a:solidFill>
                  <a:srgbClr val="0E7490"/>
                </a:solidFill>
                <a:latin typeface="微软雅黑" panose="020B0503020204020204" charset="-122"/>
                <a:ea typeface="微软雅黑" panose="020B0503020204020204" charset="-122"/>
                <a:cs typeface="微软雅黑" panose="020B0503020204020204" charset="-122"/>
                <a:sym typeface="Noto Sans SC" panose="020B0200000000000000" charset="-122"/>
              </a:rPr>
              <a:t>💎 估值逻辑：</a:t>
            </a:r>
            <a:r>
              <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科技+医疗双属性，享受未来产业高溢价</a:t>
            </a:r>
            <a:endPar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 name="AutoShape 5"/>
          <p:cNvSpPr/>
          <p:nvPr/>
        </p:nvSpPr>
        <p:spPr>
          <a:xfrm>
            <a:off x="1397000" y="1259205"/>
            <a:ext cx="9398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核心结论：SEEG神经电生理只是</a:t>
            </a:r>
            <a:r>
              <a:rPr lang="en-US" sz="16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入门流量业务</a:t>
            </a:r>
            <a:r>
              <a:rPr lang="en-US" sz="16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6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RNS脑机接口</a:t>
            </a:r>
            <a:r>
              <a:rPr lang="en-US" sz="16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才是技术底座与长期引擎。</a:t>
            </a:r>
            <a:endParaRPr lang="en-US" sz="16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赛道选择</a:t>
            </a:r>
            <a:endParaRPr lang="zh-CN" altLang="en-US" sz="1600" b="1">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496060" y="0"/>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佳量脑科学已完成癫痫诊疗全产业链布局</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endParaRPr>
          </a:p>
        </p:txBody>
      </p:sp>
      <p:sp>
        <p:nvSpPr>
          <p:cNvPr id="5" name="灯片编号占位符 10"/>
          <p:cNvSpPr>
            <a:spLocks noGrp="1"/>
          </p:cNvSpPr>
          <p:nvPr>
            <p:ph type="sldNum" sz="quarter" idx="12"/>
          </p:nvPr>
        </p:nvSpPr>
        <p:spPr>
          <a:xfrm>
            <a:off x="8610599" y="6240463"/>
            <a:ext cx="2909888" cy="206381"/>
          </a:xfrm>
        </p:spPr>
        <p:txBody>
          <a:bodyPr>
            <a:normAutofit fontScale="85000" lnSpcReduction="20000"/>
          </a:bodyPr>
          <a:lstStyle/>
          <a:p>
            <a:fld id="{BE5F26B5-172A-4DC2-B0B7-181CFC56B87C}" type="slidenum">
              <a:rPr lang="zh-CN" altLang="en-US" smtClean="0"/>
            </a:fld>
            <a:endParaRPr lang="zh-CN" altLang="en-US"/>
          </a:p>
        </p:txBody>
      </p:sp>
      <p:grpSp>
        <p:nvGrpSpPr>
          <p:cNvPr id="64" name="组合 63"/>
          <p:cNvGrpSpPr/>
          <p:nvPr/>
        </p:nvGrpSpPr>
        <p:grpSpPr>
          <a:xfrm>
            <a:off x="128675" y="809345"/>
            <a:ext cx="11744011" cy="5590685"/>
            <a:chOff x="128675" y="809345"/>
            <a:chExt cx="8770477" cy="4175147"/>
          </a:xfrm>
        </p:grpSpPr>
        <p:sp>
          <p:nvSpPr>
            <p:cNvPr id="6" name="圆角矩形"/>
            <p:cNvSpPr/>
            <p:nvPr/>
          </p:nvSpPr>
          <p:spPr>
            <a:xfrm>
              <a:off x="156209" y="1831839"/>
              <a:ext cx="1259205" cy="474345"/>
            </a:xfrm>
            <a:prstGeom prst="roundRect">
              <a:avLst>
                <a:gd name="adj" fmla="val 50000"/>
              </a:avLst>
            </a:prstGeom>
            <a:solidFill>
              <a:srgbClr val="EBEBEB"/>
            </a:solidFill>
            <a:ln w="12700">
              <a:miter lim="400000"/>
            </a:ln>
          </p:spPr>
          <p:txBody>
            <a:bodyPr lIns="45718" tIns="45718" rIns="45718" bIns="45718" anchor="ctr"/>
            <a:lstStyle/>
            <a:p>
              <a:pPr algn="ctr">
                <a:defRPr>
                  <a:solidFill>
                    <a:srgbClr val="FFFFFF"/>
                  </a:solidFill>
                  <a:latin typeface="+mj-lt"/>
                  <a:ea typeface="+mj-ea"/>
                  <a:cs typeface="+mj-cs"/>
                  <a:sym typeface="思源黑体 CN Normal" panose="020B0400000000000000" charset="-122"/>
                </a:defRPr>
              </a:pPr>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7" name="圆角矩形"/>
            <p:cNvSpPr/>
            <p:nvPr/>
          </p:nvSpPr>
          <p:spPr>
            <a:xfrm>
              <a:off x="6304915" y="3494405"/>
              <a:ext cx="1660525" cy="364490"/>
            </a:xfrm>
            <a:prstGeom prst="roundRect">
              <a:avLst>
                <a:gd name="adj" fmla="val 50000"/>
              </a:avLst>
            </a:prstGeom>
            <a:solidFill>
              <a:srgbClr val="EBEBEB"/>
            </a:solidFill>
            <a:ln w="12700">
              <a:miter lim="400000"/>
            </a:ln>
          </p:spPr>
          <p:txBody>
            <a:bodyPr lIns="45718" tIns="45718" rIns="45718" bIns="45718" anchor="ctr"/>
            <a:lstStyle/>
            <a:p>
              <a:pPr algn="ctr">
                <a:defRPr>
                  <a:solidFill>
                    <a:srgbClr val="FFFFFF"/>
                  </a:solidFill>
                  <a:latin typeface="+mj-lt"/>
                  <a:ea typeface="+mj-ea"/>
                  <a:cs typeface="+mj-cs"/>
                  <a:sym typeface="思源黑体 CN Normal" panose="020B0400000000000000" charset="-122"/>
                </a:defRPr>
              </a:pPr>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 name="圆角矩形"/>
            <p:cNvSpPr/>
            <p:nvPr/>
          </p:nvSpPr>
          <p:spPr>
            <a:xfrm>
              <a:off x="6304916" y="3956050"/>
              <a:ext cx="1680210" cy="364490"/>
            </a:xfrm>
            <a:prstGeom prst="roundRect">
              <a:avLst>
                <a:gd name="adj" fmla="val 50000"/>
              </a:avLst>
            </a:prstGeom>
            <a:solidFill>
              <a:schemeClr val="accent6"/>
            </a:solidFill>
            <a:ln w="12700">
              <a:solidFill>
                <a:schemeClr val="accent6"/>
              </a:solidFill>
              <a:miter lim="400000"/>
            </a:ln>
          </p:spPr>
          <p:txBody>
            <a:bodyPr lIns="45718" tIns="45718" rIns="45718" bIns="45718" anchor="ctr"/>
            <a:lstStyle/>
            <a:p>
              <a:pPr algn="ctr">
                <a:defRPr>
                  <a:solidFill>
                    <a:srgbClr val="FFFFFF"/>
                  </a:solidFill>
                  <a:latin typeface="+mj-lt"/>
                  <a:ea typeface="+mj-ea"/>
                  <a:cs typeface="+mj-cs"/>
                  <a:sym typeface="思源黑体 CN Normal" panose="020B0400000000000000" charset="-122"/>
                </a:defRPr>
              </a:pPr>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9" name="圆角矩形"/>
            <p:cNvSpPr/>
            <p:nvPr/>
          </p:nvSpPr>
          <p:spPr>
            <a:xfrm>
              <a:off x="6324963" y="3017520"/>
              <a:ext cx="1640477" cy="364490"/>
            </a:xfrm>
            <a:prstGeom prst="roundRect">
              <a:avLst>
                <a:gd name="adj" fmla="val 50000"/>
              </a:avLst>
            </a:prstGeom>
            <a:solidFill>
              <a:srgbClr val="EBEBEB"/>
            </a:solidFill>
            <a:ln w="12700">
              <a:miter lim="400000"/>
            </a:ln>
          </p:spPr>
          <p:txBody>
            <a:bodyPr lIns="45718" tIns="45718" rIns="45718" bIns="45718" anchor="ctr">
              <a:noAutofit/>
            </a:bodyPr>
            <a:lstStyle/>
            <a:p>
              <a:pPr lvl="0" algn="ctr">
                <a:buClrTx/>
                <a:buSzTx/>
                <a:buFontTx/>
                <a:defRPr>
                  <a:solidFill>
                    <a:srgbClr val="FFFFFF"/>
                  </a:solidFill>
                  <a:latin typeface="+mj-lt"/>
                  <a:ea typeface="+mj-ea"/>
                  <a:cs typeface="+mj-cs"/>
                  <a:sym typeface="思源黑体 CN Normal" panose="020B0400000000000000" charset="-122"/>
                </a:defRPr>
              </a:pPr>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0" name="圆角矩形"/>
            <p:cNvSpPr/>
            <p:nvPr/>
          </p:nvSpPr>
          <p:spPr>
            <a:xfrm>
              <a:off x="6304915" y="1931744"/>
              <a:ext cx="1588770" cy="339016"/>
            </a:xfrm>
            <a:prstGeom prst="roundRect">
              <a:avLst>
                <a:gd name="adj" fmla="val 50000"/>
              </a:avLst>
            </a:prstGeom>
            <a:solidFill>
              <a:schemeClr val="accent6"/>
            </a:solidFill>
            <a:ln w="12700">
              <a:solidFill>
                <a:schemeClr val="accent6"/>
              </a:solidFill>
              <a:miter lim="400000"/>
            </a:ln>
          </p:spPr>
          <p:txBody>
            <a:bodyPr lIns="45718" tIns="45718" rIns="45718" bIns="45718" anchor="ctr"/>
            <a:lstStyle/>
            <a:p>
              <a:pPr algn="ctr">
                <a:defRPr>
                  <a:solidFill>
                    <a:srgbClr val="FFFFFF"/>
                  </a:solidFill>
                  <a:latin typeface="+mj-lt"/>
                  <a:ea typeface="+mj-ea"/>
                  <a:cs typeface="+mj-cs"/>
                  <a:sym typeface="思源黑体 CN Normal" panose="020B0400000000000000" charset="-122"/>
                </a:defRPr>
              </a:pP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 name="圆形"/>
            <p:cNvSpPr/>
            <p:nvPr/>
          </p:nvSpPr>
          <p:spPr>
            <a:xfrm>
              <a:off x="4418965" y="2576376"/>
              <a:ext cx="723265" cy="723265"/>
            </a:xfrm>
            <a:prstGeom prst="ellipse">
              <a:avLst/>
            </a:prstGeom>
            <a:solidFill>
              <a:schemeClr val="accent1"/>
            </a:solidFill>
            <a:ln w="12700">
              <a:miter lim="400000"/>
            </a:ln>
          </p:spPr>
          <p:txBody>
            <a:bodyPr lIns="45718" tIns="45718" rIns="45718" bIns="45718" anchor="ctr"/>
            <a:lstStyle/>
            <a:p>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2" name="圆角矩形"/>
            <p:cNvSpPr/>
            <p:nvPr/>
          </p:nvSpPr>
          <p:spPr>
            <a:xfrm>
              <a:off x="6301423" y="1334726"/>
              <a:ext cx="1595755" cy="506606"/>
            </a:xfrm>
            <a:prstGeom prst="roundRect">
              <a:avLst>
                <a:gd name="adj" fmla="val 50000"/>
              </a:avLst>
            </a:prstGeom>
            <a:solidFill>
              <a:srgbClr val="EBEBEB"/>
            </a:solidFill>
            <a:ln w="12700">
              <a:miter lim="400000"/>
            </a:ln>
          </p:spPr>
          <p:txBody>
            <a:bodyPr lIns="45718" tIns="45718" rIns="45718" bIns="45718" anchor="ctr"/>
            <a:lstStyle/>
            <a:p>
              <a:pPr algn="ctr"/>
              <a:r>
                <a:rPr lang="zh-CN" altLang="en-US" sz="1400" b="1" dirty="0">
                  <a:latin typeface="彩虹粗仿宋" panose="03000509000000000000" pitchFamily="65" charset="-122"/>
                  <a:ea typeface="彩虹粗仿宋" panose="03000509000000000000" pitchFamily="65" charset="-122"/>
                  <a:sym typeface="微软雅黑" panose="020B0503020204020204" charset="-122"/>
                </a:rPr>
                <a:t>手术切除</a:t>
              </a:r>
              <a:endParaRPr lang="en-US" altLang="zh-CN" sz="1400" b="1" dirty="0">
                <a:latin typeface="彩虹粗仿宋" panose="03000509000000000000" pitchFamily="65" charset="-122"/>
                <a:ea typeface="彩虹粗仿宋" panose="03000509000000000000" pitchFamily="65" charset="-122"/>
                <a:sym typeface="微软雅黑" panose="020B0503020204020204" charset="-122"/>
              </a:endParaRPr>
            </a:p>
            <a:p>
              <a:pPr algn="ctr"/>
              <a:r>
                <a:rPr lang="en-US" altLang="zh-CN" sz="1400" b="1" dirty="0">
                  <a:latin typeface="彩虹粗仿宋" panose="03000509000000000000" pitchFamily="65" charset="-122"/>
                  <a:ea typeface="彩虹粗仿宋" panose="03000509000000000000" pitchFamily="65" charset="-122"/>
                  <a:sym typeface="微软雅黑" panose="020B0503020204020204" charset="-122"/>
                </a:rPr>
                <a:t>(</a:t>
              </a:r>
              <a:r>
                <a:rPr lang="zh-CN" altLang="en-US" sz="1400" b="1" dirty="0">
                  <a:latin typeface="彩虹粗仿宋" panose="03000509000000000000" pitchFamily="65" charset="-122"/>
                  <a:ea typeface="彩虹粗仿宋" panose="03000509000000000000" pitchFamily="65" charset="-122"/>
                  <a:sym typeface="微软雅黑" panose="020B0503020204020204" charset="-122"/>
                </a:rPr>
                <a:t>创伤大，神经功能永久损伤发生率高</a:t>
              </a:r>
              <a:r>
                <a:rPr lang="en-US" altLang="zh-CN" sz="1400" b="1" dirty="0">
                  <a:latin typeface="彩虹粗仿宋" panose="03000509000000000000" pitchFamily="65" charset="-122"/>
                  <a:ea typeface="彩虹粗仿宋" panose="03000509000000000000" pitchFamily="65" charset="-122"/>
                  <a:sym typeface="微软雅黑" panose="020B0503020204020204" charset="-122"/>
                </a:rPr>
                <a:t>)</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5" name="圆角矩形"/>
            <p:cNvSpPr/>
            <p:nvPr/>
          </p:nvSpPr>
          <p:spPr>
            <a:xfrm>
              <a:off x="1421130" y="2675816"/>
              <a:ext cx="1163955" cy="538480"/>
            </a:xfrm>
            <a:prstGeom prst="roundRect">
              <a:avLst>
                <a:gd name="adj" fmla="val 50000"/>
              </a:avLst>
            </a:prstGeom>
            <a:solidFill>
              <a:srgbClr val="EBEBEB"/>
            </a:solidFill>
            <a:ln w="12700">
              <a:miter lim="400000"/>
            </a:ln>
          </p:spPr>
          <p:txBody>
            <a:bodyPr lIns="45718" tIns="45718" rIns="45718" bIns="45718" anchor="ctr"/>
            <a:lstStyle/>
            <a:p>
              <a:pPr algn="ctr">
                <a:defRPr>
                  <a:solidFill>
                    <a:srgbClr val="FFFFFF"/>
                  </a:solidFill>
                  <a:latin typeface="+mj-lt"/>
                  <a:ea typeface="+mj-ea"/>
                  <a:cs typeface="+mj-cs"/>
                  <a:sym typeface="思源黑体 CN Normal" panose="020B0400000000000000" charset="-122"/>
                </a:defRPr>
              </a:pPr>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6" name="圆角矩形"/>
            <p:cNvSpPr/>
            <p:nvPr/>
          </p:nvSpPr>
          <p:spPr>
            <a:xfrm>
              <a:off x="2757557" y="2669721"/>
              <a:ext cx="1360170" cy="536575"/>
            </a:xfrm>
            <a:prstGeom prst="roundRect">
              <a:avLst>
                <a:gd name="adj" fmla="val 50000"/>
              </a:avLst>
            </a:prstGeom>
            <a:solidFill>
              <a:schemeClr val="accent6"/>
            </a:solidFill>
            <a:ln w="12700">
              <a:solidFill>
                <a:schemeClr val="accent6"/>
              </a:solidFill>
              <a:miter lim="400000"/>
            </a:ln>
          </p:spPr>
          <p:txBody>
            <a:bodyPr lIns="45718" tIns="45718" rIns="45718" bIns="45718" anchor="ctr"/>
            <a:lstStyle/>
            <a:p>
              <a:pPr algn="ctr">
                <a:defRPr>
                  <a:solidFill>
                    <a:srgbClr val="FFFFFF"/>
                  </a:solidFill>
                  <a:latin typeface="+mj-lt"/>
                  <a:ea typeface="+mj-ea"/>
                  <a:cs typeface="+mj-cs"/>
                  <a:sym typeface="思源黑体 CN Normal" panose="020B0400000000000000" charset="-122"/>
                </a:defRPr>
              </a:pP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7" name="圆角矩形"/>
            <p:cNvSpPr/>
            <p:nvPr/>
          </p:nvSpPr>
          <p:spPr>
            <a:xfrm>
              <a:off x="156209" y="3680324"/>
              <a:ext cx="1259206" cy="520065"/>
            </a:xfrm>
            <a:prstGeom prst="roundRect">
              <a:avLst>
                <a:gd name="adj" fmla="val 50000"/>
              </a:avLst>
            </a:prstGeom>
            <a:solidFill>
              <a:srgbClr val="EBEBEB"/>
            </a:solidFill>
            <a:ln w="12700">
              <a:miter lim="400000"/>
            </a:ln>
          </p:spPr>
          <p:txBody>
            <a:bodyPr lIns="45718" tIns="45718" rIns="45718" bIns="45718" anchor="ctr"/>
            <a:lstStyle/>
            <a:p>
              <a:pPr algn="ctr">
                <a:defRPr>
                  <a:solidFill>
                    <a:srgbClr val="FFFFFF"/>
                  </a:solidFill>
                  <a:latin typeface="+mj-lt"/>
                  <a:ea typeface="+mj-ea"/>
                  <a:cs typeface="+mj-cs"/>
                  <a:sym typeface="思源黑体 CN Normal" panose="020B0400000000000000" charset="-122"/>
                </a:defRPr>
              </a:pPr>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8" name="圆形"/>
            <p:cNvSpPr/>
            <p:nvPr/>
          </p:nvSpPr>
          <p:spPr>
            <a:xfrm>
              <a:off x="395605" y="2567169"/>
              <a:ext cx="777240" cy="777240"/>
            </a:xfrm>
            <a:prstGeom prst="ellipse">
              <a:avLst/>
            </a:prstGeom>
            <a:solidFill>
              <a:schemeClr val="accent1"/>
            </a:solidFill>
            <a:ln w="12700">
              <a:miter lim="400000"/>
            </a:ln>
          </p:spPr>
          <p:txBody>
            <a:bodyPr lIns="45718" tIns="45718" rIns="45718" bIns="45718" anchor="ctr"/>
            <a:lstStyle/>
            <a:p>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9" name="圆角矩形"/>
            <p:cNvSpPr/>
            <p:nvPr/>
          </p:nvSpPr>
          <p:spPr>
            <a:xfrm>
              <a:off x="156210" y="1198744"/>
              <a:ext cx="1259205" cy="398145"/>
            </a:xfrm>
            <a:prstGeom prst="roundRect">
              <a:avLst>
                <a:gd name="adj" fmla="val 50000"/>
              </a:avLst>
            </a:prstGeom>
            <a:solidFill>
              <a:srgbClr val="EBEBEB"/>
            </a:solidFill>
            <a:ln w="12700">
              <a:miter lim="400000"/>
            </a:ln>
          </p:spPr>
          <p:txBody>
            <a:bodyPr lIns="45718" tIns="45718" rIns="45718" bIns="45718" anchor="ctr"/>
            <a:lstStyle/>
            <a:p>
              <a:pPr algn="ctr">
                <a:defRPr>
                  <a:solidFill>
                    <a:srgbClr val="FFFFFF"/>
                  </a:solidFill>
                  <a:latin typeface="+mj-lt"/>
                  <a:ea typeface="+mj-ea"/>
                  <a:cs typeface="+mj-cs"/>
                  <a:sym typeface="思源黑体 CN Normal" panose="020B0400000000000000" charset="-122"/>
                </a:defRPr>
              </a:pPr>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0" name="癫痫临床诊断"/>
            <p:cNvSpPr txBox="1"/>
            <p:nvPr/>
          </p:nvSpPr>
          <p:spPr>
            <a:xfrm>
              <a:off x="242570" y="1269240"/>
              <a:ext cx="1101090" cy="229846"/>
            </a:xfrm>
            <a:prstGeom prst="rect">
              <a:avLst/>
            </a:prstGeom>
            <a:ln w="12700">
              <a:miter lim="400000"/>
            </a:ln>
          </p:spPr>
          <p:txBody>
            <a:bodyPr lIns="45718" tIns="45718" rIns="45718" bIns="45718" anchor="ctr">
              <a:spAutoFit/>
            </a:bodyPr>
            <a:lstStyle>
              <a:lvl1pPr algn="ctr">
                <a:defRPr sz="1100"/>
              </a:lvl1pPr>
            </a:lstStyle>
            <a:p>
              <a:r>
                <a:rPr sz="1400" b="1"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癫痫临床诊断</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1" name="初始药物治疗"/>
            <p:cNvSpPr txBox="1"/>
            <p:nvPr/>
          </p:nvSpPr>
          <p:spPr>
            <a:xfrm>
              <a:off x="270510" y="1956310"/>
              <a:ext cx="968375" cy="229846"/>
            </a:xfrm>
            <a:prstGeom prst="rect">
              <a:avLst/>
            </a:prstGeom>
            <a:ln w="12700">
              <a:miter lim="400000"/>
            </a:ln>
          </p:spPr>
          <p:txBody>
            <a:bodyPr lIns="45718" tIns="45718" rIns="45718" bIns="45718" anchor="ctr">
              <a:spAutoFit/>
            </a:bodyPr>
            <a:lstStyle>
              <a:lvl1pPr algn="ctr">
                <a:defRPr sz="1100"/>
              </a:lvl1pPr>
            </a:lstStyle>
            <a:p>
              <a:r>
                <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初始药物治疗</a:t>
              </a:r>
              <a:endParaRPr sz="1400" b="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2" name="矩形 6"/>
            <p:cNvSpPr txBox="1"/>
            <p:nvPr/>
          </p:nvSpPr>
          <p:spPr>
            <a:xfrm>
              <a:off x="405765" y="2742958"/>
              <a:ext cx="738505" cy="390740"/>
            </a:xfrm>
            <a:prstGeom prst="rect">
              <a:avLst/>
            </a:prstGeom>
            <a:ln w="12700">
              <a:miter lim="400000"/>
            </a:ln>
          </p:spPr>
          <p:txBody>
            <a:bodyPr lIns="45718" tIns="45718" rIns="45718" bIns="45718" anchor="ctr">
              <a:spAutoFit/>
            </a:bodyPr>
            <a:lstStyle/>
            <a:p>
              <a:pPr algn="ctr">
                <a:defRPr sz="1100">
                  <a:solidFill>
                    <a:srgbClr val="FFFFFF"/>
                  </a:solidFill>
                </a:defRPr>
              </a:pPr>
              <a:r>
                <a:rPr sz="1400" b="1"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药物治疗</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algn="ctr">
                <a:defRPr sz="1100">
                  <a:solidFill>
                    <a:srgbClr val="FFFFFF"/>
                  </a:solidFill>
                </a:defRPr>
              </a:pPr>
              <a:r>
                <a:rPr sz="1400" b="1"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有效</a:t>
              </a:r>
              <a:r>
                <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3" name="继续药物控制与随访"/>
            <p:cNvSpPr txBox="1"/>
            <p:nvPr/>
          </p:nvSpPr>
          <p:spPr>
            <a:xfrm>
              <a:off x="359410" y="3732287"/>
              <a:ext cx="829945" cy="390740"/>
            </a:xfrm>
            <a:prstGeom prst="rect">
              <a:avLst/>
            </a:prstGeom>
            <a:ln w="12700">
              <a:miter lim="400000"/>
            </a:ln>
          </p:spPr>
          <p:txBody>
            <a:bodyPr lIns="45718" tIns="45718" rIns="45718" bIns="45718" anchor="ctr">
              <a:spAutoFit/>
            </a:bodyPr>
            <a:lstStyle>
              <a:lvl1pPr algn="ctr">
                <a:defRPr sz="1100"/>
              </a:lvl1pPr>
            </a:lstStyle>
            <a:p>
              <a:r>
                <a:rPr sz="1400" b="1"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继续药物控制与随访</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4" name="MRI/PET/CT等…"/>
            <p:cNvSpPr txBox="1"/>
            <p:nvPr/>
          </p:nvSpPr>
          <p:spPr>
            <a:xfrm>
              <a:off x="1428433" y="2759274"/>
              <a:ext cx="1137285" cy="390740"/>
            </a:xfrm>
            <a:prstGeom prst="rect">
              <a:avLst/>
            </a:prstGeom>
            <a:ln w="12700">
              <a:miter lim="400000"/>
            </a:ln>
          </p:spPr>
          <p:txBody>
            <a:bodyPr lIns="45718" tIns="45718" rIns="45718" bIns="45718" anchor="ctr">
              <a:spAutoFit/>
            </a:bodyPr>
            <a:lstStyle/>
            <a:p>
              <a:pPr algn="ctr">
                <a:defRPr sz="1100"/>
              </a:pPr>
              <a:r>
                <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MRI/PET/</a:t>
              </a:r>
              <a:r>
                <a:rPr sz="1400" b="1"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CT等</a:t>
              </a:r>
              <a:endParaRPr sz="1400" b="1" dirty="0">
                <a:solidFill>
                  <a:srgbClr val="FFFFFF"/>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algn="ctr">
                <a:defRPr sz="1100"/>
              </a:pPr>
              <a:r>
                <a:rPr sz="1400" b="1"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影像学评估</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5" name="LITT 激光间质热疗"/>
            <p:cNvSpPr txBox="1"/>
            <p:nvPr/>
          </p:nvSpPr>
          <p:spPr>
            <a:xfrm>
              <a:off x="6489700" y="1937397"/>
              <a:ext cx="1343025" cy="229846"/>
            </a:xfrm>
            <a:prstGeom prst="rect">
              <a:avLst/>
            </a:prstGeom>
            <a:ln w="12700">
              <a:miter lim="400000"/>
            </a:ln>
          </p:spPr>
          <p:txBody>
            <a:bodyPr lIns="45718" tIns="45718" rIns="45718" bIns="45718" anchor="ctr">
              <a:spAutoFit/>
            </a:bodyPr>
            <a:lstStyle>
              <a:lvl1pPr algn="ctr">
                <a:defRPr sz="1100">
                  <a:solidFill>
                    <a:srgbClr val="FFFFFF"/>
                  </a:solidFill>
                </a:defRPr>
              </a:lvl1pPr>
            </a:lstStyle>
            <a:p>
              <a:r>
                <a:rPr sz="1400" b="1" dirty="0">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LITT </a:t>
              </a:r>
              <a:r>
                <a:rPr sz="1400" b="1" dirty="0" err="1">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激光</a:t>
              </a:r>
              <a:r>
                <a:rPr lang="zh-CN" altLang="en-US" sz="1400" b="1" dirty="0">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消融</a:t>
              </a:r>
              <a:endParaRPr lang="zh-CN" altLang="en-US" sz="1400" b="1" dirty="0">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6" name="VNS 迷走神经刺激"/>
            <p:cNvSpPr txBox="1"/>
            <p:nvPr/>
          </p:nvSpPr>
          <p:spPr>
            <a:xfrm>
              <a:off x="6471285" y="2988939"/>
              <a:ext cx="1343025" cy="390740"/>
            </a:xfrm>
            <a:prstGeom prst="rect">
              <a:avLst/>
            </a:prstGeom>
            <a:ln w="12700">
              <a:miter lim="400000"/>
            </a:ln>
          </p:spPr>
          <p:txBody>
            <a:bodyPr lIns="45718" tIns="45718" rIns="45718" bIns="45718" anchor="ctr">
              <a:spAutoFit/>
            </a:bodyPr>
            <a:lstStyle>
              <a:lvl1pPr algn="ctr">
                <a:defRPr sz="1100"/>
              </a:lvl1pPr>
            </a:lstStyle>
            <a:p>
              <a:r>
                <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VNS </a:t>
              </a:r>
              <a:r>
                <a:rPr sz="1400" b="1"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迷走神经刺激</a:t>
              </a:r>
              <a:endParaRPr lang="en-US"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r>
                <a:rPr lang="zh-CN" altLang="en-US"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（效果较差）</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7" name="DBS 脑深部电刺激"/>
            <p:cNvSpPr txBox="1"/>
            <p:nvPr/>
          </p:nvSpPr>
          <p:spPr>
            <a:xfrm>
              <a:off x="6489700" y="3474296"/>
              <a:ext cx="1313180" cy="390740"/>
            </a:xfrm>
            <a:prstGeom prst="rect">
              <a:avLst/>
            </a:prstGeom>
            <a:ln w="12700">
              <a:miter lim="400000"/>
            </a:ln>
          </p:spPr>
          <p:txBody>
            <a:bodyPr lIns="45718" tIns="45718" rIns="45718" bIns="45718" anchor="ctr">
              <a:spAutoFit/>
            </a:bodyPr>
            <a:lstStyle>
              <a:lvl1pPr algn="ctr">
                <a:defRPr sz="1100"/>
              </a:lvl1pPr>
            </a:lstStyle>
            <a:p>
              <a:r>
                <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DBS </a:t>
              </a:r>
              <a:r>
                <a:rPr sz="1400" b="1"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脑深部电刺激</a:t>
              </a:r>
              <a:endParaRPr lang="en-US"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r>
                <a:rPr lang="zh-CN" altLang="en-US"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（主要用于帕金森）</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8" name="RNS 反应性神经电刺激"/>
            <p:cNvSpPr txBox="1"/>
            <p:nvPr/>
          </p:nvSpPr>
          <p:spPr>
            <a:xfrm>
              <a:off x="6402070" y="3930860"/>
              <a:ext cx="1563370" cy="390740"/>
            </a:xfrm>
            <a:prstGeom prst="rect">
              <a:avLst/>
            </a:prstGeom>
            <a:ln w="12700">
              <a:miter lim="400000"/>
            </a:ln>
          </p:spPr>
          <p:txBody>
            <a:bodyPr lIns="45718" tIns="45718" rIns="45718" bIns="45718" anchor="ctr">
              <a:spAutoFit/>
            </a:bodyPr>
            <a:lstStyle>
              <a:lvl1pPr algn="ctr">
                <a:defRPr sz="1100">
                  <a:solidFill>
                    <a:srgbClr val="FFFFFF"/>
                  </a:solidFill>
                </a:defRPr>
              </a:lvl1pPr>
            </a:lstStyle>
            <a:p>
              <a:r>
                <a:rPr sz="1400" b="1" dirty="0">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RNS </a:t>
              </a:r>
              <a:r>
                <a:rPr sz="1400" b="1" dirty="0" err="1">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反应性神经</a:t>
              </a:r>
              <a:r>
                <a:rPr lang="zh-CN" altLang="en-US" sz="1400" b="1" dirty="0">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调控</a:t>
              </a:r>
              <a:endParaRPr lang="en-US" altLang="zh-CN" sz="1400" b="1" dirty="0">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r>
                <a:rPr lang="zh-CN" altLang="en-US" sz="1400" b="1" dirty="0">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（脑机接口技术）</a:t>
              </a:r>
              <a:endParaRPr lang="zh-CN" altLang="en-US" sz="1400" b="1" dirty="0">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9" name="SEEG 立体定向脑电图监测"/>
            <p:cNvSpPr txBox="1"/>
            <p:nvPr/>
          </p:nvSpPr>
          <p:spPr>
            <a:xfrm>
              <a:off x="2952611" y="2750625"/>
              <a:ext cx="943610" cy="388861"/>
            </a:xfrm>
            <a:prstGeom prst="rect">
              <a:avLst/>
            </a:prstGeom>
            <a:ln w="12700">
              <a:miter lim="400000"/>
            </a:ln>
          </p:spPr>
          <p:txBody>
            <a:bodyPr lIns="45718" tIns="45718" rIns="45718" bIns="45718" anchor="ctr">
              <a:spAutoFit/>
            </a:bodyPr>
            <a:lstStyle>
              <a:lvl1pPr algn="ctr">
                <a:defRPr sz="1100">
                  <a:solidFill>
                    <a:srgbClr val="FFFFFF"/>
                  </a:solidFill>
                </a:defRPr>
              </a:lvl1pPr>
            </a:lstStyle>
            <a:p>
              <a:r>
                <a:rPr sz="1400" b="1" dirty="0">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SEEG </a:t>
              </a:r>
              <a:r>
                <a:rPr sz="1400" b="1" dirty="0" err="1">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立体定向脑电图监测</a:t>
              </a:r>
              <a:endParaRPr sz="1400" b="1" dirty="0" err="1">
                <a:solidFill>
                  <a:srgbClr val="C00000"/>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0" name="矩形 28"/>
            <p:cNvSpPr txBox="1"/>
            <p:nvPr/>
          </p:nvSpPr>
          <p:spPr>
            <a:xfrm>
              <a:off x="4466590" y="2762324"/>
              <a:ext cx="675005" cy="390740"/>
            </a:xfrm>
            <a:prstGeom prst="rect">
              <a:avLst/>
            </a:prstGeom>
            <a:ln w="12700">
              <a:miter lim="400000"/>
            </a:ln>
          </p:spPr>
          <p:txBody>
            <a:bodyPr lIns="45718" tIns="45718" rIns="45718" bIns="45718" anchor="ctr">
              <a:spAutoFit/>
            </a:bodyPr>
            <a:lstStyle>
              <a:lvl1pPr algn="ctr">
                <a:defRPr sz="1100">
                  <a:solidFill>
                    <a:srgbClr val="FFFFFF"/>
                  </a:solidFill>
                </a:defRPr>
              </a:lvl1pPr>
            </a:lstStyle>
            <a:p>
              <a:r>
                <a:rPr sz="1400" b="1" dirty="0" err="1">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致痫灶是否明确</a:t>
              </a:r>
              <a:r>
                <a:rPr lang="en-US"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31" name="图片 49" descr="图片 49"/>
            <p:cNvPicPr>
              <a:picLocks noChangeAspect="1"/>
            </p:cNvPicPr>
            <p:nvPr/>
          </p:nvPicPr>
          <p:blipFill>
            <a:blip r:embed="rId1"/>
            <a:stretch>
              <a:fillRect/>
            </a:stretch>
          </p:blipFill>
          <p:spPr>
            <a:xfrm>
              <a:off x="7919457" y="1218745"/>
              <a:ext cx="971550" cy="1567180"/>
            </a:xfrm>
            <a:prstGeom prst="rect">
              <a:avLst/>
            </a:prstGeom>
            <a:ln w="12700">
              <a:miter lim="400000"/>
              <a:headEnd/>
              <a:tailEnd/>
            </a:ln>
          </p:spPr>
        </p:pic>
        <p:pic>
          <p:nvPicPr>
            <p:cNvPr id="32" name="图片 50" descr="图片 50"/>
            <p:cNvPicPr>
              <a:picLocks noChangeAspect="1"/>
            </p:cNvPicPr>
            <p:nvPr/>
          </p:nvPicPr>
          <p:blipFill>
            <a:blip r:embed="rId2"/>
            <a:stretch>
              <a:fillRect/>
            </a:stretch>
          </p:blipFill>
          <p:spPr>
            <a:xfrm>
              <a:off x="8046982" y="3848198"/>
              <a:ext cx="852170" cy="777240"/>
            </a:xfrm>
            <a:prstGeom prst="rect">
              <a:avLst/>
            </a:prstGeom>
            <a:ln w="12700">
              <a:miter lim="400000"/>
              <a:headEnd/>
              <a:tailEnd/>
            </a:ln>
          </p:spPr>
        </p:pic>
        <p:sp>
          <p:nvSpPr>
            <p:cNvPr id="33" name="文本框 43"/>
            <p:cNvSpPr txBox="1"/>
            <p:nvPr/>
          </p:nvSpPr>
          <p:spPr>
            <a:xfrm>
              <a:off x="862965" y="3428864"/>
              <a:ext cx="128905" cy="229846"/>
            </a:xfrm>
            <a:prstGeom prst="rect">
              <a:avLst/>
            </a:prstGeom>
            <a:ln w="12700">
              <a:miter lim="400000"/>
            </a:ln>
          </p:spPr>
          <p:txBody>
            <a:bodyPr lIns="45718" tIns="45718" rIns="45718" bIns="45718">
              <a:spAutoFit/>
            </a:bodyPr>
            <a:lstStyle>
              <a:lvl1pPr algn="ctr">
                <a:defRPr sz="1000"/>
              </a:lvl1pPr>
            </a:lstStyle>
            <a:p>
              <a:r>
                <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是</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34" name="内容占位符 8" descr="内容占位符 8"/>
            <p:cNvPicPr>
              <a:picLocks noChangeAspect="1"/>
            </p:cNvPicPr>
            <p:nvPr/>
          </p:nvPicPr>
          <p:blipFill>
            <a:blip r:embed="rId3"/>
            <a:srcRect l="20935" r="28229" b="42138"/>
            <a:stretch>
              <a:fillRect/>
            </a:stretch>
          </p:blipFill>
          <p:spPr>
            <a:xfrm>
              <a:off x="2876233" y="3252969"/>
              <a:ext cx="925830" cy="843280"/>
            </a:xfrm>
            <a:prstGeom prst="rect">
              <a:avLst/>
            </a:prstGeom>
            <a:ln w="12700">
              <a:miter lim="400000"/>
              <a:headEnd/>
              <a:tailEnd/>
            </a:ln>
          </p:spPr>
        </p:pic>
        <p:sp>
          <p:nvSpPr>
            <p:cNvPr id="35" name="文本框 43"/>
            <p:cNvSpPr txBox="1"/>
            <p:nvPr/>
          </p:nvSpPr>
          <p:spPr>
            <a:xfrm>
              <a:off x="1091488" y="2428739"/>
              <a:ext cx="128905" cy="229846"/>
            </a:xfrm>
            <a:prstGeom prst="rect">
              <a:avLst/>
            </a:prstGeom>
            <a:ln w="12700">
              <a:miter lim="400000"/>
            </a:ln>
          </p:spPr>
          <p:txBody>
            <a:bodyPr lIns="45718" tIns="45718" rIns="45718" bIns="45718">
              <a:spAutoFit/>
            </a:bodyPr>
            <a:lstStyle>
              <a:lvl1pPr algn="ctr">
                <a:defRPr sz="1000"/>
              </a:lvl1pPr>
            </a:lstStyle>
            <a:p>
              <a:r>
                <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否</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6" name="文本框 43"/>
            <p:cNvSpPr txBox="1"/>
            <p:nvPr/>
          </p:nvSpPr>
          <p:spPr>
            <a:xfrm>
              <a:off x="5202555" y="2672579"/>
              <a:ext cx="251460" cy="229846"/>
            </a:xfrm>
            <a:prstGeom prst="rect">
              <a:avLst/>
            </a:prstGeom>
            <a:ln w="12700">
              <a:miter lim="400000"/>
            </a:ln>
          </p:spPr>
          <p:txBody>
            <a:bodyPr wrap="square" lIns="45718" tIns="45718" rIns="45718" bIns="45718">
              <a:spAutoFit/>
            </a:bodyPr>
            <a:lstStyle>
              <a:lvl1pPr algn="ctr">
                <a:defRPr sz="1000"/>
              </a:lvl1pPr>
            </a:lstStyle>
            <a:p>
              <a:pPr algn="l"/>
              <a:r>
                <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是</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7" name="文本框 43"/>
            <p:cNvSpPr txBox="1"/>
            <p:nvPr/>
          </p:nvSpPr>
          <p:spPr>
            <a:xfrm>
              <a:off x="4545965" y="3333750"/>
              <a:ext cx="178435" cy="229846"/>
            </a:xfrm>
            <a:prstGeom prst="rect">
              <a:avLst/>
            </a:prstGeom>
            <a:ln w="12700">
              <a:miter lim="400000"/>
            </a:ln>
          </p:spPr>
          <p:txBody>
            <a:bodyPr wrap="square" lIns="45718" tIns="45718" rIns="45718" bIns="45718">
              <a:spAutoFit/>
            </a:bodyPr>
            <a:lstStyle>
              <a:lvl1pPr algn="ctr">
                <a:defRPr sz="1000"/>
              </a:lvl1pPr>
            </a:lstStyle>
            <a:p>
              <a:r>
                <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否</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8" name="圆角矩形"/>
            <p:cNvSpPr/>
            <p:nvPr/>
          </p:nvSpPr>
          <p:spPr>
            <a:xfrm>
              <a:off x="4157282" y="3953591"/>
              <a:ext cx="1246629" cy="364490"/>
            </a:xfrm>
            <a:prstGeom prst="roundRect">
              <a:avLst>
                <a:gd name="adj" fmla="val 50000"/>
              </a:avLst>
            </a:prstGeom>
            <a:solidFill>
              <a:srgbClr val="EBEBEB"/>
            </a:solidFill>
            <a:ln w="12700">
              <a:miter lim="400000"/>
            </a:ln>
          </p:spPr>
          <p:txBody>
            <a:bodyPr lIns="45718" tIns="45718" rIns="45718" bIns="45718" anchor="ctr"/>
            <a:lstStyle/>
            <a:p>
              <a:pPr algn="ctr">
                <a:defRPr>
                  <a:solidFill>
                    <a:srgbClr val="FFFFFF"/>
                  </a:solidFill>
                  <a:latin typeface="+mj-lt"/>
                  <a:ea typeface="+mj-ea"/>
                  <a:cs typeface="+mj-cs"/>
                  <a:sym typeface="思源黑体 CN Normal" panose="020B0400000000000000" charset="-122"/>
                </a:defRPr>
              </a:pP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9" name="外科治疗"/>
            <p:cNvSpPr txBox="1"/>
            <p:nvPr/>
          </p:nvSpPr>
          <p:spPr>
            <a:xfrm>
              <a:off x="4140835" y="4017672"/>
              <a:ext cx="1292860" cy="229846"/>
            </a:xfrm>
            <a:prstGeom prst="rect">
              <a:avLst/>
            </a:prstGeom>
            <a:ln w="12700">
              <a:miter lim="400000"/>
            </a:ln>
          </p:spPr>
          <p:txBody>
            <a:bodyPr wrap="square" lIns="45718" tIns="45718" rIns="45718" bIns="45718" anchor="ctr">
              <a:spAutoFit/>
            </a:bodyPr>
            <a:lstStyle>
              <a:lvl1pPr algn="ctr">
                <a:defRPr sz="1100"/>
              </a:lvl1pPr>
            </a:lstStyle>
            <a:p>
              <a:r>
                <a:rPr lang="zh-CN" altLang="en-US"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目前没有好的办法</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0" name="文本框 43"/>
            <p:cNvSpPr txBox="1"/>
            <p:nvPr/>
          </p:nvSpPr>
          <p:spPr>
            <a:xfrm>
              <a:off x="5518955" y="4138944"/>
              <a:ext cx="628650" cy="229846"/>
            </a:xfrm>
            <a:prstGeom prst="rect">
              <a:avLst/>
            </a:prstGeom>
            <a:ln w="12700">
              <a:miter lim="400000"/>
            </a:ln>
          </p:spPr>
          <p:txBody>
            <a:bodyPr wrap="square" lIns="45718" tIns="45718" rIns="45718" bIns="45718">
              <a:spAutoFit/>
            </a:bodyPr>
            <a:lstStyle>
              <a:lvl1pPr algn="ctr">
                <a:defRPr sz="1000"/>
              </a:lvl1pPr>
            </a:lstStyle>
            <a:p>
              <a:pPr algn="l"/>
              <a:r>
                <a:rPr lang="zh-CN" altLang="en-US"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可尝试</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1" name="椭圆 40"/>
            <p:cNvSpPr/>
            <p:nvPr/>
          </p:nvSpPr>
          <p:spPr>
            <a:xfrm>
              <a:off x="4571365" y="3260806"/>
              <a:ext cx="762635" cy="419735"/>
            </a:xfrm>
            <a:prstGeom prst="ellipse">
              <a:avLst/>
            </a:prstGeom>
            <a:noFill/>
            <a:ln>
              <a:solidFill>
                <a:srgbClr val="000000">
                  <a:alpha val="0"/>
                </a:srgbClr>
              </a:solidFill>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40%</a:t>
              </a:r>
              <a:endPar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2" name="矩形: 剪去左右顶角 99"/>
            <p:cNvSpPr/>
            <p:nvPr/>
          </p:nvSpPr>
          <p:spPr>
            <a:xfrm>
              <a:off x="6511476" y="2262249"/>
              <a:ext cx="1201420" cy="414020"/>
            </a:xfrm>
            <a:prstGeom prst="snip2SameRect">
              <a:avLst/>
            </a:prstGeom>
            <a:noFill/>
            <a:ln>
              <a:noFill/>
            </a:ln>
            <a:extLst>
              <a:ext uri="{909E8E84-426E-40DD-AFC4-6F175D3DCCD1}">
                <a14:hiddenFill xmlns:a14="http://schemas.microsoft.com/office/drawing/2010/main">
                  <a:solidFill>
                    <a:srgbClr val="FF0000"/>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难治性癫痫</a:t>
              </a:r>
              <a:endParaRPr lang="en-US" altLang="zh-CN"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algn="ctr"/>
              <a:r>
                <a:rPr lang="zh-CN" altLang="en-US"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患者总数的</a:t>
              </a:r>
              <a:r>
                <a:rPr lang="en-US" altLang="zh-CN"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30%</a:t>
              </a:r>
              <a:endParaRPr lang="en-US" altLang="zh-CN"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3" name="矩形: 剪去左右顶角 100"/>
            <p:cNvSpPr/>
            <p:nvPr/>
          </p:nvSpPr>
          <p:spPr>
            <a:xfrm>
              <a:off x="6489701" y="4367530"/>
              <a:ext cx="1403984" cy="414020"/>
            </a:xfrm>
            <a:prstGeom prst="snip2SameRect">
              <a:avLst/>
            </a:prstGeom>
            <a:noFill/>
            <a:ln>
              <a:noFill/>
            </a:ln>
            <a:extLst>
              <a:ext uri="{909E8E84-426E-40DD-AFC4-6F175D3DCCD1}">
                <a14:hiddenFill xmlns:a14="http://schemas.microsoft.com/office/drawing/2010/main">
                  <a:solidFill>
                    <a:schemeClr val="accent5">
                      <a:lumMod val="7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难治性癫痫</a:t>
              </a:r>
              <a:endParaRPr lang="en-US" altLang="zh-CN"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lvl="0" algn="ctr">
                <a:buClrTx/>
                <a:buSzTx/>
                <a:buFontTx/>
              </a:pPr>
              <a:r>
                <a:rPr lang="zh-CN" altLang="en-US"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患者总数的</a:t>
              </a:r>
              <a:r>
                <a:rPr lang="en-US" altLang="zh-CN"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30-</a:t>
              </a:r>
              <a:r>
                <a:rPr lang="zh-CN" altLang="en-US"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50%</a:t>
              </a:r>
              <a:endParaRPr lang="zh-CN" altLang="en-US" sz="1400" b="1" dirty="0">
                <a:solidFill>
                  <a:schemeClr val="accent6">
                    <a:lumMod val="75000"/>
                  </a:schemeClr>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4" name="椭圆 43"/>
            <p:cNvSpPr/>
            <p:nvPr/>
          </p:nvSpPr>
          <p:spPr>
            <a:xfrm>
              <a:off x="5569098" y="2044139"/>
              <a:ext cx="578507" cy="414020"/>
            </a:xfrm>
            <a:prstGeom prst="ellipse">
              <a:avLst/>
            </a:prstGeom>
            <a:noFill/>
            <a:ln>
              <a:solidFill>
                <a:srgbClr val="000000">
                  <a:alpha val="0"/>
                </a:srgbClr>
              </a:solidFill>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50%</a:t>
              </a:r>
              <a:endPar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5" name="文本框 43"/>
            <p:cNvSpPr txBox="1"/>
            <p:nvPr/>
          </p:nvSpPr>
          <p:spPr>
            <a:xfrm>
              <a:off x="5035375" y="2129416"/>
              <a:ext cx="665480" cy="229846"/>
            </a:xfrm>
            <a:prstGeom prst="rect">
              <a:avLst/>
            </a:prstGeom>
            <a:ln w="12700">
              <a:miter lim="400000"/>
            </a:ln>
          </p:spPr>
          <p:txBody>
            <a:bodyPr wrap="square" lIns="45718" tIns="45718" rIns="45718" bIns="45718">
              <a:spAutoFit/>
            </a:bodyPr>
            <a:lstStyle>
              <a:lvl1pPr algn="ctr">
                <a:defRPr sz="1000"/>
              </a:lvl1pPr>
            </a:lstStyle>
            <a:p>
              <a:pPr algn="r"/>
              <a:r>
                <a:rPr lang="zh-CN" altLang="en-US"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非功能区</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6" name="文本框 43"/>
            <p:cNvSpPr txBox="1"/>
            <p:nvPr/>
          </p:nvSpPr>
          <p:spPr>
            <a:xfrm>
              <a:off x="5023206" y="3595866"/>
              <a:ext cx="665480" cy="229846"/>
            </a:xfrm>
            <a:prstGeom prst="rect">
              <a:avLst/>
            </a:prstGeom>
            <a:ln w="12700">
              <a:miter lim="400000"/>
            </a:ln>
          </p:spPr>
          <p:txBody>
            <a:bodyPr wrap="square" lIns="45718" tIns="45718" rIns="45718" bIns="45718">
              <a:spAutoFit/>
            </a:bodyPr>
            <a:lstStyle>
              <a:lvl1pPr algn="ctr">
                <a:defRPr sz="1000"/>
              </a:lvl1pPr>
            </a:lstStyle>
            <a:p>
              <a:pPr algn="r"/>
              <a:r>
                <a:rPr lang="zh-CN" altLang="en-US"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功能区</a:t>
              </a:r>
              <a:endParaRPr sz="14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7" name="椭圆 46"/>
            <p:cNvSpPr/>
            <p:nvPr/>
          </p:nvSpPr>
          <p:spPr>
            <a:xfrm>
              <a:off x="5449451" y="3526336"/>
              <a:ext cx="752475" cy="414020"/>
            </a:xfrm>
            <a:prstGeom prst="ellipse">
              <a:avLst/>
            </a:prstGeom>
            <a:noFill/>
            <a:ln>
              <a:solidFill>
                <a:srgbClr val="000000">
                  <a:alpha val="0"/>
                </a:srgbClr>
              </a:solidFill>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50%</a:t>
              </a:r>
              <a:endPar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8" name="椭圆 47"/>
            <p:cNvSpPr/>
            <p:nvPr/>
          </p:nvSpPr>
          <p:spPr>
            <a:xfrm>
              <a:off x="128675" y="3314564"/>
              <a:ext cx="752475" cy="414020"/>
            </a:xfrm>
            <a:prstGeom prst="ellipse">
              <a:avLst/>
            </a:prstGeom>
            <a:noFill/>
            <a:ln>
              <a:solidFill>
                <a:srgbClr val="000000">
                  <a:alpha val="0"/>
                </a:srgbClr>
              </a:solidFill>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70%</a:t>
              </a:r>
              <a:endPar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9" name="椭圆 48"/>
            <p:cNvSpPr/>
            <p:nvPr/>
          </p:nvSpPr>
          <p:spPr>
            <a:xfrm>
              <a:off x="1066800" y="2341744"/>
              <a:ext cx="752475" cy="414020"/>
            </a:xfrm>
            <a:prstGeom prst="ellipse">
              <a:avLst/>
            </a:prstGeom>
            <a:noFill/>
            <a:ln>
              <a:solidFill>
                <a:srgbClr val="000000">
                  <a:alpha val="0"/>
                </a:srgbClr>
              </a:solidFill>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30%</a:t>
              </a:r>
              <a:endPar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cxnSp>
          <p:nvCxnSpPr>
            <p:cNvPr id="50" name="直接箭头连接符 18"/>
            <p:cNvCxnSpPr>
              <a:stCxn id="19" idx="2"/>
              <a:endCxn id="6" idx="0"/>
            </p:cNvCxnSpPr>
            <p:nvPr/>
          </p:nvCxnSpPr>
          <p:spPr>
            <a:xfrm flipH="1">
              <a:off x="785812" y="1596889"/>
              <a:ext cx="1" cy="234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21"/>
            <p:cNvCxnSpPr>
              <a:stCxn id="6" idx="2"/>
              <a:endCxn id="18" idx="0"/>
            </p:cNvCxnSpPr>
            <p:nvPr/>
          </p:nvCxnSpPr>
          <p:spPr>
            <a:xfrm flipH="1">
              <a:off x="784225" y="2306184"/>
              <a:ext cx="1587" cy="260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26"/>
            <p:cNvCxnSpPr>
              <a:stCxn id="18" idx="4"/>
              <a:endCxn id="23" idx="0"/>
            </p:cNvCxnSpPr>
            <p:nvPr/>
          </p:nvCxnSpPr>
          <p:spPr>
            <a:xfrm flipH="1">
              <a:off x="774383" y="3344409"/>
              <a:ext cx="9843" cy="387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29"/>
            <p:cNvCxnSpPr>
              <a:stCxn id="18" idx="6"/>
              <a:endCxn id="15" idx="1"/>
            </p:cNvCxnSpPr>
            <p:nvPr/>
          </p:nvCxnSpPr>
          <p:spPr>
            <a:xfrm flipV="1">
              <a:off x="1172845" y="2945056"/>
              <a:ext cx="248285" cy="10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32"/>
            <p:cNvCxnSpPr>
              <a:stCxn id="15" idx="3"/>
              <a:endCxn id="16" idx="1"/>
            </p:cNvCxnSpPr>
            <p:nvPr/>
          </p:nvCxnSpPr>
          <p:spPr>
            <a:xfrm flipV="1">
              <a:off x="2585085" y="2938009"/>
              <a:ext cx="172472" cy="7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36"/>
            <p:cNvCxnSpPr>
              <a:stCxn id="16" idx="3"/>
              <a:endCxn id="11" idx="2"/>
            </p:cNvCxnSpPr>
            <p:nvPr/>
          </p:nvCxnSpPr>
          <p:spPr>
            <a:xfrm>
              <a:off x="4117727" y="2938009"/>
              <a:ext cx="3012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39"/>
            <p:cNvCxnSpPr>
              <a:endCxn id="38" idx="0"/>
            </p:cNvCxnSpPr>
            <p:nvPr/>
          </p:nvCxnSpPr>
          <p:spPr>
            <a:xfrm flipH="1">
              <a:off x="4780597" y="3082471"/>
              <a:ext cx="1" cy="871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连接符: 肘形 45"/>
            <p:cNvCxnSpPr>
              <a:stCxn id="30" idx="3"/>
              <a:endCxn id="10" idx="1"/>
            </p:cNvCxnSpPr>
            <p:nvPr/>
          </p:nvCxnSpPr>
          <p:spPr>
            <a:xfrm flipV="1">
              <a:off x="5141595" y="2101252"/>
              <a:ext cx="1163320" cy="85644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连接符: 肘形 47"/>
            <p:cNvCxnSpPr>
              <a:stCxn id="30" idx="3"/>
              <a:endCxn id="8" idx="1"/>
            </p:cNvCxnSpPr>
            <p:nvPr/>
          </p:nvCxnSpPr>
          <p:spPr>
            <a:xfrm>
              <a:off x="5141595" y="2957694"/>
              <a:ext cx="1163322" cy="11806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椭圆 58"/>
            <p:cNvSpPr/>
            <p:nvPr/>
          </p:nvSpPr>
          <p:spPr>
            <a:xfrm>
              <a:off x="5165408" y="2590664"/>
              <a:ext cx="752475" cy="414020"/>
            </a:xfrm>
            <a:prstGeom prst="ellipse">
              <a:avLst/>
            </a:prstGeom>
            <a:noFill/>
            <a:ln>
              <a:solidFill>
                <a:srgbClr val="000000">
                  <a:alpha val="0"/>
                </a:srgbClr>
              </a:solidFill>
            </a:ln>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60%</a:t>
              </a:r>
              <a:endParaRPr lang="en-US" altLang="zh-CN" sz="1400" b="1" dirty="0">
                <a:solidFill>
                  <a:schemeClr val="tx1"/>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cxnSp>
          <p:nvCxnSpPr>
            <p:cNvPr id="60" name="直接箭头连接符 50"/>
            <p:cNvCxnSpPr>
              <a:stCxn id="39" idx="3"/>
              <a:endCxn id="8" idx="1"/>
            </p:cNvCxnSpPr>
            <p:nvPr/>
          </p:nvCxnSpPr>
          <p:spPr>
            <a:xfrm>
              <a:off x="5433695" y="4132595"/>
              <a:ext cx="871221" cy="5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矩形: 剪去对角 133"/>
            <p:cNvSpPr/>
            <p:nvPr/>
          </p:nvSpPr>
          <p:spPr>
            <a:xfrm>
              <a:off x="2409986" y="809345"/>
              <a:ext cx="2784154" cy="723265"/>
            </a:xfrm>
            <a:prstGeom prst="snip2Diag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彩虹粗仿宋" panose="03000509000000000000" pitchFamily="65" charset="-122"/>
                  <a:ea typeface="彩虹粗仿宋" panose="03000509000000000000" pitchFamily="65" charset="-122"/>
                </a:rPr>
                <a:t>佳量脑科学为国内唯一完成癫痫诊疗关键节点产品布局的创新医疗器械公司</a:t>
              </a:r>
              <a:endParaRPr lang="zh-CN" altLang="en-US" sz="1600" dirty="0">
                <a:latin typeface="彩虹粗仿宋" panose="03000509000000000000" pitchFamily="65" charset="-122"/>
                <a:ea typeface="彩虹粗仿宋" panose="03000509000000000000" pitchFamily="65" charset="-122"/>
              </a:endParaRPr>
            </a:p>
          </p:txBody>
        </p:sp>
        <p:sp>
          <p:nvSpPr>
            <p:cNvPr id="62" name="Rectangle 2"/>
            <p:cNvSpPr>
              <a:spLocks noChangeArrowheads="1"/>
            </p:cNvSpPr>
            <p:nvPr/>
          </p:nvSpPr>
          <p:spPr bwMode="gray">
            <a:xfrm>
              <a:off x="8193829" y="4797970"/>
              <a:ext cx="422806" cy="186522"/>
            </a:xfrm>
            <a:prstGeom prst="rect">
              <a:avLst/>
            </a:prstGeom>
            <a:solidFill>
              <a:schemeClr val="accent6"/>
            </a:solidFill>
            <a:ln w="6350">
              <a:solidFill>
                <a:schemeClr val="accent6"/>
              </a:solidFill>
              <a:miter lim="800000"/>
              <a:headEnd type="none" w="sm" len="sm"/>
              <a:tailEnd type="none" w="sm" len="sm"/>
            </a:ln>
            <a:effectLst/>
          </p:spPr>
          <p:txBody>
            <a:bodyPr vert="horz" wrap="square" lIns="22221" tIns="46527" rIns="22221" bIns="46527" numCol="1" anchor="ctr" anchorCtr="0" compatLnSpc="1"/>
            <a:lstStyle/>
            <a:p>
              <a:pPr algn="ctr" defTabSz="7315200"/>
              <a:r>
                <a:rPr lang="zh-CN" altLang="en-US" sz="1100" b="1" dirty="0">
                  <a:solidFill>
                    <a:schemeClr val="bg1"/>
                  </a:solidFill>
                  <a:latin typeface="彩虹粗仿宋" panose="03000509000000000000" pitchFamily="65" charset="-122"/>
                  <a:ea typeface="彩虹粗仿宋" panose="03000509000000000000" pitchFamily="65" charset="-122"/>
                </a:rPr>
                <a:t>创新</a:t>
              </a:r>
              <a:endParaRPr lang="zh-CN" altLang="zh-CN" sz="1100" b="1" dirty="0">
                <a:solidFill>
                  <a:schemeClr val="bg1"/>
                </a:solidFill>
                <a:latin typeface="彩虹粗仿宋" panose="03000509000000000000" pitchFamily="65" charset="-122"/>
                <a:ea typeface="彩虹粗仿宋" panose="03000509000000000000" pitchFamily="65" charset="-122"/>
              </a:endParaRPr>
            </a:p>
          </p:txBody>
        </p:sp>
        <p:sp>
          <p:nvSpPr>
            <p:cNvPr id="63" name="Rectangle 2"/>
            <p:cNvSpPr>
              <a:spLocks noChangeArrowheads="1"/>
            </p:cNvSpPr>
            <p:nvPr/>
          </p:nvSpPr>
          <p:spPr bwMode="gray">
            <a:xfrm>
              <a:off x="8193829" y="2768592"/>
              <a:ext cx="422806" cy="186522"/>
            </a:xfrm>
            <a:prstGeom prst="rect">
              <a:avLst/>
            </a:prstGeom>
            <a:solidFill>
              <a:schemeClr val="accent6"/>
            </a:solidFill>
            <a:ln w="6350">
              <a:solidFill>
                <a:schemeClr val="accent6"/>
              </a:solidFill>
              <a:miter lim="800000"/>
              <a:headEnd type="none" w="sm" len="sm"/>
              <a:tailEnd type="none" w="sm" len="sm"/>
            </a:ln>
            <a:effectLst/>
          </p:spPr>
          <p:txBody>
            <a:bodyPr vert="horz" wrap="square" lIns="22221" tIns="46527" rIns="22221" bIns="46527" numCol="1" anchor="ctr" anchorCtr="0" compatLnSpc="1"/>
            <a:lstStyle/>
            <a:p>
              <a:pPr algn="ctr" defTabSz="7315200"/>
              <a:r>
                <a:rPr lang="zh-CN" altLang="en-US" sz="1100" b="1" dirty="0">
                  <a:solidFill>
                    <a:schemeClr val="bg1"/>
                  </a:solidFill>
                  <a:latin typeface="彩虹粗仿宋" panose="03000509000000000000" pitchFamily="65" charset="-122"/>
                  <a:ea typeface="彩虹粗仿宋" panose="03000509000000000000" pitchFamily="65" charset="-122"/>
                </a:rPr>
                <a:t>创新</a:t>
              </a:r>
              <a:endParaRPr lang="zh-CN" altLang="zh-CN" sz="1100" b="1" dirty="0">
                <a:solidFill>
                  <a:schemeClr val="bg1"/>
                </a:solidFill>
                <a:latin typeface="彩虹粗仿宋" panose="03000509000000000000" pitchFamily="65" charset="-122"/>
                <a:ea typeface="彩虹粗仿宋" panose="03000509000000000000" pitchFamily="65"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sym typeface="+mn-ea"/>
              </a:rPr>
              <a:t>管线数据</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3</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、脑机接口平台</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进一步提升估值增长空间</a:t>
            </a:r>
            <a:endPar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3" name="Shape 1"/>
          <p:cNvSpPr/>
          <p:nvPr/>
        </p:nvSpPr>
        <p:spPr>
          <a:xfrm>
            <a:off x="233931" y="698280"/>
            <a:ext cx="3298485" cy="2232000"/>
          </a:xfrm>
          <a:prstGeom prst="rect">
            <a:avLst/>
          </a:prstGeom>
          <a:solidFill>
            <a:srgbClr val="EBEBEB"/>
          </a:solidFill>
          <a:ln w="198">
            <a:noFill/>
            <a:prstDash val="solid"/>
          </a:ln>
        </p:spPr>
        <p:txBody>
          <a:bodyPr>
            <a:noAutofit/>
          </a:bodyPr>
          <a:lstStyle/>
          <a:p>
            <a:pPr lvl="0" algn="l">
              <a:buClrTx/>
              <a:buSzTx/>
              <a:buFontTx/>
            </a:pPr>
            <a:endParaRPr lang="en-US" sz="2400">
              <a:ln>
                <a:noFill/>
              </a:ln>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 name="Shape 2"/>
          <p:cNvSpPr/>
          <p:nvPr/>
        </p:nvSpPr>
        <p:spPr>
          <a:xfrm>
            <a:off x="417228" y="780804"/>
            <a:ext cx="385767" cy="399510"/>
          </a:xfrm>
          <a:prstGeom prst="ellipse">
            <a:avLst/>
          </a:prstGeom>
          <a:solidFill>
            <a:srgbClr val="EBEBEB"/>
          </a:solidFill>
          <a:ln w="28575">
            <a:solidFill>
              <a:schemeClr val="bg1"/>
            </a:solidFill>
          </a:ln>
        </p:spPr>
        <p:style>
          <a:lnRef idx="0">
            <a:srgbClr val="FFFFFF"/>
          </a:lnRef>
          <a:fillRef idx="1">
            <a:schemeClr val="accent1"/>
          </a:fillRef>
          <a:effectRef idx="1">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endParaRPr lang="en-US" sz="24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5" name="Text 3"/>
          <p:cNvSpPr/>
          <p:nvPr/>
        </p:nvSpPr>
        <p:spPr>
          <a:xfrm>
            <a:off x="1012623" y="859880"/>
            <a:ext cx="1384995" cy="276999"/>
          </a:xfrm>
          <a:prstGeom prst="rect">
            <a:avLst/>
          </a:prstGeom>
          <a:noFill/>
        </p:spPr>
        <p:txBody>
          <a:bodyPr wrap="none" lIns="0" tIns="0" rIns="0" bIns="0" rtlCol="0" anchor="ctr">
            <a:spAutoFit/>
          </a:bodyPr>
          <a:lstStyle/>
          <a:p>
            <a:r>
              <a:rPr lang="zh-CN" alt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脑机接口平台</a:t>
            </a:r>
            <a:endParaRPr lang="en-US" altLang="zh-CN"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6" name="Text 4"/>
          <p:cNvSpPr/>
          <p:nvPr/>
        </p:nvSpPr>
        <p:spPr>
          <a:xfrm>
            <a:off x="417228" y="1157312"/>
            <a:ext cx="2964601" cy="1077218"/>
          </a:xfrm>
          <a:prstGeom prst="rect">
            <a:avLst/>
          </a:prstGeom>
          <a:noFill/>
        </p:spPr>
        <p:txBody>
          <a:bodyPr wrap="square" lIns="0" tIns="0" rIns="0" bIns="0" rtlCol="0" anchor="ctr">
            <a:spAutoFit/>
          </a:bodyPr>
          <a:lstStyle/>
          <a:p>
            <a:pPr marL="171450" indent="-171450">
              <a:buFont typeface="Arial" panose="020B0604020202090204" pitchFamily="34" charset="0"/>
              <a:buChar char="•"/>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基于</a:t>
            </a:r>
            <a:r>
              <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RNS</a:t>
            </a: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共平台开发其他闭环神经调控产品；</a:t>
            </a:r>
            <a:endPar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marL="171450" indent="-171450">
              <a:buFont typeface="Arial" panose="020B0604020202090204" pitchFamily="34" charset="0"/>
              <a:buChar char="•"/>
            </a:pPr>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开发高通道数、低功耗的脑机接口系统和专用芯片，实现脑信号的高效采集、处理和解码</a:t>
            </a:r>
            <a:r>
              <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endPar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9" name="矩形 38"/>
          <p:cNvSpPr/>
          <p:nvPr/>
        </p:nvSpPr>
        <p:spPr>
          <a:xfrm>
            <a:off x="3742055" y="723509"/>
            <a:ext cx="8229228" cy="59897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RNS</a:t>
            </a: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产品建立的软硬件平台为后续脑机接口产品建立了坚实的基础</a:t>
            </a:r>
            <a:endPar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32" name="图片 21" descr="硬件_芯片_cpu"/>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0714" y="840830"/>
            <a:ext cx="288000" cy="288000"/>
          </a:xfrm>
          <a:prstGeom prst="rect">
            <a:avLst/>
          </a:prstGeom>
        </p:spPr>
      </p:pic>
      <p:sp>
        <p:nvSpPr>
          <p:cNvPr id="33" name="Text 5"/>
          <p:cNvSpPr/>
          <p:nvPr/>
        </p:nvSpPr>
        <p:spPr>
          <a:xfrm>
            <a:off x="515157" y="2609500"/>
            <a:ext cx="1962076" cy="184666"/>
          </a:xfrm>
          <a:prstGeom prst="rect">
            <a:avLst/>
          </a:prstGeom>
          <a:noFill/>
        </p:spPr>
        <p:txBody>
          <a:bodyPr wrap="none" lIns="0" tIns="0" rIns="0" bIns="0" rtlCol="0" anchor="ctr">
            <a:spAutoFit/>
          </a:bodyPr>
          <a:lstStyle/>
          <a:p>
            <a:r>
              <a:rPr lang="en-US" altLang="zh-CN"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EES</a:t>
            </a:r>
            <a:r>
              <a:rPr lang="zh-CN" altLang="en-US"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altLang="zh-CN"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脊髓损伤闭环调控系统</a:t>
            </a:r>
            <a:endPar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34" name="Text 7"/>
          <p:cNvSpPr/>
          <p:nvPr/>
        </p:nvSpPr>
        <p:spPr>
          <a:xfrm>
            <a:off x="515157" y="2348560"/>
            <a:ext cx="2202526" cy="184666"/>
          </a:xfrm>
          <a:prstGeom prst="rect">
            <a:avLst/>
          </a:prstGeom>
          <a:noFill/>
        </p:spPr>
        <p:txBody>
          <a:bodyPr wrap="none" lIns="0" tIns="0" rIns="0" bIns="0" rtlCol="0" anchor="ctr">
            <a:spAutoFit/>
          </a:bodyPr>
          <a:lstStyle/>
          <a:p>
            <a:r>
              <a:rPr lang="en-US" altLang="zh-CN" sz="12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iSBS</a:t>
            </a:r>
            <a:r>
              <a:rPr lang="en-US" altLang="zh-CN" sz="12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 </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r>
              <a:rPr lang="en-US" altLang="zh-CN"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帕金森病闭环调控系统</a:t>
            </a:r>
            <a:endPar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40" name="Text 1"/>
          <p:cNvSpPr/>
          <p:nvPr/>
        </p:nvSpPr>
        <p:spPr>
          <a:xfrm>
            <a:off x="3770266" y="2022237"/>
            <a:ext cx="1943403" cy="315080"/>
          </a:xfrm>
          <a:prstGeom prst="rect">
            <a:avLst/>
          </a:prstGeom>
          <a:noFill/>
        </p:spPr>
        <p:txBody>
          <a:bodyPr wrap="square" lIns="0" tIns="0" rIns="0" bIns="0" rtlCol="0" anchor="t"/>
          <a:lstStyle/>
          <a:p>
            <a:pPr>
              <a:lnSpc>
                <a:spcPts val="1720"/>
              </a:lnSpc>
            </a:pPr>
            <a:r>
              <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神经电生理信号专业能力</a:t>
            </a:r>
            <a:endPar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41" name="Text 2"/>
          <p:cNvSpPr/>
          <p:nvPr/>
        </p:nvSpPr>
        <p:spPr>
          <a:xfrm>
            <a:off x="3864243" y="2236685"/>
            <a:ext cx="1732018" cy="483708"/>
          </a:xfrm>
          <a:prstGeom prst="rect">
            <a:avLst/>
          </a:prstGeom>
          <a:noFill/>
        </p:spPr>
        <p:txBody>
          <a:bodyPr wrap="square" lIns="0" tIns="0" rIns="0" bIns="0" rtlCol="0" anchor="t"/>
          <a:lstStyle/>
          <a:p>
            <a:pPr>
              <a:lnSpc>
                <a:spcPts val="1780"/>
              </a:lnSpc>
            </a:pPr>
            <a:r>
              <a:rPr lang="en-US" sz="1200" dirty="0">
                <a:solidFill>
                  <a:schemeClr val="tx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Epilcure™</a:t>
            </a:r>
            <a:r>
              <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系统实现脑信号采集、解码和反馈调控，完成基本脑机闭环。</a:t>
            </a:r>
            <a:endPar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42" name="Text 3"/>
          <p:cNvSpPr/>
          <p:nvPr/>
        </p:nvSpPr>
        <p:spPr>
          <a:xfrm>
            <a:off x="5993160" y="2022311"/>
            <a:ext cx="1732092" cy="157427"/>
          </a:xfrm>
          <a:prstGeom prst="rect">
            <a:avLst/>
          </a:prstGeom>
          <a:noFill/>
        </p:spPr>
        <p:txBody>
          <a:bodyPr wrap="none" lIns="0" tIns="0" rIns="0" bIns="0" rtlCol="0" anchor="t"/>
          <a:lstStyle/>
          <a:p>
            <a:pPr>
              <a:lnSpc>
                <a:spcPts val="1720"/>
              </a:lnSpc>
            </a:pPr>
            <a:r>
              <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多模态脑部影像技术</a:t>
            </a:r>
            <a:endPar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43" name="Text 4"/>
          <p:cNvSpPr/>
          <p:nvPr/>
        </p:nvSpPr>
        <p:spPr>
          <a:xfrm>
            <a:off x="5973334" y="2236685"/>
            <a:ext cx="1732092" cy="483708"/>
          </a:xfrm>
          <a:prstGeom prst="rect">
            <a:avLst/>
          </a:prstGeom>
          <a:noFill/>
        </p:spPr>
        <p:txBody>
          <a:bodyPr wrap="square" lIns="0" tIns="0" rIns="0" bIns="0" rtlCol="0" anchor="t"/>
          <a:lstStyle/>
          <a:p>
            <a:pPr>
              <a:lnSpc>
                <a:spcPts val="1780"/>
              </a:lnSpc>
            </a:pPr>
            <a:r>
              <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团队在</a:t>
            </a:r>
            <a:r>
              <a:rPr lang="en-US" sz="1200" dirty="0">
                <a:solidFill>
                  <a:schemeClr val="tx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MRI、CT</a:t>
            </a:r>
            <a:r>
              <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引导下脑部手术规划和导航方面积累丰富经验。</a:t>
            </a:r>
            <a:endPar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44" name="Text 5"/>
          <p:cNvSpPr/>
          <p:nvPr/>
        </p:nvSpPr>
        <p:spPr>
          <a:xfrm>
            <a:off x="8005155" y="2022311"/>
            <a:ext cx="1732018" cy="157427"/>
          </a:xfrm>
          <a:prstGeom prst="rect">
            <a:avLst/>
          </a:prstGeom>
          <a:noFill/>
        </p:spPr>
        <p:txBody>
          <a:bodyPr wrap="none" lIns="0" tIns="0" rIns="0" bIns="0" rtlCol="0" anchor="t"/>
          <a:lstStyle/>
          <a:p>
            <a:pPr>
              <a:lnSpc>
                <a:spcPts val="1720"/>
              </a:lnSpc>
            </a:pPr>
            <a:r>
              <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成熟神经调控算法</a:t>
            </a:r>
            <a:endPar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45" name="Text 6"/>
          <p:cNvSpPr/>
          <p:nvPr/>
        </p:nvSpPr>
        <p:spPr>
          <a:xfrm>
            <a:off x="7985329" y="2236685"/>
            <a:ext cx="1732018" cy="483708"/>
          </a:xfrm>
          <a:prstGeom prst="rect">
            <a:avLst/>
          </a:prstGeom>
          <a:noFill/>
        </p:spPr>
        <p:txBody>
          <a:bodyPr wrap="square" lIns="0" tIns="0" rIns="0" bIns="0" rtlCol="0" anchor="t"/>
          <a:lstStyle/>
          <a:p>
            <a:pPr>
              <a:lnSpc>
                <a:spcPts val="1780"/>
              </a:lnSpc>
            </a:pPr>
            <a:r>
              <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自适应闭环控制算法达100%检出率，微秒级响应速度。</a:t>
            </a:r>
            <a:endPar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46" name="Text 7"/>
          <p:cNvSpPr/>
          <p:nvPr/>
        </p:nvSpPr>
        <p:spPr>
          <a:xfrm>
            <a:off x="10017076" y="2022311"/>
            <a:ext cx="1732092" cy="157427"/>
          </a:xfrm>
          <a:prstGeom prst="rect">
            <a:avLst/>
          </a:prstGeom>
          <a:noFill/>
        </p:spPr>
        <p:txBody>
          <a:bodyPr wrap="none" lIns="0" tIns="0" rIns="0" bIns="0" rtlCol="0" anchor="t"/>
          <a:lstStyle/>
          <a:p>
            <a:pPr>
              <a:lnSpc>
                <a:spcPts val="1720"/>
              </a:lnSpc>
            </a:pPr>
            <a:r>
              <a:rPr lang="en-US" sz="1200" dirty="0">
                <a:solidFill>
                  <a:schemeClr val="tx1"/>
                </a:solidFill>
                <a:latin typeface="彩虹粗仿宋" panose="03000509000000000000" pitchFamily="65" charset="-122"/>
                <a:ea typeface="彩虹粗仿宋" panose="03000509000000000000" pitchFamily="65" charset="-122"/>
                <a:cs typeface="Arial" panose="020B0604020202090204" pitchFamily="34" charset="0"/>
                <a:sym typeface="微软雅黑" panose="020B0503020204020204" charset="-122"/>
              </a:rPr>
              <a:t>S-Deep™</a:t>
            </a:r>
            <a:r>
              <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电极技术</a:t>
            </a:r>
            <a:endPar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47" name="Text 8"/>
          <p:cNvSpPr/>
          <p:nvPr/>
        </p:nvSpPr>
        <p:spPr>
          <a:xfrm>
            <a:off x="9997250" y="2236685"/>
            <a:ext cx="1732092" cy="483708"/>
          </a:xfrm>
          <a:prstGeom prst="rect">
            <a:avLst/>
          </a:prstGeom>
          <a:noFill/>
        </p:spPr>
        <p:txBody>
          <a:bodyPr wrap="square" lIns="0" tIns="0" rIns="0" bIns="0" rtlCol="0" anchor="t"/>
          <a:lstStyle/>
          <a:p>
            <a:pPr>
              <a:lnSpc>
                <a:spcPts val="1780"/>
              </a:lnSpc>
            </a:pPr>
            <a:r>
              <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特殊材料和结构设计，优异生物相容性，支持长期稳定记录深部脑区活动。</a:t>
            </a:r>
            <a:endParaRPr lang="en-US" sz="12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48" name="燕尾形 15"/>
          <p:cNvSpPr/>
          <p:nvPr/>
        </p:nvSpPr>
        <p:spPr>
          <a:xfrm>
            <a:off x="3742055" y="1533592"/>
            <a:ext cx="2061261" cy="358415"/>
          </a:xfrm>
          <a:prstGeom prst="chevron">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a:latin typeface="彩虹粗仿宋" panose="03000509000000000000" pitchFamily="65" charset="-122"/>
              <a:ea typeface="彩虹粗仿宋" panose="03000509000000000000" pitchFamily="65" charset="-122"/>
              <a:sym typeface="微软雅黑" panose="020B0503020204020204" charset="-122"/>
            </a:endParaRPr>
          </a:p>
        </p:txBody>
      </p:sp>
      <p:sp>
        <p:nvSpPr>
          <p:cNvPr id="49" name="燕尾形 16"/>
          <p:cNvSpPr/>
          <p:nvPr/>
        </p:nvSpPr>
        <p:spPr>
          <a:xfrm>
            <a:off x="5803316" y="1533592"/>
            <a:ext cx="2061261" cy="358415"/>
          </a:xfrm>
          <a:prstGeom prst="chevron">
            <a:avLst/>
          </a:prstGeom>
          <a:solidFill>
            <a:srgbClr val="9E9EE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a:latin typeface="彩虹粗仿宋" panose="03000509000000000000" pitchFamily="65" charset="-122"/>
              <a:ea typeface="彩虹粗仿宋" panose="03000509000000000000" pitchFamily="65" charset="-122"/>
              <a:sym typeface="微软雅黑" panose="020B0503020204020204" charset="-122"/>
            </a:endParaRPr>
          </a:p>
        </p:txBody>
      </p:sp>
      <p:sp>
        <p:nvSpPr>
          <p:cNvPr id="50" name="燕尾形 17"/>
          <p:cNvSpPr/>
          <p:nvPr/>
        </p:nvSpPr>
        <p:spPr>
          <a:xfrm>
            <a:off x="7864576" y="1533592"/>
            <a:ext cx="2061261" cy="358415"/>
          </a:xfrm>
          <a:prstGeom prst="chevron">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a:latin typeface="彩虹粗仿宋" panose="03000509000000000000" pitchFamily="65" charset="-122"/>
              <a:ea typeface="彩虹粗仿宋" panose="03000509000000000000" pitchFamily="65" charset="-122"/>
              <a:sym typeface="微软雅黑" panose="020B0503020204020204" charset="-122"/>
            </a:endParaRPr>
          </a:p>
        </p:txBody>
      </p:sp>
      <p:sp>
        <p:nvSpPr>
          <p:cNvPr id="51" name="燕尾形 18"/>
          <p:cNvSpPr/>
          <p:nvPr/>
        </p:nvSpPr>
        <p:spPr>
          <a:xfrm>
            <a:off x="9925837" y="1533592"/>
            <a:ext cx="2061261" cy="358415"/>
          </a:xfrm>
          <a:prstGeom prst="chevron">
            <a:avLst/>
          </a:prstGeom>
          <a:solidFill>
            <a:srgbClr val="9E9EE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a:latin typeface="彩虹粗仿宋" panose="03000509000000000000" pitchFamily="65" charset="-122"/>
              <a:ea typeface="彩虹粗仿宋" panose="03000509000000000000" pitchFamily="65" charset="-122"/>
              <a:sym typeface="微软雅黑" panose="020B0503020204020204" charset="-122"/>
            </a:endParaRPr>
          </a:p>
        </p:txBody>
      </p:sp>
      <p:pic>
        <p:nvPicPr>
          <p:cNvPr id="75" name="图片 19" descr="神经"/>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93394" y="1566521"/>
            <a:ext cx="287544" cy="287544"/>
          </a:xfrm>
          <a:prstGeom prst="rect">
            <a:avLst/>
          </a:prstGeom>
        </p:spPr>
      </p:pic>
      <p:pic>
        <p:nvPicPr>
          <p:cNvPr id="76" name="图片 21" descr="大脑"/>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69915" y="1548324"/>
            <a:ext cx="289801" cy="289801"/>
          </a:xfrm>
          <a:prstGeom prst="rect">
            <a:avLst/>
          </a:prstGeom>
        </p:spPr>
      </p:pic>
      <p:pic>
        <p:nvPicPr>
          <p:cNvPr id="77" name="图片 20" descr="算法演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98873" y="1601141"/>
            <a:ext cx="197715" cy="175145"/>
          </a:xfrm>
          <a:prstGeom prst="rect">
            <a:avLst/>
          </a:prstGeom>
        </p:spPr>
      </p:pic>
      <p:pic>
        <p:nvPicPr>
          <p:cNvPr id="78" name="图片 22" descr="基于开源兼容开源"/>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894254" y="1596904"/>
            <a:ext cx="237439" cy="237439"/>
          </a:xfrm>
          <a:prstGeom prst="rect">
            <a:avLst/>
          </a:prstGeom>
        </p:spPr>
      </p:pic>
      <p:sp>
        <p:nvSpPr>
          <p:cNvPr id="79" name="Shape 1"/>
          <p:cNvSpPr/>
          <p:nvPr/>
        </p:nvSpPr>
        <p:spPr>
          <a:xfrm>
            <a:off x="262959" y="3292224"/>
            <a:ext cx="549373" cy="549373"/>
          </a:xfrm>
          <a:prstGeom prst="roundRect">
            <a:avLst>
              <a:gd name="adj" fmla="val 1792"/>
            </a:avLst>
          </a:prstGeom>
          <a:solidFill>
            <a:srgbClr val="EBEBEB"/>
          </a:solidFill>
          <a:ln w="7620">
            <a:solidFill>
              <a:srgbClr val="000000">
                <a:alpha val="0"/>
              </a:srgbClr>
            </a:solidFill>
            <a:prstDash val="solid"/>
          </a:ln>
        </p:spPr>
        <p:txBody>
          <a:bodyPr/>
          <a:lstStyle/>
          <a:p>
            <a:endParaRPr lang="en-US" sz="11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0" name="Text 2"/>
          <p:cNvSpPr/>
          <p:nvPr/>
        </p:nvSpPr>
        <p:spPr>
          <a:xfrm>
            <a:off x="917695" y="3387874"/>
            <a:ext cx="2517362" cy="314604"/>
          </a:xfrm>
          <a:prstGeom prst="rect">
            <a:avLst/>
          </a:prstGeom>
          <a:noFill/>
        </p:spPr>
        <p:txBody>
          <a:bodyPr wrap="none" lIns="0" tIns="0" rIns="0" bIns="0" rtlCol="0" anchor="t"/>
          <a:lstStyle/>
          <a:p>
            <a:pPr>
              <a:lnSpc>
                <a:spcPts val="1720"/>
              </a:lnSpc>
            </a:pPr>
            <a:r>
              <a:rPr lang="en-US" b="1"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真实人脑数据积累</a:t>
            </a:r>
            <a:endParaRPr lang="en-US" b="1"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81" name="Text 3"/>
          <p:cNvSpPr/>
          <p:nvPr/>
        </p:nvSpPr>
        <p:spPr>
          <a:xfrm>
            <a:off x="917694" y="3823310"/>
            <a:ext cx="5009987" cy="644431"/>
          </a:xfrm>
          <a:prstGeom prst="rect">
            <a:avLst/>
          </a:prstGeom>
          <a:noFill/>
        </p:spPr>
        <p:txBody>
          <a:bodyPr wrap="square" lIns="0" tIns="0" rIns="0" bIns="0" rtlCol="0" anchor="t"/>
          <a:lstStyle/>
          <a:p>
            <a:pPr>
              <a:lnSpc>
                <a:spcPts val="1780"/>
              </a:lnSpc>
            </a:pPr>
            <a:r>
              <a:rPr lang="en-US" sz="16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已完成100+例Epilcure™系统植入手术，获取多脑区、多病理状态电生理数据。</a:t>
            </a:r>
            <a:endParaRPr lang="en-US" sz="16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82" name="Shape 4"/>
          <p:cNvSpPr/>
          <p:nvPr/>
        </p:nvSpPr>
        <p:spPr>
          <a:xfrm>
            <a:off x="6666903" y="3292224"/>
            <a:ext cx="549373" cy="549373"/>
          </a:xfrm>
          <a:prstGeom prst="roundRect">
            <a:avLst>
              <a:gd name="adj" fmla="val 1792"/>
            </a:avLst>
          </a:prstGeom>
          <a:solidFill>
            <a:srgbClr val="EBEBEB"/>
          </a:solidFill>
          <a:ln w="7620">
            <a:solidFill>
              <a:srgbClr val="000000">
                <a:alpha val="0"/>
              </a:srgbClr>
            </a:solidFill>
            <a:prstDash val="solid"/>
          </a:ln>
        </p:spPr>
        <p:txBody>
          <a:bodyPr/>
          <a:lstStyle/>
          <a:p>
            <a:endParaRPr lang="en-US" sz="11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3" name="Text 6"/>
          <p:cNvSpPr/>
          <p:nvPr/>
        </p:nvSpPr>
        <p:spPr>
          <a:xfrm>
            <a:off x="7320919" y="3823556"/>
            <a:ext cx="4445504" cy="644093"/>
          </a:xfrm>
          <a:prstGeom prst="rect">
            <a:avLst/>
          </a:prstGeom>
          <a:noFill/>
        </p:spPr>
        <p:txBody>
          <a:bodyPr wrap="square" lIns="0" tIns="0" rIns="0" bIns="0" rtlCol="0" anchor="t"/>
          <a:lstStyle/>
          <a:p>
            <a:pPr>
              <a:lnSpc>
                <a:spcPts val="1780"/>
              </a:lnSpc>
            </a:pPr>
            <a:r>
              <a:rPr lang="en-US" sz="16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严格遵循医疗器械临床规范，所有数据采集获伦理批准与患者知情同意。</a:t>
            </a:r>
            <a:endParaRPr lang="en-US" sz="16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84" name="Shape 7"/>
          <p:cNvSpPr/>
          <p:nvPr/>
        </p:nvSpPr>
        <p:spPr>
          <a:xfrm>
            <a:off x="262959" y="4656036"/>
            <a:ext cx="549373" cy="549373"/>
          </a:xfrm>
          <a:prstGeom prst="roundRect">
            <a:avLst>
              <a:gd name="adj" fmla="val 1792"/>
            </a:avLst>
          </a:prstGeom>
          <a:solidFill>
            <a:srgbClr val="EBEBEB"/>
          </a:solidFill>
          <a:ln w="7620">
            <a:solidFill>
              <a:srgbClr val="000000">
                <a:alpha val="0"/>
              </a:srgbClr>
            </a:solidFill>
            <a:prstDash val="solid"/>
          </a:ln>
        </p:spPr>
        <p:txBody>
          <a:bodyPr/>
          <a:lstStyle/>
          <a:p>
            <a:endParaRPr lang="en-US" sz="11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5" name="Text 8"/>
          <p:cNvSpPr/>
          <p:nvPr/>
        </p:nvSpPr>
        <p:spPr>
          <a:xfrm>
            <a:off x="917695" y="4750960"/>
            <a:ext cx="2517362" cy="314604"/>
          </a:xfrm>
          <a:prstGeom prst="rect">
            <a:avLst/>
          </a:prstGeom>
          <a:noFill/>
        </p:spPr>
        <p:txBody>
          <a:bodyPr wrap="none" lIns="0" tIns="0" rIns="0" bIns="0" rtlCol="0" anchor="t"/>
          <a:lstStyle/>
          <a:p>
            <a:pPr>
              <a:lnSpc>
                <a:spcPts val="1720"/>
              </a:lnSpc>
            </a:pPr>
            <a:r>
              <a:rPr lang="en-US" b="1"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成熟临床试验网络</a:t>
            </a:r>
            <a:endParaRPr lang="en-US" b="1"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86" name="Text 9"/>
          <p:cNvSpPr/>
          <p:nvPr/>
        </p:nvSpPr>
        <p:spPr>
          <a:xfrm>
            <a:off x="917694" y="5186395"/>
            <a:ext cx="5009987" cy="644431"/>
          </a:xfrm>
          <a:prstGeom prst="rect">
            <a:avLst/>
          </a:prstGeom>
          <a:noFill/>
        </p:spPr>
        <p:txBody>
          <a:bodyPr wrap="square" lIns="0" tIns="0" rIns="0" bIns="0" rtlCol="0" anchor="t"/>
          <a:lstStyle/>
          <a:p>
            <a:pPr>
              <a:lnSpc>
                <a:spcPts val="1780"/>
              </a:lnSpc>
            </a:pPr>
            <a:r>
              <a:rPr lang="en-US" sz="16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与华山医院、宣武医院等顶级神经外科中心长期合作，高效患者招募能力。</a:t>
            </a:r>
            <a:endParaRPr lang="en-US" sz="16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87" name="Shape 10"/>
          <p:cNvSpPr/>
          <p:nvPr/>
        </p:nvSpPr>
        <p:spPr>
          <a:xfrm>
            <a:off x="6666903" y="4656036"/>
            <a:ext cx="549373" cy="549373"/>
          </a:xfrm>
          <a:prstGeom prst="roundRect">
            <a:avLst>
              <a:gd name="adj" fmla="val 1792"/>
            </a:avLst>
          </a:prstGeom>
          <a:solidFill>
            <a:srgbClr val="EBEBEB"/>
          </a:solidFill>
          <a:ln w="7620">
            <a:solidFill>
              <a:srgbClr val="000000">
                <a:alpha val="0"/>
              </a:srgbClr>
            </a:solidFill>
            <a:prstDash val="solid"/>
          </a:ln>
        </p:spPr>
        <p:txBody>
          <a:bodyPr/>
          <a:lstStyle/>
          <a:p>
            <a:endParaRPr lang="en-US" sz="110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88" name="Text 11"/>
          <p:cNvSpPr/>
          <p:nvPr/>
        </p:nvSpPr>
        <p:spPr>
          <a:xfrm>
            <a:off x="7320990" y="4750960"/>
            <a:ext cx="2517362" cy="314604"/>
          </a:xfrm>
          <a:prstGeom prst="rect">
            <a:avLst/>
          </a:prstGeom>
          <a:noFill/>
        </p:spPr>
        <p:txBody>
          <a:bodyPr wrap="none" lIns="0" tIns="0" rIns="0" bIns="0" rtlCol="0" anchor="t"/>
          <a:lstStyle/>
          <a:p>
            <a:pPr>
              <a:lnSpc>
                <a:spcPts val="1720"/>
              </a:lnSpc>
            </a:pPr>
            <a:r>
              <a:rPr lang="en-US" b="1"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丰富注册经验</a:t>
            </a:r>
            <a:endParaRPr lang="en-US" b="1"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89" name="Text 12"/>
          <p:cNvSpPr/>
          <p:nvPr/>
        </p:nvSpPr>
        <p:spPr>
          <a:xfrm>
            <a:off x="7320919" y="5186465"/>
            <a:ext cx="4445504" cy="644093"/>
          </a:xfrm>
          <a:prstGeom prst="rect">
            <a:avLst/>
          </a:prstGeom>
          <a:noFill/>
        </p:spPr>
        <p:txBody>
          <a:bodyPr wrap="square" lIns="0" tIns="0" rIns="0" bIns="0" rtlCol="0" anchor="t"/>
          <a:lstStyle/>
          <a:p>
            <a:pPr>
              <a:lnSpc>
                <a:spcPts val="1780"/>
              </a:lnSpc>
            </a:pPr>
            <a:r>
              <a:rPr lang="en-US" sz="16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已成功推出两款产品，熟悉NMPA流程，加速脑机接口产品上市进程。</a:t>
            </a:r>
            <a:endParaRPr lang="en-US" sz="1600"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
        <p:nvSpPr>
          <p:cNvPr id="90" name="Text 13"/>
          <p:cNvSpPr/>
          <p:nvPr/>
        </p:nvSpPr>
        <p:spPr>
          <a:xfrm>
            <a:off x="325203" y="6118157"/>
            <a:ext cx="11580523" cy="322216"/>
          </a:xfrm>
          <a:prstGeom prst="rect">
            <a:avLst/>
          </a:prstGeom>
          <a:noFill/>
        </p:spPr>
        <p:txBody>
          <a:bodyPr wrap="none" lIns="0" tIns="0" rIns="0" bIns="0" rtlCol="0" anchor="t"/>
          <a:lstStyle/>
          <a:p>
            <a:pPr>
              <a:lnSpc>
                <a:spcPts val="1780"/>
              </a:lnSpc>
            </a:pPr>
            <a:r>
              <a:rPr lang="en-US" dirty="0" err="1">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这些数据优势构成</a:t>
            </a:r>
            <a:r>
              <a:rPr lang="zh-CN" altLang="en-US"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佳量脑科学</a:t>
            </a:r>
            <a:r>
              <a:rPr lang="en-US" dirty="0" err="1">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转型脑机接口的核心竞争力，为算法开发与产品优化奠定基础</a:t>
            </a:r>
            <a:r>
              <a:rPr lang="en-US"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a:t>
            </a:r>
            <a:endParaRPr lang="en-US"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pic>
        <p:nvPicPr>
          <p:cNvPr id="91" name="图片 19" descr="数据"/>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25203" y="4739930"/>
            <a:ext cx="391507" cy="391507"/>
          </a:xfrm>
          <a:prstGeom prst="rect">
            <a:avLst/>
          </a:prstGeom>
        </p:spPr>
      </p:pic>
      <p:pic>
        <p:nvPicPr>
          <p:cNvPr id="92" name="图片 20" descr="data"/>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5203" y="3383335"/>
            <a:ext cx="440220" cy="440220"/>
          </a:xfrm>
          <a:prstGeom prst="rect">
            <a:avLst/>
          </a:prstGeom>
        </p:spPr>
      </p:pic>
      <p:pic>
        <p:nvPicPr>
          <p:cNvPr id="93" name="图片 21" descr="体系文件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725539" y="3383335"/>
            <a:ext cx="432102" cy="432102"/>
          </a:xfrm>
          <a:prstGeom prst="rect">
            <a:avLst/>
          </a:prstGeom>
        </p:spPr>
      </p:pic>
      <p:pic>
        <p:nvPicPr>
          <p:cNvPr id="94" name="图片 22" descr="dc-icon-注册企业"/>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723735" y="4769699"/>
            <a:ext cx="435710" cy="435710"/>
          </a:xfrm>
          <a:prstGeom prst="rect">
            <a:avLst/>
          </a:prstGeom>
        </p:spPr>
      </p:pic>
      <p:sp>
        <p:nvSpPr>
          <p:cNvPr id="95" name="Text 5"/>
          <p:cNvSpPr/>
          <p:nvPr/>
        </p:nvSpPr>
        <p:spPr>
          <a:xfrm>
            <a:off x="7320990" y="3387874"/>
            <a:ext cx="2517362" cy="314604"/>
          </a:xfrm>
          <a:prstGeom prst="rect">
            <a:avLst/>
          </a:prstGeom>
          <a:noFill/>
        </p:spPr>
        <p:txBody>
          <a:bodyPr wrap="none" lIns="0" tIns="0" rIns="0" bIns="0" rtlCol="0" anchor="t"/>
          <a:lstStyle/>
          <a:p>
            <a:pPr>
              <a:lnSpc>
                <a:spcPts val="1720"/>
              </a:lnSpc>
            </a:pPr>
            <a:r>
              <a:rPr lang="en-US" b="1"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rPr>
              <a:t>完善的合规体系</a:t>
            </a:r>
            <a:endParaRPr lang="en-US" b="1" dirty="0">
              <a:solidFill>
                <a:schemeClr val="tx1"/>
              </a:solidFill>
              <a:latin typeface="彩虹粗仿宋" panose="03000509000000000000" pitchFamily="65" charset="-122"/>
              <a:ea typeface="彩虹粗仿宋" panose="03000509000000000000" pitchFamily="65" charset="-122"/>
              <a:cs typeface="微软雅黑" panose="020B0503020204020204" pitchFamily="34" charset="-120"/>
              <a:sym typeface="微软雅黑" panose="020B0503020204020204" charset="-122"/>
            </a:endParaRPr>
          </a:p>
        </p:txBody>
      </p:sp>
    </p:spTree>
    <p:custDataLst>
      <p:tags r:id="rId19"/>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sym typeface="+mn-ea"/>
              </a:rPr>
              <a:t>管线数据</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4</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、脑机接口</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iSBS——</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闭环治疗</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帕金森</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 name="Shape 2"/>
          <p:cNvSpPr/>
          <p:nvPr/>
        </p:nvSpPr>
        <p:spPr>
          <a:xfrm>
            <a:off x="323645" y="913419"/>
            <a:ext cx="5473664" cy="1604511"/>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7" name="Text 1"/>
          <p:cNvSpPr/>
          <p:nvPr/>
        </p:nvSpPr>
        <p:spPr>
          <a:xfrm>
            <a:off x="516078" y="1098621"/>
            <a:ext cx="3143489" cy="276999"/>
          </a:xfrm>
          <a:prstGeom prst="rect">
            <a:avLst/>
          </a:prstGeom>
          <a:noFill/>
        </p:spPr>
        <p:txBody>
          <a:bodyPr wrap="none" lIns="0" tIns="0" rIns="0" bIns="0" rtlCol="0" anchor="ctr">
            <a:spAutoFit/>
          </a:bodyPr>
          <a:lstStyle/>
          <a:p>
            <a:pPr marL="0" indent="0">
              <a:buNone/>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iSBS™ 帕金森病闭环调控系统 </a:t>
            </a:r>
            <a:endPar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8" name="Text 3"/>
          <p:cNvSpPr/>
          <p:nvPr/>
        </p:nvSpPr>
        <p:spPr>
          <a:xfrm>
            <a:off x="516078" y="1403003"/>
            <a:ext cx="4980288" cy="831528"/>
          </a:xfrm>
          <a:prstGeom prst="rect">
            <a:avLst/>
          </a:prstGeom>
          <a:noFill/>
        </p:spPr>
        <p:txBody>
          <a:bodyPr wrap="square" lIns="0" tIns="0" rIns="0" bIns="0" rtlCol="0" anchor="ctr">
            <a:noAutofit/>
          </a:bodyPr>
          <a:lstStyle/>
          <a:p>
            <a:pPr marL="0" indent="0">
              <a:buNone/>
            </a:pPr>
            <a:r>
              <a:rPr lang="en-US"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iSBS™是</a:t>
            </a: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佳量脑科学</a:t>
            </a:r>
            <a:r>
              <a:rPr lang="en-US"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开发的帕金森病智能闭环脑深部刺激系统，通过实时监测脑电活动和运动状态，自适应调节刺激参数，有效控制震颤、僵直和运动迟缓等症状</a:t>
            </a:r>
            <a:r>
              <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 name="Text 15"/>
          <p:cNvSpPr/>
          <p:nvPr/>
        </p:nvSpPr>
        <p:spPr>
          <a:xfrm>
            <a:off x="6544260" y="893439"/>
            <a:ext cx="992259" cy="276999"/>
          </a:xfrm>
          <a:prstGeom prst="rect">
            <a:avLst/>
          </a:prstGeom>
          <a:noFill/>
        </p:spPr>
        <p:txBody>
          <a:bodyPr wrap="none" lIns="0" tIns="0" rIns="0" bIns="0" rtlCol="0" anchor="ctr">
            <a:spAutoFit/>
          </a:bodyPr>
          <a:lstStyle/>
          <a:p>
            <a:pPr marL="0" indent="0">
              <a:buNone/>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技术优势 </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9" name="Text 25"/>
          <p:cNvSpPr/>
          <p:nvPr/>
        </p:nvSpPr>
        <p:spPr>
          <a:xfrm>
            <a:off x="6516260" y="3072931"/>
            <a:ext cx="992259" cy="276999"/>
          </a:xfrm>
          <a:prstGeom prst="rect">
            <a:avLst/>
          </a:prstGeom>
          <a:noFill/>
        </p:spPr>
        <p:txBody>
          <a:bodyPr wrap="none" lIns="0" tIns="0" rIns="0" bIns="0" rtlCol="0" anchor="ctr">
            <a:spAutoFit/>
          </a:bodyPr>
          <a:lstStyle/>
          <a:p>
            <a:pPr marL="0" indent="0">
              <a:buNone/>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竞争优势 </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0" name="Shape 26"/>
          <p:cNvSpPr/>
          <p:nvPr/>
        </p:nvSpPr>
        <p:spPr>
          <a:xfrm>
            <a:off x="6191285" y="3450375"/>
            <a:ext cx="1271051" cy="278307"/>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1" name="Shape 27"/>
          <p:cNvSpPr/>
          <p:nvPr/>
        </p:nvSpPr>
        <p:spPr>
          <a:xfrm>
            <a:off x="6191285" y="3722743"/>
            <a:ext cx="1271051" cy="6788"/>
          </a:xfrm>
          <a:prstGeom prst="rect">
            <a:avLst/>
          </a:prstGeom>
          <a:solidFill>
            <a:srgbClr val="4299E1"/>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2" name="Text 28"/>
          <p:cNvSpPr/>
          <p:nvPr/>
        </p:nvSpPr>
        <p:spPr>
          <a:xfrm>
            <a:off x="6191285" y="3413496"/>
            <a:ext cx="1271051" cy="352917"/>
          </a:xfrm>
          <a:prstGeom prst="rect">
            <a:avLst/>
          </a:prstGeom>
          <a:noFill/>
        </p:spPr>
        <p:txBody>
          <a:bodyPr wrap="square" lIns="68072" tIns="68072" rIns="68072" bIns="68072" rtlCol="0" anchor="ctr">
            <a:spAutoFit/>
          </a:bodyPr>
          <a:lstStyle/>
          <a:p>
            <a:pPr marL="0" indent="0" algn="l">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参数</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3" name="Shape 29"/>
          <p:cNvSpPr/>
          <p:nvPr/>
        </p:nvSpPr>
        <p:spPr>
          <a:xfrm>
            <a:off x="7462335" y="3450375"/>
            <a:ext cx="2044033" cy="278307"/>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4" name="Shape 30"/>
          <p:cNvSpPr/>
          <p:nvPr/>
        </p:nvSpPr>
        <p:spPr>
          <a:xfrm>
            <a:off x="7462335" y="3722743"/>
            <a:ext cx="2044033" cy="6788"/>
          </a:xfrm>
          <a:prstGeom prst="rect">
            <a:avLst/>
          </a:prstGeom>
          <a:solidFill>
            <a:srgbClr val="4299E1"/>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5" name="Text 31"/>
          <p:cNvSpPr/>
          <p:nvPr/>
        </p:nvSpPr>
        <p:spPr>
          <a:xfrm>
            <a:off x="7462335" y="3413496"/>
            <a:ext cx="2044033" cy="352917"/>
          </a:xfrm>
          <a:prstGeom prst="rect">
            <a:avLst/>
          </a:prstGeom>
          <a:noFill/>
        </p:spPr>
        <p:txBody>
          <a:bodyPr wrap="square" lIns="68072" tIns="68072" rIns="68072" bIns="68072" rtlCol="0" anchor="ctr">
            <a:spAutoFit/>
          </a:bodyPr>
          <a:lstStyle/>
          <a:p>
            <a:pPr marL="0" indent="0" algn="l">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Epilcure™</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6" name="Shape 32"/>
          <p:cNvSpPr/>
          <p:nvPr/>
        </p:nvSpPr>
        <p:spPr>
          <a:xfrm>
            <a:off x="9506368" y="3450375"/>
            <a:ext cx="2221369" cy="278307"/>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7" name="Shape 33"/>
          <p:cNvSpPr/>
          <p:nvPr/>
        </p:nvSpPr>
        <p:spPr>
          <a:xfrm>
            <a:off x="9506368" y="3722743"/>
            <a:ext cx="2221369" cy="6788"/>
          </a:xfrm>
          <a:prstGeom prst="rect">
            <a:avLst/>
          </a:prstGeom>
          <a:solidFill>
            <a:srgbClr val="4299E1"/>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8" name="Text 34"/>
          <p:cNvSpPr/>
          <p:nvPr/>
        </p:nvSpPr>
        <p:spPr>
          <a:xfrm>
            <a:off x="9506368" y="3413496"/>
            <a:ext cx="2221369" cy="352917"/>
          </a:xfrm>
          <a:prstGeom prst="rect">
            <a:avLst/>
          </a:prstGeom>
          <a:noFill/>
        </p:spPr>
        <p:txBody>
          <a:bodyPr wrap="square" lIns="68072" tIns="68072" rIns="68072" bIns="68072" rtlCol="0" anchor="ctr">
            <a:spAutoFit/>
          </a:bodyPr>
          <a:lstStyle/>
          <a:p>
            <a:pPr marL="0" indent="0" algn="l">
              <a:buNone/>
            </a:pPr>
            <a:r>
              <a:rPr lang="en-US" altLang="zh-CN"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Percept™ PC</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29" name="Text 35"/>
          <p:cNvSpPr/>
          <p:nvPr/>
        </p:nvSpPr>
        <p:spPr>
          <a:xfrm>
            <a:off x="6191285" y="3685016"/>
            <a:ext cx="1271051"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感知频段</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0" name="Text 36"/>
          <p:cNvSpPr/>
          <p:nvPr/>
        </p:nvSpPr>
        <p:spPr>
          <a:xfrm>
            <a:off x="7538700" y="3749510"/>
            <a:ext cx="538609" cy="215444"/>
          </a:xfrm>
          <a:prstGeom prst="rect">
            <a:avLst/>
          </a:prstGeom>
          <a:noFill/>
        </p:spPr>
        <p:txBody>
          <a:bodyPr wrap="none" lIns="0" tIns="0" rIns="0" bIns="0" rtlCol="0" anchor="ctr">
            <a:spAutoFit/>
          </a:bodyPr>
          <a:lstStyle/>
          <a:p>
            <a:pPr marL="0" indent="0">
              <a:buNone/>
            </a:pP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全频段</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1" name="Text 37"/>
          <p:cNvSpPr/>
          <p:nvPr/>
        </p:nvSpPr>
        <p:spPr>
          <a:xfrm>
            <a:off x="9506368" y="3685016"/>
            <a:ext cx="2221369" cy="352917"/>
          </a:xfrm>
          <a:prstGeom prst="rect">
            <a:avLst/>
          </a:prstGeom>
          <a:noFill/>
        </p:spPr>
        <p:txBody>
          <a:bodyPr wrap="square" lIns="68072" tIns="68072" rIns="68072" bIns="68072" rtlCol="0" anchor="ctr">
            <a:spAutoFit/>
          </a:bodyPr>
          <a:lstStyle/>
          <a:p>
            <a:pPr marL="0" indent="0">
              <a:buNone/>
            </a:pPr>
            <a:r>
              <a:rPr lang="en-US"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单一</a:t>
            </a: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频段</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5" name="Text 38"/>
          <p:cNvSpPr/>
          <p:nvPr/>
        </p:nvSpPr>
        <p:spPr>
          <a:xfrm>
            <a:off x="6191285" y="3963323"/>
            <a:ext cx="1271051" cy="352917"/>
          </a:xfrm>
          <a:prstGeom prst="rect">
            <a:avLst/>
          </a:prstGeom>
          <a:noFill/>
        </p:spPr>
        <p:txBody>
          <a:bodyPr wrap="square" lIns="68072" tIns="68072" rIns="68072" bIns="68072" rtlCol="0" anchor="ctr">
            <a:spAutoFit/>
          </a:bodyPr>
          <a:lstStyle/>
          <a:p>
            <a:pPr marL="0" indent="0">
              <a:buNone/>
            </a:pPr>
            <a:r>
              <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植入位置</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6" name="Text 39"/>
          <p:cNvSpPr/>
          <p:nvPr/>
        </p:nvSpPr>
        <p:spPr>
          <a:xfrm>
            <a:off x="7538700" y="4028666"/>
            <a:ext cx="718145" cy="215444"/>
          </a:xfrm>
          <a:prstGeom prst="rect">
            <a:avLst/>
          </a:prstGeom>
          <a:noFill/>
        </p:spPr>
        <p:txBody>
          <a:bodyPr wrap="none" lIns="0" tIns="0" rIns="0" bIns="0" rtlCol="0" anchor="ctr">
            <a:spAutoFit/>
          </a:bodyPr>
          <a:lstStyle/>
          <a:p>
            <a:pPr marL="0" indent="0">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颅骨植入</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7" name="Text 40"/>
          <p:cNvSpPr/>
          <p:nvPr/>
        </p:nvSpPr>
        <p:spPr>
          <a:xfrm>
            <a:off x="9506368" y="3963323"/>
            <a:ext cx="2221369"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胸腔</a:t>
            </a:r>
            <a:r>
              <a:rPr lang="en-US"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植入</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8" name="Text 41"/>
          <p:cNvSpPr/>
          <p:nvPr/>
        </p:nvSpPr>
        <p:spPr>
          <a:xfrm>
            <a:off x="6191285" y="4242479"/>
            <a:ext cx="1271051" cy="352917"/>
          </a:xfrm>
          <a:prstGeom prst="rect">
            <a:avLst/>
          </a:prstGeom>
          <a:noFill/>
        </p:spPr>
        <p:txBody>
          <a:bodyPr wrap="square" lIns="68072" tIns="68072" rIns="68072" bIns="68072" rtlCol="0" anchor="ctr">
            <a:spAutoFit/>
          </a:bodyPr>
          <a:lstStyle/>
          <a:p>
            <a:pPr marL="0" indent="0">
              <a:buNone/>
            </a:pPr>
            <a:r>
              <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体积</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2" name="Text 42"/>
          <p:cNvSpPr/>
          <p:nvPr/>
        </p:nvSpPr>
        <p:spPr>
          <a:xfrm>
            <a:off x="7538700" y="4306973"/>
            <a:ext cx="746999" cy="215444"/>
          </a:xfrm>
          <a:prstGeom prst="rect">
            <a:avLst/>
          </a:prstGeom>
          <a:noFill/>
        </p:spPr>
        <p:txBody>
          <a:bodyPr wrap="none" lIns="0" tIns="0" rIns="0" bIns="0" rtlCol="0" anchor="ctr">
            <a:spAutoFit/>
          </a:bodyPr>
          <a:lstStyle/>
          <a:p>
            <a:pPr marL="0" indent="0">
              <a:buNone/>
            </a:pPr>
            <a:r>
              <a:rPr lang="en-US" sz="1400" b="1" dirty="0">
                <a:solidFill>
                  <a:srgbClr val="031F6D"/>
                </a:solidFill>
                <a:latin typeface="彩虹粗仿宋" panose="03000509000000000000" pitchFamily="65" charset="-122"/>
                <a:ea typeface="彩虹粗仿宋" panose="03000509000000000000" pitchFamily="65" charset="-122"/>
                <a:sym typeface="Arial" panose="020B0604020202090204" pitchFamily="34" charset="0"/>
              </a:rPr>
              <a:t>减少70%</a:t>
            </a:r>
            <a:endParaRPr lang="en-US" sz="1400" b="1" dirty="0">
              <a:solidFill>
                <a:srgbClr val="031F6D"/>
              </a:solidFill>
              <a:latin typeface="彩虹粗仿宋" panose="03000509000000000000" pitchFamily="65" charset="-122"/>
              <a:ea typeface="彩虹粗仿宋" panose="03000509000000000000" pitchFamily="65" charset="-122"/>
              <a:sym typeface="Arial" panose="020B0604020202090204" pitchFamily="34" charset="0"/>
            </a:endParaRPr>
          </a:p>
        </p:txBody>
      </p:sp>
      <p:sp>
        <p:nvSpPr>
          <p:cNvPr id="53" name="Text 43"/>
          <p:cNvSpPr/>
          <p:nvPr/>
        </p:nvSpPr>
        <p:spPr>
          <a:xfrm>
            <a:off x="9506368" y="4242479"/>
            <a:ext cx="2221369" cy="352917"/>
          </a:xfrm>
          <a:prstGeom prst="rect">
            <a:avLst/>
          </a:prstGeom>
          <a:noFill/>
        </p:spPr>
        <p:txBody>
          <a:bodyPr wrap="square" lIns="68072" tIns="68072" rIns="68072" bIns="68072" rtlCol="0" anchor="ctr">
            <a:spAutoFit/>
          </a:bodyPr>
          <a:lstStyle/>
          <a:p>
            <a:pPr marL="0" indent="0">
              <a:buNone/>
            </a:pPr>
            <a:r>
              <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标准体积</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4" name="Text 44"/>
          <p:cNvSpPr/>
          <p:nvPr/>
        </p:nvSpPr>
        <p:spPr>
          <a:xfrm>
            <a:off x="6191285" y="4520787"/>
            <a:ext cx="1271051" cy="352917"/>
          </a:xfrm>
          <a:prstGeom prst="rect">
            <a:avLst/>
          </a:prstGeom>
          <a:noFill/>
        </p:spPr>
        <p:txBody>
          <a:bodyPr wrap="square" lIns="68072" tIns="68072" rIns="68072" bIns="68072" rtlCol="0" anchor="ctr">
            <a:spAutoFit/>
          </a:bodyPr>
          <a:lstStyle/>
          <a:p>
            <a:pPr marL="0" indent="0">
              <a:buNone/>
            </a:pPr>
            <a:r>
              <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电池</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5" name="Text 45"/>
          <p:cNvSpPr/>
          <p:nvPr/>
        </p:nvSpPr>
        <p:spPr>
          <a:xfrm>
            <a:off x="7538700" y="4585281"/>
            <a:ext cx="1255152" cy="215444"/>
          </a:xfrm>
          <a:prstGeom prst="rect">
            <a:avLst/>
          </a:prstGeom>
          <a:noFill/>
        </p:spPr>
        <p:txBody>
          <a:bodyPr wrap="none" lIns="0" tIns="0" rIns="0" bIns="0" rtlCol="0" anchor="ctr">
            <a:spAutoFit/>
          </a:bodyPr>
          <a:lstStyle/>
          <a:p>
            <a:pPr marL="0" indent="0">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可充电，10</a:t>
            </a: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年</a:t>
            </a:r>
            <a:r>
              <a:rPr lang="en-US" altLang="zh-CN"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6" name="Text 46"/>
          <p:cNvSpPr/>
          <p:nvPr/>
        </p:nvSpPr>
        <p:spPr>
          <a:xfrm>
            <a:off x="9506368" y="4520787"/>
            <a:ext cx="2221369" cy="352917"/>
          </a:xfrm>
          <a:prstGeom prst="rect">
            <a:avLst/>
          </a:prstGeom>
          <a:noFill/>
        </p:spPr>
        <p:txBody>
          <a:bodyPr wrap="square" lIns="68072" tIns="68072" rIns="68072" bIns="68072" rtlCol="0" anchor="ctr">
            <a:spAutoFit/>
          </a:bodyPr>
          <a:lstStyle/>
          <a:p>
            <a:pPr marL="0" indent="0">
              <a:buNone/>
            </a:pPr>
            <a:r>
              <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不可充电，4-5年</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7" name="Shape 47"/>
          <p:cNvSpPr/>
          <p:nvPr/>
        </p:nvSpPr>
        <p:spPr>
          <a:xfrm>
            <a:off x="6191285" y="5330317"/>
            <a:ext cx="5536453" cy="922144"/>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8" name="Text 48"/>
          <p:cNvSpPr/>
          <p:nvPr/>
        </p:nvSpPr>
        <p:spPr>
          <a:xfrm>
            <a:off x="6639482" y="4991634"/>
            <a:ext cx="1615827" cy="276999"/>
          </a:xfrm>
          <a:prstGeom prst="rect">
            <a:avLst/>
          </a:prstGeom>
          <a:noFill/>
        </p:spPr>
        <p:txBody>
          <a:bodyPr wrap="none" lIns="0" tIns="0" rIns="0" bIns="0" rtlCol="0" anchor="ctr">
            <a:spAutoFit/>
          </a:bodyPr>
          <a:lstStyle/>
          <a:p>
            <a:pPr marL="0" indent="0">
              <a:buNone/>
            </a:pPr>
            <a:r>
              <a:rPr lang="zh-CN" alt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科研性</a:t>
            </a:r>
            <a:r>
              <a:rPr lang="en-US"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临床进展</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9" name="Shape 49"/>
          <p:cNvSpPr/>
          <p:nvPr/>
        </p:nvSpPr>
        <p:spPr>
          <a:xfrm>
            <a:off x="6334681" y="5450152"/>
            <a:ext cx="5250509" cy="135760"/>
          </a:xfrm>
          <a:prstGeom prst="roundRect">
            <a:avLst/>
          </a:prstGeom>
          <a:solidFill>
            <a:srgbClr val="FFFFFF"/>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60" name="Shape 50"/>
          <p:cNvSpPr/>
          <p:nvPr/>
        </p:nvSpPr>
        <p:spPr>
          <a:xfrm>
            <a:off x="6334681" y="5450152"/>
            <a:ext cx="3171687" cy="150186"/>
          </a:xfrm>
          <a:prstGeom prst="roundRect">
            <a:avLst/>
          </a:prstGeom>
          <a:solidFill>
            <a:srgbClr val="031F6D"/>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61" name="Text 51"/>
          <p:cNvSpPr/>
          <p:nvPr/>
        </p:nvSpPr>
        <p:spPr>
          <a:xfrm>
            <a:off x="6334681" y="5632309"/>
            <a:ext cx="2729914" cy="184665"/>
          </a:xfrm>
          <a:prstGeom prst="rect">
            <a:avLst/>
          </a:prstGeom>
          <a:noFill/>
        </p:spPr>
        <p:txBody>
          <a:bodyPr wrap="none" lIns="0" tIns="0" rIns="0" bIns="0" rtlCol="0" anchor="ctr">
            <a:spAutoFit/>
          </a:bodyPr>
          <a:lstStyle/>
          <a:p>
            <a:pPr marL="0" indent="0">
              <a:buNone/>
            </a:pP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首例科研性临床，</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已完成5</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例</a:t>
            </a:r>
            <a:r>
              <a:rPr lang="en-US" altLang="zh-CN"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IIT</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临床植入</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62" name="Text 52"/>
          <p:cNvSpPr/>
          <p:nvPr/>
        </p:nvSpPr>
        <p:spPr>
          <a:xfrm>
            <a:off x="9636806" y="5433035"/>
            <a:ext cx="315792" cy="184665"/>
          </a:xfrm>
          <a:prstGeom prst="rect">
            <a:avLst/>
          </a:prstGeom>
          <a:noFill/>
        </p:spPr>
        <p:txBody>
          <a:bodyPr wrap="non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50%</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grpSp>
        <p:nvGrpSpPr>
          <p:cNvPr id="67" name="组合 66"/>
          <p:cNvGrpSpPr/>
          <p:nvPr/>
        </p:nvGrpSpPr>
        <p:grpSpPr>
          <a:xfrm>
            <a:off x="6288862" y="1964061"/>
            <a:ext cx="101820" cy="182427"/>
            <a:chOff x="3571" y="3143"/>
            <a:chExt cx="226" cy="339"/>
          </a:xfrm>
          <a:solidFill>
            <a:srgbClr val="031F6D"/>
          </a:solidFill>
        </p:grpSpPr>
        <p:sp>
          <p:nvSpPr>
            <p:cNvPr id="68" name="圆角矩形 23"/>
            <p:cNvSpPr/>
            <p:nvPr/>
          </p:nvSpPr>
          <p:spPr>
            <a:xfrm>
              <a:off x="3571" y="3143"/>
              <a:ext cx="172"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sp>
          <p:nvSpPr>
            <p:cNvPr id="69" name="圆角矩形 26"/>
            <p:cNvSpPr/>
            <p:nvPr/>
          </p:nvSpPr>
          <p:spPr>
            <a:xfrm>
              <a:off x="3571" y="3256"/>
              <a:ext cx="227"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grpSp>
      <p:sp>
        <p:nvSpPr>
          <p:cNvPr id="10" name="Text 17"/>
          <p:cNvSpPr/>
          <p:nvPr/>
        </p:nvSpPr>
        <p:spPr>
          <a:xfrm>
            <a:off x="6592624" y="1273441"/>
            <a:ext cx="897682" cy="215444"/>
          </a:xfrm>
          <a:prstGeom prst="rect">
            <a:avLst/>
          </a:prstGeom>
          <a:noFill/>
        </p:spPr>
        <p:txBody>
          <a:bodyPr wrap="none" lIns="0" tIns="0" rIns="0" bIns="0" rtlCol="0" anchor="ctr">
            <a:spAutoFit/>
          </a:bodyPr>
          <a:lstStyle/>
          <a:p>
            <a:pPr marL="0" indent="0">
              <a:buNone/>
            </a:pP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全频段感知</a:t>
            </a:r>
            <a:endPar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4" name="Text 18"/>
          <p:cNvSpPr/>
          <p:nvPr/>
        </p:nvSpPr>
        <p:spPr>
          <a:xfrm>
            <a:off x="6592624" y="1493159"/>
            <a:ext cx="5135961" cy="369332"/>
          </a:xfrm>
          <a:prstGeom prst="rect">
            <a:avLst/>
          </a:prstGeom>
          <a:noFill/>
        </p:spPr>
        <p:txBody>
          <a:bodyPr wrap="squar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可实时监测</a:t>
            </a:r>
            <a:r>
              <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θ</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a:t>
            </a:r>
            <a:r>
              <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δ</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a:t>
            </a:r>
            <a:r>
              <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α</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a:t>
            </a:r>
            <a:r>
              <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β</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a:t>
            </a:r>
            <a:r>
              <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γ</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频段能量</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形成闭环</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调控</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提高治疗效果，减少副作用</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5" name="Text 20"/>
          <p:cNvSpPr/>
          <p:nvPr/>
        </p:nvSpPr>
        <p:spPr>
          <a:xfrm>
            <a:off x="6592624" y="1911649"/>
            <a:ext cx="897682" cy="215444"/>
          </a:xfrm>
          <a:prstGeom prst="rect">
            <a:avLst/>
          </a:prstGeom>
          <a:noFill/>
        </p:spPr>
        <p:txBody>
          <a:bodyPr wrap="none" lIns="0" tIns="0" rIns="0" bIns="0" rtlCol="0" anchor="ctr">
            <a:spAutoFit/>
          </a:bodyPr>
          <a:lstStyle/>
          <a:p>
            <a:pPr marL="0" indent="0">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微型化设计</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6" name="Text 21"/>
          <p:cNvSpPr/>
          <p:nvPr/>
        </p:nvSpPr>
        <p:spPr>
          <a:xfrm>
            <a:off x="6563596" y="2160375"/>
            <a:ext cx="5184111" cy="184665"/>
          </a:xfrm>
          <a:prstGeom prst="rect">
            <a:avLst/>
          </a:prstGeom>
          <a:noFill/>
        </p:spPr>
        <p:txBody>
          <a:bodyPr wrap="non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颅骨植入式设计，体积减少70%，重量减轻40%，提高患者舒适度和美观度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7" name="Text 23"/>
          <p:cNvSpPr/>
          <p:nvPr/>
        </p:nvSpPr>
        <p:spPr>
          <a:xfrm>
            <a:off x="6592624" y="2375688"/>
            <a:ext cx="897682" cy="215444"/>
          </a:xfrm>
          <a:prstGeom prst="rect">
            <a:avLst/>
          </a:prstGeom>
          <a:noFill/>
        </p:spPr>
        <p:txBody>
          <a:bodyPr wrap="none" lIns="0" tIns="0" rIns="0" bIns="0" rtlCol="0" anchor="ctr">
            <a:spAutoFit/>
          </a:bodyPr>
          <a:lstStyle/>
          <a:p>
            <a:pPr marL="0" indent="0">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可充电设计</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8" name="Text 24"/>
          <p:cNvSpPr/>
          <p:nvPr/>
        </p:nvSpPr>
        <p:spPr>
          <a:xfrm>
            <a:off x="6592624" y="2630712"/>
            <a:ext cx="4578176" cy="184665"/>
          </a:xfrm>
          <a:prstGeom prst="rect">
            <a:avLst/>
          </a:prstGeom>
          <a:noFill/>
        </p:spPr>
        <p:txBody>
          <a:bodyPr wrap="non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无线充电技术，电池寿命10年</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以上</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，减少更换频率，降低患者负担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63" name="椭圆 62"/>
          <p:cNvSpPr/>
          <p:nvPr/>
        </p:nvSpPr>
        <p:spPr>
          <a:xfrm>
            <a:off x="6176437" y="1305578"/>
            <a:ext cx="289338" cy="289338"/>
          </a:xfrm>
          <a:prstGeom prst="ellipse">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pic>
        <p:nvPicPr>
          <p:cNvPr id="64" name="图片 71" descr="闭环"/>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92936" y="1338670"/>
            <a:ext cx="230792" cy="230792"/>
          </a:xfrm>
          <a:prstGeom prst="rect">
            <a:avLst/>
          </a:prstGeom>
        </p:spPr>
      </p:pic>
      <p:sp>
        <p:nvSpPr>
          <p:cNvPr id="65" name="椭圆 64"/>
          <p:cNvSpPr/>
          <p:nvPr/>
        </p:nvSpPr>
        <p:spPr>
          <a:xfrm>
            <a:off x="6176437" y="1919090"/>
            <a:ext cx="289338" cy="289338"/>
          </a:xfrm>
          <a:prstGeom prst="ellipse">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sp>
        <p:nvSpPr>
          <p:cNvPr id="66" name="椭圆 65"/>
          <p:cNvSpPr/>
          <p:nvPr/>
        </p:nvSpPr>
        <p:spPr>
          <a:xfrm>
            <a:off x="6176437" y="2387463"/>
            <a:ext cx="289338" cy="289338"/>
          </a:xfrm>
          <a:prstGeom prst="ellipse">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pic>
        <p:nvPicPr>
          <p:cNvPr id="70" name="图片 27" descr="battery-low-lin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1164" y="2449493"/>
            <a:ext cx="192609" cy="192609"/>
          </a:xfrm>
          <a:prstGeom prst="rect">
            <a:avLst/>
          </a:prstGeom>
        </p:spPr>
      </p:pic>
      <p:pic>
        <p:nvPicPr>
          <p:cNvPr id="71" name="图片 31" descr="优势"/>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59890" y="893209"/>
            <a:ext cx="287641" cy="287641"/>
          </a:xfrm>
          <a:prstGeom prst="rect">
            <a:avLst/>
          </a:prstGeom>
        </p:spPr>
      </p:pic>
      <p:pic>
        <p:nvPicPr>
          <p:cNvPr id="72" name="图片 64" descr="Therapeutic"/>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5952" y="3072700"/>
            <a:ext cx="215519" cy="215519"/>
          </a:xfrm>
          <a:prstGeom prst="rect">
            <a:avLst/>
          </a:prstGeom>
        </p:spPr>
      </p:pic>
      <p:sp>
        <p:nvSpPr>
          <p:cNvPr id="73" name="Shape 15"/>
          <p:cNvSpPr/>
          <p:nvPr/>
        </p:nvSpPr>
        <p:spPr>
          <a:xfrm>
            <a:off x="6303833" y="5873716"/>
            <a:ext cx="3096000" cy="287641"/>
          </a:xfrm>
          <a:prstGeom prst="roundRect">
            <a:avLst/>
          </a:prstGeom>
          <a:solidFill>
            <a:srgbClr val="647586"/>
          </a:solidFill>
          <a:ln w="99">
            <a:noFill/>
            <a:prstDash val="solid"/>
          </a:ln>
        </p:spPr>
        <p:txBody>
          <a:bodyPr/>
          <a:lstStyle/>
          <a:p>
            <a:endParaRPr lang="en-US" sz="440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74" name="Text 16"/>
          <p:cNvSpPr/>
          <p:nvPr/>
        </p:nvSpPr>
        <p:spPr>
          <a:xfrm>
            <a:off x="6303833" y="5869074"/>
            <a:ext cx="2990819" cy="297774"/>
          </a:xfrm>
          <a:prstGeom prst="rect">
            <a:avLst/>
          </a:prstGeom>
          <a:noFill/>
        </p:spPr>
        <p:txBody>
          <a:bodyPr wrap="none" lIns="68072" tIns="25527" rIns="68072" bIns="25527" rtlCol="0" anchor="ctr">
            <a:spAutoFit/>
          </a:bodyPr>
          <a:lstStyle/>
          <a:p>
            <a:pPr marL="0" indent="0">
              <a:buNone/>
            </a:pPr>
            <a:r>
              <a:rPr lang="en-US" sz="1600" b="1"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预计2026年Q2进入</a:t>
            </a:r>
            <a:r>
              <a:rPr lang="zh-CN" altLang="en-US" sz="1600" b="1"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确证性</a:t>
            </a:r>
            <a:r>
              <a:rPr lang="en-US" sz="1600" b="1" dirty="0" err="1">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临床</a:t>
            </a:r>
            <a:endParaRPr lang="en-US" sz="1600" b="1"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6" name="Text 5"/>
          <p:cNvSpPr/>
          <p:nvPr/>
        </p:nvSpPr>
        <p:spPr>
          <a:xfrm>
            <a:off x="873603" y="2666657"/>
            <a:ext cx="992259" cy="276999"/>
          </a:xfrm>
          <a:prstGeom prst="rect">
            <a:avLst/>
          </a:prstGeom>
          <a:noFill/>
        </p:spPr>
        <p:txBody>
          <a:bodyPr wrap="none" lIns="0" tIns="0" rIns="0" bIns="0" rtlCol="0" anchor="ctr">
            <a:spAutoFit/>
          </a:bodyPr>
          <a:lstStyle/>
          <a:p>
            <a:pPr marL="0" indent="0">
              <a:buNone/>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产品组成 </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7" name="Shape 6"/>
          <p:cNvSpPr/>
          <p:nvPr/>
        </p:nvSpPr>
        <p:spPr>
          <a:xfrm>
            <a:off x="441230" y="3133758"/>
            <a:ext cx="286369" cy="286369"/>
          </a:xfrm>
          <a:prstGeom prst="ellipse">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8" name="Text 7"/>
          <p:cNvSpPr/>
          <p:nvPr/>
        </p:nvSpPr>
        <p:spPr>
          <a:xfrm>
            <a:off x="842209" y="3140585"/>
            <a:ext cx="1795363" cy="215444"/>
          </a:xfrm>
          <a:prstGeom prst="rect">
            <a:avLst/>
          </a:prstGeom>
          <a:noFill/>
        </p:spPr>
        <p:txBody>
          <a:bodyPr wrap="none" lIns="0" tIns="0" rIns="0" bIns="0" rtlCol="0" anchor="ctr">
            <a:spAutoFit/>
          </a:bodyPr>
          <a:lstStyle/>
          <a:p>
            <a:pPr marL="0" indent="0">
              <a:buNone/>
            </a:pP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全频段感知</a:t>
            </a:r>
            <a:r>
              <a:rPr lang="en-US" sz="14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闭环刺激器</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9" name="Text 8"/>
          <p:cNvSpPr/>
          <p:nvPr/>
        </p:nvSpPr>
        <p:spPr>
          <a:xfrm>
            <a:off x="842209" y="3411785"/>
            <a:ext cx="4695197" cy="184665"/>
          </a:xfrm>
          <a:prstGeom prst="rect">
            <a:avLst/>
          </a:prstGeom>
          <a:noFill/>
        </p:spPr>
        <p:txBody>
          <a:bodyPr wrap="non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全频段感知，</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颅骨植入式设计，体积小，重量轻，可充电，MRI兼容</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0" name="Shape 9"/>
          <p:cNvSpPr/>
          <p:nvPr/>
        </p:nvSpPr>
        <p:spPr>
          <a:xfrm>
            <a:off x="441230" y="3712200"/>
            <a:ext cx="286369" cy="286369"/>
          </a:xfrm>
          <a:prstGeom prst="ellipse">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1" name="Text 10"/>
          <p:cNvSpPr/>
          <p:nvPr/>
        </p:nvSpPr>
        <p:spPr>
          <a:xfrm>
            <a:off x="842209" y="3719027"/>
            <a:ext cx="1615827" cy="215444"/>
          </a:xfrm>
          <a:prstGeom prst="rect">
            <a:avLst/>
          </a:prstGeom>
          <a:noFill/>
        </p:spPr>
        <p:txBody>
          <a:bodyPr wrap="none" lIns="0" tIns="0" rIns="0" bIns="0" rtlCol="0" anchor="ctr">
            <a:spAutoFit/>
          </a:bodyPr>
          <a:lstStyle/>
          <a:p>
            <a:pPr marL="0" indent="0">
              <a:buNone/>
            </a:pP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无延伸导线</a:t>
            </a:r>
            <a:r>
              <a:rPr lang="en-US" sz="14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深部电极</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2" name="Text 11"/>
          <p:cNvSpPr/>
          <p:nvPr/>
        </p:nvSpPr>
        <p:spPr>
          <a:xfrm>
            <a:off x="842209" y="3990227"/>
            <a:ext cx="4308872" cy="184665"/>
          </a:xfrm>
          <a:prstGeom prst="rect">
            <a:avLst/>
          </a:prstGeom>
          <a:noFill/>
        </p:spPr>
        <p:txBody>
          <a:bodyPr wrap="none" lIns="0" tIns="0" rIns="0" bIns="0" rtlCol="0" anchor="ctr">
            <a:spAutoFit/>
          </a:bodyPr>
          <a:lstStyle/>
          <a:p>
            <a:pPr marL="0" indent="0">
              <a:buNone/>
            </a:pP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无需延伸导线，电极直连刺激器，减小手术复杂度，术后更美观</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3" name="Text 13"/>
          <p:cNvSpPr/>
          <p:nvPr/>
        </p:nvSpPr>
        <p:spPr>
          <a:xfrm>
            <a:off x="842209" y="4297468"/>
            <a:ext cx="1436291" cy="215444"/>
          </a:xfrm>
          <a:prstGeom prst="rect">
            <a:avLst/>
          </a:prstGeom>
          <a:noFill/>
        </p:spPr>
        <p:txBody>
          <a:bodyPr wrap="none" lIns="0" tIns="0" rIns="0" bIns="0" rtlCol="0" anchor="ctr">
            <a:spAutoFit/>
          </a:bodyPr>
          <a:lstStyle/>
          <a:p>
            <a:pPr marL="0" indent="0">
              <a:buNone/>
            </a:pPr>
            <a:r>
              <a:rPr lang="en-US" sz="14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程控</a:t>
            </a: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软件与云平台</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4" name="Text 14"/>
          <p:cNvSpPr/>
          <p:nvPr/>
        </p:nvSpPr>
        <p:spPr>
          <a:xfrm>
            <a:off x="842209" y="4568667"/>
            <a:ext cx="3475310" cy="184665"/>
          </a:xfrm>
          <a:prstGeom prst="rect">
            <a:avLst/>
          </a:prstGeom>
          <a:noFill/>
        </p:spPr>
        <p:txBody>
          <a:bodyPr wrap="non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医生端</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患者端</a:t>
            </a:r>
            <a:r>
              <a:rPr lang="en-US" sz="12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参数调整设备</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数据安全存储云平台</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5" name="Shape 9"/>
          <p:cNvSpPr/>
          <p:nvPr/>
        </p:nvSpPr>
        <p:spPr>
          <a:xfrm>
            <a:off x="441230" y="4225308"/>
            <a:ext cx="286369" cy="286369"/>
          </a:xfrm>
          <a:prstGeom prst="ellipse">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pic>
        <p:nvPicPr>
          <p:cNvPr id="106" name="图片 73" descr="智能计算_多色"/>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8580" y="4284628"/>
            <a:ext cx="200246" cy="200246"/>
          </a:xfrm>
          <a:prstGeom prst="rect">
            <a:avLst/>
          </a:prstGeom>
        </p:spPr>
      </p:pic>
      <p:cxnSp>
        <p:nvCxnSpPr>
          <p:cNvPr id="107" name="曲线连接符 74"/>
          <p:cNvCxnSpPr/>
          <p:nvPr/>
        </p:nvCxnSpPr>
        <p:spPr>
          <a:xfrm rot="16200000">
            <a:off x="518277" y="3784014"/>
            <a:ext cx="154427" cy="149336"/>
          </a:xfrm>
          <a:prstGeom prst="curvedConnector3">
            <a:avLst>
              <a:gd name="adj1" fmla="val 49451"/>
            </a:avLst>
          </a:prstGeom>
          <a:ln>
            <a:solidFill>
              <a:srgbClr val="031F6D"/>
            </a:solidFill>
          </a:ln>
        </p:spPr>
        <p:style>
          <a:lnRef idx="2">
            <a:schemeClr val="accent1"/>
          </a:lnRef>
          <a:fillRef idx="0">
            <a:srgbClr val="FFFFFF"/>
          </a:fillRef>
          <a:effectRef idx="0">
            <a:srgbClr val="FFFFFF"/>
          </a:effectRef>
          <a:fontRef idx="minor">
            <a:schemeClr val="tx1"/>
          </a:fontRef>
        </p:style>
      </p:cxnSp>
      <p:grpSp>
        <p:nvGrpSpPr>
          <p:cNvPr id="108" name="组合 107"/>
          <p:cNvGrpSpPr/>
          <p:nvPr/>
        </p:nvGrpSpPr>
        <p:grpSpPr>
          <a:xfrm>
            <a:off x="520823" y="3202793"/>
            <a:ext cx="101820" cy="182427"/>
            <a:chOff x="3571" y="3143"/>
            <a:chExt cx="226" cy="339"/>
          </a:xfrm>
          <a:solidFill>
            <a:srgbClr val="031F6D"/>
          </a:solidFill>
        </p:grpSpPr>
        <p:sp>
          <p:nvSpPr>
            <p:cNvPr id="109" name="圆角矩形 91"/>
            <p:cNvSpPr/>
            <p:nvPr/>
          </p:nvSpPr>
          <p:spPr>
            <a:xfrm>
              <a:off x="3571" y="3143"/>
              <a:ext cx="172"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sp>
          <p:nvSpPr>
            <p:cNvPr id="110" name="圆角矩形 156"/>
            <p:cNvSpPr/>
            <p:nvPr/>
          </p:nvSpPr>
          <p:spPr>
            <a:xfrm>
              <a:off x="3571" y="3256"/>
              <a:ext cx="227"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grpSp>
      <p:pic>
        <p:nvPicPr>
          <p:cNvPr id="111" name="图片 65" descr="产品文件"/>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1064" y="2628127"/>
            <a:ext cx="335157" cy="335157"/>
          </a:xfrm>
          <a:prstGeom prst="rect">
            <a:avLst/>
          </a:prstGeom>
        </p:spPr>
      </p:pic>
      <p:sp>
        <p:nvSpPr>
          <p:cNvPr id="112" name="Shape 38"/>
          <p:cNvSpPr/>
          <p:nvPr/>
        </p:nvSpPr>
        <p:spPr>
          <a:xfrm>
            <a:off x="323645" y="5138002"/>
            <a:ext cx="5214633" cy="1157993"/>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13" name="Text 39"/>
          <p:cNvSpPr/>
          <p:nvPr/>
        </p:nvSpPr>
        <p:spPr>
          <a:xfrm>
            <a:off x="2807629" y="5244492"/>
            <a:ext cx="891270" cy="307776"/>
          </a:xfrm>
          <a:prstGeom prst="rect">
            <a:avLst/>
          </a:prstGeom>
          <a:noFill/>
        </p:spPr>
        <p:txBody>
          <a:bodyPr wrap="none" lIns="0" tIns="0" rIns="0" bIns="0" rtlCol="0" anchor="ctr">
            <a:spAutoFit/>
          </a:bodyPr>
          <a:lstStyle/>
          <a:p>
            <a:pPr lvl="0" algn="l">
              <a:buClrTx/>
              <a:buSzTx/>
              <a:buFontTx/>
            </a:pPr>
            <a:r>
              <a:rPr lang="en-US" sz="20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1000万</a:t>
            </a:r>
            <a:endParaRPr lang="en-US" sz="20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14" name="Text 40"/>
          <p:cNvSpPr/>
          <p:nvPr/>
        </p:nvSpPr>
        <p:spPr>
          <a:xfrm>
            <a:off x="2807629" y="5586747"/>
            <a:ext cx="2446542" cy="284325"/>
          </a:xfrm>
          <a:prstGeom prst="rect">
            <a:avLst/>
          </a:prstGeom>
          <a:noFill/>
        </p:spPr>
        <p:txBody>
          <a:bodyPr wrap="none" lIns="0" tIns="0" rIns="0" bIns="0" rtlCol="0" anchor="ctr">
            <a:noAutofit/>
          </a:bodyPr>
          <a:lstStyle/>
          <a:p>
            <a:pPr lvl="0" algn="l">
              <a:buClrTx/>
              <a:buSzTx/>
              <a:buFontTx/>
            </a:pPr>
            <a:r>
              <a:rPr lang="en-US"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全球</a:t>
            </a:r>
            <a:r>
              <a:rPr lang="zh-CN" alt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帕金森病</a:t>
            </a:r>
            <a:r>
              <a:rPr lang="en-US"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患者数量</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15" name="Text 41"/>
          <p:cNvSpPr/>
          <p:nvPr/>
        </p:nvSpPr>
        <p:spPr>
          <a:xfrm>
            <a:off x="2793115" y="5914790"/>
            <a:ext cx="1120500" cy="276999"/>
          </a:xfrm>
          <a:prstGeom prst="rect">
            <a:avLst/>
          </a:prstGeom>
          <a:noFill/>
        </p:spPr>
        <p:txBody>
          <a:bodyPr wrap="none" lIns="0" tIns="0" rIns="0" bIns="0" rtlCol="0" anchor="ctr">
            <a:spAutoFit/>
          </a:bodyPr>
          <a:lstStyle/>
          <a:p>
            <a:pPr lvl="0" algn="l">
              <a:buClrTx/>
              <a:buSzTx/>
              <a:buFontTx/>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120亿美元</a:t>
            </a:r>
            <a:endPar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16" name="Oval 28"/>
          <p:cNvSpPr/>
          <p:nvPr/>
        </p:nvSpPr>
        <p:spPr>
          <a:xfrm>
            <a:off x="474170" y="5330316"/>
            <a:ext cx="2093716" cy="795435"/>
          </a:xfrm>
          <a:prstGeom prst="ellipse">
            <a:avLst/>
          </a:prstGeom>
          <a:solidFill>
            <a:srgbClr val="06194B"/>
          </a:solidFill>
          <a:ln w="25400">
            <a:solidFill>
              <a:srgbClr val="FFFFFF">
                <a:alpha val="80000"/>
              </a:srgbClr>
            </a:solidFill>
            <a:miter/>
          </a:ln>
        </p:spPr>
        <p:txBody>
          <a:bodyPr lIns="45718" tIns="45718" rIns="45718" bIns="45718" anchor="ctr"/>
          <a:lstStyle/>
          <a:p>
            <a:pPr algn="ctr" defTabSz="914400">
              <a:defRPr sz="1800">
                <a:solidFill>
                  <a:srgbClr val="FFFFFF"/>
                </a:solidFill>
              </a:defRPr>
            </a:pP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潜在市场规模</a:t>
            </a: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8" name="矩形 117"/>
          <p:cNvSpPr/>
          <p:nvPr/>
        </p:nvSpPr>
        <p:spPr>
          <a:xfrm>
            <a:off x="7969235" y="614021"/>
            <a:ext cx="3980491" cy="443719"/>
          </a:xfrm>
          <a:prstGeom prst="rect">
            <a:avLst/>
          </a:prstGeom>
          <a:solidFill>
            <a:srgbClr val="F7AB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中标浙江省科技厅</a:t>
            </a:r>
            <a:r>
              <a:rPr lang="en-US" altLang="zh-CN"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2026</a:t>
            </a:r>
            <a:r>
              <a:rPr lang="zh-CN" altLang="en-US"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年领雁计划</a:t>
            </a:r>
            <a:endParaRPr lang="zh-CN" altLang="en-US"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123" name="图形 122" descr="缩小 纯色填充"/>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35721" y="1955798"/>
            <a:ext cx="216000" cy="216000"/>
          </a:xfrm>
          <a:prstGeom prst="rect">
            <a:avLst/>
          </a:prstGeom>
        </p:spPr>
      </p:pic>
      <p:pic>
        <p:nvPicPr>
          <p:cNvPr id="124" name="图形 123" descr="住院治疗 纯色填充"/>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236205" y="5008624"/>
            <a:ext cx="252000" cy="252000"/>
          </a:xfrm>
          <a:prstGeom prst="rect">
            <a:avLst/>
          </a:prstGeom>
        </p:spPr>
      </p:pic>
    </p:spTree>
    <p:custDataLst>
      <p:tags r:id="rId17"/>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sym typeface="+mn-ea"/>
              </a:rPr>
              <a:t>管线数据</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5</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、脑机接口</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EES——</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闭环治疗</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脊髓损伤</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 name="Shape 2"/>
          <p:cNvSpPr/>
          <p:nvPr/>
        </p:nvSpPr>
        <p:spPr>
          <a:xfrm>
            <a:off x="323645" y="913419"/>
            <a:ext cx="5473664" cy="1604511"/>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7" name="Text 1"/>
          <p:cNvSpPr/>
          <p:nvPr/>
        </p:nvSpPr>
        <p:spPr>
          <a:xfrm>
            <a:off x="516078" y="1098621"/>
            <a:ext cx="2848537" cy="276999"/>
          </a:xfrm>
          <a:prstGeom prst="rect">
            <a:avLst/>
          </a:prstGeom>
          <a:noFill/>
        </p:spPr>
        <p:txBody>
          <a:bodyPr wrap="none" lIns="0" tIns="0" rIns="0" bIns="0" rtlCol="0" anchor="ctr">
            <a:spAutoFit/>
          </a:bodyPr>
          <a:lstStyle/>
          <a:p>
            <a:r>
              <a:rPr lang="en-US" altLang="zh-CN"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EES </a:t>
            </a:r>
            <a:r>
              <a:rPr lang="zh-CN" alt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脊髓损伤闭环调控系统 </a:t>
            </a:r>
            <a:endParaRPr lang="zh-CN" alt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8" name="Text 3"/>
          <p:cNvSpPr/>
          <p:nvPr/>
        </p:nvSpPr>
        <p:spPr>
          <a:xfrm>
            <a:off x="516078" y="1403003"/>
            <a:ext cx="4980288" cy="831528"/>
          </a:xfrm>
          <a:prstGeom prst="rect">
            <a:avLst/>
          </a:prstGeom>
          <a:noFill/>
        </p:spPr>
        <p:txBody>
          <a:bodyPr wrap="square" lIns="0" tIns="0" rIns="0" bIns="0" rtlCol="0" anchor="ctr">
            <a:noAutofit/>
          </a:bodyPr>
          <a:lstStyle/>
          <a:p>
            <a:r>
              <a:rPr lang="en-US" altLang="zh-CN" sz="16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EES</a:t>
            </a:r>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是</a:t>
            </a: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佳量脑科学神经调控平台在</a:t>
            </a:r>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脊髓损伤电刺激</a:t>
            </a: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领域的又一个产品方向</a:t>
            </a:r>
            <a:r>
              <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a:t>
            </a:r>
            <a:r>
              <a:rPr lang="en-US" altLang="zh-CN"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通过实时监测肌电信号和运动意图，精准刺激脊髓，促进神经重塑，帮助瘫痪患者恢复部分运动功能</a:t>
            </a:r>
            <a:r>
              <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a:t>
            </a:r>
            <a:endParaRPr lang="en-US" altLang="zh-CN" sz="16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 name="Text 15"/>
          <p:cNvSpPr/>
          <p:nvPr/>
        </p:nvSpPr>
        <p:spPr>
          <a:xfrm>
            <a:off x="6544260" y="893439"/>
            <a:ext cx="992259" cy="276999"/>
          </a:xfrm>
          <a:prstGeom prst="rect">
            <a:avLst/>
          </a:prstGeom>
          <a:noFill/>
        </p:spPr>
        <p:txBody>
          <a:bodyPr wrap="none" lIns="0" tIns="0" rIns="0" bIns="0" rtlCol="0" anchor="ctr">
            <a:spAutoFit/>
          </a:bodyPr>
          <a:lstStyle/>
          <a:p>
            <a:pPr marL="0" indent="0">
              <a:buNone/>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技术优势 </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9" name="Text 25"/>
          <p:cNvSpPr/>
          <p:nvPr/>
        </p:nvSpPr>
        <p:spPr>
          <a:xfrm>
            <a:off x="6516260" y="2985847"/>
            <a:ext cx="992259" cy="276999"/>
          </a:xfrm>
          <a:prstGeom prst="rect">
            <a:avLst/>
          </a:prstGeom>
          <a:noFill/>
        </p:spPr>
        <p:txBody>
          <a:bodyPr wrap="none" lIns="0" tIns="0" rIns="0" bIns="0" rtlCol="0" anchor="ctr">
            <a:spAutoFit/>
          </a:bodyPr>
          <a:lstStyle/>
          <a:p>
            <a:pPr marL="0" indent="0">
              <a:buNone/>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竞争优势 </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7" name="Shape 47"/>
          <p:cNvSpPr/>
          <p:nvPr/>
        </p:nvSpPr>
        <p:spPr>
          <a:xfrm>
            <a:off x="6191285" y="5330317"/>
            <a:ext cx="5536453" cy="922144"/>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8" name="Text 48"/>
          <p:cNvSpPr/>
          <p:nvPr/>
        </p:nvSpPr>
        <p:spPr>
          <a:xfrm>
            <a:off x="6639482" y="4991634"/>
            <a:ext cx="1615827" cy="276999"/>
          </a:xfrm>
          <a:prstGeom prst="rect">
            <a:avLst/>
          </a:prstGeom>
          <a:noFill/>
        </p:spPr>
        <p:txBody>
          <a:bodyPr wrap="none" lIns="0" tIns="0" rIns="0" bIns="0" rtlCol="0" anchor="ctr">
            <a:spAutoFit/>
          </a:bodyPr>
          <a:lstStyle/>
          <a:p>
            <a:pPr marL="0" indent="0">
              <a:buNone/>
            </a:pPr>
            <a:r>
              <a:rPr lang="zh-CN" alt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科研性</a:t>
            </a:r>
            <a:r>
              <a:rPr lang="en-US"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临床进展</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9" name="Shape 49"/>
          <p:cNvSpPr/>
          <p:nvPr/>
        </p:nvSpPr>
        <p:spPr>
          <a:xfrm>
            <a:off x="6334681" y="5450152"/>
            <a:ext cx="5250509" cy="135760"/>
          </a:xfrm>
          <a:prstGeom prst="roundRect">
            <a:avLst/>
          </a:prstGeom>
          <a:solidFill>
            <a:srgbClr val="FFFFFF"/>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60" name="Shape 50"/>
          <p:cNvSpPr/>
          <p:nvPr/>
        </p:nvSpPr>
        <p:spPr>
          <a:xfrm>
            <a:off x="6334681" y="5450152"/>
            <a:ext cx="2160000" cy="150186"/>
          </a:xfrm>
          <a:prstGeom prst="roundRect">
            <a:avLst/>
          </a:prstGeom>
          <a:solidFill>
            <a:srgbClr val="031F6D"/>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61" name="Text 51"/>
          <p:cNvSpPr/>
          <p:nvPr/>
        </p:nvSpPr>
        <p:spPr>
          <a:xfrm>
            <a:off x="6334681" y="5632309"/>
            <a:ext cx="2729914" cy="184666"/>
          </a:xfrm>
          <a:prstGeom prst="rect">
            <a:avLst/>
          </a:prstGeom>
          <a:noFill/>
        </p:spPr>
        <p:txBody>
          <a:bodyPr wrap="none" lIns="0" tIns="0" rIns="0" bIns="0" rtlCol="0" anchor="ctr">
            <a:spAutoFit/>
          </a:bodyPr>
          <a:lstStyle/>
          <a:p>
            <a:pPr marL="0" indent="0">
              <a:buNone/>
            </a:pP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首例科研性临床，已完成</a:t>
            </a:r>
            <a:r>
              <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4</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例</a:t>
            </a:r>
            <a:r>
              <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IIT</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临床植入</a:t>
            </a:r>
            <a:endPar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62" name="Text 52"/>
          <p:cNvSpPr/>
          <p:nvPr/>
        </p:nvSpPr>
        <p:spPr>
          <a:xfrm>
            <a:off x="8649838" y="5433035"/>
            <a:ext cx="315792" cy="184666"/>
          </a:xfrm>
          <a:prstGeom prst="rect">
            <a:avLst/>
          </a:prstGeom>
          <a:noFill/>
        </p:spPr>
        <p:txBody>
          <a:bodyPr wrap="none" lIns="0" tIns="0" rIns="0" bIns="0" rtlCol="0" anchor="ctr">
            <a:spAutoFit/>
          </a:bodyPr>
          <a:lstStyle/>
          <a:p>
            <a:pPr marL="0" indent="0">
              <a:buNone/>
            </a:pPr>
            <a:r>
              <a:rPr lang="en-US" altLang="zh-CN"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4</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0%</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grpSp>
        <p:nvGrpSpPr>
          <p:cNvPr id="67" name="组合 66"/>
          <p:cNvGrpSpPr/>
          <p:nvPr/>
        </p:nvGrpSpPr>
        <p:grpSpPr>
          <a:xfrm>
            <a:off x="6288862" y="1906005"/>
            <a:ext cx="101820" cy="182427"/>
            <a:chOff x="3571" y="3143"/>
            <a:chExt cx="226" cy="339"/>
          </a:xfrm>
          <a:solidFill>
            <a:srgbClr val="031F6D"/>
          </a:solidFill>
        </p:grpSpPr>
        <p:sp>
          <p:nvSpPr>
            <p:cNvPr id="68" name="圆角矩形 23"/>
            <p:cNvSpPr/>
            <p:nvPr/>
          </p:nvSpPr>
          <p:spPr>
            <a:xfrm>
              <a:off x="3571" y="3143"/>
              <a:ext cx="172"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sp>
          <p:nvSpPr>
            <p:cNvPr id="69" name="圆角矩形 26"/>
            <p:cNvSpPr/>
            <p:nvPr/>
          </p:nvSpPr>
          <p:spPr>
            <a:xfrm>
              <a:off x="3571" y="3256"/>
              <a:ext cx="227"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grpSp>
      <p:sp>
        <p:nvSpPr>
          <p:cNvPr id="10" name="Text 17"/>
          <p:cNvSpPr/>
          <p:nvPr/>
        </p:nvSpPr>
        <p:spPr>
          <a:xfrm>
            <a:off x="6592624" y="1273441"/>
            <a:ext cx="2693045" cy="215444"/>
          </a:xfrm>
          <a:prstGeom prst="rect">
            <a:avLst/>
          </a:prstGeom>
          <a:noFill/>
        </p:spPr>
        <p:txBody>
          <a:bodyPr wrap="none" lIns="0" tIns="0" rIns="0" bIns="0" rtlCol="0" anchor="ctr">
            <a:spAutoFit/>
          </a:bodyPr>
          <a:lstStyle/>
          <a:p>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基于运动意图解码的闭环主动康复</a:t>
            </a:r>
            <a:endPar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4" name="Text 18"/>
          <p:cNvSpPr/>
          <p:nvPr/>
        </p:nvSpPr>
        <p:spPr>
          <a:xfrm>
            <a:off x="6592624" y="1541950"/>
            <a:ext cx="5357102" cy="184666"/>
          </a:xfrm>
          <a:prstGeom prst="rect">
            <a:avLst/>
          </a:prstGeom>
          <a:noFill/>
        </p:spPr>
        <p:txBody>
          <a:bodyPr wrap="square" lIns="0" tIns="0" rIns="0" bIns="0" rtlCol="0" anchor="ctr">
            <a:spAutoFit/>
          </a:bodyPr>
          <a:lstStyle/>
          <a:p>
            <a:pPr marL="0" indent="0">
              <a:buNone/>
            </a:pP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实时监测肌电活动，解码运动意图，反馈运动效果，形成闭环，提高治疗效果</a:t>
            </a:r>
            <a:endPar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5" name="Text 20"/>
          <p:cNvSpPr/>
          <p:nvPr/>
        </p:nvSpPr>
        <p:spPr>
          <a:xfrm>
            <a:off x="6592624" y="1853593"/>
            <a:ext cx="1256754" cy="215444"/>
          </a:xfrm>
          <a:prstGeom prst="rect">
            <a:avLst/>
          </a:prstGeom>
          <a:noFill/>
        </p:spPr>
        <p:txBody>
          <a:bodyPr wrap="none" lIns="0" tIns="0" rIns="0" bIns="0" rtlCol="0" anchor="ctr">
            <a:spAutoFit/>
          </a:bodyPr>
          <a:lstStyle/>
          <a:p>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高可靠电极设计</a:t>
            </a:r>
            <a:endPar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6" name="Text 21"/>
          <p:cNvSpPr/>
          <p:nvPr/>
        </p:nvSpPr>
        <p:spPr>
          <a:xfrm>
            <a:off x="6563596" y="2102319"/>
            <a:ext cx="3385542" cy="184666"/>
          </a:xfrm>
          <a:prstGeom prst="rect">
            <a:avLst/>
          </a:prstGeom>
          <a:noFill/>
        </p:spPr>
        <p:txBody>
          <a:bodyPr wrap="none" lIns="0" tIns="0" rIns="0" bIns="0" rtlCol="0" anchor="ctr">
            <a:spAutoFit/>
          </a:bodyPr>
          <a:lstStyle/>
          <a:p>
            <a:pPr marL="0" indent="0">
              <a:buNone/>
            </a:pP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桨状电极设计，防电极移位设计，防焊点断裂设计</a:t>
            </a:r>
            <a:endPar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7" name="Text 23"/>
          <p:cNvSpPr/>
          <p:nvPr/>
        </p:nvSpPr>
        <p:spPr>
          <a:xfrm>
            <a:off x="6592624" y="2375688"/>
            <a:ext cx="897682" cy="215444"/>
          </a:xfrm>
          <a:prstGeom prst="rect">
            <a:avLst/>
          </a:prstGeom>
          <a:noFill/>
        </p:spPr>
        <p:txBody>
          <a:bodyPr wrap="none" lIns="0" tIns="0" rIns="0" bIns="0" rtlCol="0" anchor="ctr">
            <a:spAutoFit/>
          </a:bodyPr>
          <a:lstStyle/>
          <a:p>
            <a:pPr marL="0" indent="0">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可充电设计</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8" name="Text 24"/>
          <p:cNvSpPr/>
          <p:nvPr/>
        </p:nvSpPr>
        <p:spPr>
          <a:xfrm>
            <a:off x="6592624" y="2630712"/>
            <a:ext cx="4578176" cy="184665"/>
          </a:xfrm>
          <a:prstGeom prst="rect">
            <a:avLst/>
          </a:prstGeom>
          <a:noFill/>
        </p:spPr>
        <p:txBody>
          <a:bodyPr wrap="none" lIns="0" tIns="0" rIns="0" bIns="0" rtlCol="0" anchor="ctr">
            <a:spAutoFit/>
          </a:bodyPr>
          <a:lstStyle/>
          <a:p>
            <a:pPr marL="0" indent="0">
              <a:buNone/>
            </a:pP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无线充电技术，电池寿命10年</a:t>
            </a: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以上</a:t>
            </a:r>
            <a:r>
              <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，减少更换频率，降低患者负担 </a:t>
            </a:r>
            <a:endParaRPr 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63" name="椭圆 62"/>
          <p:cNvSpPr/>
          <p:nvPr/>
        </p:nvSpPr>
        <p:spPr>
          <a:xfrm>
            <a:off x="6176437" y="1305578"/>
            <a:ext cx="289338" cy="289338"/>
          </a:xfrm>
          <a:prstGeom prst="ellipse">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pic>
        <p:nvPicPr>
          <p:cNvPr id="64" name="图片 71" descr="闭环"/>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92936" y="1338670"/>
            <a:ext cx="230792" cy="230792"/>
          </a:xfrm>
          <a:prstGeom prst="rect">
            <a:avLst/>
          </a:prstGeom>
        </p:spPr>
      </p:pic>
      <p:sp>
        <p:nvSpPr>
          <p:cNvPr id="65" name="椭圆 64"/>
          <p:cNvSpPr/>
          <p:nvPr/>
        </p:nvSpPr>
        <p:spPr>
          <a:xfrm>
            <a:off x="6176437" y="1861034"/>
            <a:ext cx="289338" cy="289338"/>
          </a:xfrm>
          <a:prstGeom prst="ellipse">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sp>
        <p:nvSpPr>
          <p:cNvPr id="66" name="椭圆 65"/>
          <p:cNvSpPr/>
          <p:nvPr/>
        </p:nvSpPr>
        <p:spPr>
          <a:xfrm>
            <a:off x="6176437" y="2387463"/>
            <a:ext cx="289338" cy="289338"/>
          </a:xfrm>
          <a:prstGeom prst="ellipse">
            <a:avLst/>
          </a:prstGeom>
          <a:solidFill>
            <a:srgbClr val="EBEBE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pic>
        <p:nvPicPr>
          <p:cNvPr id="70" name="图片 27" descr="battery-low-lin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31164" y="2449493"/>
            <a:ext cx="192609" cy="192609"/>
          </a:xfrm>
          <a:prstGeom prst="rect">
            <a:avLst/>
          </a:prstGeom>
        </p:spPr>
      </p:pic>
      <p:pic>
        <p:nvPicPr>
          <p:cNvPr id="71" name="图片 31" descr="优势"/>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59890" y="893209"/>
            <a:ext cx="287641" cy="287641"/>
          </a:xfrm>
          <a:prstGeom prst="rect">
            <a:avLst/>
          </a:prstGeom>
        </p:spPr>
      </p:pic>
      <p:pic>
        <p:nvPicPr>
          <p:cNvPr id="72" name="图片 64" descr="Therapeutic"/>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5952" y="2985616"/>
            <a:ext cx="215519" cy="215519"/>
          </a:xfrm>
          <a:prstGeom prst="rect">
            <a:avLst/>
          </a:prstGeom>
        </p:spPr>
      </p:pic>
      <p:sp>
        <p:nvSpPr>
          <p:cNvPr id="73" name="Shape 15"/>
          <p:cNvSpPr/>
          <p:nvPr/>
        </p:nvSpPr>
        <p:spPr>
          <a:xfrm>
            <a:off x="6303833" y="5873716"/>
            <a:ext cx="3096000" cy="287641"/>
          </a:xfrm>
          <a:prstGeom prst="roundRect">
            <a:avLst/>
          </a:prstGeom>
          <a:solidFill>
            <a:srgbClr val="647586"/>
          </a:solidFill>
          <a:ln w="99">
            <a:noFill/>
            <a:prstDash val="solid"/>
          </a:ln>
        </p:spPr>
        <p:txBody>
          <a:bodyPr/>
          <a:lstStyle/>
          <a:p>
            <a:endParaRPr lang="en-US" sz="440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74" name="Text 16"/>
          <p:cNvSpPr/>
          <p:nvPr/>
        </p:nvSpPr>
        <p:spPr>
          <a:xfrm>
            <a:off x="6303833" y="5869074"/>
            <a:ext cx="2990819" cy="297774"/>
          </a:xfrm>
          <a:prstGeom prst="rect">
            <a:avLst/>
          </a:prstGeom>
          <a:noFill/>
        </p:spPr>
        <p:txBody>
          <a:bodyPr wrap="none" lIns="68072" tIns="25527" rIns="68072" bIns="25527" rtlCol="0" anchor="ctr">
            <a:spAutoFit/>
          </a:bodyPr>
          <a:lstStyle/>
          <a:p>
            <a:r>
              <a:rPr lang="en-US" altLang="zh-CN" sz="1600" b="1"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预计2027年Q2进入</a:t>
            </a:r>
            <a:r>
              <a:rPr lang="zh-CN" altLang="en-US" sz="1600" b="1"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确证性</a:t>
            </a:r>
            <a:r>
              <a:rPr lang="en-US" altLang="zh-CN" sz="1600" b="1" dirty="0" err="1">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临床</a:t>
            </a:r>
            <a:endParaRPr lang="en-US" altLang="zh-CN" sz="1600" b="1" dirty="0">
              <a:solidFill>
                <a:schemeClr val="bg1"/>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6" name="Text 5"/>
          <p:cNvSpPr/>
          <p:nvPr/>
        </p:nvSpPr>
        <p:spPr>
          <a:xfrm>
            <a:off x="873603" y="2666657"/>
            <a:ext cx="992259" cy="276999"/>
          </a:xfrm>
          <a:prstGeom prst="rect">
            <a:avLst/>
          </a:prstGeom>
          <a:noFill/>
        </p:spPr>
        <p:txBody>
          <a:bodyPr wrap="none" lIns="0" tIns="0" rIns="0" bIns="0" rtlCol="0" anchor="ctr">
            <a:spAutoFit/>
          </a:bodyPr>
          <a:lstStyle/>
          <a:p>
            <a:pPr marL="0" indent="0">
              <a:buNone/>
            </a:pPr>
            <a:r>
              <a:rPr lang="en-US"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产品组成 </a:t>
            </a:r>
            <a:endParaRPr lang="en-US"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7" name="Shape 6"/>
          <p:cNvSpPr/>
          <p:nvPr/>
        </p:nvSpPr>
        <p:spPr>
          <a:xfrm>
            <a:off x="441230" y="3133758"/>
            <a:ext cx="286369" cy="286369"/>
          </a:xfrm>
          <a:prstGeom prst="ellipse">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8" name="Text 7"/>
          <p:cNvSpPr/>
          <p:nvPr/>
        </p:nvSpPr>
        <p:spPr>
          <a:xfrm>
            <a:off x="842209" y="3140585"/>
            <a:ext cx="1077218" cy="215444"/>
          </a:xfrm>
          <a:prstGeom prst="rect">
            <a:avLst/>
          </a:prstGeom>
          <a:noFill/>
        </p:spPr>
        <p:txBody>
          <a:bodyPr wrap="none" lIns="0" tIns="0" rIns="0" bIns="0" rtlCol="0" anchor="ctr">
            <a:spAutoFit/>
          </a:bodyPr>
          <a:lstStyle/>
          <a:p>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可编程</a:t>
            </a:r>
            <a:r>
              <a:rPr lang="en-US" altLang="zh-CN" sz="14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刺激器</a:t>
            </a:r>
            <a:endPar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99" name="Text 8"/>
          <p:cNvSpPr/>
          <p:nvPr/>
        </p:nvSpPr>
        <p:spPr>
          <a:xfrm>
            <a:off x="842209" y="3411785"/>
            <a:ext cx="3539430" cy="184666"/>
          </a:xfrm>
          <a:prstGeom prst="rect">
            <a:avLst/>
          </a:prstGeom>
          <a:noFill/>
        </p:spPr>
        <p:txBody>
          <a:bodyPr wrap="none" lIns="0" tIns="0" rIns="0" bIns="0" rtlCol="0" anchor="ctr">
            <a:spAutoFit/>
          </a:bodyPr>
          <a:lstStyle/>
          <a:p>
            <a:pPr marL="0" indent="0">
              <a:buNone/>
            </a:pP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无线通信、可自定义刺激参数，个性化刺激序列配置</a:t>
            </a:r>
            <a:endPar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0" name="Shape 9"/>
          <p:cNvSpPr/>
          <p:nvPr/>
        </p:nvSpPr>
        <p:spPr>
          <a:xfrm>
            <a:off x="441230" y="3712200"/>
            <a:ext cx="286369" cy="286369"/>
          </a:xfrm>
          <a:prstGeom prst="ellipse">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1" name="Text 10"/>
          <p:cNvSpPr/>
          <p:nvPr/>
        </p:nvSpPr>
        <p:spPr>
          <a:xfrm>
            <a:off x="842209" y="3719027"/>
            <a:ext cx="1436291" cy="215444"/>
          </a:xfrm>
          <a:prstGeom prst="rect">
            <a:avLst/>
          </a:prstGeom>
          <a:noFill/>
        </p:spPr>
        <p:txBody>
          <a:bodyPr wrap="none" lIns="0" tIns="0" rIns="0" bIns="0" rtlCol="0" anchor="ctr">
            <a:spAutoFit/>
          </a:bodyPr>
          <a:lstStyle/>
          <a:p>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桨电极和延伸导线</a:t>
            </a:r>
            <a:endPar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2" name="Text 11"/>
          <p:cNvSpPr/>
          <p:nvPr/>
        </p:nvSpPr>
        <p:spPr>
          <a:xfrm>
            <a:off x="842209" y="3990227"/>
            <a:ext cx="3122650" cy="184666"/>
          </a:xfrm>
          <a:prstGeom prst="rect">
            <a:avLst/>
          </a:prstGeom>
          <a:noFill/>
        </p:spPr>
        <p:txBody>
          <a:bodyPr wrap="none" lIns="0" tIns="0" rIns="0" bIns="0" rtlCol="0" anchor="ctr">
            <a:spAutoFit/>
          </a:bodyPr>
          <a:lstStyle/>
          <a:p>
            <a:pPr marL="0" indent="0">
              <a:buNone/>
            </a:pP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根据癫痫灶位置选用不同类型电极，更加适配 </a:t>
            </a:r>
            <a:endPar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3" name="Text 13"/>
          <p:cNvSpPr/>
          <p:nvPr/>
        </p:nvSpPr>
        <p:spPr>
          <a:xfrm>
            <a:off x="842209" y="4297468"/>
            <a:ext cx="1256754" cy="215444"/>
          </a:xfrm>
          <a:prstGeom prst="rect">
            <a:avLst/>
          </a:prstGeom>
          <a:noFill/>
        </p:spPr>
        <p:txBody>
          <a:bodyPr wrap="none" lIns="0" tIns="0" rIns="0" bIns="0" rtlCol="0" anchor="ctr">
            <a:spAutoFit/>
          </a:bodyPr>
          <a:lstStyle/>
          <a:p>
            <a:r>
              <a:rPr lang="en-US" altLang="zh-CN" sz="1400" b="1"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程控仪</a:t>
            </a: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和充电器</a:t>
            </a:r>
            <a:endParaRPr lang="en-US" altLang="zh-CN"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4" name="Text 14"/>
          <p:cNvSpPr/>
          <p:nvPr/>
        </p:nvSpPr>
        <p:spPr>
          <a:xfrm>
            <a:off x="842209" y="4568667"/>
            <a:ext cx="3475310" cy="184666"/>
          </a:xfrm>
          <a:prstGeom prst="rect">
            <a:avLst/>
          </a:prstGeom>
          <a:noFill/>
        </p:spPr>
        <p:txBody>
          <a:bodyPr wrap="none" lIns="0" tIns="0" rIns="0" bIns="0" rtlCol="0" anchor="ctr">
            <a:spAutoFit/>
          </a:bodyPr>
          <a:lstStyle/>
          <a:p>
            <a:pPr marL="0" indent="0">
              <a:buNone/>
            </a:pPr>
            <a:r>
              <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 医生端参数调整设备，患者端调参设备、充电设备 </a:t>
            </a:r>
            <a:endParaRPr lang="zh-CN" altLang="en-US" sz="12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05" name="Shape 9"/>
          <p:cNvSpPr/>
          <p:nvPr/>
        </p:nvSpPr>
        <p:spPr>
          <a:xfrm>
            <a:off x="441230" y="4225308"/>
            <a:ext cx="286369" cy="286369"/>
          </a:xfrm>
          <a:prstGeom prst="ellipse">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pic>
        <p:nvPicPr>
          <p:cNvPr id="106" name="图片 73" descr="智能计算_多色"/>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8580" y="4284628"/>
            <a:ext cx="200246" cy="200246"/>
          </a:xfrm>
          <a:prstGeom prst="rect">
            <a:avLst/>
          </a:prstGeom>
        </p:spPr>
      </p:pic>
      <p:cxnSp>
        <p:nvCxnSpPr>
          <p:cNvPr id="107" name="曲线连接符 74"/>
          <p:cNvCxnSpPr/>
          <p:nvPr/>
        </p:nvCxnSpPr>
        <p:spPr>
          <a:xfrm rot="16200000">
            <a:off x="518277" y="3784014"/>
            <a:ext cx="154427" cy="149336"/>
          </a:xfrm>
          <a:prstGeom prst="curvedConnector3">
            <a:avLst>
              <a:gd name="adj1" fmla="val 49451"/>
            </a:avLst>
          </a:prstGeom>
          <a:ln>
            <a:solidFill>
              <a:srgbClr val="031F6D"/>
            </a:solidFill>
          </a:ln>
        </p:spPr>
        <p:style>
          <a:lnRef idx="2">
            <a:schemeClr val="accent1"/>
          </a:lnRef>
          <a:fillRef idx="0">
            <a:srgbClr val="FFFFFF"/>
          </a:fillRef>
          <a:effectRef idx="0">
            <a:srgbClr val="FFFFFF"/>
          </a:effectRef>
          <a:fontRef idx="minor">
            <a:schemeClr val="tx1"/>
          </a:fontRef>
        </p:style>
      </p:cxnSp>
      <p:grpSp>
        <p:nvGrpSpPr>
          <p:cNvPr id="108" name="组合 107"/>
          <p:cNvGrpSpPr/>
          <p:nvPr/>
        </p:nvGrpSpPr>
        <p:grpSpPr>
          <a:xfrm>
            <a:off x="520823" y="3202793"/>
            <a:ext cx="101820" cy="182427"/>
            <a:chOff x="3571" y="3143"/>
            <a:chExt cx="226" cy="339"/>
          </a:xfrm>
          <a:solidFill>
            <a:srgbClr val="031F6D"/>
          </a:solidFill>
        </p:grpSpPr>
        <p:sp>
          <p:nvSpPr>
            <p:cNvPr id="109" name="圆角矩形 91"/>
            <p:cNvSpPr/>
            <p:nvPr/>
          </p:nvSpPr>
          <p:spPr>
            <a:xfrm>
              <a:off x="3571" y="3143"/>
              <a:ext cx="172"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sp>
          <p:nvSpPr>
            <p:cNvPr id="110" name="圆角矩形 156"/>
            <p:cNvSpPr/>
            <p:nvPr/>
          </p:nvSpPr>
          <p:spPr>
            <a:xfrm>
              <a:off x="3571" y="3256"/>
              <a:ext cx="227" cy="227"/>
            </a:xfrm>
            <a:prstGeom prst="roundRect">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4000">
                <a:latin typeface="彩虹粗仿宋" panose="03000509000000000000" pitchFamily="65" charset="-122"/>
                <a:ea typeface="彩虹粗仿宋" panose="03000509000000000000" pitchFamily="65" charset="-122"/>
              </a:endParaRPr>
            </a:p>
          </p:txBody>
        </p:sp>
      </p:grpSp>
      <p:pic>
        <p:nvPicPr>
          <p:cNvPr id="111" name="图片 65" descr="产品文件"/>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1064" y="2628127"/>
            <a:ext cx="335157" cy="335157"/>
          </a:xfrm>
          <a:prstGeom prst="rect">
            <a:avLst/>
          </a:prstGeom>
        </p:spPr>
      </p:pic>
      <p:sp>
        <p:nvSpPr>
          <p:cNvPr id="112" name="Shape 38"/>
          <p:cNvSpPr/>
          <p:nvPr/>
        </p:nvSpPr>
        <p:spPr>
          <a:xfrm>
            <a:off x="323645" y="5138001"/>
            <a:ext cx="5214633" cy="1188000"/>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13" name="Text 39"/>
          <p:cNvSpPr/>
          <p:nvPr/>
        </p:nvSpPr>
        <p:spPr>
          <a:xfrm>
            <a:off x="2807629" y="5244492"/>
            <a:ext cx="732573" cy="307777"/>
          </a:xfrm>
          <a:prstGeom prst="rect">
            <a:avLst/>
          </a:prstGeom>
          <a:noFill/>
        </p:spPr>
        <p:txBody>
          <a:bodyPr wrap="none" lIns="0" tIns="0" rIns="0" bIns="0" rtlCol="0" anchor="ctr">
            <a:spAutoFit/>
          </a:bodyPr>
          <a:lstStyle/>
          <a:p>
            <a:pPr lvl="0" algn="l">
              <a:buClrTx/>
              <a:buSzTx/>
              <a:buFontTx/>
            </a:pPr>
            <a:r>
              <a:rPr lang="en-US" altLang="zh-CN" sz="20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500</a:t>
            </a:r>
            <a:r>
              <a:rPr lang="zh-CN" altLang="en-US" sz="20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万</a:t>
            </a:r>
            <a:endParaRPr lang="zh-CN" altLang="en-US" sz="20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14" name="Text 40"/>
          <p:cNvSpPr/>
          <p:nvPr/>
        </p:nvSpPr>
        <p:spPr>
          <a:xfrm>
            <a:off x="2807629" y="5586747"/>
            <a:ext cx="2446542" cy="284325"/>
          </a:xfrm>
          <a:prstGeom prst="rect">
            <a:avLst/>
          </a:prstGeom>
          <a:noFill/>
        </p:spPr>
        <p:txBody>
          <a:bodyPr wrap="none" lIns="0" tIns="0" rIns="0" bIns="0" rtlCol="0" anchor="ctr">
            <a:noAutofit/>
          </a:bodyPr>
          <a:lstStyle/>
          <a:p>
            <a:pPr lvl="0"/>
            <a:r>
              <a:rPr lang="en-US" altLang="zh-CN"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全球脊髓损伤患者数量</a:t>
            </a:r>
            <a:endParaRPr lang="en-US" altLang="zh-CN"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15" name="Text 41"/>
          <p:cNvSpPr/>
          <p:nvPr/>
        </p:nvSpPr>
        <p:spPr>
          <a:xfrm>
            <a:off x="2793115" y="5943818"/>
            <a:ext cx="1120500" cy="276999"/>
          </a:xfrm>
          <a:prstGeom prst="rect">
            <a:avLst/>
          </a:prstGeom>
          <a:noFill/>
        </p:spPr>
        <p:txBody>
          <a:bodyPr wrap="none" lIns="0" tIns="0" rIns="0" bIns="0" rtlCol="0" anchor="ctr">
            <a:spAutoFit/>
          </a:bodyPr>
          <a:lstStyle/>
          <a:p>
            <a:pPr lvl="0"/>
            <a:r>
              <a:rPr lang="en-US" altLang="zh-CN"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200亿美元</a:t>
            </a:r>
            <a:endParaRPr lang="en-US" altLang="zh-CN"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116" name="Oval 28"/>
          <p:cNvSpPr/>
          <p:nvPr/>
        </p:nvSpPr>
        <p:spPr>
          <a:xfrm>
            <a:off x="474170" y="5330316"/>
            <a:ext cx="2093716" cy="795435"/>
          </a:xfrm>
          <a:prstGeom prst="ellipse">
            <a:avLst/>
          </a:prstGeom>
          <a:solidFill>
            <a:srgbClr val="06194B"/>
          </a:solidFill>
          <a:ln w="25400">
            <a:solidFill>
              <a:srgbClr val="FFFFFF">
                <a:alpha val="80000"/>
              </a:srgbClr>
            </a:solidFill>
            <a:miter/>
          </a:ln>
        </p:spPr>
        <p:txBody>
          <a:bodyPr lIns="45718" tIns="45718" rIns="45718" bIns="45718" anchor="ctr"/>
          <a:lstStyle/>
          <a:p>
            <a:pPr algn="ctr" defTabSz="914400">
              <a:defRPr sz="1800">
                <a:solidFill>
                  <a:srgbClr val="FFFFFF"/>
                </a:solidFill>
              </a:defRPr>
            </a:pPr>
            <a:r>
              <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潜在市场规模</a:t>
            </a:r>
            <a:endParaRPr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118" name="矩形 117"/>
          <p:cNvSpPr/>
          <p:nvPr/>
        </p:nvSpPr>
        <p:spPr>
          <a:xfrm>
            <a:off x="7969235" y="614021"/>
            <a:ext cx="3980491" cy="443719"/>
          </a:xfrm>
          <a:prstGeom prst="rect">
            <a:avLst/>
          </a:prstGeom>
          <a:solidFill>
            <a:srgbClr val="F7AB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中标浙江省科技厅</a:t>
            </a:r>
            <a:r>
              <a:rPr lang="en-US" altLang="zh-CN"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2026</a:t>
            </a:r>
            <a:r>
              <a:rPr lang="zh-CN" altLang="en-US"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年领雁计划</a:t>
            </a:r>
            <a:endParaRPr lang="zh-CN" altLang="en-US"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pic>
        <p:nvPicPr>
          <p:cNvPr id="123" name="图形 122" descr="缩小 纯色填充"/>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35721" y="1897742"/>
            <a:ext cx="216000" cy="216000"/>
          </a:xfrm>
          <a:prstGeom prst="rect">
            <a:avLst/>
          </a:prstGeom>
        </p:spPr>
      </p:pic>
      <p:pic>
        <p:nvPicPr>
          <p:cNvPr id="124" name="图形 123" descr="住院治疗 纯色填充"/>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236205" y="5008624"/>
            <a:ext cx="252000" cy="252000"/>
          </a:xfrm>
          <a:prstGeom prst="rect">
            <a:avLst/>
          </a:prstGeom>
        </p:spPr>
      </p:pic>
      <p:grpSp>
        <p:nvGrpSpPr>
          <p:cNvPr id="3" name="组合 2"/>
          <p:cNvGrpSpPr/>
          <p:nvPr/>
        </p:nvGrpSpPr>
        <p:grpSpPr>
          <a:xfrm>
            <a:off x="6155454" y="3253625"/>
            <a:ext cx="5794271" cy="1638887"/>
            <a:chOff x="4714875" y="2382275"/>
            <a:chExt cx="4143375" cy="1284507"/>
          </a:xfrm>
        </p:grpSpPr>
        <p:sp>
          <p:nvSpPr>
            <p:cNvPr id="4" name="Shape 26"/>
            <p:cNvSpPr/>
            <p:nvPr/>
          </p:nvSpPr>
          <p:spPr>
            <a:xfrm>
              <a:off x="4714875" y="2454275"/>
              <a:ext cx="951230" cy="208280"/>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 name="Shape 27"/>
            <p:cNvSpPr/>
            <p:nvPr/>
          </p:nvSpPr>
          <p:spPr>
            <a:xfrm>
              <a:off x="4714875" y="2658110"/>
              <a:ext cx="951230" cy="5080"/>
            </a:xfrm>
            <a:prstGeom prst="rect">
              <a:avLst/>
            </a:prstGeom>
            <a:solidFill>
              <a:srgbClr val="4299E1"/>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6" name="Text 28"/>
            <p:cNvSpPr/>
            <p:nvPr/>
          </p:nvSpPr>
          <p:spPr>
            <a:xfrm>
              <a:off x="4714875" y="2382275"/>
              <a:ext cx="951230" cy="352917"/>
            </a:xfrm>
            <a:prstGeom prst="rect">
              <a:avLst/>
            </a:prstGeom>
            <a:noFill/>
          </p:spPr>
          <p:txBody>
            <a:bodyPr wrap="square" lIns="68072" tIns="68072" rIns="68072" bIns="68072" rtlCol="0" anchor="ctr">
              <a:spAutoFit/>
            </a:bodyPr>
            <a:lstStyle/>
            <a:p>
              <a:pPr marL="0" indent="0" algn="l">
                <a:buNone/>
              </a:pPr>
              <a:r>
                <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参数</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2" name="Shape 29"/>
            <p:cNvSpPr/>
            <p:nvPr/>
          </p:nvSpPr>
          <p:spPr>
            <a:xfrm>
              <a:off x="5666105" y="2454275"/>
              <a:ext cx="1529715" cy="208280"/>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3" name="Shape 30"/>
            <p:cNvSpPr/>
            <p:nvPr/>
          </p:nvSpPr>
          <p:spPr>
            <a:xfrm>
              <a:off x="5666105" y="2658110"/>
              <a:ext cx="1529715" cy="5080"/>
            </a:xfrm>
            <a:prstGeom prst="rect">
              <a:avLst/>
            </a:prstGeom>
            <a:solidFill>
              <a:srgbClr val="4299E1"/>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4" name="Text 31"/>
            <p:cNvSpPr/>
            <p:nvPr/>
          </p:nvSpPr>
          <p:spPr>
            <a:xfrm>
              <a:off x="5666105" y="2382275"/>
              <a:ext cx="1529715" cy="352917"/>
            </a:xfrm>
            <a:prstGeom prst="rect">
              <a:avLst/>
            </a:prstGeom>
            <a:noFill/>
          </p:spPr>
          <p:txBody>
            <a:bodyPr wrap="square" lIns="68072" tIns="68072" rIns="68072" bIns="68072" rtlCol="0" anchor="ctr">
              <a:spAutoFit/>
            </a:bodyPr>
            <a:lstStyle/>
            <a:p>
              <a:pPr marL="0" indent="0" algn="l">
                <a:buNone/>
              </a:pPr>
              <a:r>
                <a:rPr lang="en-US" altLang="zh-CN"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EES</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39" name="Shape 32"/>
            <p:cNvSpPr/>
            <p:nvPr/>
          </p:nvSpPr>
          <p:spPr>
            <a:xfrm>
              <a:off x="7195820" y="2454275"/>
              <a:ext cx="1662430" cy="208280"/>
            </a:xfrm>
            <a:prstGeom prst="rect">
              <a:avLst/>
            </a:prstGeom>
            <a:solidFill>
              <a:srgbClr val="EBEBEB"/>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0" name="Shape 33"/>
            <p:cNvSpPr/>
            <p:nvPr/>
          </p:nvSpPr>
          <p:spPr>
            <a:xfrm>
              <a:off x="7195820" y="2658110"/>
              <a:ext cx="1662430" cy="5080"/>
            </a:xfrm>
            <a:prstGeom prst="rect">
              <a:avLst/>
            </a:prstGeom>
            <a:solidFill>
              <a:srgbClr val="4299E1"/>
            </a:solidFill>
          </p:spPr>
          <p:txBody>
            <a:bodyPr/>
            <a:lstStyle/>
            <a:p>
              <a:endParaRPr lang="en-US" sz="400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1" name="Text 34"/>
            <p:cNvSpPr/>
            <p:nvPr/>
          </p:nvSpPr>
          <p:spPr>
            <a:xfrm>
              <a:off x="7195820" y="2382275"/>
              <a:ext cx="1662430" cy="352917"/>
            </a:xfrm>
            <a:prstGeom prst="rect">
              <a:avLst/>
            </a:prstGeom>
            <a:noFill/>
          </p:spPr>
          <p:txBody>
            <a:bodyPr wrap="square" lIns="68072" tIns="68072" rIns="68072" bIns="68072" rtlCol="0" anchor="ctr">
              <a:spAutoFit/>
            </a:bodyPr>
            <a:lstStyle/>
            <a:p>
              <a:pPr marL="0" indent="0" algn="l">
                <a:buNone/>
              </a:pP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传统康复手段</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2" name="Text 35"/>
            <p:cNvSpPr/>
            <p:nvPr/>
          </p:nvSpPr>
          <p:spPr>
            <a:xfrm>
              <a:off x="4714875" y="2585475"/>
              <a:ext cx="951230"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治疗</a:t>
              </a:r>
              <a:r>
                <a:rPr lang="en-US" sz="1400" dirty="0" err="1">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模式</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3" name="Text 36"/>
            <p:cNvSpPr/>
            <p:nvPr/>
          </p:nvSpPr>
          <p:spPr>
            <a:xfrm>
              <a:off x="5723255" y="2651037"/>
              <a:ext cx="718145" cy="215444"/>
            </a:xfrm>
            <a:prstGeom prst="rect">
              <a:avLst/>
            </a:prstGeom>
            <a:noFill/>
          </p:spPr>
          <p:txBody>
            <a:bodyPr wrap="none" lIns="0" tIns="0" rIns="0" bIns="0" rtlCol="0" anchor="ctr">
              <a:spAutoFit/>
            </a:bodyPr>
            <a:lstStyle/>
            <a:p>
              <a:pPr marL="0" indent="0">
                <a:buNone/>
              </a:pP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主动康复</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4" name="Text 37"/>
            <p:cNvSpPr/>
            <p:nvPr/>
          </p:nvSpPr>
          <p:spPr>
            <a:xfrm>
              <a:off x="7195820" y="2585475"/>
              <a:ext cx="1662430"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被动康复</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5" name="Text 38"/>
            <p:cNvSpPr/>
            <p:nvPr/>
          </p:nvSpPr>
          <p:spPr>
            <a:xfrm>
              <a:off x="4714875" y="2793755"/>
              <a:ext cx="951230"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附加效果</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6" name="Text 39"/>
            <p:cNvSpPr/>
            <p:nvPr/>
          </p:nvSpPr>
          <p:spPr>
            <a:xfrm>
              <a:off x="5723255" y="2859952"/>
              <a:ext cx="718145" cy="215444"/>
            </a:xfrm>
            <a:prstGeom prst="rect">
              <a:avLst/>
            </a:prstGeom>
            <a:noFill/>
          </p:spPr>
          <p:txBody>
            <a:bodyPr wrap="none" lIns="0" tIns="0" rIns="0" bIns="0" rtlCol="0" anchor="ctr">
              <a:spAutoFit/>
            </a:bodyPr>
            <a:lstStyle/>
            <a:p>
              <a:pPr marL="0" indent="0">
                <a:buNone/>
              </a:pP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镇痛消炎</a:t>
              </a:r>
              <a:endParaRPr 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7" name="Text 40"/>
            <p:cNvSpPr/>
            <p:nvPr/>
          </p:nvSpPr>
          <p:spPr>
            <a:xfrm>
              <a:off x="7195820" y="2793755"/>
              <a:ext cx="1662430"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无附加效果</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8" name="Text 41"/>
            <p:cNvSpPr/>
            <p:nvPr/>
          </p:nvSpPr>
          <p:spPr>
            <a:xfrm>
              <a:off x="4714875" y="3002670"/>
              <a:ext cx="951230"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智能水平</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49" name="Text 42"/>
            <p:cNvSpPr/>
            <p:nvPr/>
          </p:nvSpPr>
          <p:spPr>
            <a:xfrm>
              <a:off x="5723255" y="3068232"/>
              <a:ext cx="897682" cy="215444"/>
            </a:xfrm>
            <a:prstGeom prst="rect">
              <a:avLst/>
            </a:prstGeom>
            <a:noFill/>
          </p:spPr>
          <p:txBody>
            <a:bodyPr wrap="none" lIns="0" tIns="0" rIns="0" bIns="0" rtlCol="0" anchor="ctr">
              <a:spAutoFit/>
            </a:bodyPr>
            <a:lstStyle/>
            <a:p>
              <a:pPr marL="0" indent="0">
                <a:buNone/>
              </a:pP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个性化编程</a:t>
              </a:r>
              <a:endParaRPr lang="en-US" sz="1400" dirty="0">
                <a:solidFill>
                  <a:srgbClr val="FF0000"/>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0" name="Text 43"/>
            <p:cNvSpPr/>
            <p:nvPr/>
          </p:nvSpPr>
          <p:spPr>
            <a:xfrm>
              <a:off x="7195820" y="3002670"/>
              <a:ext cx="1662430"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无程序控制</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51" name="Text 44"/>
            <p:cNvSpPr/>
            <p:nvPr/>
          </p:nvSpPr>
          <p:spPr>
            <a:xfrm>
              <a:off x="4714875" y="3210950"/>
              <a:ext cx="951230"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治疗效果</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75" name="Text 45"/>
            <p:cNvSpPr/>
            <p:nvPr/>
          </p:nvSpPr>
          <p:spPr>
            <a:xfrm>
              <a:off x="5723255" y="3235895"/>
              <a:ext cx="1465145" cy="430887"/>
            </a:xfrm>
            <a:prstGeom prst="rect">
              <a:avLst/>
            </a:prstGeom>
            <a:noFill/>
          </p:spPr>
          <p:txBody>
            <a:bodyPr wrap="none" lIns="0" tIns="0" rIns="0" bIns="0" rtlCol="0" anchor="ctr">
              <a:spAutoFit/>
            </a:bodyPr>
            <a:lstStyle/>
            <a:p>
              <a:pPr marL="0" indent="0">
                <a:buNone/>
              </a:pPr>
              <a:r>
                <a:rPr lang="en-US" altLang="zh-CN"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85%</a:t>
              </a: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恢复站立能</a:t>
              </a:r>
              <a:endParaRPr lang="en-US" altLang="zh-CN"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a:p>
              <a:pPr marL="0" indent="0">
                <a:buNone/>
              </a:pPr>
              <a:r>
                <a:rPr lang="en-US" altLang="zh-CN"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65%</a:t>
              </a:r>
              <a:r>
                <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恢复行走能力</a:t>
              </a:r>
              <a:endParaRPr lang="zh-CN" altLang="en-US" sz="1400" b="1"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sp>
          <p:nvSpPr>
            <p:cNvPr id="76" name="Text 46"/>
            <p:cNvSpPr/>
            <p:nvPr/>
          </p:nvSpPr>
          <p:spPr>
            <a:xfrm>
              <a:off x="7195820" y="3210950"/>
              <a:ext cx="1662430" cy="352917"/>
            </a:xfrm>
            <a:prstGeom prst="rect">
              <a:avLst/>
            </a:prstGeom>
            <a:noFill/>
          </p:spPr>
          <p:txBody>
            <a:bodyPr wrap="square" lIns="68072" tIns="68072" rIns="68072" bIns="68072" rtlCol="0" anchor="ctr">
              <a:spAutoFit/>
            </a:bodyPr>
            <a:lstStyle/>
            <a:p>
              <a:pPr marL="0" indent="0">
                <a:buNone/>
              </a:pPr>
              <a:r>
                <a:rPr lang="zh-CN" alt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rPr>
                <a:t>效果难以保证</a:t>
              </a:r>
              <a:endParaRPr lang="en-US" sz="1400" dirty="0">
                <a:solidFill>
                  <a:srgbClr val="031F6D"/>
                </a:solidFill>
                <a:latin typeface="彩虹粗仿宋" panose="03000509000000000000" pitchFamily="65" charset="-122"/>
                <a:ea typeface="彩虹粗仿宋" panose="03000509000000000000" pitchFamily="65" charset="-122"/>
                <a:cs typeface="微软雅黑" panose="020B0503020204020204" charset="-122"/>
                <a:sym typeface="Arial" panose="020B0604020202090204" pitchFamily="34" charset="0"/>
              </a:endParaRPr>
            </a:p>
          </p:txBody>
        </p:sp>
      </p:grpSp>
    </p:spTree>
    <p:custDataLst>
      <p:tags r:id="rId17"/>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sym typeface="+mn-ea"/>
              </a:rPr>
              <a:t>管线数据</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5</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、脑机接口</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EES——</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实现截瘫患者</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直立行走</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nvGrpSpPr>
          <p:cNvPr id="25" name="组合 24"/>
          <p:cNvGrpSpPr/>
          <p:nvPr/>
        </p:nvGrpSpPr>
        <p:grpSpPr>
          <a:xfrm>
            <a:off x="251460" y="779410"/>
            <a:ext cx="11530677" cy="5635003"/>
            <a:chOff x="251460" y="476862"/>
            <a:chExt cx="8713971" cy="4258489"/>
          </a:xfrm>
        </p:grpSpPr>
        <p:sp>
          <p:nvSpPr>
            <p:cNvPr id="20" name="文本框 19"/>
            <p:cNvSpPr txBox="1"/>
            <p:nvPr/>
          </p:nvSpPr>
          <p:spPr>
            <a:xfrm>
              <a:off x="251460" y="476862"/>
              <a:ext cx="3247372" cy="4258489"/>
            </a:xfrm>
            <a:prstGeom prst="rect">
              <a:avLst/>
            </a:prstGeom>
            <a:noFill/>
          </p:spPr>
          <p:txBody>
            <a:bodyPr wrap="square" rtlCol="0">
              <a:spAutoFit/>
            </a:bodyPr>
            <a:lstStyle/>
            <a:p>
              <a:pPr marL="172720" indent="-172720" algn="l">
                <a:lnSpc>
                  <a:spcPct val="150000"/>
                </a:lnSpc>
                <a:buClr>
                  <a:srgbClr val="13316D"/>
                </a:buClr>
                <a:buSzTx/>
                <a:buFont typeface="微软雅黑" panose="020B0503020204020204" charset="-122"/>
                <a:buChar char="•"/>
              </a:pPr>
              <a:r>
                <a:rPr lang="en-US" altLang="zh-CN" sz="16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2025</a:t>
              </a:r>
              <a:r>
                <a:rPr lang="zh-CN" altLang="en-US" sz="16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年</a:t>
              </a:r>
              <a:r>
                <a:rPr lang="en-US" altLang="zh-CN" sz="16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3</a:t>
              </a:r>
              <a:r>
                <a:rPr lang="zh-CN" altLang="en-US" sz="16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月，佳量脑科学</a:t>
              </a: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联合</a:t>
              </a:r>
              <a:r>
                <a:rPr lang="zh-CN" altLang="en-US" sz="16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浙江大学医学院附属第二医院、南湖脑机交叉研究院</a:t>
              </a: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成功完成全国</a:t>
              </a:r>
              <a:r>
                <a:rPr lang="zh-CN" altLang="en-US" sz="1600" b="1"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首例闭环脊髓神经接口植入手术</a:t>
              </a: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a:t>
              </a:r>
              <a:endPar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marL="172720" indent="-172720" algn="l">
                <a:lnSpc>
                  <a:spcPct val="150000"/>
                </a:lnSpc>
                <a:buClr>
                  <a:srgbClr val="13316D"/>
                </a:buClr>
                <a:buSzTx/>
                <a:buFont typeface="微软雅黑" panose="020B0503020204020204" charset="-122"/>
                <a:buChar char="•"/>
              </a:pPr>
              <a:endParaRPr lang="zh-CN" altLang="en-US"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marL="172720" indent="-172720" algn="l">
                <a:lnSpc>
                  <a:spcPct val="150000"/>
                </a:lnSpc>
                <a:buClr>
                  <a:srgbClr val="13316D"/>
                </a:buClr>
                <a:buSzTx/>
                <a:buFont typeface="微软雅黑" panose="020B0503020204020204" charset="-122"/>
                <a:buChar char="•"/>
              </a:pP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该科研临床更关注患者自身脊髓功能的恢复与增强，采用特定的刺激触点组合方式及精确的刺激频率与刺激强度，结合闭环的肌电反馈新技术，重建生理性步态；</a:t>
              </a:r>
              <a:endPar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marL="172720" indent="-172720" algn="l">
                <a:lnSpc>
                  <a:spcPct val="150000"/>
                </a:lnSpc>
                <a:buClr>
                  <a:srgbClr val="13316D"/>
                </a:buClr>
                <a:buSzTx/>
                <a:buFont typeface="微软雅黑" panose="020B0503020204020204" charset="-122"/>
                <a:buChar char="•"/>
              </a:pPr>
              <a:endPar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marL="172720" indent="-172720" algn="l">
                <a:lnSpc>
                  <a:spcPct val="150000"/>
                </a:lnSpc>
                <a:buClr>
                  <a:srgbClr val="13316D"/>
                </a:buClr>
                <a:buSzTx/>
                <a:buFont typeface="微软雅黑" panose="020B0503020204020204" charset="-122"/>
                <a:buChar char="•"/>
              </a:pP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患者（金大叔：截瘫）在接受了该手术并辅以系统的康复训练后，已经能够实现多种日常活动，下肢感觉功能逐渐恢复，生活质量显著提升。</a:t>
              </a:r>
              <a:endParaRPr lang="en-US" altLang="zh-CN"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marL="172720" indent="-172720" algn="l">
                <a:lnSpc>
                  <a:spcPct val="150000"/>
                </a:lnSpc>
                <a:buClr>
                  <a:srgbClr val="13316D"/>
                </a:buClr>
                <a:buSzTx/>
                <a:buFont typeface="微软雅黑" panose="020B0503020204020204" charset="-122"/>
                <a:buChar char="•"/>
              </a:pPr>
              <a:endParaRPr lang="en-US" altLang="zh-CN"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a:p>
              <a:pPr marL="172720" indent="-172720" algn="l">
                <a:lnSpc>
                  <a:spcPct val="150000"/>
                </a:lnSpc>
                <a:buClr>
                  <a:srgbClr val="13316D"/>
                </a:buClr>
                <a:buSzTx/>
                <a:buFont typeface="微软雅黑" panose="020B0503020204020204" charset="-122"/>
                <a:buChar char="•"/>
              </a:pP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患者招募获踊跃报名，</a:t>
              </a:r>
              <a:r>
                <a:rPr lang="en-US" altLang="zh-CN"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IIT</a:t>
              </a: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入组已至</a:t>
              </a:r>
              <a:r>
                <a:rPr lang="en-US" altLang="zh-CN"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4</a:t>
              </a:r>
              <a:r>
                <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rPr>
                <a:t>例。</a:t>
              </a:r>
              <a:endParaRPr lang="zh-CN" altLang="en-US" sz="1600" dirty="0">
                <a:latin typeface="彩虹粗仿宋" panose="03000509000000000000" pitchFamily="65" charset="-122"/>
                <a:ea typeface="彩虹粗仿宋" panose="03000509000000000000" pitchFamily="65" charset="-122"/>
                <a:cs typeface="微软雅黑" panose="020B0503020204020204" charset="-122"/>
                <a:sym typeface="微软雅黑" panose="020B0503020204020204" charset="-122"/>
              </a:endParaRPr>
            </a:p>
          </p:txBody>
        </p:sp>
        <p:sp>
          <p:nvSpPr>
            <p:cNvPr id="21" name="文本框 20"/>
            <p:cNvSpPr txBox="1"/>
            <p:nvPr/>
          </p:nvSpPr>
          <p:spPr>
            <a:xfrm>
              <a:off x="4724565" y="1488000"/>
              <a:ext cx="864072" cy="316036"/>
            </a:xfrm>
            <a:prstGeom prst="rect">
              <a:avLst/>
            </a:prstGeom>
            <a:noFill/>
          </p:spPr>
          <p:txBody>
            <a:bodyPr wrap="square" rtlCol="0">
              <a:spAutoFit/>
            </a:bodyPr>
            <a:lstStyle/>
            <a:p>
              <a:pPr marL="172720" indent="-172720" algn="l">
                <a:lnSpc>
                  <a:spcPct val="150000"/>
                </a:lnSpc>
                <a:buClr>
                  <a:srgbClr val="13316D"/>
                </a:buClr>
                <a:buSzTx/>
                <a:buFont typeface="Wingdings" panose="05000000000000000000" pitchFamily="2" charset="2"/>
                <a:buChar char="Ø"/>
              </a:pPr>
              <a:r>
                <a:rPr lang="zh-CN" altLang="en-US" sz="1600" b="1" dirty="0">
                  <a:latin typeface="彩虹粗仿宋" panose="03000509000000000000" pitchFamily="65" charset="-122"/>
                  <a:ea typeface="彩虹粗仿宋" panose="03000509000000000000" pitchFamily="65" charset="-122"/>
                  <a:cs typeface="微软雅黑" panose="020B0503020204020204" charset="-122"/>
                </a:rPr>
                <a:t>治疗前</a:t>
              </a:r>
              <a:endParaRPr lang="zh-CN" altLang="en-US" sz="1600" dirty="0">
                <a:latin typeface="彩虹粗仿宋" panose="03000509000000000000" pitchFamily="65" charset="-122"/>
                <a:ea typeface="彩虹粗仿宋" panose="03000509000000000000" pitchFamily="65" charset="-122"/>
                <a:cs typeface="微软雅黑" panose="020B0503020204020204" charset="-122"/>
              </a:endParaRPr>
            </a:p>
          </p:txBody>
        </p:sp>
        <p:sp>
          <p:nvSpPr>
            <p:cNvPr id="22" name="文本框 21"/>
            <p:cNvSpPr txBox="1"/>
            <p:nvPr/>
          </p:nvSpPr>
          <p:spPr>
            <a:xfrm>
              <a:off x="6948198" y="3433020"/>
              <a:ext cx="864072" cy="316036"/>
            </a:xfrm>
            <a:prstGeom prst="rect">
              <a:avLst/>
            </a:prstGeom>
            <a:noFill/>
          </p:spPr>
          <p:txBody>
            <a:bodyPr wrap="square" rtlCol="0">
              <a:spAutoFit/>
            </a:bodyPr>
            <a:lstStyle/>
            <a:p>
              <a:pPr marL="172720" indent="-172720" algn="l">
                <a:lnSpc>
                  <a:spcPct val="150000"/>
                </a:lnSpc>
                <a:buClr>
                  <a:srgbClr val="13316D"/>
                </a:buClr>
                <a:buSzTx/>
                <a:buFont typeface="Wingdings" panose="05000000000000000000" pitchFamily="2" charset="2"/>
                <a:buChar char="Ø"/>
              </a:pPr>
              <a:r>
                <a:rPr lang="zh-CN" altLang="en-US" sz="1600" b="1" dirty="0">
                  <a:latin typeface="彩虹粗仿宋" panose="03000509000000000000" pitchFamily="65" charset="-122"/>
                  <a:ea typeface="彩虹粗仿宋" panose="03000509000000000000" pitchFamily="65" charset="-122"/>
                  <a:cs typeface="微软雅黑" panose="020B0503020204020204" charset="-122"/>
                </a:rPr>
                <a:t>治疗后</a:t>
              </a:r>
              <a:endParaRPr lang="zh-CN" altLang="en-US" sz="1600" dirty="0">
                <a:latin typeface="彩虹粗仿宋" panose="03000509000000000000" pitchFamily="65" charset="-122"/>
                <a:ea typeface="彩虹粗仿宋" panose="03000509000000000000" pitchFamily="65" charset="-122"/>
                <a:cs typeface="微软雅黑" panose="020B0503020204020204" charset="-122"/>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81400" y="2698255"/>
              <a:ext cx="3171249" cy="1785493"/>
            </a:xfrm>
            <a:prstGeom prst="rect">
              <a:avLst/>
            </a:prstGeom>
          </p:spPr>
        </p:pic>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5037" y="753235"/>
              <a:ext cx="3170394" cy="1785493"/>
            </a:xfrm>
            <a:prstGeom prst="rect">
              <a:avLst/>
            </a:prstGeom>
          </p:spPr>
        </p:pic>
      </p:gr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latin typeface="微软雅黑" panose="020B0503020204020204" charset="-122"/>
                <a:ea typeface="微软雅黑" panose="020B0503020204020204" charset="-122"/>
              </a:rPr>
              <a:t>发展愿景</a:t>
            </a:r>
            <a:endParaRPr lang="zh-CN" altLang="en-US" sz="1600" b="1" dirty="0">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 从</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修复大脑</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到</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解放大脑</a:t>
            </a:r>
            <a:r>
              <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 </a:t>
            </a:r>
            <a:endParaRPr lang="en-US" altLang="zh-CN"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 name="圆角矩形 1"/>
          <p:cNvSpPr/>
          <p:nvPr/>
        </p:nvSpPr>
        <p:spPr>
          <a:xfrm>
            <a:off x="600354" y="1742747"/>
            <a:ext cx="3293399" cy="4508341"/>
          </a:xfrm>
          <a:prstGeom prst="roundRect">
            <a:avLst>
              <a:gd name="adj" fmla="val 33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Ø"/>
            </a:pPr>
            <a:endParaRPr lang="zh-CN" altLang="zh-CN" dirty="0">
              <a:solidFill>
                <a:schemeClr val="bg1"/>
              </a:solidFill>
            </a:endParaRPr>
          </a:p>
        </p:txBody>
      </p:sp>
      <p:sp>
        <p:nvSpPr>
          <p:cNvPr id="89" name="文本框 88"/>
          <p:cNvSpPr txBox="1"/>
          <p:nvPr/>
        </p:nvSpPr>
        <p:spPr>
          <a:xfrm>
            <a:off x="1438314" y="692461"/>
            <a:ext cx="9315371" cy="458459"/>
          </a:xfrm>
          <a:prstGeom prst="rect">
            <a:avLst/>
          </a:prstGeom>
          <a:noFill/>
        </p:spPr>
        <p:txBody>
          <a:bodyPr wrap="none" rtlCol="0">
            <a:spAutoFit/>
          </a:bodyPr>
          <a:lstStyle/>
          <a:p>
            <a:pPr>
              <a:lnSpc>
                <a:spcPct val="150000"/>
              </a:lnSpc>
            </a:pPr>
            <a:r>
              <a:rPr lang="zh-CN" altLang="zh-CN" b="1" dirty="0"/>
              <a:t>愿景宏伟</a:t>
            </a:r>
            <a:r>
              <a:rPr lang="zh-CN" altLang="en-US" b="1" dirty="0"/>
              <a:t>：</a:t>
            </a:r>
            <a:r>
              <a:rPr lang="zh-CN" altLang="zh-CN" b="1" dirty="0"/>
              <a:t>解决临床刚需（修复）——</a:t>
            </a:r>
            <a:r>
              <a:rPr lang="zh-CN" altLang="en-US" b="1" dirty="0"/>
              <a:t> </a:t>
            </a:r>
            <a:r>
              <a:rPr lang="zh-CN" altLang="zh-CN" b="1" dirty="0"/>
              <a:t>推广健康人群（增强）——</a:t>
            </a:r>
            <a:r>
              <a:rPr lang="zh-CN" altLang="en-US" b="1" dirty="0"/>
              <a:t> </a:t>
            </a:r>
            <a:r>
              <a:rPr lang="zh-CN" altLang="zh-CN" b="1" dirty="0"/>
              <a:t>碳基结合硅基（共融）</a:t>
            </a:r>
            <a:endParaRPr lang="zh-CN" altLang="zh-CN" dirty="0"/>
          </a:p>
        </p:txBody>
      </p:sp>
      <p:sp>
        <p:nvSpPr>
          <p:cNvPr id="90" name="圆角矩形 89"/>
          <p:cNvSpPr/>
          <p:nvPr/>
        </p:nvSpPr>
        <p:spPr>
          <a:xfrm>
            <a:off x="4449300" y="1742747"/>
            <a:ext cx="3293399" cy="4508341"/>
          </a:xfrm>
          <a:prstGeom prst="roundRect">
            <a:avLst>
              <a:gd name="adj" fmla="val 3395"/>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91" name="圆角矩形 90"/>
          <p:cNvSpPr/>
          <p:nvPr/>
        </p:nvSpPr>
        <p:spPr>
          <a:xfrm>
            <a:off x="8327584" y="1746399"/>
            <a:ext cx="3293399" cy="4508341"/>
          </a:xfrm>
          <a:prstGeom prst="roundRect">
            <a:avLst>
              <a:gd name="adj" fmla="val 33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92" name="文本框 91"/>
          <p:cNvSpPr txBox="1"/>
          <p:nvPr/>
        </p:nvSpPr>
        <p:spPr>
          <a:xfrm>
            <a:off x="786330" y="2757425"/>
            <a:ext cx="2921445" cy="1704954"/>
          </a:xfrm>
          <a:prstGeom prst="rect">
            <a:avLst/>
          </a:prstGeom>
          <a:noFill/>
        </p:spPr>
        <p:txBody>
          <a:bodyPr wrap="square" rtlCol="0">
            <a:spAutoFit/>
          </a:bodyPr>
          <a:lstStyle/>
          <a:p>
            <a:pPr>
              <a:lnSpc>
                <a:spcPct val="150000"/>
              </a:lnSpc>
            </a:pPr>
            <a:r>
              <a:rPr lang="zh-CN" altLang="zh-CN" dirty="0">
                <a:solidFill>
                  <a:schemeClr val="bg1"/>
                </a:solidFill>
              </a:rPr>
              <a:t>通过Epilcure、iSBS、EES等临床级产品，帮助癫痫、帕金森、截瘫等患者重获功能，解决临床刚需 </a:t>
            </a:r>
            <a:endParaRPr lang="zh-CN" altLang="zh-CN" dirty="0">
              <a:solidFill>
                <a:schemeClr val="bg1"/>
              </a:solidFill>
            </a:endParaRPr>
          </a:p>
        </p:txBody>
      </p:sp>
      <p:grpSp>
        <p:nvGrpSpPr>
          <p:cNvPr id="96" name="组合 95"/>
          <p:cNvGrpSpPr/>
          <p:nvPr/>
        </p:nvGrpSpPr>
        <p:grpSpPr>
          <a:xfrm>
            <a:off x="1166457" y="1963924"/>
            <a:ext cx="2131856" cy="536208"/>
            <a:chOff x="1166457" y="1963924"/>
            <a:chExt cx="2131856" cy="536208"/>
          </a:xfrm>
        </p:grpSpPr>
        <p:sp>
          <p:nvSpPr>
            <p:cNvPr id="94" name="圆角矩形 93"/>
            <p:cNvSpPr/>
            <p:nvPr/>
          </p:nvSpPr>
          <p:spPr>
            <a:xfrm>
              <a:off x="1166457" y="1963924"/>
              <a:ext cx="2131856" cy="53620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5" name="文本框 94"/>
            <p:cNvSpPr txBox="1"/>
            <p:nvPr/>
          </p:nvSpPr>
          <p:spPr>
            <a:xfrm>
              <a:off x="1389847" y="2047362"/>
              <a:ext cx="1685077" cy="369332"/>
            </a:xfrm>
            <a:prstGeom prst="rect">
              <a:avLst/>
            </a:prstGeom>
            <a:noFill/>
          </p:spPr>
          <p:txBody>
            <a:bodyPr wrap="none" rtlCol="0">
              <a:spAutoFit/>
            </a:bodyPr>
            <a:lstStyle/>
            <a:p>
              <a:r>
                <a:rPr kumimoji="1" lang="en-US" altLang="zh-CN" b="1" dirty="0"/>
                <a:t>Phase</a:t>
              </a:r>
              <a:r>
                <a:rPr kumimoji="1" lang="zh-CN" altLang="en-US" b="1" dirty="0"/>
                <a:t> </a:t>
              </a:r>
              <a:r>
                <a:rPr kumimoji="1" lang="en-US" altLang="zh-CN" b="1" dirty="0"/>
                <a:t>I</a:t>
              </a:r>
              <a:r>
                <a:rPr kumimoji="1" lang="zh-CN" altLang="en-US" b="1" dirty="0"/>
                <a:t>：修复</a:t>
              </a:r>
              <a:endParaRPr kumimoji="1" lang="en-US" altLang="zh-CN" b="1" dirty="0"/>
            </a:p>
          </p:txBody>
        </p:sp>
      </p:grpSp>
      <p:grpSp>
        <p:nvGrpSpPr>
          <p:cNvPr id="97" name="组合 96"/>
          <p:cNvGrpSpPr/>
          <p:nvPr/>
        </p:nvGrpSpPr>
        <p:grpSpPr>
          <a:xfrm>
            <a:off x="8908355" y="1963924"/>
            <a:ext cx="2131856" cy="536208"/>
            <a:chOff x="1166457" y="1963924"/>
            <a:chExt cx="2131856" cy="536208"/>
          </a:xfrm>
        </p:grpSpPr>
        <p:sp>
          <p:nvSpPr>
            <p:cNvPr id="98" name="圆角矩形 97"/>
            <p:cNvSpPr/>
            <p:nvPr/>
          </p:nvSpPr>
          <p:spPr>
            <a:xfrm>
              <a:off x="1166457" y="1963924"/>
              <a:ext cx="2131856" cy="53620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9" name="文本框 98"/>
            <p:cNvSpPr txBox="1"/>
            <p:nvPr/>
          </p:nvSpPr>
          <p:spPr>
            <a:xfrm>
              <a:off x="1325726" y="2047362"/>
              <a:ext cx="1813317" cy="369332"/>
            </a:xfrm>
            <a:prstGeom prst="rect">
              <a:avLst/>
            </a:prstGeom>
            <a:noFill/>
          </p:spPr>
          <p:txBody>
            <a:bodyPr wrap="none" rtlCol="0">
              <a:spAutoFit/>
            </a:bodyPr>
            <a:lstStyle/>
            <a:p>
              <a:r>
                <a:rPr kumimoji="1" lang="en-US" altLang="zh-CN" b="1" dirty="0"/>
                <a:t>Phase</a:t>
              </a:r>
              <a:r>
                <a:rPr kumimoji="1" lang="zh-CN" altLang="en-US" b="1" dirty="0"/>
                <a:t> </a:t>
              </a:r>
              <a:r>
                <a:rPr kumimoji="1" lang="en-US" altLang="zh-CN" b="1" dirty="0"/>
                <a:t>III</a:t>
              </a:r>
              <a:r>
                <a:rPr kumimoji="1" lang="zh-CN" altLang="en-US" b="1" dirty="0"/>
                <a:t>：共融</a:t>
              </a:r>
              <a:endParaRPr kumimoji="1" lang="en-US" altLang="zh-CN" b="1" dirty="0"/>
            </a:p>
          </p:txBody>
        </p:sp>
      </p:grpSp>
      <p:grpSp>
        <p:nvGrpSpPr>
          <p:cNvPr id="100" name="组合 99"/>
          <p:cNvGrpSpPr/>
          <p:nvPr/>
        </p:nvGrpSpPr>
        <p:grpSpPr>
          <a:xfrm>
            <a:off x="5030071" y="1963924"/>
            <a:ext cx="2131856" cy="536208"/>
            <a:chOff x="1166457" y="1963924"/>
            <a:chExt cx="2131856" cy="536208"/>
          </a:xfrm>
        </p:grpSpPr>
        <p:sp>
          <p:nvSpPr>
            <p:cNvPr id="101" name="圆角矩形 100"/>
            <p:cNvSpPr/>
            <p:nvPr/>
          </p:nvSpPr>
          <p:spPr>
            <a:xfrm>
              <a:off x="1166457" y="1963924"/>
              <a:ext cx="2131856" cy="536208"/>
            </a:xfrm>
            <a:prstGeom prst="roundRect">
              <a:avLst/>
            </a:prstGeom>
            <a:solidFill>
              <a:srgbClr val="5353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2" name="文本框 101"/>
            <p:cNvSpPr txBox="1"/>
            <p:nvPr/>
          </p:nvSpPr>
          <p:spPr>
            <a:xfrm>
              <a:off x="1357786" y="2047362"/>
              <a:ext cx="1749197" cy="369332"/>
            </a:xfrm>
            <a:prstGeom prst="rect">
              <a:avLst/>
            </a:prstGeom>
            <a:noFill/>
          </p:spPr>
          <p:txBody>
            <a:bodyPr wrap="none" rtlCol="0">
              <a:spAutoFit/>
            </a:bodyPr>
            <a:lstStyle/>
            <a:p>
              <a:r>
                <a:rPr kumimoji="1" lang="en-US" altLang="zh-CN" b="1" dirty="0">
                  <a:solidFill>
                    <a:schemeClr val="bg1"/>
                  </a:solidFill>
                </a:rPr>
                <a:t>Phase</a:t>
              </a:r>
              <a:r>
                <a:rPr kumimoji="1" lang="zh-CN" altLang="en-US" b="1" dirty="0">
                  <a:solidFill>
                    <a:schemeClr val="bg1"/>
                  </a:solidFill>
                </a:rPr>
                <a:t> </a:t>
              </a:r>
              <a:r>
                <a:rPr kumimoji="1" lang="en-US" altLang="zh-CN" b="1" dirty="0">
                  <a:solidFill>
                    <a:schemeClr val="bg1"/>
                  </a:solidFill>
                </a:rPr>
                <a:t>II</a:t>
              </a:r>
              <a:r>
                <a:rPr kumimoji="1" lang="zh-CN" altLang="en-US" b="1" dirty="0">
                  <a:solidFill>
                    <a:schemeClr val="bg1"/>
                  </a:solidFill>
                </a:rPr>
                <a:t>：增强</a:t>
              </a:r>
              <a:endParaRPr kumimoji="1" lang="en-US" altLang="zh-CN" b="1" dirty="0">
                <a:solidFill>
                  <a:schemeClr val="bg1"/>
                </a:solidFill>
              </a:endParaRPr>
            </a:p>
          </p:txBody>
        </p:sp>
      </p:grpSp>
      <p:sp>
        <p:nvSpPr>
          <p:cNvPr id="103" name="文本框 102"/>
          <p:cNvSpPr txBox="1"/>
          <p:nvPr/>
        </p:nvSpPr>
        <p:spPr>
          <a:xfrm>
            <a:off x="4635275" y="2757425"/>
            <a:ext cx="2921445" cy="1704954"/>
          </a:xfrm>
          <a:prstGeom prst="rect">
            <a:avLst/>
          </a:prstGeom>
          <a:noFill/>
        </p:spPr>
        <p:txBody>
          <a:bodyPr wrap="square" rtlCol="0">
            <a:spAutoFit/>
          </a:bodyPr>
          <a:lstStyle/>
          <a:p>
            <a:pPr>
              <a:lnSpc>
                <a:spcPct val="150000"/>
              </a:lnSpc>
            </a:pPr>
            <a:r>
              <a:rPr lang="zh-CN" altLang="zh-CN" dirty="0"/>
              <a:t>将技术延伸至健康人群，开发微侵入或非侵入式 </a:t>
            </a:r>
            <a:endParaRPr lang="zh-CN" altLang="zh-CN" dirty="0"/>
          </a:p>
          <a:p>
            <a:pPr>
              <a:lnSpc>
                <a:spcPct val="150000"/>
              </a:lnSpc>
            </a:pPr>
            <a:r>
              <a:rPr lang="zh-CN" altLang="zh-CN" dirty="0"/>
              <a:t>消费级设备，实现认知增强与脑力拓展</a:t>
            </a:r>
            <a:endParaRPr lang="zh-CN" altLang="zh-CN" dirty="0"/>
          </a:p>
        </p:txBody>
      </p:sp>
      <p:sp>
        <p:nvSpPr>
          <p:cNvPr id="104" name="文本框 103"/>
          <p:cNvSpPr txBox="1"/>
          <p:nvPr/>
        </p:nvSpPr>
        <p:spPr>
          <a:xfrm>
            <a:off x="8659365" y="2757425"/>
            <a:ext cx="2921445" cy="1704954"/>
          </a:xfrm>
          <a:prstGeom prst="rect">
            <a:avLst/>
          </a:prstGeom>
          <a:noFill/>
        </p:spPr>
        <p:txBody>
          <a:bodyPr wrap="square" rtlCol="0">
            <a:spAutoFit/>
          </a:bodyPr>
          <a:lstStyle/>
          <a:p>
            <a:pPr>
              <a:lnSpc>
                <a:spcPct val="150000"/>
              </a:lnSpc>
            </a:pPr>
            <a:r>
              <a:rPr lang="zh-CN" altLang="zh-CN" dirty="0">
                <a:solidFill>
                  <a:schemeClr val="bg1"/>
                </a:solidFill>
              </a:rPr>
              <a:t>打造脑-机-云融合生态，实现大脑与机器的无缝交 </a:t>
            </a:r>
            <a:endParaRPr lang="zh-CN" altLang="zh-CN" dirty="0">
              <a:solidFill>
                <a:schemeClr val="bg1"/>
              </a:solidFill>
            </a:endParaRPr>
          </a:p>
          <a:p>
            <a:pPr>
              <a:lnSpc>
                <a:spcPct val="150000"/>
              </a:lnSpc>
            </a:pPr>
            <a:r>
              <a:rPr lang="zh-CN" altLang="zh-CN" dirty="0">
                <a:solidFill>
                  <a:schemeClr val="bg1"/>
                </a:solidFill>
              </a:rPr>
              <a:t>互，应用于具身智能等前沿领域</a:t>
            </a:r>
            <a:endParaRPr lang="zh-CN" altLang="zh-CN" dirty="0">
              <a:solidFill>
                <a:schemeClr val="bg1"/>
              </a:solidFill>
            </a:endParaRPr>
          </a:p>
        </p:txBody>
      </p:sp>
      <p:sp>
        <p:nvSpPr>
          <p:cNvPr id="105" name="文本框 104"/>
          <p:cNvSpPr txBox="1"/>
          <p:nvPr/>
        </p:nvSpPr>
        <p:spPr>
          <a:xfrm>
            <a:off x="2071868" y="6585995"/>
            <a:ext cx="473206" cy="456472"/>
          </a:xfrm>
          <a:prstGeom prst="rect">
            <a:avLst/>
          </a:prstGeom>
          <a:noFill/>
        </p:spPr>
        <p:txBody>
          <a:bodyPr wrap="none" rtlCol="0">
            <a:spAutoFit/>
          </a:bodyPr>
          <a:lstStyle/>
          <a:p>
            <a:pPr marL="285750" indent="-285750">
              <a:lnSpc>
                <a:spcPct val="150000"/>
              </a:lnSpc>
              <a:buFont typeface="Wingdings" panose="05000000000000000000" pitchFamily="2" charset="2"/>
              <a:buChar char="Ø"/>
            </a:pPr>
            <a:endParaRPr lang="zh-CN" altLang="zh-CN" dirty="0">
              <a:solidFill>
                <a:schemeClr val="bg1"/>
              </a:solidFill>
            </a:endParaRPr>
          </a:p>
        </p:txBody>
      </p:sp>
      <p:sp>
        <p:nvSpPr>
          <p:cNvPr id="106" name="文本框 105"/>
          <p:cNvSpPr txBox="1"/>
          <p:nvPr/>
        </p:nvSpPr>
        <p:spPr>
          <a:xfrm>
            <a:off x="847815" y="4572000"/>
            <a:ext cx="1460656" cy="1289456"/>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zh-CN" dirty="0">
                <a:solidFill>
                  <a:schemeClr val="bg1"/>
                </a:solidFill>
              </a:rPr>
              <a:t>癫痫治疗 </a:t>
            </a:r>
            <a:endParaRPr lang="zh-CN" altLang="zh-CN" dirty="0">
              <a:solidFill>
                <a:schemeClr val="bg1"/>
              </a:solidFill>
            </a:endParaRPr>
          </a:p>
          <a:p>
            <a:pPr marL="285750" indent="-285750">
              <a:lnSpc>
                <a:spcPct val="150000"/>
              </a:lnSpc>
              <a:buFont typeface="Wingdings" panose="05000000000000000000" pitchFamily="2" charset="2"/>
              <a:buChar char="Ø"/>
            </a:pPr>
            <a:r>
              <a:rPr lang="zh-CN" altLang="zh-CN" dirty="0">
                <a:solidFill>
                  <a:schemeClr val="bg1"/>
                </a:solidFill>
              </a:rPr>
              <a:t>帕金森 </a:t>
            </a:r>
            <a:endParaRPr lang="zh-CN" altLang="zh-CN" dirty="0">
              <a:solidFill>
                <a:schemeClr val="bg1"/>
              </a:solidFill>
            </a:endParaRPr>
          </a:p>
          <a:p>
            <a:pPr marL="285750" indent="-285750">
              <a:lnSpc>
                <a:spcPct val="150000"/>
              </a:lnSpc>
              <a:buFont typeface="Wingdings" panose="05000000000000000000" pitchFamily="2" charset="2"/>
              <a:buChar char="Ø"/>
            </a:pPr>
            <a:r>
              <a:rPr lang="zh-CN" altLang="zh-CN" dirty="0">
                <a:solidFill>
                  <a:schemeClr val="bg1"/>
                </a:solidFill>
              </a:rPr>
              <a:t>脊髓损伤</a:t>
            </a:r>
            <a:endParaRPr lang="zh-CN" altLang="zh-CN" dirty="0">
              <a:solidFill>
                <a:schemeClr val="bg1"/>
              </a:solidFill>
            </a:endParaRPr>
          </a:p>
        </p:txBody>
      </p:sp>
      <p:sp>
        <p:nvSpPr>
          <p:cNvPr id="107" name="文本框 106"/>
          <p:cNvSpPr txBox="1"/>
          <p:nvPr/>
        </p:nvSpPr>
        <p:spPr>
          <a:xfrm>
            <a:off x="8659365" y="4560425"/>
            <a:ext cx="1460656" cy="1289456"/>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dirty="0">
                <a:solidFill>
                  <a:schemeClr val="bg1"/>
                </a:solidFill>
              </a:rPr>
              <a:t>具身智能 </a:t>
            </a:r>
            <a:endParaRPr lang="zh-CN" altLang="en-US" dirty="0">
              <a:solidFill>
                <a:schemeClr val="bg1"/>
              </a:solidFill>
            </a:endParaRPr>
          </a:p>
          <a:p>
            <a:pPr marL="285750" indent="-285750">
              <a:lnSpc>
                <a:spcPct val="150000"/>
              </a:lnSpc>
              <a:buFont typeface="Wingdings" panose="05000000000000000000" pitchFamily="2" charset="2"/>
              <a:buChar char="Ø"/>
            </a:pPr>
            <a:r>
              <a:rPr lang="zh-CN" altLang="en-US" dirty="0">
                <a:solidFill>
                  <a:schemeClr val="bg1"/>
                </a:solidFill>
              </a:rPr>
              <a:t>元宇宙 </a:t>
            </a:r>
            <a:endParaRPr lang="zh-CN" altLang="en-US" dirty="0">
              <a:solidFill>
                <a:schemeClr val="bg1"/>
              </a:solidFill>
            </a:endParaRPr>
          </a:p>
          <a:p>
            <a:pPr marL="285750" indent="-285750">
              <a:lnSpc>
                <a:spcPct val="150000"/>
              </a:lnSpc>
              <a:buFont typeface="Wingdings" panose="05000000000000000000" pitchFamily="2" charset="2"/>
              <a:buChar char="Ø"/>
            </a:pPr>
            <a:r>
              <a:rPr lang="zh-CN" altLang="en-US" dirty="0">
                <a:solidFill>
                  <a:schemeClr val="bg1"/>
                </a:solidFill>
              </a:rPr>
              <a:t>人机共融</a:t>
            </a:r>
            <a:endParaRPr lang="zh-CN" altLang="en-US" dirty="0">
              <a:solidFill>
                <a:schemeClr val="bg1"/>
              </a:solidFill>
            </a:endParaRPr>
          </a:p>
        </p:txBody>
      </p:sp>
      <p:sp>
        <p:nvSpPr>
          <p:cNvPr id="108" name="文本框 107"/>
          <p:cNvSpPr txBox="1"/>
          <p:nvPr/>
        </p:nvSpPr>
        <p:spPr>
          <a:xfrm>
            <a:off x="4734045" y="4572000"/>
            <a:ext cx="1691489" cy="1289456"/>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zh-CN" dirty="0"/>
              <a:t>记忆增强 </a:t>
            </a:r>
            <a:endParaRPr lang="zh-CN" altLang="zh-CN" dirty="0"/>
          </a:p>
          <a:p>
            <a:pPr marL="285750" indent="-285750">
              <a:lnSpc>
                <a:spcPct val="150000"/>
              </a:lnSpc>
              <a:buFont typeface="Wingdings" panose="05000000000000000000" pitchFamily="2" charset="2"/>
              <a:buChar char="Ø"/>
            </a:pPr>
            <a:r>
              <a:rPr lang="zh-CN" altLang="zh-CN" dirty="0"/>
              <a:t>注意力训练 </a:t>
            </a:r>
            <a:endParaRPr lang="zh-CN" altLang="zh-CN" dirty="0"/>
          </a:p>
          <a:p>
            <a:pPr marL="285750" indent="-285750">
              <a:lnSpc>
                <a:spcPct val="150000"/>
              </a:lnSpc>
              <a:buFont typeface="Wingdings" panose="05000000000000000000" pitchFamily="2" charset="2"/>
              <a:buChar char="Ø"/>
            </a:pPr>
            <a:r>
              <a:rPr lang="zh-CN" altLang="zh-CN" dirty="0"/>
              <a:t>睡眠改善 </a:t>
            </a:r>
            <a:endParaRPr lang="zh-CN" altLang="zh-CN" dirty="0"/>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平行四边形 2"/>
          <p:cNvSpPr/>
          <p:nvPr/>
        </p:nvSpPr>
        <p:spPr>
          <a:xfrm rot="10800000" flipV="1">
            <a:off x="-179071" y="0"/>
            <a:ext cx="1763395" cy="577514"/>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t>目录</a:t>
            </a:r>
            <a:endParaRPr lang="zh-CN" altLang="en-US" sz="1600" b="1" dirty="0"/>
          </a:p>
        </p:txBody>
      </p:sp>
      <p:sp>
        <p:nvSpPr>
          <p:cNvPr id="9" name="文本框 8"/>
          <p:cNvSpPr txBox="1"/>
          <p:nvPr/>
        </p:nvSpPr>
        <p:spPr>
          <a:xfrm>
            <a:off x="1377950" y="1801495"/>
            <a:ext cx="9118600" cy="460375"/>
          </a:xfrm>
          <a:prstGeom prst="rect">
            <a:avLst/>
          </a:prstGeom>
          <a:noFill/>
        </p:spPr>
        <p:txBody>
          <a:bodyPr wrap="square" rtlCol="0">
            <a:spAutoFit/>
          </a:bodyPr>
          <a:lstStyle/>
          <a:p>
            <a:pPr algn="ctr"/>
            <a:r>
              <a:rPr lang="zh-CN" altLang="en-US" sz="2400" b="1" dirty="0">
                <a:solidFill>
                  <a:schemeClr val="accent1"/>
                </a:solidFill>
                <a:effectLst>
                  <a:outerShdw blurRad="38100" dist="25400" dir="5400000" algn="ctr" rotWithShape="0">
                    <a:srgbClr val="6E747A">
                      <a:alpha val="43000"/>
                    </a:srgbClr>
                  </a:outerShdw>
                </a:effectLst>
                <a:latin typeface="微软雅黑)" charset="0"/>
                <a:ea typeface="微软雅黑)" charset="0"/>
              </a:rPr>
              <a:t>佳量脑科学投资逻辑说明</a:t>
            </a:r>
            <a:endParaRPr lang="zh-CN" altLang="en-US" sz="2400" b="1" dirty="0">
              <a:solidFill>
                <a:schemeClr val="accent1"/>
              </a:solidFill>
              <a:effectLst>
                <a:outerShdw blurRad="38100" dist="25400" dir="5400000" algn="ctr" rotWithShape="0">
                  <a:srgbClr val="6E747A">
                    <a:alpha val="43000"/>
                  </a:srgbClr>
                </a:outerShdw>
              </a:effectLst>
              <a:latin typeface="微软雅黑)" charset="0"/>
              <a:ea typeface="微软雅黑)" charset="0"/>
            </a:endParaRPr>
          </a:p>
        </p:txBody>
      </p:sp>
      <p:cxnSp>
        <p:nvCxnSpPr>
          <p:cNvPr id="10" name="直接连接符 9"/>
          <p:cNvCxnSpPr/>
          <p:nvPr/>
        </p:nvCxnSpPr>
        <p:spPr>
          <a:xfrm>
            <a:off x="1479550" y="2385695"/>
            <a:ext cx="9017000" cy="0"/>
          </a:xfrm>
          <a:prstGeom prst="lin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1"/>
            </p:custDataLst>
          </p:nvPr>
        </p:nvSpPr>
        <p:spPr>
          <a:xfrm>
            <a:off x="1377950" y="2670599"/>
            <a:ext cx="10257790" cy="2215991"/>
          </a:xfrm>
          <a:prstGeom prst="rect">
            <a:avLst/>
          </a:prstGeom>
          <a:noFill/>
        </p:spPr>
        <p:txBody>
          <a:bodyPr wrap="square" rtlCol="0">
            <a:spAutoFit/>
          </a:bodyPr>
          <a:lstStyle/>
          <a:p>
            <a:r>
              <a:rPr lang="en-US" altLang="zh-CN" sz="2000" b="1" dirty="0">
                <a:effectLst/>
                <a:latin typeface="微软雅黑" panose="020B0503020204020204" charset="-122"/>
                <a:ea typeface="微软雅黑" panose="020B0503020204020204" charset="-122"/>
                <a:cs typeface="微软雅黑" panose="020B0503020204020204" charset="-122"/>
              </a:rPr>
              <a:t>1</a:t>
            </a:r>
            <a:r>
              <a:rPr lang="zh-CN" altLang="en-US" sz="2000" b="1" dirty="0">
                <a:effectLst/>
                <a:latin typeface="微软雅黑" panose="020B0503020204020204" charset="-122"/>
                <a:ea typeface="微软雅黑" panose="020B0503020204020204" charset="-122"/>
                <a:cs typeface="微软雅黑" panose="020B0503020204020204" charset="-122"/>
              </a:rPr>
              <a:t>、脑机接口的基本定义 </a:t>
            </a:r>
            <a:r>
              <a:rPr lang="en-US" altLang="zh-CN" sz="2000" b="1" dirty="0">
                <a:effectLst/>
                <a:latin typeface="微软雅黑" panose="020B0503020204020204" charset="-122"/>
                <a:ea typeface="微软雅黑" panose="020B0503020204020204" charset="-122"/>
                <a:cs typeface="微软雅黑" panose="020B0503020204020204" charset="-122"/>
              </a:rPr>
              <a:t>&amp;</a:t>
            </a:r>
            <a:r>
              <a:rPr lang="zh-CN" altLang="en-US" sz="2000" b="1" dirty="0">
                <a:effectLst/>
                <a:latin typeface="微软雅黑" panose="020B0503020204020204" charset="-122"/>
                <a:ea typeface="微软雅黑" panose="020B0503020204020204" charset="-122"/>
                <a:cs typeface="微软雅黑" panose="020B0503020204020204" charset="-122"/>
              </a:rPr>
              <a:t> 技术特点</a:t>
            </a:r>
            <a:endParaRPr lang="en-US" altLang="zh-CN" sz="2000" b="1" dirty="0">
              <a:effectLst/>
              <a:latin typeface="微软雅黑" panose="020B0503020204020204" charset="-122"/>
              <a:ea typeface="微软雅黑" panose="020B0503020204020204" charset="-122"/>
              <a:cs typeface="微软雅黑" panose="020B0503020204020204" charset="-122"/>
            </a:endParaRPr>
          </a:p>
          <a:p>
            <a:endParaRPr lang="en-US" altLang="zh-CN" sz="2000" b="1" dirty="0">
              <a:solidFill>
                <a:schemeClr val="accent1"/>
              </a:solidFill>
              <a:latin typeface="微软雅黑" panose="020B0503020204020204" charset="-122"/>
              <a:ea typeface="微软雅黑" panose="020B0503020204020204" charset="-122"/>
              <a:cs typeface="微软雅黑" panose="020B0503020204020204" charset="-122"/>
            </a:endParaRPr>
          </a:p>
          <a:p>
            <a:r>
              <a:rPr lang="en-US" altLang="zh-CN" sz="2000" b="1" dirty="0">
                <a:latin typeface="微软雅黑" panose="020B0503020204020204" charset="-122"/>
                <a:ea typeface="微软雅黑" panose="020B0503020204020204" charset="-122"/>
              </a:rPr>
              <a:t>2</a:t>
            </a:r>
            <a:r>
              <a:rPr lang="zh-CN" altLang="en-US" sz="2000" b="1" dirty="0">
                <a:latin typeface="微软雅黑" panose="020B0503020204020204" charset="-122"/>
                <a:ea typeface="微软雅黑" panose="020B0503020204020204" charset="-122"/>
              </a:rPr>
              <a:t>、脑机接口的市场规模 </a:t>
            </a:r>
            <a:r>
              <a:rPr lang="en-US" altLang="zh-CN" sz="2000" b="1" dirty="0">
                <a:latin typeface="微软雅黑" panose="020B0503020204020204" charset="-122"/>
                <a:ea typeface="微软雅黑" panose="020B0503020204020204" charset="-122"/>
              </a:rPr>
              <a:t>&amp;</a:t>
            </a:r>
            <a:r>
              <a:rPr lang="zh-CN" altLang="en-US" sz="2000" b="1" dirty="0">
                <a:latin typeface="微软雅黑" panose="020B0503020204020204" charset="-122"/>
                <a:ea typeface="微软雅黑" panose="020B0503020204020204" charset="-122"/>
              </a:rPr>
              <a:t> 赛道研究</a:t>
            </a:r>
            <a:endParaRPr lang="zh-CN" altLang="en-US" sz="2000" b="1" dirty="0">
              <a:latin typeface="微软雅黑" panose="020B0503020204020204" charset="-122"/>
              <a:ea typeface="微软雅黑" panose="020B0503020204020204" charset="-122"/>
            </a:endParaRPr>
          </a:p>
          <a:p>
            <a:endParaRPr lang="zh-CN" altLang="en-US" b="1" dirty="0">
              <a:latin typeface="微软雅黑" panose="020B0503020204020204" charset="-122"/>
              <a:ea typeface="微软雅黑" panose="020B0503020204020204" charset="-122"/>
              <a:cs typeface="微软雅黑" panose="020B0503020204020204" charset="-122"/>
            </a:endParaRPr>
          </a:p>
          <a:p>
            <a:r>
              <a:rPr lang="en-US" altLang="zh-CN" sz="2000" b="1" dirty="0">
                <a:latin typeface="微软雅黑" panose="020B0503020204020204" charset="-122"/>
                <a:ea typeface="微软雅黑" panose="020B0503020204020204" charset="-122"/>
              </a:rPr>
              <a:t>3</a:t>
            </a:r>
            <a:r>
              <a:rPr lang="zh-CN" altLang="en-US" sz="2000" b="1" dirty="0">
                <a:latin typeface="微软雅黑" panose="020B0503020204020204" charset="-122"/>
                <a:ea typeface="微软雅黑" panose="020B0503020204020204" charset="-122"/>
              </a:rPr>
              <a:t>、佳量脑科学团队 </a:t>
            </a:r>
            <a:r>
              <a:rPr lang="en-US" altLang="zh-CN" sz="2000" b="1" dirty="0">
                <a:latin typeface="微软雅黑" panose="020B0503020204020204" charset="-122"/>
                <a:ea typeface="微软雅黑" panose="020B0503020204020204" charset="-122"/>
              </a:rPr>
              <a:t>&amp;</a:t>
            </a:r>
            <a:r>
              <a:rPr lang="zh-CN" altLang="en-US" sz="2000" b="1" dirty="0">
                <a:latin typeface="微软雅黑" panose="020B0503020204020204" charset="-122"/>
                <a:ea typeface="微软雅黑" panose="020B0503020204020204" charset="-122"/>
              </a:rPr>
              <a:t> 技术与产品</a:t>
            </a:r>
            <a:endParaRPr lang="zh-CN" altLang="en-US" sz="2000" b="1" dirty="0">
              <a:latin typeface="微软雅黑" panose="020B0503020204020204" charset="-122"/>
              <a:ea typeface="微软雅黑" panose="020B0503020204020204" charset="-122"/>
            </a:endParaRPr>
          </a:p>
          <a:p>
            <a:endParaRPr lang="zh-CN" altLang="en-US" sz="2000" b="1" dirty="0">
              <a:latin typeface="微软雅黑" panose="020B0503020204020204" charset="-122"/>
              <a:ea typeface="微软雅黑" panose="020B0503020204020204" charset="-122"/>
            </a:endParaRPr>
          </a:p>
          <a:p>
            <a:r>
              <a:rPr lang="en-US" altLang="zh-CN" sz="2000" b="1" dirty="0">
                <a:solidFill>
                  <a:schemeClr val="accent1"/>
                </a:solidFill>
                <a:latin typeface="微软雅黑" panose="020B0503020204020204" charset="-122"/>
                <a:ea typeface="微软雅黑" panose="020B0503020204020204" charset="-122"/>
              </a:rPr>
              <a:t>4</a:t>
            </a:r>
            <a:r>
              <a:rPr lang="zh-CN" altLang="en-US" sz="2000" b="1" dirty="0">
                <a:solidFill>
                  <a:schemeClr val="accent1"/>
                </a:solidFill>
                <a:latin typeface="微软雅黑" panose="020B0503020204020204" charset="-122"/>
                <a:ea typeface="微软雅黑" panose="020B0503020204020204" charset="-122"/>
              </a:rPr>
              <a:t>、风险评估 </a:t>
            </a:r>
            <a:r>
              <a:rPr lang="en-US" altLang="zh-CN" sz="2000" b="1" dirty="0">
                <a:solidFill>
                  <a:schemeClr val="accent1"/>
                </a:solidFill>
                <a:latin typeface="微软雅黑" panose="020B0503020204020204" charset="-122"/>
                <a:ea typeface="微软雅黑" panose="020B0503020204020204" charset="-122"/>
              </a:rPr>
              <a:t>&amp;</a:t>
            </a:r>
            <a:r>
              <a:rPr lang="zh-CN" altLang="en-US" sz="2000" b="1" dirty="0">
                <a:solidFill>
                  <a:schemeClr val="accent1"/>
                </a:solidFill>
                <a:latin typeface="微软雅黑" panose="020B0503020204020204" charset="-122"/>
                <a:ea typeface="微软雅黑" panose="020B0503020204020204" charset="-122"/>
              </a:rPr>
              <a:t> 投资方案</a:t>
            </a:r>
            <a:endParaRPr lang="zh-CN" altLang="en-US" sz="2000" b="1" dirty="0">
              <a:solidFill>
                <a:schemeClr val="accent1"/>
              </a:solidFill>
              <a:latin typeface="微软雅黑" panose="020B0503020204020204" charset="-122"/>
              <a:ea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276225" y="769620"/>
            <a:ext cx="11639550" cy="53187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投资</a:t>
            </a:r>
            <a:r>
              <a:rPr lang="zh-CN" altLang="en-US" sz="1600" b="1">
                <a:latin typeface="微软雅黑" panose="020B0503020204020204" charset="-122"/>
                <a:ea typeface="微软雅黑" panose="020B0503020204020204" charset="-122"/>
              </a:rPr>
              <a:t>方案</a:t>
            </a:r>
            <a:endParaRPr lang="zh-CN" altLang="en-US" sz="1600" b="1">
              <a:latin typeface="微软雅黑" panose="020B0503020204020204" charset="-122"/>
              <a:ea typeface="微软雅黑" panose="020B0503020204020204" charset="-122"/>
            </a:endParaRPr>
          </a:p>
        </p:txBody>
      </p:sp>
      <p:sp>
        <p:nvSpPr>
          <p:cNvPr id="4" name="矩形 3"/>
          <p:cNvSpPr/>
          <p:nvPr/>
        </p:nvSpPr>
        <p:spPr>
          <a:xfrm>
            <a:off x="4942840" y="2264410"/>
            <a:ext cx="2258060" cy="1022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4000</a:t>
            </a:r>
            <a:r>
              <a:rPr lang="zh-CN" altLang="en-US"/>
              <a:t>万</a:t>
            </a:r>
            <a:r>
              <a:rPr lang="zh-CN" altLang="en-US"/>
              <a:t>人民币</a:t>
            </a:r>
            <a:endParaRPr lang="zh-CN" altLang="en-US"/>
          </a:p>
        </p:txBody>
      </p:sp>
      <p:sp>
        <p:nvSpPr>
          <p:cNvPr id="5" name="矩形 4"/>
          <p:cNvSpPr/>
          <p:nvPr/>
        </p:nvSpPr>
        <p:spPr>
          <a:xfrm>
            <a:off x="7685405" y="1242060"/>
            <a:ext cx="2258060" cy="1022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600"/>
              <a:t>3200</a:t>
            </a:r>
            <a:r>
              <a:rPr lang="zh-CN" altLang="en-US" sz="1600"/>
              <a:t>万（</a:t>
            </a:r>
            <a:r>
              <a:rPr lang="en-US" altLang="zh-CN" sz="1600"/>
              <a:t>80%</a:t>
            </a:r>
            <a:r>
              <a:rPr lang="zh-CN" altLang="en-US" sz="1600"/>
              <a:t>）增资</a:t>
            </a:r>
            <a:endParaRPr lang="zh-CN" altLang="en-US" sz="1600"/>
          </a:p>
          <a:p>
            <a:pPr algn="ctr"/>
            <a:r>
              <a:rPr lang="zh-CN" altLang="en-US" sz="1600"/>
              <a:t>增资前估值</a:t>
            </a:r>
            <a:r>
              <a:rPr lang="en-US" altLang="zh-CN" sz="1600"/>
              <a:t>38</a:t>
            </a:r>
            <a:r>
              <a:rPr lang="zh-CN" altLang="en-US" sz="1600"/>
              <a:t>亿</a:t>
            </a:r>
            <a:endParaRPr lang="zh-CN" altLang="en-US" sz="1600"/>
          </a:p>
        </p:txBody>
      </p:sp>
      <p:sp>
        <p:nvSpPr>
          <p:cNvPr id="6" name="矩形 5"/>
          <p:cNvSpPr/>
          <p:nvPr/>
        </p:nvSpPr>
        <p:spPr>
          <a:xfrm>
            <a:off x="7685405" y="3012440"/>
            <a:ext cx="2258060" cy="1022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800</a:t>
            </a:r>
            <a:r>
              <a:rPr lang="zh-CN" altLang="en-US"/>
              <a:t>万</a:t>
            </a:r>
            <a:r>
              <a:rPr lang="zh-CN" altLang="en-US">
                <a:sym typeface="+mn-ea"/>
              </a:rPr>
              <a:t>（</a:t>
            </a:r>
            <a:r>
              <a:rPr lang="en-US" altLang="zh-CN">
                <a:sym typeface="+mn-ea"/>
              </a:rPr>
              <a:t>20%</a:t>
            </a:r>
            <a:r>
              <a:rPr lang="zh-CN" altLang="en-US">
                <a:sym typeface="+mn-ea"/>
              </a:rPr>
              <a:t>）</a:t>
            </a:r>
            <a:r>
              <a:rPr lang="zh-CN" altLang="en-US"/>
              <a:t>股转（价格为估值</a:t>
            </a:r>
            <a:r>
              <a:rPr lang="en-US" altLang="zh-CN"/>
              <a:t>14.2</a:t>
            </a:r>
            <a:r>
              <a:rPr lang="zh-CN" altLang="en-US"/>
              <a:t>亿</a:t>
            </a:r>
            <a:r>
              <a:rPr lang="zh-CN" altLang="en-US"/>
              <a:t>元）</a:t>
            </a:r>
            <a:endParaRPr lang="zh-CN" altLang="en-US"/>
          </a:p>
        </p:txBody>
      </p:sp>
      <p:cxnSp>
        <p:nvCxnSpPr>
          <p:cNvPr id="8" name="肘形连接符 7"/>
          <p:cNvCxnSpPr>
            <a:stCxn id="4" idx="3"/>
            <a:endCxn id="5" idx="1"/>
          </p:cNvCxnSpPr>
          <p:nvPr/>
        </p:nvCxnSpPr>
        <p:spPr>
          <a:xfrm flipV="1">
            <a:off x="7200900" y="1753235"/>
            <a:ext cx="484505" cy="1022350"/>
          </a:xfrm>
          <a:prstGeom prst="bentConnector3">
            <a:avLst>
              <a:gd name="adj1" fmla="val 50066"/>
            </a:avLst>
          </a:prstGeom>
          <a:ln>
            <a:tailEnd type="arrow"/>
          </a:ln>
        </p:spPr>
        <p:style>
          <a:lnRef idx="2">
            <a:schemeClr val="accent1"/>
          </a:lnRef>
          <a:fillRef idx="0">
            <a:srgbClr val="FFFFFF"/>
          </a:fillRef>
          <a:effectRef idx="0">
            <a:srgbClr val="FFFFFF"/>
          </a:effectRef>
          <a:fontRef idx="minor">
            <a:schemeClr val="tx1"/>
          </a:fontRef>
        </p:style>
      </p:cxnSp>
      <p:cxnSp>
        <p:nvCxnSpPr>
          <p:cNvPr id="9" name="肘形连接符 8"/>
          <p:cNvCxnSpPr>
            <a:stCxn id="4" idx="3"/>
            <a:endCxn id="6" idx="1"/>
          </p:cNvCxnSpPr>
          <p:nvPr/>
        </p:nvCxnSpPr>
        <p:spPr>
          <a:xfrm>
            <a:off x="7200900" y="2775585"/>
            <a:ext cx="484505" cy="748030"/>
          </a:xfrm>
          <a:prstGeom prst="bentConnector3">
            <a:avLst>
              <a:gd name="adj1" fmla="val 50066"/>
            </a:avLst>
          </a:prstGeom>
          <a:ln>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10031730" y="2212340"/>
            <a:ext cx="1739900" cy="1014730"/>
          </a:xfrm>
          <a:prstGeom prst="rect">
            <a:avLst/>
          </a:prstGeom>
          <a:noFill/>
        </p:spPr>
        <p:txBody>
          <a:bodyPr wrap="square" rtlCol="0">
            <a:spAutoFit/>
          </a:bodyPr>
          <a:p>
            <a:r>
              <a:rPr lang="zh-CN" altLang="en-US" sz="2000"/>
              <a:t>综合价格对应投</a:t>
            </a:r>
            <a:r>
              <a:rPr lang="zh-CN" altLang="en-US" sz="2000"/>
              <a:t>前估值</a:t>
            </a:r>
            <a:r>
              <a:rPr lang="en-US" altLang="zh-CN" sz="2000"/>
              <a:t>30</a:t>
            </a:r>
            <a:r>
              <a:rPr lang="zh-CN" altLang="en-US" sz="2000"/>
              <a:t>亿</a:t>
            </a:r>
            <a:endParaRPr lang="zh-CN" altLang="en-US" sz="2000"/>
          </a:p>
          <a:p>
            <a:endParaRPr lang="zh-CN" altLang="en-US" sz="2000"/>
          </a:p>
        </p:txBody>
      </p:sp>
      <p:sp>
        <p:nvSpPr>
          <p:cNvPr id="11" name="文本框 10"/>
          <p:cNvSpPr txBox="1"/>
          <p:nvPr/>
        </p:nvSpPr>
        <p:spPr>
          <a:xfrm>
            <a:off x="746760" y="1039495"/>
            <a:ext cx="4108450" cy="5048885"/>
          </a:xfrm>
          <a:prstGeom prst="rect">
            <a:avLst/>
          </a:prstGeom>
        </p:spPr>
        <p:txBody>
          <a:bodyPr>
            <a:noAutofit/>
          </a:bodyPr>
          <a:p>
            <a:r>
              <a:rPr lang="zh-CN" altLang="en-US" b="1">
                <a:solidFill>
                  <a:srgbClr val="000000"/>
                </a:solidFill>
                <a:latin typeface="微软雅黑" panose="020B0503020204020204" charset="-122"/>
                <a:ea typeface="微软雅黑" panose="020B0503020204020204" charset="-122"/>
                <a:cs typeface="微软雅黑" panose="020B0503020204020204" charset="-122"/>
              </a:rPr>
              <a:t>投资计划：</a:t>
            </a:r>
            <a:endParaRPr lang="zh-CN" altLang="en-US" b="1">
              <a:solidFill>
                <a:srgbClr val="000000"/>
              </a:solidFill>
              <a:latin typeface="微软雅黑" panose="020B0503020204020204" charset="-122"/>
              <a:ea typeface="微软雅黑" panose="020B0503020204020204" charset="-122"/>
              <a:cs typeface="微软雅黑" panose="020B0503020204020204" charset="-122"/>
            </a:endParaRPr>
          </a:p>
          <a:p>
            <a:pPr algn="just"/>
            <a:endParaRPr lang="zh-CN" altLang="en-US" b="1">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lgn="just">
              <a:buFont typeface="Wingdings" panose="05000000000000000000" charset="0"/>
              <a:buChar char="Ø"/>
            </a:pPr>
            <a:r>
              <a:rPr lang="zh-CN" altLang="en-US">
                <a:solidFill>
                  <a:srgbClr val="000000"/>
                </a:solidFill>
                <a:latin typeface="微软雅黑" panose="020B0503020204020204" charset="-122"/>
                <a:ea typeface="微软雅黑" panose="020B0503020204020204" charset="-122"/>
                <a:cs typeface="微软雅黑" panose="020B0503020204020204" charset="-122"/>
              </a:rPr>
              <a:t>本轮增资投前估值</a:t>
            </a:r>
            <a:r>
              <a:rPr lang="en-US" altLang="zh-CN">
                <a:solidFill>
                  <a:srgbClr val="000000"/>
                </a:solidFill>
                <a:latin typeface="微软雅黑" panose="020B0503020204020204" charset="-122"/>
                <a:ea typeface="微软雅黑" panose="020B0503020204020204" charset="-122"/>
                <a:cs typeface="微软雅黑" panose="020B0503020204020204" charset="-122"/>
              </a:rPr>
              <a:t>38</a:t>
            </a:r>
            <a:r>
              <a:rPr lang="zh-CN" altLang="en-US">
                <a:solidFill>
                  <a:srgbClr val="000000"/>
                </a:solidFill>
                <a:latin typeface="微软雅黑" panose="020B0503020204020204" charset="-122"/>
                <a:ea typeface="微软雅黑" panose="020B0503020204020204" charset="-122"/>
                <a:cs typeface="微软雅黑" panose="020B0503020204020204" charset="-122"/>
              </a:rPr>
              <a:t>亿元，融资总金额</a:t>
            </a:r>
            <a:r>
              <a:rPr lang="en-US" altLang="zh-CN">
                <a:solidFill>
                  <a:srgbClr val="000000"/>
                </a:solidFill>
                <a:latin typeface="微软雅黑" panose="020B0503020204020204" charset="-122"/>
                <a:ea typeface="微软雅黑" panose="020B0503020204020204" charset="-122"/>
                <a:cs typeface="微软雅黑" panose="020B0503020204020204" charset="-122"/>
              </a:rPr>
              <a:t>2.0</a:t>
            </a:r>
            <a:r>
              <a:rPr lang="zh-CN" altLang="en-US">
                <a:solidFill>
                  <a:srgbClr val="000000"/>
                </a:solidFill>
                <a:latin typeface="微软雅黑" panose="020B0503020204020204" charset="-122"/>
                <a:ea typeface="微软雅黑" panose="020B0503020204020204" charset="-122"/>
                <a:cs typeface="微软雅黑" panose="020B0503020204020204" charset="-122"/>
              </a:rPr>
              <a:t>亿元；</a:t>
            </a:r>
            <a:endParaRPr lang="zh-CN" altLang="en-US">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lgn="just">
              <a:buFont typeface="Wingdings" panose="05000000000000000000" charset="0"/>
              <a:buChar char="Ø"/>
            </a:pPr>
            <a:endParaRPr lang="zh-CN" altLang="en-US">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lgn="just">
              <a:buFont typeface="Wingdings" panose="05000000000000000000" charset="0"/>
              <a:buChar char="Ø"/>
            </a:pPr>
            <a:r>
              <a:rPr lang="zh-CN" altLang="en-US">
                <a:solidFill>
                  <a:srgbClr val="000000"/>
                </a:solidFill>
                <a:latin typeface="微软雅黑" panose="020B0503020204020204" charset="-122"/>
                <a:ea typeface="微软雅黑" panose="020B0503020204020204" charset="-122"/>
                <a:cs typeface="微软雅黑" panose="020B0503020204020204" charset="-122"/>
              </a:rPr>
              <a:t>我方计划通过“宁波赛智具身股权投资合伙企业</a:t>
            </a:r>
            <a:r>
              <a:rPr lang="en-US" altLang="zh-CN">
                <a:solidFill>
                  <a:srgbClr val="000000"/>
                </a:solidFill>
                <a:latin typeface="微软雅黑" panose="020B0503020204020204" charset="-122"/>
                <a:ea typeface="微软雅黑" panose="020B0503020204020204" charset="-122"/>
                <a:cs typeface="微软雅黑" panose="020B0503020204020204" charset="-122"/>
              </a:rPr>
              <a:t>(</a:t>
            </a:r>
            <a:r>
              <a:rPr lang="zh-CN" altLang="en-US">
                <a:solidFill>
                  <a:srgbClr val="000000"/>
                </a:solidFill>
                <a:latin typeface="微软雅黑" panose="020B0503020204020204" charset="-122"/>
                <a:ea typeface="微软雅黑" panose="020B0503020204020204" charset="-122"/>
                <a:cs typeface="微软雅黑" panose="020B0503020204020204" charset="-122"/>
              </a:rPr>
              <a:t>有限合伙</a:t>
            </a:r>
            <a:r>
              <a:rPr lang="en-US" altLang="zh-CN">
                <a:solidFill>
                  <a:srgbClr val="000000"/>
                </a:solidFill>
                <a:latin typeface="微软雅黑" panose="020B0503020204020204" charset="-122"/>
                <a:ea typeface="微软雅黑" panose="020B0503020204020204" charset="-122"/>
                <a:cs typeface="微软雅黑" panose="020B0503020204020204" charset="-122"/>
              </a:rPr>
              <a:t>)”</a:t>
            </a:r>
            <a:r>
              <a:rPr lang="zh-CN" altLang="en-US">
                <a:solidFill>
                  <a:srgbClr val="000000"/>
                </a:solidFill>
                <a:latin typeface="微软雅黑" panose="020B0503020204020204" charset="-122"/>
                <a:ea typeface="微软雅黑" panose="020B0503020204020204" charset="-122"/>
                <a:cs typeface="微软雅黑" panose="020B0503020204020204" charset="-122"/>
              </a:rPr>
              <a:t>以增资加受让老股的方式投资本项目，总投资金额</a:t>
            </a:r>
            <a:r>
              <a:rPr lang="en-US" altLang="zh-CN">
                <a:solidFill>
                  <a:srgbClr val="000000"/>
                </a:solidFill>
                <a:latin typeface="微软雅黑" panose="020B0503020204020204" charset="-122"/>
                <a:ea typeface="微软雅黑" panose="020B0503020204020204" charset="-122"/>
                <a:cs typeface="微软雅黑" panose="020B0503020204020204" charset="-122"/>
              </a:rPr>
              <a:t>4000</a:t>
            </a:r>
            <a:r>
              <a:rPr lang="zh-CN" altLang="en-US">
                <a:solidFill>
                  <a:srgbClr val="000000"/>
                </a:solidFill>
                <a:latin typeface="微软雅黑" panose="020B0503020204020204" charset="-122"/>
                <a:ea typeface="微软雅黑" panose="020B0503020204020204" charset="-122"/>
                <a:cs typeface="微软雅黑" panose="020B0503020204020204" charset="-122"/>
              </a:rPr>
              <a:t>万元，其中增资</a:t>
            </a:r>
            <a:r>
              <a:rPr lang="en-US" altLang="zh-CN">
                <a:solidFill>
                  <a:srgbClr val="000000"/>
                </a:solidFill>
                <a:latin typeface="微软雅黑" panose="020B0503020204020204" charset="-122"/>
                <a:ea typeface="微软雅黑" panose="020B0503020204020204" charset="-122"/>
                <a:cs typeface="微软雅黑" panose="020B0503020204020204" charset="-122"/>
              </a:rPr>
              <a:t>3200</a:t>
            </a:r>
            <a:r>
              <a:rPr lang="zh-CN" altLang="en-US">
                <a:solidFill>
                  <a:srgbClr val="000000"/>
                </a:solidFill>
                <a:latin typeface="微软雅黑" panose="020B0503020204020204" charset="-122"/>
                <a:ea typeface="微软雅黑" panose="020B0503020204020204" charset="-122"/>
                <a:cs typeface="微软雅黑" panose="020B0503020204020204" charset="-122"/>
              </a:rPr>
              <a:t>万元，受让老股</a:t>
            </a:r>
            <a:r>
              <a:rPr lang="en-US" altLang="zh-CN">
                <a:solidFill>
                  <a:srgbClr val="000000"/>
                </a:solidFill>
                <a:latin typeface="微软雅黑" panose="020B0503020204020204" charset="-122"/>
                <a:ea typeface="微软雅黑" panose="020B0503020204020204" charset="-122"/>
                <a:cs typeface="微软雅黑" panose="020B0503020204020204" charset="-122"/>
              </a:rPr>
              <a:t>800</a:t>
            </a:r>
            <a:r>
              <a:rPr lang="zh-CN" altLang="en-US">
                <a:solidFill>
                  <a:srgbClr val="000000"/>
                </a:solidFill>
                <a:latin typeface="微软雅黑" panose="020B0503020204020204" charset="-122"/>
                <a:ea typeface="微软雅黑" panose="020B0503020204020204" charset="-122"/>
                <a:cs typeface="微软雅黑" panose="020B0503020204020204" charset="-122"/>
              </a:rPr>
              <a:t>万元；</a:t>
            </a:r>
            <a:endParaRPr lang="zh-CN" altLang="en-US">
              <a:solidFill>
                <a:srgbClr val="000000"/>
              </a:solidFill>
              <a:latin typeface="微软雅黑" panose="020B0503020204020204" charset="-122"/>
              <a:ea typeface="微软雅黑" panose="020B0503020204020204" charset="-122"/>
              <a:cs typeface="微软雅黑" panose="020B0503020204020204" charset="-122"/>
            </a:endParaRPr>
          </a:p>
          <a:p>
            <a:pPr indent="0" algn="just">
              <a:buFont typeface="Wingdings" panose="05000000000000000000" charset="0"/>
              <a:buNone/>
            </a:pPr>
            <a:r>
              <a:rPr lang="zh-CN" altLang="en-US" b="1">
                <a:solidFill>
                  <a:srgbClr val="000000"/>
                </a:solidFill>
                <a:latin typeface="微软雅黑" panose="020B0503020204020204" charset="-122"/>
                <a:ea typeface="微软雅黑" panose="020B0503020204020204" charset="-122"/>
                <a:cs typeface="微软雅黑" panose="020B0503020204020204" charset="-122"/>
                <a:sym typeface="+mn-ea"/>
              </a:rPr>
              <a:t>宁波</a:t>
            </a:r>
            <a:r>
              <a:rPr lang="zh-CN" altLang="en-US" b="1">
                <a:solidFill>
                  <a:srgbClr val="000000"/>
                </a:solidFill>
                <a:latin typeface="微软雅黑" panose="020B0503020204020204" charset="-122"/>
                <a:ea typeface="微软雅黑" panose="020B0503020204020204" charset="-122"/>
                <a:cs typeface="微软雅黑" panose="020B0503020204020204" charset="-122"/>
                <a:sym typeface="+mn-ea"/>
              </a:rPr>
              <a:t>落地计划：</a:t>
            </a:r>
            <a:endParaRPr lang="zh-CN" altLang="en-US">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algn="just">
              <a:buFont typeface="Wingdings" panose="05000000000000000000" charset="0"/>
              <a:buChar char="Ø"/>
            </a:pPr>
            <a:r>
              <a:rPr lang="zh-CN" altLang="en-US">
                <a:solidFill>
                  <a:srgbClr val="000000"/>
                </a:solidFill>
                <a:latin typeface="微软雅黑" panose="020B0503020204020204" charset="-122"/>
                <a:ea typeface="微软雅黑" panose="020B0503020204020204" charset="-122"/>
                <a:cs typeface="微软雅黑" panose="020B0503020204020204" charset="-122"/>
              </a:rPr>
              <a:t>本项目的核心业务</a:t>
            </a:r>
            <a:r>
              <a:rPr lang="en-US" altLang="zh-CN">
                <a:solidFill>
                  <a:srgbClr val="000000"/>
                </a:solidFill>
                <a:latin typeface="微软雅黑" panose="020B0503020204020204" charset="-122"/>
                <a:ea typeface="微软雅黑" panose="020B0503020204020204" charset="-122"/>
                <a:cs typeface="微软雅黑" panose="020B0503020204020204" charset="-122"/>
              </a:rPr>
              <a:t>SEEG</a:t>
            </a:r>
            <a:r>
              <a:rPr lang="zh-CN" altLang="en-US">
                <a:solidFill>
                  <a:srgbClr val="000000"/>
                </a:solidFill>
                <a:latin typeface="微软雅黑" panose="020B0503020204020204" charset="-122"/>
                <a:ea typeface="微软雅黑" panose="020B0503020204020204" charset="-122"/>
                <a:cs typeface="微软雅黑" panose="020B0503020204020204" charset="-122"/>
              </a:rPr>
              <a:t>（立体定向脑电图）脑电监测电极产线计划落地宁波胜遇产业园区，后续将推动本项目在宁波市设立该产线对应子公司，将生产、研发基地等落户宁波市。</a:t>
            </a:r>
            <a:endParaRPr lang="zh-CN" altLang="en-US">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7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营收预测</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indent="0" algn="l" fontAlgn="auto">
              <a:lnSpc>
                <a:spcPct val="100000"/>
              </a:lnSpc>
            </a:pPr>
            <a:r>
              <a:rPr lang="en-US" altLang="zh-CN" sz="2000" spc="200">
                <a:solidFill>
                  <a:schemeClr val="accent1"/>
                </a:solidFill>
                <a:latin typeface="微软雅黑" panose="020B0503020204020204" charset="-122"/>
                <a:ea typeface="微软雅黑" panose="020B0503020204020204" charset="-122"/>
                <a:cs typeface="微软雅黑" panose="020B0503020204020204" charset="-122"/>
                <a:sym typeface="+mn-ea"/>
              </a:rPr>
              <a:t>2030</a:t>
            </a:r>
            <a:r>
              <a:rPr lang="zh-CN" altLang="en-US" sz="2000" spc="200">
                <a:solidFill>
                  <a:schemeClr val="accent1"/>
                </a:solidFill>
                <a:latin typeface="微软雅黑" panose="020B0503020204020204" charset="-122"/>
                <a:ea typeface="微软雅黑" panose="020B0503020204020204" charset="-122"/>
                <a:cs typeface="微软雅黑" panose="020B0503020204020204" charset="-122"/>
                <a:sym typeface="+mn-ea"/>
              </a:rPr>
              <a:t>年总营收预计可达</a:t>
            </a:r>
            <a:r>
              <a:rPr lang="en-US" altLang="zh-CN" sz="2000" spc="200">
                <a:solidFill>
                  <a:schemeClr val="accent1"/>
                </a:solidFill>
                <a:latin typeface="微软雅黑" panose="020B0503020204020204" charset="-122"/>
                <a:ea typeface="微软雅黑" panose="020B0503020204020204" charset="-122"/>
                <a:cs typeface="微软雅黑" panose="020B0503020204020204" charset="-122"/>
                <a:sym typeface="+mn-ea"/>
              </a:rPr>
              <a:t>10</a:t>
            </a:r>
            <a:r>
              <a:rPr lang="zh-CN" altLang="en-US" sz="2000" spc="200">
                <a:solidFill>
                  <a:schemeClr val="accent1"/>
                </a:solidFill>
                <a:latin typeface="微软雅黑" panose="020B0503020204020204" charset="-122"/>
                <a:ea typeface="微软雅黑" panose="020B0503020204020204" charset="-122"/>
                <a:cs typeface="微软雅黑" panose="020B0503020204020204" charset="-122"/>
                <a:sym typeface="+mn-ea"/>
              </a:rPr>
              <a:t>亿以上，脑机接口概念拓宽估值想象空间</a:t>
            </a:r>
            <a:endParaRPr lang="zh-CN" altLang="en-US" sz="2000" spc="20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4" name="表格 3"/>
          <p:cNvGraphicFramePr/>
          <p:nvPr/>
        </p:nvGraphicFramePr>
        <p:xfrm>
          <a:off x="203835" y="1035685"/>
          <a:ext cx="10515600" cy="899160"/>
        </p:xfrm>
        <a:graphic>
          <a:graphicData uri="http://schemas.openxmlformats.org/drawingml/2006/table">
            <a:tbl>
              <a:tblPr/>
              <a:tblGrid>
                <a:gridCol w="1752600"/>
                <a:gridCol w="1752600"/>
                <a:gridCol w="1752600"/>
                <a:gridCol w="1752600"/>
                <a:gridCol w="1752600"/>
                <a:gridCol w="1752600"/>
              </a:tblGrid>
              <a:tr h="0">
                <a:tc>
                  <a:txBody>
                    <a:bodyPr/>
                    <a:lstStyle/>
                    <a:p>
                      <a:pPr marL="0" indent="0" algn="just">
                        <a:spcBef>
                          <a:spcPct val="0"/>
                        </a:spcBef>
                        <a:spcAft>
                          <a:spcPct val="0"/>
                        </a:spcAft>
                      </a:pPr>
                      <a:r>
                        <a:rPr lang="zh-CN" sz="1100" b="1">
                          <a:solidFill>
                            <a:schemeClr val="bg1"/>
                          </a:solidFill>
                          <a:latin typeface="仿宋" panose="02010609060101010101" charset="-122"/>
                          <a:ea typeface="仿宋" panose="02010609060101010101" charset="-122"/>
                        </a:rPr>
                        <a:t>适应症</a:t>
                      </a:r>
                      <a:endParaRPr lang="zh-CN" sz="1100" b="1">
                        <a:solidFill>
                          <a:schemeClr val="bg1"/>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c>
                  <a:txBody>
                    <a:bodyPr/>
                    <a:lstStyle/>
                    <a:p>
                      <a:pPr marL="0" indent="0" algn="just">
                        <a:spcBef>
                          <a:spcPct val="0"/>
                        </a:spcBef>
                        <a:spcAft>
                          <a:spcPct val="0"/>
                        </a:spcAft>
                      </a:pPr>
                      <a:r>
                        <a:rPr lang="zh-CN" sz="1100" b="1">
                          <a:solidFill>
                            <a:schemeClr val="bg1"/>
                          </a:solidFill>
                          <a:latin typeface="仿宋" panose="02010609060101010101" charset="-122"/>
                          <a:ea typeface="仿宋" panose="02010609060101010101" charset="-122"/>
                        </a:rPr>
                        <a:t>中国存量患者</a:t>
                      </a:r>
                      <a:endParaRPr lang="zh-CN" sz="1100" b="1">
                        <a:solidFill>
                          <a:schemeClr val="bg1"/>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c>
                  <a:txBody>
                    <a:bodyPr/>
                    <a:lstStyle/>
                    <a:p>
                      <a:pPr marL="0" indent="0" algn="just">
                        <a:spcBef>
                          <a:spcPct val="0"/>
                        </a:spcBef>
                        <a:spcAft>
                          <a:spcPct val="0"/>
                        </a:spcAft>
                      </a:pPr>
                      <a:r>
                        <a:rPr lang="zh-CN" sz="1100" b="1">
                          <a:solidFill>
                            <a:schemeClr val="bg1"/>
                          </a:solidFill>
                          <a:latin typeface="仿宋" panose="02010609060101010101" charset="-122"/>
                          <a:ea typeface="仿宋" panose="02010609060101010101" charset="-122"/>
                        </a:rPr>
                        <a:t>年新增患者</a:t>
                      </a:r>
                      <a:endParaRPr lang="zh-CN" sz="1100" b="1">
                        <a:solidFill>
                          <a:schemeClr val="bg1"/>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c>
                  <a:txBody>
                    <a:bodyPr/>
                    <a:lstStyle/>
                    <a:p>
                      <a:pPr marL="0" indent="0" algn="just">
                        <a:spcBef>
                          <a:spcPct val="0"/>
                        </a:spcBef>
                        <a:spcAft>
                          <a:spcPct val="0"/>
                        </a:spcAft>
                      </a:pPr>
                      <a:r>
                        <a:rPr lang="zh-CN" sz="1100" b="1">
                          <a:solidFill>
                            <a:schemeClr val="bg1"/>
                          </a:solidFill>
                          <a:latin typeface="仿宋" panose="02010609060101010101" charset="-122"/>
                          <a:ea typeface="仿宋" panose="02010609060101010101" charset="-122"/>
                        </a:rPr>
                        <a:t>适配治疗人群占比</a:t>
                      </a:r>
                      <a:endParaRPr lang="zh-CN" sz="1100" b="1">
                        <a:solidFill>
                          <a:schemeClr val="bg1"/>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c>
                  <a:txBody>
                    <a:bodyPr/>
                    <a:lstStyle/>
                    <a:p>
                      <a:pPr marL="0" indent="0" algn="just">
                        <a:spcBef>
                          <a:spcPct val="0"/>
                        </a:spcBef>
                        <a:spcAft>
                          <a:spcPct val="0"/>
                        </a:spcAft>
                      </a:pPr>
                      <a:r>
                        <a:rPr lang="zh-CN" sz="1100" b="1">
                          <a:solidFill>
                            <a:schemeClr val="bg1"/>
                          </a:solidFill>
                          <a:latin typeface="仿宋" panose="02010609060101010101" charset="-122"/>
                          <a:ea typeface="仿宋" panose="02010609060101010101" charset="-122"/>
                        </a:rPr>
                        <a:t>适配存量</a:t>
                      </a:r>
                      <a:endParaRPr lang="zh-CN" sz="1100" b="1">
                        <a:solidFill>
                          <a:schemeClr val="bg1"/>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c>
                  <a:txBody>
                    <a:bodyPr/>
                    <a:lstStyle/>
                    <a:p>
                      <a:pPr marL="0" indent="0" algn="just">
                        <a:spcBef>
                          <a:spcPct val="0"/>
                        </a:spcBef>
                        <a:spcAft>
                          <a:spcPct val="0"/>
                        </a:spcAft>
                      </a:pPr>
                      <a:r>
                        <a:rPr lang="zh-CN" sz="1100" b="1">
                          <a:solidFill>
                            <a:schemeClr val="bg1"/>
                          </a:solidFill>
                          <a:latin typeface="仿宋" panose="02010609060101010101" charset="-122"/>
                          <a:ea typeface="仿宋" panose="02010609060101010101" charset="-122"/>
                        </a:rPr>
                        <a:t>年新增适配</a:t>
                      </a:r>
                      <a:endParaRPr lang="zh-CN" sz="1100" b="1">
                        <a:solidFill>
                          <a:schemeClr val="bg1"/>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r>
              <a:tr h="0">
                <a:tc>
                  <a:txBody>
                    <a:bodyPr/>
                    <a:lstStyle/>
                    <a:p>
                      <a:pPr marL="0" indent="0" algn="just">
                        <a:spcBef>
                          <a:spcPct val="0"/>
                        </a:spcBef>
                        <a:spcAft>
                          <a:spcPct val="0"/>
                        </a:spcAft>
                      </a:pPr>
                      <a:r>
                        <a:rPr lang="zh-CN" sz="1100">
                          <a:solidFill>
                            <a:srgbClr val="000000"/>
                          </a:solidFill>
                          <a:latin typeface="仿宋" panose="02010609060101010101" charset="-122"/>
                          <a:ea typeface="仿宋" panose="02010609060101010101" charset="-122"/>
                        </a:rPr>
                        <a:t>癫痫（</a:t>
                      </a:r>
                      <a:r>
                        <a:rPr lang="en-US" altLang="zh-CN" sz="1100">
                          <a:solidFill>
                            <a:srgbClr val="000000"/>
                          </a:solidFill>
                          <a:latin typeface="仿宋" panose="02010609060101010101" charset="-122"/>
                          <a:ea typeface="仿宋" panose="02010609060101010101" charset="-122"/>
                        </a:rPr>
                        <a:t>SEEG/LITT/RNS</a:t>
                      </a:r>
                      <a:r>
                        <a:rPr lang="zh-CN" altLang="en-US" sz="1100">
                          <a:solidFill>
                            <a:srgbClr val="000000"/>
                          </a:solidFill>
                          <a:latin typeface="仿宋" panose="02010609060101010101" charset="-122"/>
                          <a:ea typeface="仿宋" panose="02010609060101010101" charset="-122"/>
                        </a:rPr>
                        <a:t>）</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1000</a:t>
                      </a:r>
                      <a:r>
                        <a:rPr lang="zh-CN" altLang="en-US" sz="1100">
                          <a:solidFill>
                            <a:srgbClr val="000000"/>
                          </a:solidFill>
                          <a:latin typeface="仿宋" panose="02010609060101010101" charset="-122"/>
                          <a:ea typeface="仿宋" panose="02010609060101010101" charset="-122"/>
                        </a:rPr>
                        <a:t>万人</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40</a:t>
                      </a:r>
                      <a:r>
                        <a:rPr lang="zh-CN" altLang="en-US" sz="1100">
                          <a:solidFill>
                            <a:srgbClr val="000000"/>
                          </a:solidFill>
                          <a:latin typeface="仿宋" panose="02010609060101010101" charset="-122"/>
                          <a:ea typeface="仿宋" panose="02010609060101010101" charset="-122"/>
                        </a:rPr>
                        <a:t>万人</a:t>
                      </a:r>
                      <a:r>
                        <a:rPr lang="en-US" altLang="zh-CN" sz="1100">
                          <a:solidFill>
                            <a:srgbClr val="000000"/>
                          </a:solidFill>
                          <a:latin typeface="仿宋" panose="02010609060101010101" charset="-122"/>
                          <a:ea typeface="仿宋" panose="02010609060101010101" charset="-122"/>
                        </a:rPr>
                        <a:t>/</a:t>
                      </a:r>
                      <a:r>
                        <a:rPr lang="zh-CN" altLang="en-US" sz="1100">
                          <a:solidFill>
                            <a:srgbClr val="000000"/>
                          </a:solidFill>
                          <a:latin typeface="仿宋" panose="02010609060101010101" charset="-122"/>
                          <a:ea typeface="仿宋" panose="02010609060101010101" charset="-122"/>
                        </a:rPr>
                        <a:t>年</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zh-CN" sz="1100">
                          <a:solidFill>
                            <a:srgbClr val="000000"/>
                          </a:solidFill>
                          <a:latin typeface="仿宋" panose="02010609060101010101" charset="-122"/>
                          <a:ea typeface="仿宋" panose="02010609060101010101" charset="-122"/>
                        </a:rPr>
                        <a:t>药物难治性</a:t>
                      </a:r>
                      <a:r>
                        <a:rPr lang="en-US" altLang="zh-CN" sz="1100">
                          <a:solidFill>
                            <a:srgbClr val="000000"/>
                          </a:solidFill>
                          <a:latin typeface="仿宋" panose="02010609060101010101" charset="-122"/>
                          <a:ea typeface="仿宋" panose="02010609060101010101" charset="-122"/>
                        </a:rPr>
                        <a:t>30%</a:t>
                      </a:r>
                      <a:endParaRPr lang="en-US" altLang="zh-CN"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300</a:t>
                      </a:r>
                      <a:r>
                        <a:rPr lang="zh-CN" altLang="en-US" sz="1100">
                          <a:solidFill>
                            <a:srgbClr val="000000"/>
                          </a:solidFill>
                          <a:latin typeface="仿宋" panose="02010609060101010101" charset="-122"/>
                          <a:ea typeface="仿宋" panose="02010609060101010101" charset="-122"/>
                        </a:rPr>
                        <a:t>万人</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12</a:t>
                      </a:r>
                      <a:r>
                        <a:rPr lang="zh-CN" altLang="en-US" sz="1100">
                          <a:solidFill>
                            <a:srgbClr val="000000"/>
                          </a:solidFill>
                          <a:latin typeface="仿宋" panose="02010609060101010101" charset="-122"/>
                          <a:ea typeface="仿宋" panose="02010609060101010101" charset="-122"/>
                        </a:rPr>
                        <a:t>万人</a:t>
                      </a:r>
                      <a:r>
                        <a:rPr lang="en-US" altLang="zh-CN" sz="1100">
                          <a:solidFill>
                            <a:srgbClr val="000000"/>
                          </a:solidFill>
                          <a:latin typeface="仿宋" panose="02010609060101010101" charset="-122"/>
                          <a:ea typeface="仿宋" panose="02010609060101010101" charset="-122"/>
                        </a:rPr>
                        <a:t>/</a:t>
                      </a:r>
                      <a:r>
                        <a:rPr lang="zh-CN" altLang="en-US" sz="1100">
                          <a:solidFill>
                            <a:srgbClr val="000000"/>
                          </a:solidFill>
                          <a:latin typeface="仿宋" panose="02010609060101010101" charset="-122"/>
                          <a:ea typeface="仿宋" panose="02010609060101010101" charset="-122"/>
                        </a:rPr>
                        <a:t>年</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lstStyle/>
                    <a:p>
                      <a:pPr marL="0" indent="0" algn="just">
                        <a:spcBef>
                          <a:spcPct val="0"/>
                        </a:spcBef>
                        <a:spcAft>
                          <a:spcPct val="0"/>
                        </a:spcAft>
                      </a:pPr>
                      <a:r>
                        <a:rPr lang="zh-CN" sz="1100">
                          <a:solidFill>
                            <a:srgbClr val="000000"/>
                          </a:solidFill>
                          <a:latin typeface="仿宋" panose="02010609060101010101" charset="-122"/>
                          <a:ea typeface="仿宋" panose="02010609060101010101" charset="-122"/>
                        </a:rPr>
                        <a:t>帕金森病（</a:t>
                      </a:r>
                      <a:r>
                        <a:rPr lang="en-US" altLang="zh-CN" sz="1100">
                          <a:solidFill>
                            <a:srgbClr val="000000"/>
                          </a:solidFill>
                          <a:latin typeface="仿宋" panose="02010609060101010101" charset="-122"/>
                          <a:ea typeface="仿宋" panose="02010609060101010101" charset="-122"/>
                        </a:rPr>
                        <a:t>iSBS</a:t>
                      </a:r>
                      <a:r>
                        <a:rPr lang="zh-CN" altLang="en-US" sz="1100">
                          <a:solidFill>
                            <a:srgbClr val="000000"/>
                          </a:solidFill>
                          <a:latin typeface="仿宋" panose="02010609060101010101" charset="-122"/>
                          <a:ea typeface="仿宋" panose="02010609060101010101" charset="-122"/>
                        </a:rPr>
                        <a:t>）</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340</a:t>
                      </a:r>
                      <a:r>
                        <a:rPr lang="zh-CN" altLang="en-US" sz="1100">
                          <a:solidFill>
                            <a:srgbClr val="000000"/>
                          </a:solidFill>
                          <a:latin typeface="仿宋" panose="02010609060101010101" charset="-122"/>
                          <a:ea typeface="仿宋" panose="02010609060101010101" charset="-122"/>
                        </a:rPr>
                        <a:t>万人</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12</a:t>
                      </a:r>
                      <a:r>
                        <a:rPr lang="zh-CN" altLang="en-US" sz="1100">
                          <a:solidFill>
                            <a:srgbClr val="000000"/>
                          </a:solidFill>
                          <a:latin typeface="仿宋" panose="02010609060101010101" charset="-122"/>
                          <a:ea typeface="仿宋" panose="02010609060101010101" charset="-122"/>
                        </a:rPr>
                        <a:t>万人</a:t>
                      </a:r>
                      <a:r>
                        <a:rPr lang="en-US" altLang="zh-CN" sz="1100">
                          <a:solidFill>
                            <a:srgbClr val="000000"/>
                          </a:solidFill>
                          <a:latin typeface="仿宋" panose="02010609060101010101" charset="-122"/>
                          <a:ea typeface="仿宋" panose="02010609060101010101" charset="-122"/>
                        </a:rPr>
                        <a:t>/</a:t>
                      </a:r>
                      <a:r>
                        <a:rPr lang="zh-CN" altLang="en-US" sz="1100">
                          <a:solidFill>
                            <a:srgbClr val="000000"/>
                          </a:solidFill>
                          <a:latin typeface="仿宋" panose="02010609060101010101" charset="-122"/>
                          <a:ea typeface="仿宋" panose="02010609060101010101" charset="-122"/>
                        </a:rPr>
                        <a:t>年</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zh-CN" sz="1100">
                          <a:solidFill>
                            <a:srgbClr val="000000"/>
                          </a:solidFill>
                          <a:latin typeface="仿宋" panose="02010609060101010101" charset="-122"/>
                          <a:ea typeface="仿宋" panose="02010609060101010101" charset="-122"/>
                        </a:rPr>
                        <a:t>中晚期适配</a:t>
                      </a:r>
                      <a:r>
                        <a:rPr lang="en-US" altLang="zh-CN" sz="1100">
                          <a:solidFill>
                            <a:srgbClr val="000000"/>
                          </a:solidFill>
                          <a:latin typeface="仿宋" panose="02010609060101010101" charset="-122"/>
                          <a:ea typeface="仿宋" panose="02010609060101010101" charset="-122"/>
                        </a:rPr>
                        <a:t>DBS15%</a:t>
                      </a:r>
                      <a:endParaRPr lang="en-US" altLang="zh-CN"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51</a:t>
                      </a:r>
                      <a:r>
                        <a:rPr lang="zh-CN" altLang="en-US" sz="1100">
                          <a:solidFill>
                            <a:srgbClr val="000000"/>
                          </a:solidFill>
                          <a:latin typeface="仿宋" panose="02010609060101010101" charset="-122"/>
                          <a:ea typeface="仿宋" panose="02010609060101010101" charset="-122"/>
                        </a:rPr>
                        <a:t>万人</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1.8</a:t>
                      </a:r>
                      <a:r>
                        <a:rPr lang="zh-CN" altLang="en-US" sz="1100">
                          <a:solidFill>
                            <a:srgbClr val="000000"/>
                          </a:solidFill>
                          <a:latin typeface="仿宋" panose="02010609060101010101" charset="-122"/>
                          <a:ea typeface="仿宋" panose="02010609060101010101" charset="-122"/>
                        </a:rPr>
                        <a:t>万人</a:t>
                      </a:r>
                      <a:r>
                        <a:rPr lang="en-US" altLang="zh-CN" sz="1100">
                          <a:solidFill>
                            <a:srgbClr val="000000"/>
                          </a:solidFill>
                          <a:latin typeface="仿宋" panose="02010609060101010101" charset="-122"/>
                          <a:ea typeface="仿宋" panose="02010609060101010101" charset="-122"/>
                        </a:rPr>
                        <a:t>/</a:t>
                      </a:r>
                      <a:r>
                        <a:rPr lang="zh-CN" altLang="en-US" sz="1100">
                          <a:solidFill>
                            <a:srgbClr val="000000"/>
                          </a:solidFill>
                          <a:latin typeface="仿宋" panose="02010609060101010101" charset="-122"/>
                          <a:ea typeface="仿宋" panose="02010609060101010101" charset="-122"/>
                        </a:rPr>
                        <a:t>年</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lstStyle/>
                    <a:p>
                      <a:pPr marL="0" indent="0" algn="just">
                        <a:spcBef>
                          <a:spcPct val="0"/>
                        </a:spcBef>
                        <a:spcAft>
                          <a:spcPct val="0"/>
                        </a:spcAft>
                      </a:pPr>
                      <a:r>
                        <a:rPr lang="zh-CN" sz="1100">
                          <a:solidFill>
                            <a:srgbClr val="000000"/>
                          </a:solidFill>
                          <a:latin typeface="仿宋" panose="02010609060101010101" charset="-122"/>
                          <a:ea typeface="仿宋" panose="02010609060101010101" charset="-122"/>
                        </a:rPr>
                        <a:t>脊髓损伤（截瘫，</a:t>
                      </a:r>
                      <a:r>
                        <a:rPr lang="en-US" altLang="zh-CN" sz="1100">
                          <a:solidFill>
                            <a:srgbClr val="000000"/>
                          </a:solidFill>
                          <a:latin typeface="仿宋" panose="02010609060101010101" charset="-122"/>
                          <a:ea typeface="仿宋" panose="02010609060101010101" charset="-122"/>
                        </a:rPr>
                        <a:t>EES</a:t>
                      </a:r>
                      <a:r>
                        <a:rPr lang="zh-CN" altLang="en-US" sz="1100">
                          <a:solidFill>
                            <a:srgbClr val="000000"/>
                          </a:solidFill>
                          <a:latin typeface="仿宋" panose="02010609060101010101" charset="-122"/>
                          <a:ea typeface="仿宋" panose="02010609060101010101" charset="-122"/>
                        </a:rPr>
                        <a:t>）</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380</a:t>
                      </a:r>
                      <a:r>
                        <a:rPr lang="zh-CN" altLang="en-US" sz="1100">
                          <a:solidFill>
                            <a:srgbClr val="000000"/>
                          </a:solidFill>
                          <a:latin typeface="仿宋" panose="02010609060101010101" charset="-122"/>
                          <a:ea typeface="仿宋" panose="02010609060101010101" charset="-122"/>
                        </a:rPr>
                        <a:t>万人</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8</a:t>
                      </a:r>
                      <a:r>
                        <a:rPr lang="zh-CN" altLang="en-US" sz="1100">
                          <a:solidFill>
                            <a:srgbClr val="000000"/>
                          </a:solidFill>
                          <a:latin typeface="仿宋" panose="02010609060101010101" charset="-122"/>
                          <a:ea typeface="仿宋" panose="02010609060101010101" charset="-122"/>
                        </a:rPr>
                        <a:t>万人</a:t>
                      </a:r>
                      <a:r>
                        <a:rPr lang="en-US" altLang="zh-CN" sz="1100">
                          <a:solidFill>
                            <a:srgbClr val="000000"/>
                          </a:solidFill>
                          <a:latin typeface="仿宋" panose="02010609060101010101" charset="-122"/>
                          <a:ea typeface="仿宋" panose="02010609060101010101" charset="-122"/>
                        </a:rPr>
                        <a:t>/</a:t>
                      </a:r>
                      <a:r>
                        <a:rPr lang="zh-CN" altLang="en-US" sz="1100">
                          <a:solidFill>
                            <a:srgbClr val="000000"/>
                          </a:solidFill>
                          <a:latin typeface="仿宋" panose="02010609060101010101" charset="-122"/>
                          <a:ea typeface="仿宋" panose="02010609060101010101" charset="-122"/>
                        </a:rPr>
                        <a:t>年</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zh-CN" sz="1100">
                          <a:solidFill>
                            <a:srgbClr val="000000"/>
                          </a:solidFill>
                          <a:latin typeface="仿宋" panose="02010609060101010101" charset="-122"/>
                          <a:ea typeface="仿宋" panose="02010609060101010101" charset="-122"/>
                        </a:rPr>
                        <a:t>适合运动重建</a:t>
                      </a:r>
                      <a:r>
                        <a:rPr lang="en-US" altLang="zh-CN" sz="1100">
                          <a:solidFill>
                            <a:srgbClr val="000000"/>
                          </a:solidFill>
                          <a:latin typeface="仿宋" panose="02010609060101010101" charset="-122"/>
                          <a:ea typeface="仿宋" panose="02010609060101010101" charset="-122"/>
                        </a:rPr>
                        <a:t>8%</a:t>
                      </a:r>
                      <a:endParaRPr lang="en-US" altLang="zh-CN"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30.4</a:t>
                      </a:r>
                      <a:r>
                        <a:rPr lang="zh-CN" altLang="en-US" sz="1100">
                          <a:solidFill>
                            <a:srgbClr val="000000"/>
                          </a:solidFill>
                          <a:latin typeface="仿宋" panose="02010609060101010101" charset="-122"/>
                          <a:ea typeface="仿宋" panose="02010609060101010101" charset="-122"/>
                        </a:rPr>
                        <a:t>万人</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lang="en-US" altLang="zh-CN" sz="1100">
                          <a:solidFill>
                            <a:srgbClr val="000000"/>
                          </a:solidFill>
                          <a:latin typeface="仿宋" panose="02010609060101010101" charset="-122"/>
                          <a:ea typeface="仿宋" panose="02010609060101010101" charset="-122"/>
                        </a:rPr>
                        <a:t>0.64</a:t>
                      </a:r>
                      <a:r>
                        <a:rPr lang="zh-CN" altLang="en-US" sz="1100">
                          <a:solidFill>
                            <a:srgbClr val="000000"/>
                          </a:solidFill>
                          <a:latin typeface="仿宋" panose="02010609060101010101" charset="-122"/>
                          <a:ea typeface="仿宋" panose="02010609060101010101" charset="-122"/>
                        </a:rPr>
                        <a:t>万人</a:t>
                      </a:r>
                      <a:r>
                        <a:rPr lang="en-US" altLang="zh-CN" sz="1100">
                          <a:solidFill>
                            <a:srgbClr val="000000"/>
                          </a:solidFill>
                          <a:latin typeface="仿宋" panose="02010609060101010101" charset="-122"/>
                          <a:ea typeface="仿宋" panose="02010609060101010101" charset="-122"/>
                        </a:rPr>
                        <a:t>/</a:t>
                      </a:r>
                      <a:r>
                        <a:rPr lang="zh-CN" altLang="en-US" sz="1100">
                          <a:solidFill>
                            <a:srgbClr val="000000"/>
                          </a:solidFill>
                          <a:latin typeface="仿宋" panose="02010609060101010101" charset="-122"/>
                          <a:ea typeface="仿宋" panose="02010609060101010101" charset="-122"/>
                        </a:rPr>
                        <a:t>年</a:t>
                      </a:r>
                      <a:endParaRPr lang="zh-CN" altLang="en-US" sz="1100">
                        <a:solidFill>
                          <a:srgbClr val="000000"/>
                        </a:solidFill>
                        <a:latin typeface="仿宋" panose="02010609060101010101" charset="-122"/>
                        <a:ea typeface="仿宋" panose="02010609060101010101" charset="-122"/>
                      </a:endParaRPr>
                    </a:p>
                  </a:txBody>
                  <a:tcPr marL="76200" marR="76200" marT="38100" marB="1905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pic>
        <p:nvPicPr>
          <p:cNvPr id="26" name="图片 25" descr="036ea703-723d-41f7-a09e-95ddfd33d29a"/>
          <p:cNvPicPr>
            <a:picLocks noChangeAspect="1"/>
          </p:cNvPicPr>
          <p:nvPr/>
        </p:nvPicPr>
        <p:blipFill>
          <a:blip r:embed="rId1"/>
          <a:stretch>
            <a:fillRect/>
          </a:stretch>
        </p:blipFill>
        <p:spPr>
          <a:xfrm>
            <a:off x="4911090" y="2421890"/>
            <a:ext cx="7210425" cy="3818890"/>
          </a:xfrm>
          <a:prstGeom prst="rect">
            <a:avLst/>
          </a:prstGeom>
          <a:solidFill>
            <a:schemeClr val="accent1"/>
          </a:solidFill>
        </p:spPr>
      </p:pic>
      <p:graphicFrame>
        <p:nvGraphicFramePr>
          <p:cNvPr id="2" name="表格 1"/>
          <p:cNvGraphicFramePr/>
          <p:nvPr>
            <p:custDataLst>
              <p:tags r:id="rId2"/>
            </p:custDataLst>
          </p:nvPr>
        </p:nvGraphicFramePr>
        <p:xfrm>
          <a:off x="126365" y="3429000"/>
          <a:ext cx="4785360" cy="1348740"/>
        </p:xfrm>
        <a:graphic>
          <a:graphicData uri="http://schemas.openxmlformats.org/drawingml/2006/table">
            <a:tbl>
              <a:tblPr/>
              <a:tblGrid>
                <a:gridCol w="1260475"/>
                <a:gridCol w="1175385"/>
                <a:gridCol w="1174750"/>
                <a:gridCol w="1174750"/>
              </a:tblGrid>
              <a:tr h="224790">
                <a:tc>
                  <a:txBody>
                    <a:bodyPr/>
                    <a:p>
                      <a:pPr marL="0" algn="just">
                        <a:buClrTx/>
                        <a:buSzTx/>
                        <a:buFontTx/>
                      </a:pPr>
                      <a:r>
                        <a:rPr lang="zh-CN" sz="1100" b="1">
                          <a:solidFill>
                            <a:schemeClr val="bg1"/>
                          </a:solidFill>
                          <a:latin typeface="仿宋"/>
                          <a:ea typeface="仿宋"/>
                        </a:rPr>
                        <a:t>管线</a:t>
                      </a:r>
                      <a:endParaRPr lang="zh-CN" sz="1100" b="1">
                        <a:solidFill>
                          <a:schemeClr val="bg1"/>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c>
                  <a:txBody>
                    <a:bodyPr/>
                    <a:p>
                      <a:pPr marL="0" algn="just">
                        <a:buClrTx/>
                        <a:buSzTx/>
                        <a:buFontTx/>
                      </a:pPr>
                      <a:r>
                        <a:rPr lang="zh-CN" sz="1100" b="1">
                          <a:solidFill>
                            <a:schemeClr val="bg1"/>
                          </a:solidFill>
                          <a:latin typeface="仿宋"/>
                          <a:ea typeface="仿宋"/>
                        </a:rPr>
                        <a:t>价格</a:t>
                      </a:r>
                      <a:endParaRPr lang="zh-CN" sz="1100" b="1">
                        <a:solidFill>
                          <a:schemeClr val="bg1"/>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c>
                  <a:txBody>
                    <a:bodyPr/>
                    <a:p>
                      <a:pPr marL="0" algn="just">
                        <a:buClrTx/>
                        <a:buSzTx/>
                        <a:buFontTx/>
                      </a:pPr>
                      <a:r>
                        <a:rPr lang="zh-CN" sz="1100" b="1">
                          <a:solidFill>
                            <a:schemeClr val="bg1"/>
                          </a:solidFill>
                          <a:latin typeface="仿宋"/>
                          <a:ea typeface="仿宋"/>
                        </a:rPr>
                        <a:t>材料成本占比</a:t>
                      </a:r>
                      <a:endParaRPr lang="zh-CN" sz="1100" b="1">
                        <a:solidFill>
                          <a:schemeClr val="bg1"/>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c>
                  <a:txBody>
                    <a:bodyPr/>
                    <a:p>
                      <a:pPr marL="0" algn="just">
                        <a:buClrTx/>
                        <a:buSzTx/>
                        <a:buFontTx/>
                      </a:pPr>
                      <a:r>
                        <a:rPr lang="zh-CN" sz="1100" b="1">
                          <a:solidFill>
                            <a:schemeClr val="bg1"/>
                          </a:solidFill>
                          <a:latin typeface="仿宋"/>
                          <a:ea typeface="仿宋"/>
                        </a:rPr>
                        <a:t>毛利率</a:t>
                      </a:r>
                      <a:endParaRPr lang="zh-CN" sz="1100" b="1">
                        <a:solidFill>
                          <a:schemeClr val="bg1"/>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solidFill>
                  </a:tcPr>
                </a:tc>
              </a:tr>
              <a:tr h="224790">
                <a:tc>
                  <a:txBody>
                    <a:bodyPr/>
                    <a:p>
                      <a:pPr marL="0" indent="0" algn="just">
                        <a:spcBef>
                          <a:spcPct val="0"/>
                        </a:spcBef>
                        <a:spcAft>
                          <a:spcPct val="0"/>
                        </a:spcAft>
                      </a:pPr>
                      <a:r>
                        <a:rPr lang="en-US" altLang="zh-CN" sz="1100">
                          <a:solidFill>
                            <a:srgbClr val="000000"/>
                          </a:solidFill>
                          <a:latin typeface="仿宋"/>
                          <a:ea typeface="仿宋"/>
                        </a:rPr>
                        <a:t>LITT</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400</a:t>
                      </a:r>
                      <a:r>
                        <a:rPr lang="zh-CN" altLang="en-US" sz="1100">
                          <a:solidFill>
                            <a:srgbClr val="000000"/>
                          </a:solidFill>
                          <a:latin typeface="仿宋"/>
                          <a:ea typeface="仿宋"/>
                        </a:rPr>
                        <a:t>万元</a:t>
                      </a:r>
                      <a:r>
                        <a:rPr lang="en-US" altLang="zh-CN" sz="1100">
                          <a:solidFill>
                            <a:srgbClr val="000000"/>
                          </a:solidFill>
                          <a:latin typeface="仿宋"/>
                          <a:ea typeface="仿宋"/>
                        </a:rPr>
                        <a:t>/</a:t>
                      </a:r>
                      <a:r>
                        <a:rPr lang="zh-CN" altLang="en-US" sz="1100">
                          <a:solidFill>
                            <a:srgbClr val="000000"/>
                          </a:solidFill>
                          <a:latin typeface="仿宋"/>
                          <a:ea typeface="仿宋"/>
                        </a:rPr>
                        <a:t>台</a:t>
                      </a:r>
                      <a:endParaRPr lang="zh-CN" altLang="en-US"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80%</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20%</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4790">
                <a:tc>
                  <a:txBody>
                    <a:bodyPr/>
                    <a:p>
                      <a:pPr marL="0" indent="0" algn="just">
                        <a:spcBef>
                          <a:spcPct val="0"/>
                        </a:spcBef>
                        <a:spcAft>
                          <a:spcPct val="0"/>
                        </a:spcAft>
                      </a:pPr>
                      <a:r>
                        <a:rPr lang="en-US" altLang="zh-CN" sz="1100">
                          <a:solidFill>
                            <a:srgbClr val="000000"/>
                          </a:solidFill>
                          <a:latin typeface="仿宋"/>
                          <a:ea typeface="仿宋"/>
                        </a:rPr>
                        <a:t>SEEG</a:t>
                      </a:r>
                      <a:r>
                        <a:rPr lang="zh-CN" altLang="en-US" sz="1100">
                          <a:solidFill>
                            <a:srgbClr val="000000"/>
                          </a:solidFill>
                          <a:latin typeface="仿宋"/>
                          <a:ea typeface="仿宋"/>
                        </a:rPr>
                        <a:t>深部电极</a:t>
                      </a:r>
                      <a:endParaRPr lang="zh-CN" altLang="en-US"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4000</a:t>
                      </a:r>
                      <a:r>
                        <a:rPr lang="zh-CN" altLang="en-US" sz="1100">
                          <a:solidFill>
                            <a:srgbClr val="000000"/>
                          </a:solidFill>
                          <a:latin typeface="仿宋"/>
                          <a:ea typeface="仿宋"/>
                        </a:rPr>
                        <a:t>元</a:t>
                      </a:r>
                      <a:r>
                        <a:rPr lang="en-US" altLang="zh-CN" sz="1100">
                          <a:solidFill>
                            <a:srgbClr val="000000"/>
                          </a:solidFill>
                          <a:latin typeface="仿宋"/>
                          <a:ea typeface="仿宋"/>
                        </a:rPr>
                        <a:t>/</a:t>
                      </a:r>
                      <a:r>
                        <a:rPr lang="zh-CN" altLang="en-US" sz="1100">
                          <a:solidFill>
                            <a:srgbClr val="000000"/>
                          </a:solidFill>
                          <a:latin typeface="仿宋"/>
                          <a:ea typeface="仿宋"/>
                        </a:rPr>
                        <a:t>套</a:t>
                      </a:r>
                      <a:endParaRPr lang="zh-CN" altLang="en-US"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60%</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40%</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4790">
                <a:tc>
                  <a:txBody>
                    <a:bodyPr/>
                    <a:p>
                      <a:pPr marL="0" indent="0" algn="just">
                        <a:spcBef>
                          <a:spcPct val="0"/>
                        </a:spcBef>
                        <a:spcAft>
                          <a:spcPct val="0"/>
                        </a:spcAft>
                      </a:pPr>
                      <a:r>
                        <a:rPr lang="en-US" altLang="zh-CN" sz="1100">
                          <a:solidFill>
                            <a:srgbClr val="000000"/>
                          </a:solidFill>
                          <a:latin typeface="仿宋"/>
                          <a:ea typeface="仿宋"/>
                        </a:rPr>
                        <a:t>Epilcure</a:t>
                      </a:r>
                      <a:r>
                        <a:rPr lang="zh-CN" altLang="en-US" sz="1100">
                          <a:solidFill>
                            <a:srgbClr val="000000"/>
                          </a:solidFill>
                          <a:latin typeface="仿宋"/>
                          <a:ea typeface="仿宋"/>
                        </a:rPr>
                        <a:t>（</a:t>
                      </a:r>
                      <a:r>
                        <a:rPr lang="en-US" altLang="zh-CN" sz="1100">
                          <a:solidFill>
                            <a:srgbClr val="000000"/>
                          </a:solidFill>
                          <a:latin typeface="仿宋"/>
                          <a:ea typeface="仿宋"/>
                        </a:rPr>
                        <a:t>RNS</a:t>
                      </a:r>
                      <a:r>
                        <a:rPr lang="zh-CN" altLang="en-US" sz="1100">
                          <a:solidFill>
                            <a:srgbClr val="000000"/>
                          </a:solidFill>
                          <a:latin typeface="仿宋"/>
                          <a:ea typeface="仿宋"/>
                        </a:rPr>
                        <a:t>）</a:t>
                      </a:r>
                      <a:endParaRPr lang="zh-CN" altLang="en-US"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22.5</a:t>
                      </a:r>
                      <a:r>
                        <a:rPr lang="zh-CN" altLang="en-US" sz="1100">
                          <a:solidFill>
                            <a:srgbClr val="000000"/>
                          </a:solidFill>
                          <a:latin typeface="仿宋"/>
                          <a:ea typeface="仿宋"/>
                        </a:rPr>
                        <a:t>万元</a:t>
                      </a:r>
                      <a:r>
                        <a:rPr lang="en-US" altLang="zh-CN" sz="1100">
                          <a:solidFill>
                            <a:srgbClr val="000000"/>
                          </a:solidFill>
                          <a:latin typeface="仿宋"/>
                          <a:ea typeface="仿宋"/>
                        </a:rPr>
                        <a:t>/</a:t>
                      </a:r>
                      <a:r>
                        <a:rPr lang="zh-CN" altLang="en-US" sz="1100">
                          <a:solidFill>
                            <a:srgbClr val="000000"/>
                          </a:solidFill>
                          <a:latin typeface="仿宋"/>
                          <a:ea typeface="仿宋"/>
                        </a:rPr>
                        <a:t>套</a:t>
                      </a:r>
                      <a:endParaRPr lang="zh-CN" altLang="en-US"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85%</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15%</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4790">
                <a:tc>
                  <a:txBody>
                    <a:bodyPr/>
                    <a:p>
                      <a:pPr marL="0" indent="0" algn="just">
                        <a:spcBef>
                          <a:spcPct val="0"/>
                        </a:spcBef>
                        <a:spcAft>
                          <a:spcPct val="0"/>
                        </a:spcAft>
                      </a:pPr>
                      <a:r>
                        <a:rPr lang="en-US" altLang="zh-CN" sz="1100">
                          <a:solidFill>
                            <a:srgbClr val="000000"/>
                          </a:solidFill>
                          <a:latin typeface="仿宋"/>
                          <a:ea typeface="仿宋"/>
                        </a:rPr>
                        <a:t>iSBS</a:t>
                      </a:r>
                      <a:r>
                        <a:rPr lang="zh-CN" altLang="en-US" sz="1100">
                          <a:solidFill>
                            <a:srgbClr val="000000"/>
                          </a:solidFill>
                          <a:latin typeface="仿宋"/>
                          <a:ea typeface="仿宋"/>
                        </a:rPr>
                        <a:t>（</a:t>
                      </a:r>
                      <a:r>
                        <a:rPr lang="en-US" altLang="zh-CN" sz="1100">
                          <a:solidFill>
                            <a:srgbClr val="000000"/>
                          </a:solidFill>
                          <a:latin typeface="仿宋"/>
                          <a:ea typeface="仿宋"/>
                        </a:rPr>
                        <a:t>DBS</a:t>
                      </a:r>
                      <a:r>
                        <a:rPr lang="zh-CN" altLang="en-US" sz="1100">
                          <a:solidFill>
                            <a:srgbClr val="000000"/>
                          </a:solidFill>
                          <a:latin typeface="仿宋"/>
                          <a:ea typeface="仿宋"/>
                        </a:rPr>
                        <a:t>）</a:t>
                      </a:r>
                      <a:endParaRPr lang="zh-CN" altLang="en-US"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32</a:t>
                      </a:r>
                      <a:r>
                        <a:rPr lang="zh-CN" altLang="en-US" sz="1100">
                          <a:solidFill>
                            <a:srgbClr val="000000"/>
                          </a:solidFill>
                          <a:latin typeface="仿宋"/>
                          <a:ea typeface="仿宋"/>
                        </a:rPr>
                        <a:t>万</a:t>
                      </a:r>
                      <a:r>
                        <a:rPr lang="en-US" altLang="zh-CN" sz="1100">
                          <a:solidFill>
                            <a:srgbClr val="000000"/>
                          </a:solidFill>
                          <a:latin typeface="仿宋"/>
                          <a:ea typeface="仿宋"/>
                        </a:rPr>
                        <a:t>/</a:t>
                      </a:r>
                      <a:r>
                        <a:rPr lang="zh-CN" altLang="en-US" sz="1100">
                          <a:solidFill>
                            <a:srgbClr val="000000"/>
                          </a:solidFill>
                          <a:latin typeface="仿宋"/>
                          <a:ea typeface="仿宋"/>
                        </a:rPr>
                        <a:t>套</a:t>
                      </a:r>
                      <a:endParaRPr lang="zh-CN" altLang="en-US"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55%</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45%</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24790">
                <a:tc>
                  <a:txBody>
                    <a:bodyPr/>
                    <a:p>
                      <a:pPr marL="0" indent="0" algn="just">
                        <a:spcBef>
                          <a:spcPct val="0"/>
                        </a:spcBef>
                        <a:spcAft>
                          <a:spcPct val="0"/>
                        </a:spcAft>
                      </a:pPr>
                      <a:r>
                        <a:rPr lang="en-US" altLang="zh-CN" sz="1100">
                          <a:solidFill>
                            <a:srgbClr val="000000"/>
                          </a:solidFill>
                          <a:latin typeface="仿宋"/>
                          <a:ea typeface="仿宋"/>
                        </a:rPr>
                        <a:t>EES</a:t>
                      </a:r>
                      <a:r>
                        <a:rPr lang="zh-CN" altLang="en-US" sz="1100">
                          <a:solidFill>
                            <a:srgbClr val="000000"/>
                          </a:solidFill>
                          <a:latin typeface="仿宋"/>
                          <a:ea typeface="仿宋"/>
                        </a:rPr>
                        <a:t>脊髓刺激</a:t>
                      </a:r>
                      <a:endParaRPr lang="zh-CN" altLang="en-US"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38</a:t>
                      </a:r>
                      <a:r>
                        <a:rPr lang="zh-CN" altLang="en-US" sz="1100">
                          <a:solidFill>
                            <a:srgbClr val="000000"/>
                          </a:solidFill>
                          <a:latin typeface="仿宋"/>
                          <a:ea typeface="仿宋"/>
                        </a:rPr>
                        <a:t>万</a:t>
                      </a:r>
                      <a:r>
                        <a:rPr lang="en-US" altLang="zh-CN" sz="1100">
                          <a:solidFill>
                            <a:srgbClr val="000000"/>
                          </a:solidFill>
                          <a:latin typeface="仿宋"/>
                          <a:ea typeface="仿宋"/>
                        </a:rPr>
                        <a:t>/</a:t>
                      </a:r>
                      <a:r>
                        <a:rPr lang="zh-CN" altLang="en-US" sz="1100">
                          <a:solidFill>
                            <a:srgbClr val="000000"/>
                          </a:solidFill>
                          <a:latin typeface="仿宋"/>
                          <a:ea typeface="仿宋"/>
                        </a:rPr>
                        <a:t>套</a:t>
                      </a:r>
                      <a:endParaRPr lang="zh-CN" altLang="en-US"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58%</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just">
                        <a:spcBef>
                          <a:spcPct val="0"/>
                        </a:spcBef>
                        <a:spcAft>
                          <a:spcPct val="0"/>
                        </a:spcAft>
                      </a:pPr>
                      <a:r>
                        <a:rPr lang="en-US" altLang="zh-CN" sz="1100">
                          <a:solidFill>
                            <a:srgbClr val="000000"/>
                          </a:solidFill>
                          <a:latin typeface="仿宋"/>
                          <a:ea typeface="仿宋"/>
                        </a:rPr>
                        <a:t>42%</a:t>
                      </a:r>
                      <a:endParaRPr lang="en-US" altLang="zh-CN" sz="1100">
                        <a:solidFill>
                          <a:srgbClr val="000000"/>
                        </a:solidFill>
                        <a:latin typeface="仿宋"/>
                        <a:ea typeface="仿宋"/>
                      </a:endParaRPr>
                    </a:p>
                  </a:txBody>
                  <a:tcPr marL="76200" marR="76200" marT="38100" marB="1905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回报分析</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indent="0" algn="l" fontAlgn="auto">
              <a:lnSpc>
                <a:spcPct val="100000"/>
              </a:lnSpc>
            </a:pPr>
            <a:endParaRPr lang="zh-CN" altLang="en-US" sz="2000" spc="20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5" name="表格 4"/>
          <p:cNvGraphicFramePr>
            <a:graphicFrameLocks noGrp="1"/>
          </p:cNvGraphicFramePr>
          <p:nvPr/>
        </p:nvGraphicFramePr>
        <p:xfrm>
          <a:off x="445008" y="697428"/>
          <a:ext cx="11301984" cy="4652303"/>
        </p:xfrm>
        <a:graphic>
          <a:graphicData uri="http://schemas.openxmlformats.org/drawingml/2006/table">
            <a:tbl>
              <a:tblPr firstRow="1" firstCol="1" bandRow="1">
                <a:tableStyleId>{5C22544A-7EE6-4342-B048-85BDC9FD1C3A}</a:tableStyleId>
              </a:tblPr>
              <a:tblGrid>
                <a:gridCol w="1249487"/>
                <a:gridCol w="2609281"/>
                <a:gridCol w="2850378"/>
                <a:gridCol w="2296419"/>
                <a:gridCol w="2296419"/>
              </a:tblGrid>
              <a:tr h="586050">
                <a:tc>
                  <a:txBody>
                    <a:bodyPr/>
                    <a:lstStyle/>
                    <a:p>
                      <a:pPr algn="ctr" fontAlgn="ctr">
                        <a:lnSpc>
                          <a:spcPct val="150000"/>
                        </a:lnSpc>
                        <a:buNone/>
                      </a:pPr>
                      <a:r>
                        <a:rPr lang="zh-CN" altLang="en-US" sz="1600" u="none" strike="noStrike" dirty="0">
                          <a:effectLst/>
                          <a:latin typeface="仿宋" panose="02010609060101010101" charset="-122"/>
                          <a:ea typeface="仿宋" panose="02010609060101010101" charset="-122"/>
                        </a:rPr>
                        <a:t>　</a:t>
                      </a:r>
                      <a:endParaRPr lang="zh-CN" altLang="en-US" sz="1600" b="1" i="0" u="none" strike="noStrike" dirty="0">
                        <a:solidFill>
                          <a:srgbClr val="FFFFFF"/>
                        </a:solidFill>
                        <a:effectLst/>
                        <a:latin typeface="仿宋" panose="02010609060101010101" charset="-122"/>
                        <a:ea typeface="仿宋" panose="02010609060101010101" charset="-122"/>
                      </a:endParaRPr>
                    </a:p>
                  </a:txBody>
                  <a:tcPr marL="6484" marR="6484" marT="6484" marB="0" anchor="ctr"/>
                </a:tc>
                <a:tc>
                  <a:txBody>
                    <a:bodyPr/>
                    <a:lstStyle/>
                    <a:p>
                      <a:pPr algn="ctr" fontAlgn="ctr">
                        <a:lnSpc>
                          <a:spcPct val="150000"/>
                        </a:lnSpc>
                        <a:buNone/>
                      </a:pPr>
                      <a:r>
                        <a:rPr lang="en-US" altLang="zh-CN" sz="1600" u="none" strike="noStrike">
                          <a:effectLst/>
                          <a:latin typeface="仿宋" panose="02010609060101010101" charset="-122"/>
                          <a:ea typeface="仿宋" panose="02010609060101010101" charset="-122"/>
                          <a:cs typeface="仿宋" panose="02010609060101010101" charset="-122"/>
                        </a:rPr>
                        <a:t>2026</a:t>
                      </a:r>
                      <a:r>
                        <a:rPr lang="zh-CN" altLang="en-US" sz="1600" u="none" strike="noStrike">
                          <a:effectLst/>
                          <a:latin typeface="仿宋" panose="02010609060101010101" charset="-122"/>
                          <a:ea typeface="仿宋" panose="02010609060101010101" charset="-122"/>
                          <a:cs typeface="仿宋" panose="02010609060101010101" charset="-122"/>
                        </a:rPr>
                        <a:t>年（当前</a:t>
                      </a:r>
                      <a:r>
                        <a:rPr lang="en-US" altLang="zh-CN" sz="1600" u="none" strike="noStrike">
                          <a:effectLst/>
                          <a:latin typeface="仿宋" panose="02010609060101010101" charset="-122"/>
                          <a:ea typeface="仿宋" panose="02010609060101010101" charset="-122"/>
                          <a:cs typeface="仿宋" panose="02010609060101010101" charset="-122"/>
                        </a:rPr>
                        <a:t>D</a:t>
                      </a:r>
                      <a:r>
                        <a:rPr lang="zh-CN" altLang="en-US" sz="1600" u="none" strike="noStrike">
                          <a:effectLst/>
                          <a:latin typeface="仿宋" panose="02010609060101010101" charset="-122"/>
                          <a:ea typeface="仿宋" panose="02010609060101010101" charset="-122"/>
                          <a:cs typeface="仿宋" panose="02010609060101010101" charset="-122"/>
                        </a:rPr>
                        <a:t>轮）</a:t>
                      </a:r>
                      <a:endParaRPr lang="zh-CN" altLang="en-US" sz="1600" b="1" i="0" u="none" strike="noStrike">
                        <a:solidFill>
                          <a:srgbClr val="FFFFFF"/>
                        </a:solidFill>
                        <a:effectLst/>
                        <a:latin typeface="仿宋" panose="02010609060101010101" charset="-122"/>
                        <a:ea typeface="仿宋" panose="02010609060101010101" charset="-122"/>
                        <a:cs typeface="仿宋" panose="02010609060101010101" charset="-122"/>
                      </a:endParaRPr>
                    </a:p>
                  </a:txBody>
                  <a:tcPr marL="6484" marR="6484" marT="6484" marB="0" anchor="ctr"/>
                </a:tc>
                <a:tc>
                  <a:txBody>
                    <a:bodyPr/>
                    <a:lstStyle/>
                    <a:p>
                      <a:pPr algn="ctr" fontAlgn="ctr">
                        <a:lnSpc>
                          <a:spcPct val="150000"/>
                        </a:lnSpc>
                        <a:buNone/>
                      </a:pPr>
                      <a:r>
                        <a:rPr lang="en-US" altLang="zh-CN" sz="1600" u="none" strike="noStrike">
                          <a:effectLst/>
                          <a:latin typeface="仿宋" panose="02010609060101010101" charset="-122"/>
                          <a:ea typeface="仿宋" panose="02010609060101010101" charset="-122"/>
                          <a:cs typeface="仿宋" panose="02010609060101010101" charset="-122"/>
                        </a:rPr>
                        <a:t>2026</a:t>
                      </a:r>
                      <a:r>
                        <a:rPr lang="zh-CN" altLang="en-US" sz="1600" u="none" strike="noStrike">
                          <a:effectLst/>
                          <a:latin typeface="仿宋" panose="02010609060101010101" charset="-122"/>
                          <a:ea typeface="仿宋" panose="02010609060101010101" charset="-122"/>
                          <a:cs typeface="仿宋" panose="02010609060101010101" charset="-122"/>
                        </a:rPr>
                        <a:t>年（</a:t>
                      </a:r>
                      <a:r>
                        <a:rPr lang="en-US" altLang="zh-CN" sz="1600" u="none" strike="noStrike">
                          <a:effectLst/>
                          <a:latin typeface="仿宋" panose="02010609060101010101" charset="-122"/>
                          <a:ea typeface="仿宋" panose="02010609060101010101" charset="-122"/>
                          <a:cs typeface="仿宋" panose="02010609060101010101" charset="-122"/>
                        </a:rPr>
                        <a:t>E</a:t>
                      </a:r>
                      <a:r>
                        <a:rPr lang="zh-CN" altLang="en-US" sz="1600" u="none" strike="noStrike">
                          <a:effectLst/>
                          <a:latin typeface="仿宋" panose="02010609060101010101" charset="-122"/>
                          <a:ea typeface="仿宋" panose="02010609060101010101" charset="-122"/>
                          <a:cs typeface="仿宋" panose="02010609060101010101" charset="-122"/>
                        </a:rPr>
                        <a:t>轮）</a:t>
                      </a:r>
                      <a:endParaRPr lang="zh-CN" altLang="en-US" sz="1600" u="none" strike="noStrike">
                        <a:effectLst/>
                        <a:latin typeface="仿宋" panose="02010609060101010101" charset="-122"/>
                        <a:ea typeface="仿宋" panose="02010609060101010101" charset="-122"/>
                        <a:cs typeface="仿宋" panose="02010609060101010101" charset="-122"/>
                      </a:endParaRPr>
                    </a:p>
                  </a:txBody>
                  <a:tcPr marL="6484" marR="6484" marT="6484" marB="0" anchor="ctr"/>
                </a:tc>
                <a:tc>
                  <a:txBody>
                    <a:bodyPr/>
                    <a:lstStyle/>
                    <a:p>
                      <a:pPr algn="ctr" fontAlgn="ctr">
                        <a:lnSpc>
                          <a:spcPct val="150000"/>
                        </a:lnSpc>
                        <a:buNone/>
                      </a:pPr>
                      <a:r>
                        <a:rPr lang="en-US" altLang="zh-CN" sz="1600" u="none" strike="noStrike">
                          <a:effectLst/>
                          <a:latin typeface="仿宋" panose="02010609060101010101" charset="-122"/>
                          <a:ea typeface="仿宋" panose="02010609060101010101" charset="-122"/>
                          <a:cs typeface="仿宋" panose="02010609060101010101" charset="-122"/>
                        </a:rPr>
                        <a:t>2027</a:t>
                      </a:r>
                      <a:r>
                        <a:rPr lang="zh-CN" altLang="en-US" sz="1600" u="none" strike="noStrike">
                          <a:effectLst/>
                          <a:latin typeface="仿宋" panose="02010609060101010101" charset="-122"/>
                          <a:ea typeface="仿宋" panose="02010609060101010101" charset="-122"/>
                          <a:cs typeface="仿宋" panose="02010609060101010101" charset="-122"/>
                        </a:rPr>
                        <a:t>年</a:t>
                      </a:r>
                      <a:endParaRPr lang="zh-CN" altLang="en-US" sz="1600" b="1" i="0" u="none" strike="noStrike">
                        <a:solidFill>
                          <a:srgbClr val="FFFFFF"/>
                        </a:solidFill>
                        <a:effectLst/>
                        <a:latin typeface="仿宋" panose="02010609060101010101" charset="-122"/>
                        <a:ea typeface="仿宋" panose="02010609060101010101" charset="-122"/>
                        <a:cs typeface="仿宋" panose="02010609060101010101" charset="-122"/>
                      </a:endParaRPr>
                    </a:p>
                  </a:txBody>
                  <a:tcPr marL="6484" marR="6484" marT="6484" marB="0" anchor="ctr"/>
                </a:tc>
                <a:tc>
                  <a:txBody>
                    <a:bodyPr/>
                    <a:lstStyle/>
                    <a:p>
                      <a:pPr algn="ctr" fontAlgn="ctr">
                        <a:lnSpc>
                          <a:spcPct val="150000"/>
                        </a:lnSpc>
                        <a:buNone/>
                      </a:pPr>
                      <a:r>
                        <a:rPr lang="en-US" altLang="zh-CN" sz="1600" u="none" strike="noStrike">
                          <a:effectLst/>
                          <a:latin typeface="仿宋" panose="02010609060101010101" charset="-122"/>
                          <a:ea typeface="仿宋" panose="02010609060101010101" charset="-122"/>
                          <a:cs typeface="仿宋" panose="02010609060101010101" charset="-122"/>
                        </a:rPr>
                        <a:t>2028</a:t>
                      </a:r>
                      <a:r>
                        <a:rPr lang="zh-CN" altLang="en-US" sz="1600" u="none" strike="noStrike">
                          <a:effectLst/>
                          <a:latin typeface="仿宋" panose="02010609060101010101" charset="-122"/>
                          <a:ea typeface="仿宋" panose="02010609060101010101" charset="-122"/>
                          <a:cs typeface="仿宋" panose="02010609060101010101" charset="-122"/>
                        </a:rPr>
                        <a:t>年</a:t>
                      </a:r>
                      <a:endParaRPr lang="zh-CN" altLang="en-US" sz="1600" b="1" i="0" u="none" strike="noStrike">
                        <a:solidFill>
                          <a:srgbClr val="FFFFFF"/>
                        </a:solidFill>
                        <a:effectLst/>
                        <a:latin typeface="仿宋" panose="02010609060101010101" charset="-122"/>
                        <a:ea typeface="仿宋" panose="02010609060101010101" charset="-122"/>
                        <a:cs typeface="仿宋" panose="02010609060101010101" charset="-122"/>
                      </a:endParaRPr>
                    </a:p>
                  </a:txBody>
                  <a:tcPr marL="6484" marR="6484" marT="6484" marB="0" anchor="ctr"/>
                </a:tc>
              </a:tr>
              <a:tr h="2303787">
                <a:tc>
                  <a:txBody>
                    <a:bodyPr/>
                    <a:lstStyle/>
                    <a:p>
                      <a:pPr algn="ctr" fontAlgn="ctr">
                        <a:lnSpc>
                          <a:spcPct val="150000"/>
                        </a:lnSpc>
                        <a:buNone/>
                      </a:pPr>
                      <a:r>
                        <a:rPr lang="zh-CN" altLang="en-US" sz="1600" u="none" strike="noStrike" dirty="0">
                          <a:effectLst/>
                          <a:latin typeface="仿宋" panose="02010609060101010101" charset="-122"/>
                          <a:ea typeface="仿宋" panose="02010609060101010101" charset="-122"/>
                        </a:rPr>
                        <a:t>里程碑事件</a:t>
                      </a:r>
                      <a:endParaRPr lang="zh-CN" altLang="en-US" sz="1600" b="1" i="0" u="none" strike="noStrike" dirty="0">
                        <a:solidFill>
                          <a:srgbClr val="333333"/>
                        </a:solidFill>
                        <a:effectLst/>
                        <a:latin typeface="仿宋" panose="02010609060101010101" charset="-122"/>
                        <a:ea typeface="仿宋" panose="02010609060101010101" charset="-122"/>
                      </a:endParaRPr>
                    </a:p>
                  </a:txBody>
                  <a:tcPr marL="6484" marR="6484" marT="6484" marB="0" anchor="ctr"/>
                </a:tc>
                <a:tc>
                  <a:txBody>
                    <a:bodyPr/>
                    <a:lstStyle/>
                    <a:p>
                      <a:pPr algn="l" fontAlgn="ctr">
                        <a:lnSpc>
                          <a:spcPct val="150000"/>
                        </a:lnSpc>
                        <a:buNone/>
                      </a:pPr>
                      <a:r>
                        <a:rPr lang="en-US" sz="1600" u="none" strike="noStrike" dirty="0">
                          <a:effectLst/>
                          <a:latin typeface="仿宋" panose="02010609060101010101" charset="-122"/>
                          <a:ea typeface="仿宋" panose="02010609060101010101" charset="-122"/>
                          <a:cs typeface="仿宋" panose="02010609060101010101" charset="-122"/>
                        </a:rPr>
                        <a:t>1. Epilcure（RNS）</a:t>
                      </a:r>
                      <a:r>
                        <a:rPr lang="zh-CN" altLang="en-US" sz="1600" u="none" strike="noStrike" dirty="0">
                          <a:effectLst/>
                          <a:latin typeface="仿宋" panose="02010609060101010101" charset="-122"/>
                          <a:ea typeface="仿宋" panose="02010609060101010101" charset="-122"/>
                          <a:cs typeface="仿宋" panose="02010609060101010101" charset="-122"/>
                        </a:rPr>
                        <a:t>提交</a:t>
                      </a:r>
                      <a:r>
                        <a:rPr lang="en-US" sz="1600" u="none" strike="noStrike" dirty="0">
                          <a:effectLst/>
                          <a:latin typeface="仿宋" panose="02010609060101010101" charset="-122"/>
                          <a:ea typeface="仿宋" panose="02010609060101010101" charset="-122"/>
                          <a:cs typeface="仿宋" panose="02010609060101010101" charset="-122"/>
                        </a:rPr>
                        <a:t>NDA</a:t>
                      </a:r>
                      <a:r>
                        <a:rPr lang="zh-CN" altLang="en-US" sz="1600" u="none" strike="noStrike" dirty="0">
                          <a:effectLst/>
                          <a:latin typeface="仿宋" panose="02010609060101010101" charset="-122"/>
                          <a:ea typeface="仿宋" panose="02010609060101010101" charset="-122"/>
                          <a:cs typeface="仿宋" panose="02010609060101010101" charset="-122"/>
                        </a:rPr>
                        <a:t>申请；</a:t>
                      </a:r>
                      <a:br>
                        <a:rPr lang="zh-CN" altLang="en-US" sz="1600" u="none" strike="noStrike" dirty="0">
                          <a:effectLst/>
                          <a:latin typeface="仿宋" panose="02010609060101010101" charset="-122"/>
                          <a:ea typeface="仿宋" panose="02010609060101010101" charset="-122"/>
                          <a:cs typeface="仿宋" panose="02010609060101010101" charset="-122"/>
                        </a:rPr>
                      </a:br>
                      <a:r>
                        <a:rPr lang="en-US" altLang="zh-CN" sz="1600" u="none" strike="noStrike" dirty="0">
                          <a:effectLst/>
                          <a:latin typeface="仿宋" panose="02010609060101010101" charset="-122"/>
                          <a:ea typeface="仿宋" panose="02010609060101010101" charset="-122"/>
                          <a:cs typeface="仿宋" panose="02010609060101010101" charset="-122"/>
                        </a:rPr>
                        <a:t>2. </a:t>
                      </a:r>
                      <a:r>
                        <a:rPr lang="en-US" sz="1600" u="none" strike="noStrike" dirty="0">
                          <a:effectLst/>
                          <a:latin typeface="仿宋" panose="02010609060101010101" charset="-122"/>
                          <a:ea typeface="仿宋" panose="02010609060101010101" charset="-122"/>
                          <a:cs typeface="仿宋" panose="02010609060101010101" charset="-122"/>
                        </a:rPr>
                        <a:t>LITT</a:t>
                      </a:r>
                      <a:r>
                        <a:rPr lang="zh-CN" altLang="en-US" sz="1600" u="none" strike="noStrike" dirty="0">
                          <a:effectLst/>
                          <a:latin typeface="仿宋" panose="02010609060101010101" charset="-122"/>
                          <a:ea typeface="仿宋" panose="02010609060101010101" charset="-122"/>
                          <a:cs typeface="仿宋" panose="02010609060101010101" charset="-122"/>
                        </a:rPr>
                        <a:t>颅内肿瘤适应症临床完成；</a:t>
                      </a:r>
                      <a:br>
                        <a:rPr lang="zh-CN" altLang="en-US" sz="1600" u="none" strike="noStrike" dirty="0">
                          <a:effectLst/>
                          <a:latin typeface="仿宋" panose="02010609060101010101" charset="-122"/>
                          <a:ea typeface="仿宋" panose="02010609060101010101" charset="-122"/>
                          <a:cs typeface="仿宋" panose="02010609060101010101" charset="-122"/>
                        </a:rPr>
                      </a:br>
                      <a:r>
                        <a:rPr lang="en-US" altLang="zh-CN" sz="1600" u="none" strike="noStrike" dirty="0">
                          <a:effectLst/>
                          <a:latin typeface="仿宋" panose="02010609060101010101" charset="-122"/>
                          <a:ea typeface="仿宋" panose="02010609060101010101" charset="-122"/>
                          <a:cs typeface="仿宋" panose="02010609060101010101" charset="-122"/>
                        </a:rPr>
                        <a:t>3. </a:t>
                      </a:r>
                      <a:r>
                        <a:rPr lang="zh-CN" altLang="en-US" sz="1600" u="none" strike="noStrike" dirty="0">
                          <a:effectLst/>
                          <a:latin typeface="仿宋" panose="02010609060101010101" charset="-122"/>
                          <a:ea typeface="仿宋" panose="02010609060101010101" charset="-122"/>
                          <a:cs typeface="仿宋" panose="02010609060101010101" charset="-122"/>
                        </a:rPr>
                        <a:t>完成股份制改造，</a:t>
                      </a:r>
                      <a:r>
                        <a:rPr lang="en-US" sz="1600" u="none" strike="noStrike" dirty="0">
                          <a:effectLst/>
                          <a:latin typeface="仿宋" panose="02010609060101010101" charset="-122"/>
                          <a:ea typeface="仿宋" panose="02010609060101010101" charset="-122"/>
                          <a:cs typeface="仿宋" panose="02010609060101010101" charset="-122"/>
                        </a:rPr>
                        <a:t>6</a:t>
                      </a:r>
                      <a:r>
                        <a:rPr lang="zh-CN" altLang="en-US" sz="1600" u="none" strike="noStrike" dirty="0">
                          <a:effectLst/>
                          <a:latin typeface="仿宋" panose="02010609060101010101" charset="-122"/>
                          <a:ea typeface="仿宋" panose="02010609060101010101" charset="-122"/>
                          <a:cs typeface="仿宋" panose="02010609060101010101" charset="-122"/>
                        </a:rPr>
                        <a:t>月中旬港股</a:t>
                      </a:r>
                      <a:r>
                        <a:rPr lang="en-US" altLang="zh-CN" sz="1600" u="none" strike="noStrike" dirty="0">
                          <a:effectLst/>
                          <a:latin typeface="仿宋" panose="02010609060101010101" charset="-122"/>
                          <a:ea typeface="仿宋" panose="02010609060101010101" charset="-122"/>
                          <a:cs typeface="仿宋" panose="02010609060101010101" charset="-122"/>
                        </a:rPr>
                        <a:t>A1</a:t>
                      </a:r>
                      <a:r>
                        <a:rPr lang="zh-CN" altLang="en-US" sz="1600" u="none" strike="noStrike" dirty="0">
                          <a:effectLst/>
                          <a:latin typeface="仿宋" panose="02010609060101010101" charset="-122"/>
                          <a:ea typeface="仿宋" panose="02010609060101010101" charset="-122"/>
                          <a:cs typeface="仿宋" panose="02010609060101010101" charset="-122"/>
                        </a:rPr>
                        <a:t>密交；</a:t>
                      </a:r>
                      <a:br>
                        <a:rPr lang="zh-CN" altLang="en-US" sz="1600" u="none" strike="noStrike" dirty="0">
                          <a:effectLst/>
                          <a:latin typeface="仿宋" panose="02010609060101010101" charset="-122"/>
                          <a:ea typeface="仿宋" panose="02010609060101010101" charset="-122"/>
                          <a:cs typeface="仿宋" panose="02010609060101010101" charset="-122"/>
                        </a:rPr>
                      </a:br>
                      <a:r>
                        <a:rPr lang="en-US" altLang="zh-CN" sz="1600" u="none" strike="noStrike" dirty="0">
                          <a:effectLst/>
                          <a:latin typeface="仿宋" panose="02010609060101010101" charset="-122"/>
                          <a:ea typeface="仿宋" panose="02010609060101010101" charset="-122"/>
                          <a:cs typeface="仿宋" panose="02010609060101010101" charset="-122"/>
                        </a:rPr>
                        <a:t>4. D</a:t>
                      </a:r>
                      <a:r>
                        <a:rPr lang="zh-CN" altLang="en-US" sz="1600" u="none" strike="noStrike" dirty="0">
                          <a:effectLst/>
                          <a:latin typeface="仿宋" panose="02010609060101010101" charset="-122"/>
                          <a:ea typeface="仿宋" panose="02010609060101010101" charset="-122"/>
                          <a:cs typeface="仿宋" panose="02010609060101010101" charset="-122"/>
                        </a:rPr>
                        <a:t>轮融资交割，机构阵容敲定；</a:t>
                      </a:r>
                      <a:endParaRPr lang="en-US" altLang="zh-CN" sz="1600" b="0" i="0" u="none" strike="noStrike" dirty="0">
                        <a:solidFill>
                          <a:srgbClr val="333333"/>
                        </a:solidFill>
                        <a:effectLst/>
                        <a:latin typeface="仿宋" panose="02010609060101010101" charset="-122"/>
                        <a:ea typeface="仿宋" panose="02010609060101010101" charset="-122"/>
                        <a:cs typeface="仿宋" panose="02010609060101010101" charset="-122"/>
                      </a:endParaRPr>
                    </a:p>
                  </a:txBody>
                  <a:tcPr marL="6484" marR="6484" marT="6484" marB="0" anchor="ctr"/>
                </a:tc>
                <a:tc>
                  <a:txBody>
                    <a:bodyPr/>
                    <a:lstStyle/>
                    <a:p>
                      <a:pPr algn="l" fontAlgn="ctr">
                        <a:lnSpc>
                          <a:spcPct val="150000"/>
                        </a:lnSpc>
                        <a:buNone/>
                      </a:pPr>
                      <a:r>
                        <a:rPr lang="en-US" sz="1600" u="none" strike="noStrike">
                          <a:effectLst/>
                          <a:latin typeface="仿宋" panose="02010609060101010101" charset="-122"/>
                          <a:ea typeface="仿宋" panose="02010609060101010101" charset="-122"/>
                          <a:cs typeface="仿宋" panose="02010609060101010101" charset="-122"/>
                        </a:rPr>
                        <a:t>1. Epilcure（RNS）</a:t>
                      </a:r>
                      <a:r>
                        <a:rPr lang="zh-CN" altLang="en-US" sz="1600" u="none" strike="noStrike">
                          <a:effectLst/>
                          <a:latin typeface="仿宋" panose="02010609060101010101" charset="-122"/>
                          <a:ea typeface="仿宋" panose="02010609060101010101" charset="-122"/>
                          <a:cs typeface="仿宋" panose="02010609060101010101" charset="-122"/>
                        </a:rPr>
                        <a:t>获</a:t>
                      </a:r>
                      <a:r>
                        <a:rPr lang="en-US" sz="1600" u="none" strike="noStrike">
                          <a:effectLst/>
                          <a:latin typeface="仿宋" panose="02010609060101010101" charset="-122"/>
                          <a:ea typeface="仿宋" panose="02010609060101010101" charset="-122"/>
                          <a:cs typeface="仿宋" panose="02010609060101010101" charset="-122"/>
                        </a:rPr>
                        <a:t>NMPA</a:t>
                      </a:r>
                      <a:r>
                        <a:rPr lang="zh-CN" altLang="en-US" sz="1600" u="none" strike="noStrike">
                          <a:effectLst/>
                          <a:latin typeface="仿宋" panose="02010609060101010101" charset="-122"/>
                          <a:ea typeface="仿宋" panose="02010609060101010101" charset="-122"/>
                          <a:cs typeface="仿宋" panose="02010609060101010101" charset="-122"/>
                        </a:rPr>
                        <a:t>注册证（国内首批脑机接口医疗级产品）；</a:t>
                      </a:r>
                      <a:br>
                        <a:rPr lang="zh-CN" altLang="en-US" sz="1600" u="none" strike="noStrike">
                          <a:effectLst/>
                          <a:latin typeface="仿宋" panose="02010609060101010101" charset="-122"/>
                          <a:ea typeface="仿宋" panose="02010609060101010101" charset="-122"/>
                          <a:cs typeface="仿宋" panose="02010609060101010101" charset="-122"/>
                        </a:rPr>
                      </a:br>
                      <a:r>
                        <a:rPr lang="en-US" altLang="zh-CN" sz="1600" u="none" strike="noStrike">
                          <a:effectLst/>
                          <a:latin typeface="仿宋" panose="02010609060101010101" charset="-122"/>
                          <a:ea typeface="仿宋" panose="02010609060101010101" charset="-122"/>
                          <a:cs typeface="仿宋" panose="02010609060101010101" charset="-122"/>
                        </a:rPr>
                        <a:t>2.</a:t>
                      </a:r>
                      <a:r>
                        <a:rPr lang="zh-CN" altLang="en-US" sz="1600" u="none" strike="noStrike">
                          <a:effectLst/>
                          <a:latin typeface="仿宋" panose="02010609060101010101" charset="-122"/>
                          <a:ea typeface="仿宋" panose="02010609060101010101" charset="-122"/>
                          <a:cs typeface="仿宋" panose="02010609060101010101" charset="-122"/>
                        </a:rPr>
                        <a:t>帕金森病（</a:t>
                      </a:r>
                      <a:r>
                        <a:rPr lang="en-US" sz="1600" u="none" strike="noStrike">
                          <a:effectLst/>
                          <a:latin typeface="仿宋" panose="02010609060101010101" charset="-122"/>
                          <a:ea typeface="仿宋" panose="02010609060101010101" charset="-122"/>
                          <a:cs typeface="仿宋" panose="02010609060101010101" charset="-122"/>
                        </a:rPr>
                        <a:t>iSBS）</a:t>
                      </a:r>
                      <a:r>
                        <a:rPr lang="zh-CN" altLang="en-US" sz="1600" u="none" strike="noStrike">
                          <a:effectLst/>
                          <a:latin typeface="仿宋" panose="02010609060101010101" charset="-122"/>
                          <a:ea typeface="仿宋" panose="02010609060101010101" charset="-122"/>
                          <a:cs typeface="仿宋" panose="02010609060101010101" charset="-122"/>
                        </a:rPr>
                        <a:t>确证性临床推进；</a:t>
                      </a:r>
                      <a:endParaRPr lang="zh-CN" altLang="en-US" sz="1600" b="0" i="0" u="none" strike="noStrike">
                        <a:solidFill>
                          <a:srgbClr val="333333"/>
                        </a:solidFill>
                        <a:effectLst/>
                        <a:latin typeface="仿宋" panose="02010609060101010101" charset="-122"/>
                        <a:ea typeface="仿宋" panose="02010609060101010101" charset="-122"/>
                        <a:cs typeface="仿宋" panose="02010609060101010101" charset="-122"/>
                      </a:endParaRPr>
                    </a:p>
                  </a:txBody>
                  <a:tcPr marL="6484" marR="6484" marT="6484" marB="0" anchor="ctr"/>
                </a:tc>
                <a:tc>
                  <a:txBody>
                    <a:bodyPr/>
                    <a:lstStyle/>
                    <a:p>
                      <a:pPr algn="l" fontAlgn="ctr">
                        <a:lnSpc>
                          <a:spcPct val="150000"/>
                        </a:lnSpc>
                        <a:buNone/>
                      </a:pPr>
                      <a:r>
                        <a:rPr lang="en-US" altLang="zh-CN" sz="1600" u="none" strike="noStrike">
                          <a:effectLst/>
                          <a:latin typeface="仿宋" panose="02010609060101010101" charset="-122"/>
                          <a:ea typeface="仿宋" panose="02010609060101010101" charset="-122"/>
                          <a:cs typeface="仿宋" panose="02010609060101010101" charset="-122"/>
                        </a:rPr>
                        <a:t>1. </a:t>
                      </a:r>
                      <a:r>
                        <a:rPr lang="zh-CN" altLang="en-US" sz="1600" u="none" strike="noStrike">
                          <a:effectLst/>
                          <a:latin typeface="仿宋" panose="02010609060101010101" charset="-122"/>
                          <a:ea typeface="仿宋" panose="02010609060101010101" charset="-122"/>
                          <a:cs typeface="仿宋" panose="02010609060101010101" charset="-122"/>
                        </a:rPr>
                        <a:t>帕金森病（</a:t>
                      </a:r>
                      <a:r>
                        <a:rPr lang="en-US" sz="1600" u="none" strike="noStrike">
                          <a:effectLst/>
                          <a:latin typeface="仿宋" panose="02010609060101010101" charset="-122"/>
                          <a:ea typeface="仿宋" panose="02010609060101010101" charset="-122"/>
                          <a:cs typeface="仿宋" panose="02010609060101010101" charset="-122"/>
                        </a:rPr>
                        <a:t>iSBS）</a:t>
                      </a:r>
                      <a:r>
                        <a:rPr lang="zh-CN" altLang="en-US" sz="1600" u="none" strike="noStrike">
                          <a:effectLst/>
                          <a:latin typeface="仿宋" panose="02010609060101010101" charset="-122"/>
                          <a:ea typeface="仿宋" panose="02010609060101010101" charset="-122"/>
                          <a:cs typeface="仿宋" panose="02010609060101010101" charset="-122"/>
                        </a:rPr>
                        <a:t>提交</a:t>
                      </a:r>
                      <a:r>
                        <a:rPr lang="en-US" sz="1600" u="none" strike="noStrike">
                          <a:effectLst/>
                          <a:latin typeface="仿宋" panose="02010609060101010101" charset="-122"/>
                          <a:ea typeface="仿宋" panose="02010609060101010101" charset="-122"/>
                          <a:cs typeface="仿宋" panose="02010609060101010101" charset="-122"/>
                        </a:rPr>
                        <a:t>NDA</a:t>
                      </a:r>
                      <a:r>
                        <a:rPr lang="zh-CN" altLang="en-US" sz="1600" u="none" strike="noStrike">
                          <a:effectLst/>
                          <a:latin typeface="仿宋" panose="02010609060101010101" charset="-122"/>
                          <a:ea typeface="仿宋" panose="02010609060101010101" charset="-122"/>
                          <a:cs typeface="仿宋" panose="02010609060101010101" charset="-122"/>
                        </a:rPr>
                        <a:t>申请；</a:t>
                      </a:r>
                      <a:br>
                        <a:rPr lang="zh-CN" altLang="en-US" sz="1600" u="none" strike="noStrike">
                          <a:effectLst/>
                          <a:latin typeface="仿宋" panose="02010609060101010101" charset="-122"/>
                          <a:ea typeface="仿宋" panose="02010609060101010101" charset="-122"/>
                          <a:cs typeface="仿宋" panose="02010609060101010101" charset="-122"/>
                        </a:rPr>
                      </a:br>
                      <a:r>
                        <a:rPr lang="en-US" altLang="zh-CN" sz="1600" u="none" strike="noStrike">
                          <a:effectLst/>
                          <a:latin typeface="仿宋" panose="02010609060101010101" charset="-122"/>
                          <a:ea typeface="仿宋" panose="02010609060101010101" charset="-122"/>
                          <a:cs typeface="仿宋" panose="02010609060101010101" charset="-122"/>
                        </a:rPr>
                        <a:t>2. </a:t>
                      </a:r>
                      <a:r>
                        <a:rPr lang="zh-CN" altLang="en-US" sz="1600" u="none" strike="noStrike">
                          <a:effectLst/>
                          <a:latin typeface="仿宋" panose="02010609060101010101" charset="-122"/>
                          <a:ea typeface="仿宋" panose="02010609060101010101" charset="-122"/>
                          <a:cs typeface="仿宋" panose="02010609060101010101" charset="-122"/>
                        </a:rPr>
                        <a:t>脊髓损伤（</a:t>
                      </a:r>
                      <a:r>
                        <a:rPr lang="en-US" sz="1600" u="none" strike="noStrike">
                          <a:effectLst/>
                          <a:latin typeface="仿宋" panose="02010609060101010101" charset="-122"/>
                          <a:ea typeface="仿宋" panose="02010609060101010101" charset="-122"/>
                          <a:cs typeface="仿宋" panose="02010609060101010101" charset="-122"/>
                        </a:rPr>
                        <a:t>EES）</a:t>
                      </a:r>
                      <a:r>
                        <a:rPr lang="zh-CN" altLang="en-US" sz="1600" u="none" strike="noStrike">
                          <a:effectLst/>
                          <a:latin typeface="仿宋" panose="02010609060101010101" charset="-122"/>
                          <a:ea typeface="仿宋" panose="02010609060101010101" charset="-122"/>
                          <a:cs typeface="仿宋" panose="02010609060101010101" charset="-122"/>
                        </a:rPr>
                        <a:t>关键临床数据读出；</a:t>
                      </a:r>
                      <a:br>
                        <a:rPr lang="zh-CN" altLang="en-US" sz="1600" u="none" strike="noStrike">
                          <a:effectLst/>
                          <a:latin typeface="仿宋" panose="02010609060101010101" charset="-122"/>
                          <a:ea typeface="仿宋" panose="02010609060101010101" charset="-122"/>
                          <a:cs typeface="仿宋" panose="02010609060101010101" charset="-122"/>
                        </a:rPr>
                      </a:br>
                      <a:r>
                        <a:rPr lang="en-US" altLang="zh-CN" sz="1600" u="none" strike="noStrike">
                          <a:effectLst/>
                          <a:latin typeface="仿宋" panose="02010609060101010101" charset="-122"/>
                          <a:ea typeface="仿宋" panose="02010609060101010101" charset="-122"/>
                          <a:cs typeface="仿宋" panose="02010609060101010101" charset="-122"/>
                        </a:rPr>
                        <a:t>3. </a:t>
                      </a:r>
                      <a:r>
                        <a:rPr lang="en-US" sz="1600" u="none" strike="noStrike">
                          <a:effectLst/>
                          <a:latin typeface="仿宋" panose="02010609060101010101" charset="-122"/>
                          <a:ea typeface="仿宋" panose="02010609060101010101" charset="-122"/>
                          <a:cs typeface="仿宋" panose="02010609060101010101" charset="-122"/>
                        </a:rPr>
                        <a:t>LITT</a:t>
                      </a:r>
                      <a:r>
                        <a:rPr lang="zh-CN" altLang="en-US" sz="1600" u="none" strike="noStrike">
                          <a:effectLst/>
                          <a:latin typeface="仿宋" panose="02010609060101010101" charset="-122"/>
                          <a:ea typeface="仿宋" panose="02010609060101010101" charset="-122"/>
                          <a:cs typeface="仿宋" panose="02010609060101010101" charset="-122"/>
                        </a:rPr>
                        <a:t>颅内肿瘤适应症获</a:t>
                      </a:r>
                      <a:r>
                        <a:rPr lang="en-US" sz="1600" u="none" strike="noStrike">
                          <a:effectLst/>
                          <a:latin typeface="仿宋" panose="02010609060101010101" charset="-122"/>
                          <a:ea typeface="仿宋" panose="02010609060101010101" charset="-122"/>
                          <a:cs typeface="仿宋" panose="02010609060101010101" charset="-122"/>
                        </a:rPr>
                        <a:t>NMPA</a:t>
                      </a:r>
                      <a:r>
                        <a:rPr lang="zh-CN" altLang="en-US" sz="1600" u="none" strike="noStrike">
                          <a:effectLst/>
                          <a:latin typeface="仿宋" panose="02010609060101010101" charset="-122"/>
                          <a:ea typeface="仿宋" panose="02010609060101010101" charset="-122"/>
                          <a:cs typeface="仿宋" panose="02010609060101010101" charset="-122"/>
                        </a:rPr>
                        <a:t>注册证；</a:t>
                      </a:r>
                      <a:br>
                        <a:rPr lang="zh-CN" altLang="en-US" sz="1600" u="none" strike="noStrike">
                          <a:effectLst/>
                          <a:latin typeface="仿宋" panose="02010609060101010101" charset="-122"/>
                          <a:ea typeface="仿宋" panose="02010609060101010101" charset="-122"/>
                          <a:cs typeface="仿宋" panose="02010609060101010101" charset="-122"/>
                        </a:rPr>
                      </a:br>
                      <a:r>
                        <a:rPr lang="en-US" altLang="zh-CN" sz="1600" u="none" strike="noStrike">
                          <a:effectLst/>
                          <a:latin typeface="仿宋" panose="02010609060101010101" charset="-122"/>
                          <a:ea typeface="仿宋" panose="02010609060101010101" charset="-122"/>
                          <a:cs typeface="仿宋" panose="02010609060101010101" charset="-122"/>
                        </a:rPr>
                        <a:t>4. </a:t>
                      </a:r>
                      <a:r>
                        <a:rPr lang="zh-CN" altLang="en-US" sz="1600" u="none" strike="noStrike">
                          <a:effectLst/>
                          <a:latin typeface="仿宋" panose="02010609060101010101" charset="-122"/>
                          <a:ea typeface="仿宋" panose="02010609060101010101" charset="-122"/>
                          <a:cs typeface="仿宋" panose="02010609060101010101" charset="-122"/>
                        </a:rPr>
                        <a:t>平台</a:t>
                      </a:r>
                      <a:r>
                        <a:rPr lang="en-US" sz="1600" u="none" strike="noStrike">
                          <a:effectLst/>
                          <a:latin typeface="仿宋" panose="02010609060101010101" charset="-122"/>
                          <a:ea typeface="仿宋" panose="02010609060101010101" charset="-122"/>
                          <a:cs typeface="仿宋" panose="02010609060101010101" charset="-122"/>
                        </a:rPr>
                        <a:t>BD</a:t>
                      </a:r>
                      <a:r>
                        <a:rPr lang="zh-CN" altLang="en-US" sz="1600" u="none" strike="noStrike">
                          <a:effectLst/>
                          <a:latin typeface="仿宋" panose="02010609060101010101" charset="-122"/>
                          <a:ea typeface="仿宋" panose="02010609060101010101" charset="-122"/>
                          <a:cs typeface="仿宋" panose="02010609060101010101" charset="-122"/>
                        </a:rPr>
                        <a:t>授权签约落地；</a:t>
                      </a:r>
                      <a:endParaRPr lang="zh-CN" altLang="en-US" sz="1600" u="none" strike="noStrike">
                        <a:effectLst/>
                        <a:latin typeface="仿宋" panose="02010609060101010101" charset="-122"/>
                        <a:ea typeface="仿宋" panose="02010609060101010101" charset="-122"/>
                        <a:cs typeface="仿宋" panose="02010609060101010101" charset="-122"/>
                      </a:endParaRPr>
                    </a:p>
                    <a:p>
                      <a:pPr algn="l" fontAlgn="ctr">
                        <a:lnSpc>
                          <a:spcPct val="150000"/>
                        </a:lnSpc>
                        <a:buNone/>
                      </a:pPr>
                      <a:r>
                        <a:rPr lang="en-US" altLang="zh-CN" sz="1600" u="none" strike="noStrike">
                          <a:effectLst/>
                          <a:latin typeface="仿宋" panose="02010609060101010101" charset="-122"/>
                          <a:ea typeface="仿宋" panose="02010609060101010101" charset="-122"/>
                          <a:cs typeface="仿宋" panose="02010609060101010101" charset="-122"/>
                        </a:rPr>
                        <a:t>5</a:t>
                      </a:r>
                      <a:r>
                        <a:rPr lang="zh-CN" altLang="en-US" sz="1600" u="none" strike="noStrike">
                          <a:effectLst/>
                          <a:latin typeface="仿宋" panose="02010609060101010101" charset="-122"/>
                          <a:ea typeface="仿宋" panose="02010609060101010101" charset="-122"/>
                          <a:cs typeface="仿宋" panose="02010609060101010101" charset="-122"/>
                        </a:rPr>
                        <a:t>、港股上市</a:t>
                      </a:r>
                      <a:endParaRPr lang="zh-CN" altLang="en-US" sz="1600" u="none" strike="noStrike">
                        <a:effectLst/>
                        <a:latin typeface="仿宋" panose="02010609060101010101" charset="-122"/>
                        <a:ea typeface="仿宋" panose="02010609060101010101" charset="-122"/>
                        <a:cs typeface="仿宋" panose="02010609060101010101" charset="-122"/>
                      </a:endParaRPr>
                    </a:p>
                    <a:p>
                      <a:pPr algn="l" fontAlgn="ctr">
                        <a:lnSpc>
                          <a:spcPct val="150000"/>
                        </a:lnSpc>
                        <a:buNone/>
                      </a:pPr>
                      <a:endParaRPr lang="zh-CN" altLang="en-US" sz="1600" b="0" i="0" u="none" strike="noStrike">
                        <a:solidFill>
                          <a:srgbClr val="333333"/>
                        </a:solidFill>
                        <a:effectLst/>
                        <a:latin typeface="仿宋" panose="02010609060101010101" charset="-122"/>
                        <a:ea typeface="仿宋" panose="02010609060101010101" charset="-122"/>
                        <a:cs typeface="仿宋" panose="02010609060101010101" charset="-122"/>
                      </a:endParaRPr>
                    </a:p>
                  </a:txBody>
                  <a:tcPr marL="6484" marR="6484" marT="6484" marB="0" anchor="ctr"/>
                </a:tc>
                <a:tc>
                  <a:txBody>
                    <a:bodyPr/>
                    <a:lstStyle/>
                    <a:p>
                      <a:pPr algn="l" fontAlgn="ctr">
                        <a:lnSpc>
                          <a:spcPct val="150000"/>
                        </a:lnSpc>
                        <a:buNone/>
                      </a:pPr>
                      <a:r>
                        <a:rPr lang="en-US" altLang="zh-CN" sz="1600" u="none" strike="noStrike">
                          <a:effectLst/>
                          <a:latin typeface="仿宋" panose="02010609060101010101" charset="-122"/>
                          <a:ea typeface="仿宋" panose="02010609060101010101" charset="-122"/>
                          <a:cs typeface="仿宋" panose="02010609060101010101" charset="-122"/>
                        </a:rPr>
                        <a:t>1. </a:t>
                      </a:r>
                      <a:r>
                        <a:rPr lang="zh-CN" altLang="en-US" sz="1600" u="none" strike="noStrike">
                          <a:effectLst/>
                          <a:latin typeface="仿宋" panose="02010609060101010101" charset="-122"/>
                          <a:ea typeface="仿宋" panose="02010609060101010101" charset="-122"/>
                          <a:cs typeface="仿宋" panose="02010609060101010101" charset="-122"/>
                        </a:rPr>
                        <a:t>帕金森病（</a:t>
                      </a:r>
                      <a:r>
                        <a:rPr lang="en-US" sz="1600" u="none" strike="noStrike">
                          <a:effectLst/>
                          <a:latin typeface="仿宋" panose="02010609060101010101" charset="-122"/>
                          <a:ea typeface="仿宋" panose="02010609060101010101" charset="-122"/>
                          <a:cs typeface="仿宋" panose="02010609060101010101" charset="-122"/>
                        </a:rPr>
                        <a:t>iSBS）</a:t>
                      </a:r>
                      <a:r>
                        <a:rPr lang="zh-CN" altLang="en-US" sz="1600" u="none" strike="noStrike">
                          <a:effectLst/>
                          <a:latin typeface="仿宋" panose="02010609060101010101" charset="-122"/>
                          <a:ea typeface="仿宋" panose="02010609060101010101" charset="-122"/>
                          <a:cs typeface="仿宋" panose="02010609060101010101" charset="-122"/>
                        </a:rPr>
                        <a:t>获</a:t>
                      </a:r>
                      <a:r>
                        <a:rPr lang="en-US" sz="1600" u="none" strike="noStrike">
                          <a:effectLst/>
                          <a:latin typeface="仿宋" panose="02010609060101010101" charset="-122"/>
                          <a:ea typeface="仿宋" panose="02010609060101010101" charset="-122"/>
                          <a:cs typeface="仿宋" panose="02010609060101010101" charset="-122"/>
                        </a:rPr>
                        <a:t>NMPA</a:t>
                      </a:r>
                      <a:r>
                        <a:rPr lang="zh-CN" altLang="en-US" sz="1600" u="none" strike="noStrike">
                          <a:effectLst/>
                          <a:latin typeface="仿宋" panose="02010609060101010101" charset="-122"/>
                          <a:ea typeface="仿宋" panose="02010609060101010101" charset="-122"/>
                          <a:cs typeface="仿宋" panose="02010609060101010101" charset="-122"/>
                        </a:rPr>
                        <a:t>注册证；</a:t>
                      </a:r>
                      <a:br>
                        <a:rPr lang="zh-CN" altLang="en-US" sz="1600" u="none" strike="noStrike">
                          <a:effectLst/>
                          <a:latin typeface="仿宋" panose="02010609060101010101" charset="-122"/>
                          <a:ea typeface="仿宋" panose="02010609060101010101" charset="-122"/>
                          <a:cs typeface="仿宋" panose="02010609060101010101" charset="-122"/>
                        </a:rPr>
                      </a:br>
                      <a:r>
                        <a:rPr lang="en-US" altLang="zh-CN" sz="1600" u="none" strike="noStrike">
                          <a:effectLst/>
                          <a:latin typeface="仿宋" panose="02010609060101010101" charset="-122"/>
                          <a:ea typeface="仿宋" panose="02010609060101010101" charset="-122"/>
                          <a:cs typeface="仿宋" panose="02010609060101010101" charset="-122"/>
                        </a:rPr>
                        <a:t>2. </a:t>
                      </a:r>
                      <a:r>
                        <a:rPr lang="zh-CN" altLang="en-US" sz="1600" u="none" strike="noStrike">
                          <a:effectLst/>
                          <a:latin typeface="仿宋" panose="02010609060101010101" charset="-122"/>
                          <a:ea typeface="仿宋" panose="02010609060101010101" charset="-122"/>
                          <a:cs typeface="仿宋" panose="02010609060101010101" charset="-122"/>
                        </a:rPr>
                        <a:t>脊髓损伤（</a:t>
                      </a:r>
                      <a:r>
                        <a:rPr lang="en-US" sz="1600" u="none" strike="noStrike">
                          <a:effectLst/>
                          <a:latin typeface="仿宋" panose="02010609060101010101" charset="-122"/>
                          <a:ea typeface="仿宋" panose="02010609060101010101" charset="-122"/>
                          <a:cs typeface="仿宋" panose="02010609060101010101" charset="-122"/>
                        </a:rPr>
                        <a:t>EES）</a:t>
                      </a:r>
                      <a:r>
                        <a:rPr lang="zh-CN" altLang="en-US" sz="1600" u="none" strike="noStrike">
                          <a:effectLst/>
                          <a:latin typeface="仿宋" panose="02010609060101010101" charset="-122"/>
                          <a:ea typeface="仿宋" panose="02010609060101010101" charset="-122"/>
                          <a:cs typeface="仿宋" panose="02010609060101010101" charset="-122"/>
                        </a:rPr>
                        <a:t>提交</a:t>
                      </a:r>
                      <a:r>
                        <a:rPr lang="en-US" sz="1600" u="none" strike="noStrike">
                          <a:effectLst/>
                          <a:latin typeface="仿宋" panose="02010609060101010101" charset="-122"/>
                          <a:ea typeface="仿宋" panose="02010609060101010101" charset="-122"/>
                          <a:cs typeface="仿宋" panose="02010609060101010101" charset="-122"/>
                        </a:rPr>
                        <a:t>NDA</a:t>
                      </a:r>
                      <a:r>
                        <a:rPr lang="zh-CN" altLang="en-US" sz="1600" u="none" strike="noStrike">
                          <a:effectLst/>
                          <a:latin typeface="仿宋" panose="02010609060101010101" charset="-122"/>
                          <a:ea typeface="仿宋" panose="02010609060101010101" charset="-122"/>
                          <a:cs typeface="仿宋" panose="02010609060101010101" charset="-122"/>
                        </a:rPr>
                        <a:t>申请；</a:t>
                      </a:r>
                      <a:br>
                        <a:rPr lang="zh-CN" altLang="en-US" sz="1600" u="none" strike="noStrike">
                          <a:effectLst/>
                          <a:latin typeface="仿宋" panose="02010609060101010101" charset="-122"/>
                          <a:ea typeface="仿宋" panose="02010609060101010101" charset="-122"/>
                          <a:cs typeface="仿宋" panose="02010609060101010101" charset="-122"/>
                        </a:rPr>
                      </a:br>
                      <a:r>
                        <a:rPr lang="en-US" altLang="zh-CN" sz="1600" u="none" strike="noStrike">
                          <a:effectLst/>
                          <a:latin typeface="仿宋" panose="02010609060101010101" charset="-122"/>
                          <a:ea typeface="仿宋" panose="02010609060101010101" charset="-122"/>
                          <a:cs typeface="仿宋" panose="02010609060101010101" charset="-122"/>
                        </a:rPr>
                        <a:t>3. </a:t>
                      </a:r>
                      <a:r>
                        <a:rPr lang="zh-CN" altLang="en-US" sz="1600" u="none" strike="noStrike">
                          <a:effectLst/>
                          <a:latin typeface="仿宋" panose="02010609060101010101" charset="-122"/>
                          <a:ea typeface="仿宋" panose="02010609060101010101" charset="-122"/>
                          <a:cs typeface="仿宋" panose="02010609060101010101" charset="-122"/>
                        </a:rPr>
                        <a:t>公司整体实现扭亏为盈；</a:t>
                      </a:r>
                      <a:br>
                        <a:rPr lang="zh-CN" altLang="en-US" sz="1600" u="none" strike="noStrike">
                          <a:effectLst/>
                          <a:latin typeface="仿宋" panose="02010609060101010101" charset="-122"/>
                          <a:ea typeface="仿宋" panose="02010609060101010101" charset="-122"/>
                          <a:cs typeface="仿宋" panose="02010609060101010101" charset="-122"/>
                        </a:rPr>
                      </a:br>
                      <a:r>
                        <a:rPr lang="en-US" altLang="zh-CN" sz="1600" u="none" strike="noStrike">
                          <a:effectLst/>
                          <a:latin typeface="仿宋" panose="02010609060101010101" charset="-122"/>
                          <a:ea typeface="仿宋" panose="02010609060101010101" charset="-122"/>
                          <a:cs typeface="仿宋" panose="02010609060101010101" charset="-122"/>
                        </a:rPr>
                        <a:t>4. </a:t>
                      </a:r>
                      <a:r>
                        <a:rPr lang="zh-CN" altLang="en-US" sz="1600" u="none" strike="noStrike">
                          <a:effectLst/>
                          <a:latin typeface="仿宋" panose="02010609060101010101" charset="-122"/>
                          <a:ea typeface="仿宋" panose="02010609060101010101" charset="-122"/>
                          <a:cs typeface="仿宋" panose="02010609060101010101" charset="-122"/>
                        </a:rPr>
                        <a:t>海外多中心临床启动</a:t>
                      </a:r>
                      <a:endParaRPr lang="zh-CN" altLang="en-US" sz="1600" b="0" i="0" u="none" strike="noStrike">
                        <a:solidFill>
                          <a:srgbClr val="333333"/>
                        </a:solidFill>
                        <a:effectLst/>
                        <a:latin typeface="仿宋" panose="02010609060101010101" charset="-122"/>
                        <a:ea typeface="仿宋" panose="02010609060101010101" charset="-122"/>
                        <a:cs typeface="仿宋" panose="02010609060101010101" charset="-122"/>
                      </a:endParaRPr>
                    </a:p>
                  </a:txBody>
                  <a:tcPr marL="6484" marR="6484" marT="6484" marB="0" anchor="ctr"/>
                </a:tc>
              </a:tr>
              <a:tr h="767929">
                <a:tc>
                  <a:txBody>
                    <a:bodyPr/>
                    <a:lstStyle/>
                    <a:p>
                      <a:pPr algn="ctr" fontAlgn="ctr">
                        <a:lnSpc>
                          <a:spcPct val="150000"/>
                        </a:lnSpc>
                        <a:buNone/>
                      </a:pPr>
                      <a:r>
                        <a:rPr lang="zh-CN" altLang="en-US" sz="1600" u="none" strike="noStrike">
                          <a:effectLst/>
                          <a:latin typeface="仿宋" panose="02010609060101010101" charset="-122"/>
                          <a:ea typeface="仿宋" panose="02010609060101010101" charset="-122"/>
                        </a:rPr>
                        <a:t>估值预期</a:t>
                      </a:r>
                      <a:endParaRPr lang="zh-CN" altLang="en-US" sz="1600" b="1" i="0" u="none" strike="noStrike">
                        <a:solidFill>
                          <a:srgbClr val="333333"/>
                        </a:solidFill>
                        <a:effectLst/>
                        <a:latin typeface="仿宋" panose="02010609060101010101" charset="-122"/>
                        <a:ea typeface="仿宋" panose="02010609060101010101" charset="-122"/>
                      </a:endParaRPr>
                    </a:p>
                  </a:txBody>
                  <a:tcPr marL="6484" marR="6484" marT="6484" marB="0" anchor="ctr"/>
                </a:tc>
                <a:tc>
                  <a:txBody>
                    <a:bodyPr/>
                    <a:lstStyle/>
                    <a:p>
                      <a:pPr algn="ctr" fontAlgn="ctr">
                        <a:lnSpc>
                          <a:spcPct val="150000"/>
                        </a:lnSpc>
                        <a:buNone/>
                      </a:pPr>
                      <a:r>
                        <a:rPr lang="en-US" altLang="zh-CN" sz="1600" u="none" strike="noStrike" dirty="0">
                          <a:effectLst/>
                          <a:latin typeface="仿宋" panose="02010609060101010101" charset="-122"/>
                          <a:ea typeface="仿宋" panose="02010609060101010101" charset="-122"/>
                          <a:cs typeface="仿宋" panose="02010609060101010101" charset="-122"/>
                        </a:rPr>
                        <a:t>40</a:t>
                      </a:r>
                      <a:r>
                        <a:rPr lang="zh-CN" altLang="en-US" sz="1600" u="none" strike="noStrike" dirty="0">
                          <a:effectLst/>
                          <a:latin typeface="仿宋" panose="02010609060101010101" charset="-122"/>
                          <a:ea typeface="仿宋" panose="02010609060101010101" charset="-122"/>
                          <a:cs typeface="仿宋" panose="02010609060101010101" charset="-122"/>
                        </a:rPr>
                        <a:t>亿元人民币</a:t>
                      </a:r>
                      <a:br>
                        <a:rPr lang="zh-CN" altLang="en-US" sz="1600" u="none" strike="noStrike" dirty="0">
                          <a:effectLst/>
                          <a:latin typeface="仿宋" panose="02010609060101010101" charset="-122"/>
                          <a:ea typeface="仿宋" panose="02010609060101010101" charset="-122"/>
                          <a:cs typeface="仿宋" panose="02010609060101010101" charset="-122"/>
                        </a:rPr>
                      </a:br>
                      <a:r>
                        <a:rPr lang="zh-CN" altLang="en-US" sz="1600" u="none" strike="noStrike" dirty="0">
                          <a:effectLst/>
                          <a:latin typeface="仿宋" panose="02010609060101010101" charset="-122"/>
                          <a:ea typeface="仿宋" panose="02010609060101010101" charset="-122"/>
                          <a:cs typeface="仿宋" panose="02010609060101010101" charset="-122"/>
                        </a:rPr>
                        <a:t>（</a:t>
                      </a:r>
                      <a:r>
                        <a:rPr lang="en-US" sz="1600" u="none" strike="noStrike" dirty="0">
                          <a:effectLst/>
                          <a:latin typeface="仿宋" panose="02010609060101010101" charset="-122"/>
                          <a:ea typeface="仿宋" panose="02010609060101010101" charset="-122"/>
                          <a:cs typeface="仿宋" panose="02010609060101010101" charset="-122"/>
                        </a:rPr>
                        <a:t>D</a:t>
                      </a:r>
                      <a:r>
                        <a:rPr lang="zh-CN" altLang="en-US" sz="1600" u="none" strike="noStrike" dirty="0">
                          <a:effectLst/>
                          <a:latin typeface="仿宋" panose="02010609060101010101" charset="-122"/>
                          <a:ea typeface="仿宋" panose="02010609060101010101" charset="-122"/>
                          <a:cs typeface="仿宋" panose="02010609060101010101" charset="-122"/>
                        </a:rPr>
                        <a:t>轮投后）</a:t>
                      </a:r>
                      <a:endParaRPr lang="zh-CN" altLang="en-US" sz="1600" b="0" i="0" u="none" strike="noStrike" dirty="0">
                        <a:solidFill>
                          <a:srgbClr val="333333"/>
                        </a:solidFill>
                        <a:effectLst/>
                        <a:latin typeface="仿宋" panose="02010609060101010101" charset="-122"/>
                        <a:ea typeface="仿宋" panose="02010609060101010101" charset="-122"/>
                        <a:cs typeface="仿宋" panose="02010609060101010101" charset="-122"/>
                      </a:endParaRPr>
                    </a:p>
                  </a:txBody>
                  <a:tcPr marL="6484" marR="6484" marT="6484" marB="0" anchor="ctr"/>
                </a:tc>
                <a:tc>
                  <a:txBody>
                    <a:bodyPr/>
                    <a:lstStyle/>
                    <a:p>
                      <a:pPr algn="ctr" fontAlgn="ctr">
                        <a:lnSpc>
                          <a:spcPct val="150000"/>
                        </a:lnSpc>
                        <a:buNone/>
                      </a:pPr>
                      <a:r>
                        <a:rPr lang="en-US" altLang="zh-CN" sz="1600" u="none" strike="noStrike" dirty="0">
                          <a:effectLst/>
                          <a:latin typeface="仿宋" panose="02010609060101010101" charset="-122"/>
                          <a:ea typeface="仿宋" panose="02010609060101010101" charset="-122"/>
                          <a:cs typeface="仿宋" panose="02010609060101010101" charset="-122"/>
                        </a:rPr>
                        <a:t>70</a:t>
                      </a:r>
                      <a:r>
                        <a:rPr lang="zh-CN" altLang="en-US" sz="1600" u="none" strike="noStrike" dirty="0">
                          <a:effectLst/>
                          <a:latin typeface="仿宋" panose="02010609060101010101" charset="-122"/>
                          <a:ea typeface="仿宋" panose="02010609060101010101" charset="-122"/>
                          <a:cs typeface="仿宋" panose="02010609060101010101" charset="-122"/>
                        </a:rPr>
                        <a:t>亿元人民币</a:t>
                      </a:r>
                      <a:br>
                        <a:rPr lang="zh-CN" altLang="en-US" sz="1600" u="none" strike="noStrike" dirty="0">
                          <a:effectLst/>
                          <a:latin typeface="仿宋" panose="02010609060101010101" charset="-122"/>
                          <a:ea typeface="仿宋" panose="02010609060101010101" charset="-122"/>
                          <a:cs typeface="仿宋" panose="02010609060101010101" charset="-122"/>
                        </a:rPr>
                      </a:br>
                      <a:r>
                        <a:rPr lang="zh-CN" altLang="en-US" sz="1600" u="none" strike="noStrike" dirty="0">
                          <a:effectLst/>
                          <a:latin typeface="仿宋" panose="02010609060101010101" charset="-122"/>
                          <a:ea typeface="仿宋" panose="02010609060101010101" charset="-122"/>
                          <a:cs typeface="仿宋" panose="02010609060101010101" charset="-122"/>
                        </a:rPr>
                        <a:t>（</a:t>
                      </a:r>
                      <a:r>
                        <a:rPr lang="en-US" sz="1600" u="none" strike="noStrike" dirty="0">
                          <a:effectLst/>
                          <a:latin typeface="仿宋" panose="02010609060101010101" charset="-122"/>
                          <a:ea typeface="仿宋" panose="02010609060101010101" charset="-122"/>
                          <a:cs typeface="仿宋" panose="02010609060101010101" charset="-122"/>
                        </a:rPr>
                        <a:t>E</a:t>
                      </a:r>
                      <a:r>
                        <a:rPr lang="zh-CN" altLang="en-US" sz="1600" u="none" strike="noStrike" dirty="0">
                          <a:effectLst/>
                          <a:latin typeface="仿宋" panose="02010609060101010101" charset="-122"/>
                          <a:ea typeface="仿宋" panose="02010609060101010101" charset="-122"/>
                          <a:cs typeface="仿宋" panose="02010609060101010101" charset="-122"/>
                        </a:rPr>
                        <a:t>轮投后）</a:t>
                      </a:r>
                      <a:endParaRPr lang="zh-CN" altLang="en-US" sz="1600" b="0" i="0" u="none" strike="noStrike" dirty="0">
                        <a:solidFill>
                          <a:srgbClr val="333333"/>
                        </a:solidFill>
                        <a:effectLst/>
                        <a:latin typeface="仿宋" panose="02010609060101010101" charset="-122"/>
                        <a:ea typeface="仿宋" panose="02010609060101010101" charset="-122"/>
                        <a:cs typeface="仿宋" panose="02010609060101010101" charset="-122"/>
                      </a:endParaRPr>
                    </a:p>
                  </a:txBody>
                  <a:tcPr marL="6484" marR="6484" marT="6484" marB="0" anchor="ctr"/>
                </a:tc>
                <a:tc>
                  <a:txBody>
                    <a:bodyPr/>
                    <a:lstStyle/>
                    <a:p>
                      <a:pPr algn="ctr" fontAlgn="ctr">
                        <a:lnSpc>
                          <a:spcPct val="150000"/>
                        </a:lnSpc>
                        <a:buNone/>
                      </a:pPr>
                      <a:r>
                        <a:rPr lang="en-US" altLang="zh-CN" sz="1600" u="none" strike="noStrike" dirty="0">
                          <a:effectLst/>
                          <a:latin typeface="仿宋" panose="02010609060101010101" charset="-122"/>
                          <a:ea typeface="仿宋" panose="02010609060101010101" charset="-122"/>
                          <a:cs typeface="仿宋" panose="02010609060101010101" charset="-122"/>
                        </a:rPr>
                        <a:t>100</a:t>
                      </a:r>
                      <a:r>
                        <a:rPr lang="zh-CN" altLang="en-US" sz="1600" u="none" strike="noStrike" dirty="0">
                          <a:effectLst/>
                          <a:latin typeface="仿宋" panose="02010609060101010101" charset="-122"/>
                          <a:ea typeface="仿宋" panose="02010609060101010101" charset="-122"/>
                          <a:cs typeface="仿宋" panose="02010609060101010101" charset="-122"/>
                        </a:rPr>
                        <a:t>亿元人民币</a:t>
                      </a:r>
                      <a:br>
                        <a:rPr lang="zh-CN" altLang="en-US" sz="1600" u="none" strike="noStrike" dirty="0">
                          <a:effectLst/>
                          <a:latin typeface="仿宋" panose="02010609060101010101" charset="-122"/>
                          <a:ea typeface="仿宋" panose="02010609060101010101" charset="-122"/>
                          <a:cs typeface="仿宋" panose="02010609060101010101" charset="-122"/>
                        </a:rPr>
                      </a:br>
                      <a:r>
                        <a:rPr lang="zh-CN" altLang="en-US" sz="1600" u="none" strike="noStrike" dirty="0">
                          <a:effectLst/>
                          <a:latin typeface="仿宋" panose="02010609060101010101" charset="-122"/>
                          <a:ea typeface="仿宋" panose="02010609060101010101" charset="-122"/>
                          <a:cs typeface="仿宋" panose="02010609060101010101" charset="-122"/>
                        </a:rPr>
                        <a:t>（上市阶段）</a:t>
                      </a:r>
                      <a:endParaRPr lang="zh-CN" altLang="en-US" sz="1600" b="0" i="0" u="none" strike="noStrike" dirty="0">
                        <a:solidFill>
                          <a:srgbClr val="333333"/>
                        </a:solidFill>
                        <a:effectLst/>
                        <a:latin typeface="仿宋" panose="02010609060101010101" charset="-122"/>
                        <a:ea typeface="仿宋" panose="02010609060101010101" charset="-122"/>
                        <a:cs typeface="仿宋" panose="02010609060101010101" charset="-122"/>
                      </a:endParaRPr>
                    </a:p>
                  </a:txBody>
                  <a:tcPr marL="6484" marR="6484" marT="6484" marB="0" anchor="ctr"/>
                </a:tc>
                <a:tc>
                  <a:txBody>
                    <a:bodyPr/>
                    <a:lstStyle/>
                    <a:p>
                      <a:pPr algn="ctr" fontAlgn="ctr">
                        <a:lnSpc>
                          <a:spcPct val="150000"/>
                        </a:lnSpc>
                        <a:buNone/>
                      </a:pPr>
                      <a:r>
                        <a:rPr lang="en-US" altLang="zh-CN" sz="1600" u="none" strike="noStrike" dirty="0">
                          <a:effectLst/>
                          <a:latin typeface="仿宋" panose="02010609060101010101" charset="-122"/>
                          <a:ea typeface="仿宋" panose="02010609060101010101" charset="-122"/>
                          <a:cs typeface="仿宋" panose="02010609060101010101" charset="-122"/>
                        </a:rPr>
                        <a:t>150–200</a:t>
                      </a:r>
                      <a:r>
                        <a:rPr lang="zh-CN" altLang="en-US" sz="1600" u="none" strike="noStrike" dirty="0">
                          <a:effectLst/>
                          <a:latin typeface="仿宋" panose="02010609060101010101" charset="-122"/>
                          <a:ea typeface="仿宋" panose="02010609060101010101" charset="-122"/>
                          <a:cs typeface="仿宋" panose="02010609060101010101" charset="-122"/>
                        </a:rPr>
                        <a:t>亿元人民币</a:t>
                      </a:r>
                      <a:br>
                        <a:rPr lang="zh-CN" altLang="en-US" sz="1600" u="none" strike="noStrike" dirty="0">
                          <a:effectLst/>
                          <a:latin typeface="仿宋" panose="02010609060101010101" charset="-122"/>
                          <a:ea typeface="仿宋" panose="02010609060101010101" charset="-122"/>
                          <a:cs typeface="仿宋" panose="02010609060101010101" charset="-122"/>
                        </a:rPr>
                      </a:br>
                      <a:r>
                        <a:rPr lang="zh-CN" altLang="en-US" sz="1600" u="none" strike="noStrike" dirty="0">
                          <a:effectLst/>
                          <a:latin typeface="仿宋" panose="02010609060101010101" charset="-122"/>
                          <a:ea typeface="仿宋" panose="02010609060101010101" charset="-122"/>
                          <a:cs typeface="仿宋" panose="02010609060101010101" charset="-122"/>
                        </a:rPr>
                        <a:t>（上市后阶段）</a:t>
                      </a:r>
                      <a:endParaRPr lang="zh-CN" altLang="en-US" sz="1600" b="0" i="0" u="none" strike="noStrike" dirty="0">
                        <a:solidFill>
                          <a:srgbClr val="333333"/>
                        </a:solidFill>
                        <a:effectLst/>
                        <a:latin typeface="仿宋" panose="02010609060101010101" charset="-122"/>
                        <a:ea typeface="仿宋" panose="02010609060101010101" charset="-122"/>
                        <a:cs typeface="仿宋" panose="02010609060101010101" charset="-122"/>
                      </a:endParaRPr>
                    </a:p>
                  </a:txBody>
                  <a:tcPr marL="6484" marR="6484" marT="6484" marB="0" anchor="ctr"/>
                </a:tc>
              </a:tr>
            </a:tbl>
          </a:graphicData>
        </a:graphic>
      </p:graphicFrame>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a:xfrm>
            <a:off x="8610599" y="6269491"/>
            <a:ext cx="2909888" cy="206381"/>
          </a:xfrm>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dirty="0">
                <a:latin typeface="微软雅黑" panose="020B0503020204020204" charset="-122"/>
                <a:ea typeface="微软雅黑" panose="020B0503020204020204" charset="-122"/>
              </a:rPr>
              <a:t>投资亮点</a:t>
            </a:r>
            <a:endParaRPr lang="zh-CN" altLang="en-US" sz="1600" b="1" dirty="0">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indent="0" algn="l" fontAlgn="auto">
              <a:lnSpc>
                <a:spcPct val="100000"/>
              </a:lnSpc>
            </a:pP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8" name="TextBox 4"/>
          <p:cNvSpPr txBox="1"/>
          <p:nvPr/>
        </p:nvSpPr>
        <p:spPr>
          <a:xfrm>
            <a:off x="246744" y="1156458"/>
            <a:ext cx="3110508" cy="5419281"/>
          </a:xfrm>
          <a:prstGeom prst="rect">
            <a:avLst/>
          </a:prstGeom>
          <a:solidFill>
            <a:schemeClr val="bg2"/>
          </a:solidFill>
        </p:spPr>
        <p:txBody>
          <a:bodyPr wrap="square" lIns="180000" tIns="720000" rIns="180000" bIns="180000" rtlCol="0">
            <a:noAutofit/>
          </a:bodyPr>
          <a:lstStyle/>
          <a:p>
            <a:pPr marL="0" marR="0" lvl="0" indent="0" algn="l" defTabSz="914400" rtl="0" eaLnBrk="1" fontAlgn="auto" latinLnBrk="0" hangingPunct="1">
              <a:lnSpc>
                <a:spcPct val="110000"/>
              </a:lnSpc>
              <a:spcBef>
                <a:spcPts val="0"/>
              </a:spcBef>
              <a:spcAft>
                <a:spcPts val="300"/>
              </a:spcAft>
              <a:buClrTx/>
              <a:buSzTx/>
              <a:buFontTx/>
              <a:buNone/>
              <a:defRPr/>
            </a:pPr>
            <a:r>
              <a:rPr lang="en-GB" sz="1000" dirty="0">
                <a:solidFill>
                  <a:schemeClr val="tx2"/>
                </a:solidFill>
              </a:rPr>
              <a:t>.</a:t>
            </a:r>
            <a:endParaRPr lang="en-GB" sz="1000" dirty="0">
              <a:solidFill>
                <a:schemeClr val="tx2"/>
              </a:solidFill>
            </a:endParaRPr>
          </a:p>
        </p:txBody>
      </p:sp>
      <p:sp>
        <p:nvSpPr>
          <p:cNvPr id="21" name="TextBox 6"/>
          <p:cNvSpPr txBox="1"/>
          <p:nvPr/>
        </p:nvSpPr>
        <p:spPr>
          <a:xfrm>
            <a:off x="3507994" y="1156458"/>
            <a:ext cx="5547814" cy="5419281"/>
          </a:xfrm>
          <a:prstGeom prst="rect">
            <a:avLst/>
          </a:prstGeom>
          <a:solidFill>
            <a:schemeClr val="bg2"/>
          </a:solidFill>
        </p:spPr>
        <p:txBody>
          <a:bodyPr wrap="square" lIns="180000" tIns="720000" rIns="180000" bIns="180000" rtlCol="0">
            <a:noAutofit/>
          </a:bodyPr>
          <a:lstStyle/>
          <a:p>
            <a:pPr marL="0" marR="0" lvl="0" indent="0" algn="l" defTabSz="914400" rtl="0" eaLnBrk="1" fontAlgn="auto" latinLnBrk="0" hangingPunct="1">
              <a:lnSpc>
                <a:spcPct val="110000"/>
              </a:lnSpc>
              <a:spcBef>
                <a:spcPts val="0"/>
              </a:spcBef>
              <a:spcAft>
                <a:spcPts val="300"/>
              </a:spcAft>
              <a:buClrTx/>
              <a:buSzTx/>
              <a:buFontTx/>
              <a:buNone/>
              <a:defRPr/>
            </a:pPr>
            <a:endParaRPr lang="en-GB" sz="1000" dirty="0">
              <a:solidFill>
                <a:schemeClr val="tx2"/>
              </a:solidFill>
            </a:endParaRPr>
          </a:p>
        </p:txBody>
      </p:sp>
      <p:sp>
        <p:nvSpPr>
          <p:cNvPr id="24" name="TextBox 8"/>
          <p:cNvSpPr txBox="1"/>
          <p:nvPr/>
        </p:nvSpPr>
        <p:spPr>
          <a:xfrm>
            <a:off x="9206550" y="1156458"/>
            <a:ext cx="2825792" cy="5419281"/>
          </a:xfrm>
          <a:prstGeom prst="rect">
            <a:avLst/>
          </a:prstGeom>
          <a:solidFill>
            <a:schemeClr val="bg2"/>
          </a:solidFill>
        </p:spPr>
        <p:txBody>
          <a:bodyPr wrap="square" lIns="180000" tIns="720000" rIns="180000" bIns="180000" rtlCol="0">
            <a:noAutofit/>
          </a:bodyPr>
          <a:lstStyle/>
          <a:p>
            <a:pPr marL="0" marR="0" lvl="0" indent="0" algn="l" defTabSz="914400" rtl="0" eaLnBrk="1" fontAlgn="auto" latinLnBrk="0" hangingPunct="1">
              <a:lnSpc>
                <a:spcPct val="110000"/>
              </a:lnSpc>
              <a:spcBef>
                <a:spcPts val="0"/>
              </a:spcBef>
              <a:spcAft>
                <a:spcPts val="300"/>
              </a:spcAft>
              <a:buClrTx/>
              <a:buSzTx/>
              <a:buFontTx/>
              <a:buNone/>
              <a:defRPr/>
            </a:pPr>
            <a:endParaRPr lang="en-GB" sz="1000" dirty="0">
              <a:solidFill>
                <a:schemeClr val="tx2"/>
              </a:solidFill>
            </a:endParaRPr>
          </a:p>
        </p:txBody>
      </p:sp>
      <p:sp>
        <p:nvSpPr>
          <p:cNvPr id="26" name="矩形 25"/>
          <p:cNvSpPr/>
          <p:nvPr/>
        </p:nvSpPr>
        <p:spPr>
          <a:xfrm>
            <a:off x="482513" y="721445"/>
            <a:ext cx="2666602" cy="7164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dirty="0"/>
              <a:t>1</a:t>
            </a:r>
            <a:r>
              <a:rPr kumimoji="1" lang="zh-CN" altLang="en-US" dirty="0"/>
              <a:t>、高景气赛道，政策红利</a:t>
            </a:r>
            <a:r>
              <a:rPr kumimoji="1" lang="en-US" altLang="zh-CN" dirty="0"/>
              <a:t>+</a:t>
            </a:r>
            <a:r>
              <a:rPr kumimoji="1" lang="zh-CN" altLang="en-US" dirty="0"/>
              <a:t>刚需市场双轮驱动</a:t>
            </a:r>
            <a:endParaRPr kumimoji="1" lang="zh-CN" altLang="en-US" dirty="0"/>
          </a:p>
        </p:txBody>
      </p:sp>
      <p:sp>
        <p:nvSpPr>
          <p:cNvPr id="27" name="文本框 26"/>
          <p:cNvSpPr txBox="1"/>
          <p:nvPr/>
        </p:nvSpPr>
        <p:spPr>
          <a:xfrm>
            <a:off x="292530" y="2341722"/>
            <a:ext cx="2856585" cy="2799715"/>
          </a:xfrm>
          <a:prstGeom prst="rect">
            <a:avLst/>
          </a:prstGeom>
          <a:noFill/>
        </p:spPr>
        <p:txBody>
          <a:bodyPr wrap="square" rtlCol="0">
            <a:spAutoFit/>
          </a:bodyPr>
          <a:lstStyle/>
          <a:p>
            <a:pPr marL="342900" indent="-342900">
              <a:buAutoNum type="arabicPeriod"/>
            </a:pPr>
            <a:r>
              <a:rPr lang="zh-CN" altLang="en-US" sz="1600" b="1" dirty="0"/>
              <a:t>高成长赛道</a:t>
            </a:r>
            <a:r>
              <a:rPr lang="zh-CN" altLang="en-US" sz="1600" dirty="0"/>
              <a:t>：脑机接口已成为国家战略级万亿风口，</a:t>
            </a:r>
            <a:r>
              <a:rPr lang="zh-CN" altLang="en-US" sz="1600" b="1" dirty="0">
                <a:solidFill>
                  <a:srgbClr val="C00000"/>
                </a:solidFill>
              </a:rPr>
              <a:t>医疗级侵入式路线</a:t>
            </a:r>
            <a:r>
              <a:rPr lang="zh-CN" altLang="en-US" sz="1600" dirty="0"/>
              <a:t>是具备长期刚性需求和临床治疗价值的硬核主线。</a:t>
            </a:r>
            <a:endParaRPr lang="zh-CN" altLang="en-US" sz="1600" dirty="0"/>
          </a:p>
          <a:p>
            <a:pPr marL="342900" indent="-342900">
              <a:buAutoNum type="arabicPeriod"/>
            </a:pPr>
            <a:endParaRPr lang="zh-CN" altLang="en-US" sz="1600" dirty="0"/>
          </a:p>
          <a:p>
            <a:pPr marL="342900" indent="-342900">
              <a:buAutoNum type="arabicPeriod"/>
            </a:pPr>
            <a:r>
              <a:rPr lang="en-US" altLang="zh-CN" sz="1600" b="1" dirty="0"/>
              <a:t> </a:t>
            </a:r>
            <a:r>
              <a:rPr lang="zh-CN" altLang="en-US" sz="1600" b="1" dirty="0"/>
              <a:t>政策强势赋能</a:t>
            </a:r>
            <a:r>
              <a:rPr lang="zh-CN" altLang="en-US" sz="1600" dirty="0"/>
              <a:t>：脑机接口为国家重点未来产业，多部委专项扶持；公司</a:t>
            </a:r>
            <a:r>
              <a:rPr lang="zh-CN" altLang="en-US" sz="1600" b="1" dirty="0"/>
              <a:t>牵头制定行业标准</a:t>
            </a:r>
            <a:r>
              <a:rPr lang="zh-CN" altLang="en-US" sz="1600" dirty="0"/>
              <a:t>，掌握行业话语权。</a:t>
            </a:r>
            <a:endParaRPr lang="zh-CN" altLang="en-US" sz="1600" dirty="0"/>
          </a:p>
        </p:txBody>
      </p:sp>
      <p:sp>
        <p:nvSpPr>
          <p:cNvPr id="29" name="文本框 28"/>
          <p:cNvSpPr txBox="1"/>
          <p:nvPr/>
        </p:nvSpPr>
        <p:spPr>
          <a:xfrm>
            <a:off x="3507995" y="1549480"/>
            <a:ext cx="5252592" cy="5015865"/>
          </a:xfrm>
          <a:prstGeom prst="rect">
            <a:avLst/>
          </a:prstGeom>
          <a:noFill/>
        </p:spPr>
        <p:txBody>
          <a:bodyPr wrap="square" rtlCol="0">
            <a:spAutoFit/>
          </a:bodyPr>
          <a:lstStyle/>
          <a:p>
            <a:pPr marL="342900" indent="-342900">
              <a:buAutoNum type="arabicPeriod"/>
            </a:pPr>
            <a:r>
              <a:rPr lang="zh-CN" altLang="en-US" sz="1600" b="1" dirty="0"/>
              <a:t>高独家全链条产品布局：</a:t>
            </a:r>
            <a:r>
              <a:rPr lang="zh-CN" altLang="en-US" sz="1600" dirty="0"/>
              <a:t>国内唯一癫痫全节点神外器械布局企业，持有</a:t>
            </a:r>
            <a:r>
              <a:rPr lang="en-US" altLang="zh-CN" sz="1600" dirty="0"/>
              <a:t>SEEG</a:t>
            </a:r>
            <a:r>
              <a:rPr lang="zh-CN" altLang="en-US" sz="1600" dirty="0"/>
              <a:t>、</a:t>
            </a:r>
            <a:r>
              <a:rPr lang="en-US" altLang="zh-CN" sz="1600" dirty="0"/>
              <a:t>LITT</a:t>
            </a:r>
            <a:r>
              <a:rPr lang="zh-CN" altLang="en-US" sz="1600" dirty="0"/>
              <a:t>两类</a:t>
            </a:r>
            <a:r>
              <a:rPr lang="en-US" altLang="zh-CN" sz="1600" dirty="0"/>
              <a:t>Ⅲ</a:t>
            </a:r>
            <a:r>
              <a:rPr lang="zh-CN" altLang="en-US" sz="1600" dirty="0"/>
              <a:t>类注册证；核心</a:t>
            </a:r>
            <a:r>
              <a:rPr lang="en-US" altLang="zh-CN" sz="1600" dirty="0"/>
              <a:t>RNS</a:t>
            </a:r>
            <a:r>
              <a:rPr lang="zh-CN" altLang="en-US" sz="1600" dirty="0"/>
              <a:t>产品入选创新审批通道，有望落地国内首批医疗级脑机产品。</a:t>
            </a:r>
            <a:endParaRPr lang="en-US" altLang="zh-CN" sz="1600" dirty="0"/>
          </a:p>
          <a:p>
            <a:pPr marL="342900" indent="-342900">
              <a:buAutoNum type="arabicPeriod"/>
            </a:pPr>
            <a:r>
              <a:rPr lang="zh-CN" altLang="en-US" sz="1600" b="1" dirty="0"/>
              <a:t>技术对标国际领先：</a:t>
            </a:r>
            <a:r>
              <a:rPr lang="en-US" altLang="zh-CN" sz="1600" dirty="0"/>
              <a:t>LITT</a:t>
            </a:r>
            <a:r>
              <a:rPr lang="zh-CN" altLang="en-US" sz="1600" dirty="0"/>
              <a:t>微创、安全指标优于美敦力等海内外竞品；自研产品</a:t>
            </a:r>
            <a:r>
              <a:rPr lang="en-US" altLang="zh-CN" sz="1600" dirty="0">
                <a:sym typeface="+mn-ea"/>
              </a:rPr>
              <a:t>Epilcure</a:t>
            </a:r>
            <a:r>
              <a:rPr lang="en-US" altLang="en-US" sz="1600" dirty="0">
                <a:sym typeface="+mn-ea"/>
              </a:rPr>
              <a:t>® </a:t>
            </a:r>
            <a:r>
              <a:rPr lang="en-US" altLang="zh-CN" sz="1600" dirty="0"/>
              <a:t>RNS</a:t>
            </a:r>
            <a:r>
              <a:rPr lang="zh-CN" altLang="en-US" sz="1600" dirty="0"/>
              <a:t>（</a:t>
            </a:r>
            <a:r>
              <a:rPr lang="en-US" altLang="zh-CN" sz="1600" dirty="0"/>
              <a:t>Responsive Neurostimulation</a:t>
            </a:r>
            <a:r>
              <a:rPr lang="zh-CN" altLang="en-US" sz="1600" dirty="0"/>
              <a:t>）实现自适应精准刺激，患者发作频率平均下降</a:t>
            </a:r>
            <a:r>
              <a:rPr lang="en-US" altLang="zh-CN" sz="1600" dirty="0"/>
              <a:t>65%</a:t>
            </a:r>
            <a:r>
              <a:rPr lang="zh-CN" altLang="en-US" sz="1600" dirty="0"/>
              <a:t>，</a:t>
            </a:r>
            <a:r>
              <a:rPr lang="en-US" altLang="zh-CN" sz="1600" dirty="0"/>
              <a:t>30%</a:t>
            </a:r>
            <a:r>
              <a:rPr lang="zh-CN" altLang="en-US" sz="1600" dirty="0"/>
              <a:t>患者完全无发作，</a:t>
            </a:r>
            <a:r>
              <a:rPr lang="en-US" altLang="zh-CN" sz="1600" dirty="0"/>
              <a:t>“</a:t>
            </a:r>
            <a:r>
              <a:rPr lang="zh-CN" altLang="en-US" sz="1600" b="1" dirty="0">
                <a:solidFill>
                  <a:srgbClr val="C00000"/>
                </a:solidFill>
              </a:rPr>
              <a:t>可读可写、</a:t>
            </a:r>
            <a:r>
              <a:rPr lang="en-US" altLang="zh-CN" sz="1600" b="1" dirty="0">
                <a:solidFill>
                  <a:srgbClr val="C00000"/>
                </a:solidFill>
              </a:rPr>
              <a:t>24 h</a:t>
            </a:r>
            <a:r>
              <a:rPr lang="zh-CN" altLang="en-US" sz="1600" b="1" dirty="0">
                <a:solidFill>
                  <a:srgbClr val="C00000"/>
                </a:solidFill>
              </a:rPr>
              <a:t>闭环治疗</a:t>
            </a:r>
            <a:r>
              <a:rPr lang="en-US" altLang="zh-CN" sz="1600" dirty="0"/>
              <a:t>”</a:t>
            </a:r>
            <a:r>
              <a:rPr lang="zh-CN" altLang="en-US" sz="1600" dirty="0"/>
              <a:t>，不同于传统药械的“只读不写，诊疗工具”的耗材逻辑，</a:t>
            </a:r>
            <a:r>
              <a:rPr lang="en-US" altLang="zh-CN" sz="1600" dirty="0">
                <a:sym typeface="+mn-ea"/>
              </a:rPr>
              <a:t>Epilcure</a:t>
            </a:r>
            <a:r>
              <a:rPr lang="en-US" altLang="en-US" sz="1600" dirty="0">
                <a:sym typeface="+mn-ea"/>
              </a:rPr>
              <a:t>®</a:t>
            </a:r>
            <a:r>
              <a:rPr lang="zh-CN" altLang="en-US" sz="1600" dirty="0">
                <a:sym typeface="+mn-ea"/>
              </a:rPr>
              <a:t>作为</a:t>
            </a:r>
            <a:r>
              <a:rPr lang="zh-CN" altLang="en-US" sz="1600" dirty="0"/>
              <a:t>高值三类有源设备，是</a:t>
            </a:r>
            <a:r>
              <a:rPr lang="zh-CN" altLang="en-US" sz="1600" b="1" dirty="0">
                <a:solidFill>
                  <a:srgbClr val="C00000"/>
                </a:solidFill>
              </a:rPr>
              <a:t>真正意义上的脑机接口</a:t>
            </a:r>
            <a:r>
              <a:rPr lang="zh-CN" altLang="en-US" sz="1600" dirty="0"/>
              <a:t>。</a:t>
            </a:r>
            <a:endParaRPr lang="zh-CN" altLang="en-US" sz="1600" dirty="0"/>
          </a:p>
          <a:p>
            <a:pPr marL="342900" indent="-342900">
              <a:buAutoNum type="arabicPeriod"/>
            </a:pPr>
            <a:r>
              <a:rPr lang="zh-CN" altLang="en-US" sz="1600" b="1" dirty="0"/>
              <a:t>国内临床数据资源较多：</a:t>
            </a:r>
            <a:r>
              <a:rPr lang="zh-CN" altLang="en-US" sz="1600" dirty="0"/>
              <a:t>累计</a:t>
            </a:r>
            <a:r>
              <a:rPr lang="en-US" altLang="zh-CN" sz="1600" dirty="0"/>
              <a:t>130</a:t>
            </a:r>
            <a:r>
              <a:rPr lang="zh-CN" altLang="en-US" sz="1600" dirty="0"/>
              <a:t>例颅内植入手术，为国内侵入式脑机临床数据规模前列；深度绑定全国顶级神外医院，脑电数据持续迭代。</a:t>
            </a:r>
            <a:endParaRPr lang="zh-CN" altLang="en-US" sz="1600" b="1" dirty="0"/>
          </a:p>
          <a:p>
            <a:pPr marL="342900" indent="-342900">
              <a:buAutoNum type="arabicPeriod"/>
            </a:pPr>
            <a:r>
              <a:rPr lang="zh-CN" altLang="en-US" sz="1600" b="1" dirty="0"/>
              <a:t>多赛道成长管线：</a:t>
            </a:r>
            <a:r>
              <a:rPr lang="zh-CN" altLang="en-US" sz="1600" dirty="0"/>
              <a:t>依托自研技术平台，从癫痫延伸至帕金森、截瘫等千亿级赛道，多款新品进入临床；手握</a:t>
            </a:r>
            <a:r>
              <a:rPr lang="en-US" altLang="zh-CN" sz="1600" dirty="0"/>
              <a:t>200</a:t>
            </a:r>
            <a:r>
              <a:rPr lang="zh-CN" altLang="en-US" sz="1600" dirty="0"/>
              <a:t>余项专利，构筑硬核技术壁垒。</a:t>
            </a:r>
            <a:endParaRPr lang="zh-CN" altLang="en-US" sz="1600" b="1" dirty="0"/>
          </a:p>
          <a:p>
            <a:pPr marL="342900" indent="-342900">
              <a:buAutoNum type="arabicPeriod"/>
            </a:pPr>
            <a:r>
              <a:rPr lang="zh-CN" altLang="en-US" sz="1600" b="1" dirty="0"/>
              <a:t>顶级背书</a:t>
            </a:r>
            <a:r>
              <a:rPr lang="en-US" altLang="zh-CN" sz="1600" b="1" dirty="0"/>
              <a:t>+</a:t>
            </a:r>
            <a:r>
              <a:rPr lang="zh-CN" altLang="en-US" sz="1600" b="1" dirty="0"/>
              <a:t>清晰</a:t>
            </a:r>
            <a:r>
              <a:rPr lang="en-US" altLang="zh-CN" sz="1600" b="1" dirty="0"/>
              <a:t>IPO</a:t>
            </a:r>
            <a:r>
              <a:rPr lang="zh-CN" altLang="en-US" sz="1600" b="1" dirty="0"/>
              <a:t>路径：</a:t>
            </a:r>
            <a:r>
              <a:rPr lang="zh-CN" altLang="en-US" sz="1600" dirty="0"/>
              <a:t>团队产学研医一体化，获中金、启明、元璟等一线资本加持，股权稳定；港股</a:t>
            </a:r>
            <a:r>
              <a:rPr lang="en-US" altLang="zh-CN" sz="1600" dirty="0"/>
              <a:t>18A Pre-IPO</a:t>
            </a:r>
            <a:r>
              <a:rPr lang="zh-CN" altLang="en-US" sz="1600" dirty="0"/>
              <a:t>明确，</a:t>
            </a:r>
            <a:r>
              <a:rPr lang="en-US" altLang="zh-CN" sz="1600" dirty="0"/>
              <a:t>2027-2028</a:t>
            </a:r>
            <a:r>
              <a:rPr lang="zh-CN" altLang="en-US" sz="1600" dirty="0"/>
              <a:t>年启动申报。</a:t>
            </a:r>
            <a:endParaRPr lang="zh-CN" altLang="en-US" sz="1600" dirty="0"/>
          </a:p>
        </p:txBody>
      </p:sp>
      <p:sp>
        <p:nvSpPr>
          <p:cNvPr id="30" name="矩形 29"/>
          <p:cNvSpPr/>
          <p:nvPr/>
        </p:nvSpPr>
        <p:spPr>
          <a:xfrm>
            <a:off x="3707186" y="711164"/>
            <a:ext cx="5125971" cy="7164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dirty="0"/>
              <a:t>2</a:t>
            </a:r>
            <a:r>
              <a:rPr kumimoji="1" lang="zh-CN" altLang="en-US" dirty="0"/>
              <a:t>、竞争壁垒高，全产业链布局，构筑领跑优势</a:t>
            </a:r>
            <a:endParaRPr kumimoji="1" lang="zh-CN" altLang="en-US" dirty="0"/>
          </a:p>
        </p:txBody>
      </p:sp>
      <p:sp>
        <p:nvSpPr>
          <p:cNvPr id="31" name="矩形 30"/>
          <p:cNvSpPr/>
          <p:nvPr/>
        </p:nvSpPr>
        <p:spPr>
          <a:xfrm>
            <a:off x="9347686" y="721445"/>
            <a:ext cx="2524999" cy="7164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dirty="0"/>
              <a:t>3</a:t>
            </a:r>
            <a:r>
              <a:rPr kumimoji="1" lang="zh-CN" altLang="en-US" dirty="0"/>
              <a:t>、下一代脑机接口，估值成长确定性强</a:t>
            </a:r>
            <a:endParaRPr kumimoji="1" lang="zh-CN" altLang="en-US" dirty="0"/>
          </a:p>
        </p:txBody>
      </p:sp>
      <p:sp>
        <p:nvSpPr>
          <p:cNvPr id="32" name="文本框 31"/>
          <p:cNvSpPr txBox="1"/>
          <p:nvPr/>
        </p:nvSpPr>
        <p:spPr>
          <a:xfrm>
            <a:off x="9303657" y="2780587"/>
            <a:ext cx="2641599" cy="2553335"/>
          </a:xfrm>
          <a:prstGeom prst="rect">
            <a:avLst/>
          </a:prstGeom>
          <a:noFill/>
        </p:spPr>
        <p:txBody>
          <a:bodyPr wrap="square" rtlCol="0">
            <a:spAutoFit/>
          </a:bodyPr>
          <a:lstStyle/>
          <a:p>
            <a:r>
              <a:rPr lang="zh-CN" altLang="en-US" sz="1600" dirty="0"/>
              <a:t>公司为脑机接口</a:t>
            </a:r>
            <a:r>
              <a:rPr lang="zh-CN" altLang="en-US" sz="1600" b="1" dirty="0"/>
              <a:t>稀缺标的</a:t>
            </a:r>
            <a:r>
              <a:rPr lang="zh-CN" altLang="en-US" sz="1600" dirty="0"/>
              <a:t>，临床规模、管线完整度、技术成熟度、</a:t>
            </a:r>
            <a:r>
              <a:rPr lang="en-US" altLang="zh-CN" sz="1600" dirty="0"/>
              <a:t>IPO</a:t>
            </a:r>
            <a:r>
              <a:rPr lang="zh-CN" altLang="en-US" sz="1600" dirty="0"/>
              <a:t>进度均领跑行业同类企业。</a:t>
            </a:r>
            <a:endParaRPr lang="en-US" altLang="zh-CN" sz="1600" dirty="0"/>
          </a:p>
          <a:p>
            <a:endParaRPr lang="zh-CN" altLang="en-US" sz="1600" dirty="0"/>
          </a:p>
          <a:p>
            <a:r>
              <a:rPr lang="en-US" altLang="zh-CN" sz="1600" dirty="0"/>
              <a:t>2027</a:t>
            </a:r>
            <a:r>
              <a:rPr lang="zh-CN" altLang="en-US" sz="1600" dirty="0"/>
              <a:t>年有望获批国内首款癫痫</a:t>
            </a:r>
            <a:r>
              <a:rPr lang="en-US" altLang="zh-CN" sz="1600" dirty="0"/>
              <a:t>RNS</a:t>
            </a:r>
            <a:r>
              <a:rPr lang="zh-CN" altLang="en-US" sz="1600" dirty="0"/>
              <a:t>产品，拿证后直接跻身行业第一梯队，商业化与估值成长空间较大，投资确定性较强。</a:t>
            </a:r>
            <a:endParaRPr lang="zh-CN" altLang="en-US" sz="1600" dirty="0"/>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normAutofit fontScale="85000" lnSpcReduction="20000"/>
          </a:bodyPr>
          <a:lstStyle/>
          <a:p>
            <a:fld id="{BE5F26B5-172A-4DC2-B0B7-181CFC56B87C}" type="slidenum">
              <a:rPr lang="zh-CN" altLang="en-US" smtClean="0"/>
            </a:fld>
            <a:endParaRPr lang="zh-CN" altLang="en-US"/>
          </a:p>
        </p:txBody>
      </p:sp>
      <p:sp>
        <p:nvSpPr>
          <p:cNvPr id="12" name="平行四边形 11"/>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风险应对</a:t>
            </a:r>
            <a:endParaRPr lang="zh-CN" altLang="en-US" sz="1600" b="1">
              <a:latin typeface="微软雅黑" panose="020B0503020204020204" charset="-122"/>
              <a:ea typeface="微软雅黑" panose="020B0503020204020204" charset="-122"/>
            </a:endParaRPr>
          </a:p>
        </p:txBody>
      </p:sp>
      <p:sp>
        <p:nvSpPr>
          <p:cNvPr id="13" name="标题 13"/>
          <p:cNvSpPr>
            <a:spLocks noGrp="1"/>
          </p:cNvSpPr>
          <p:nvPr/>
        </p:nvSpPr>
        <p:spPr>
          <a:xfrm>
            <a:off x="1496060" y="0"/>
            <a:ext cx="10024745" cy="5772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00000"/>
              </a:lnSpc>
            </a:pPr>
            <a:r>
              <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rPr>
              <a:t>风险分析及应对策略</a:t>
            </a:r>
            <a:endParaRPr lang="zh-CN" altLang="en-US" sz="2000" spc="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2" name="表格 1"/>
          <p:cNvGraphicFramePr>
            <a:graphicFrameLocks noGrp="1"/>
          </p:cNvGraphicFramePr>
          <p:nvPr/>
        </p:nvGraphicFramePr>
        <p:xfrm>
          <a:off x="177165" y="597264"/>
          <a:ext cx="11811635" cy="5306224"/>
        </p:xfrm>
        <a:graphic>
          <a:graphicData uri="http://schemas.openxmlformats.org/drawingml/2006/table">
            <a:tbl>
              <a:tblPr firstRow="1" firstCol="1" bandRow="1">
                <a:tableStyleId>{5C22544A-7EE6-4342-B048-85BDC9FD1C3A}</a:tableStyleId>
              </a:tblPr>
              <a:tblGrid>
                <a:gridCol w="1303020"/>
                <a:gridCol w="3866217"/>
                <a:gridCol w="6642398"/>
              </a:tblGrid>
              <a:tr h="492156">
                <a:tc>
                  <a:txBody>
                    <a:bodyPr/>
                    <a:lstStyle/>
                    <a:p>
                      <a:pPr algn="ctr">
                        <a:lnSpc>
                          <a:spcPct val="100000"/>
                        </a:lnSpc>
                        <a:spcAft>
                          <a:spcPts val="0"/>
                        </a:spcAft>
                      </a:pPr>
                      <a:r>
                        <a:rPr lang="zh-CN" sz="1400" kern="100" dirty="0">
                          <a:effectLst/>
                          <a:latin typeface="彩虹粗仿宋" panose="03000509000000000000" pitchFamily="65" charset="-122"/>
                          <a:ea typeface="彩虹粗仿宋" panose="03000509000000000000" pitchFamily="65" charset="-122"/>
                          <a:cs typeface="宋体" pitchFamily="2" charset="-122"/>
                        </a:rPr>
                        <a:t>风险点</a:t>
                      </a:r>
                      <a:endParaRPr lang="zh-CN" sz="1400" kern="100" dirty="0">
                        <a:effectLst/>
                        <a:latin typeface="彩虹粗仿宋" panose="03000509000000000000" pitchFamily="65" charset="-122"/>
                        <a:ea typeface="彩虹粗仿宋" panose="03000509000000000000" pitchFamily="65" charset="-122"/>
                        <a:cs typeface="宋体" pitchFamily="2" charset="-122"/>
                      </a:endParaRPr>
                    </a:p>
                  </a:txBody>
                  <a:tcPr marL="5045" marR="5045" marT="5045" marB="0" anchor="ctr"/>
                </a:tc>
                <a:tc>
                  <a:txBody>
                    <a:bodyPr/>
                    <a:lstStyle/>
                    <a:p>
                      <a:pPr algn="ctr">
                        <a:lnSpc>
                          <a:spcPct val="100000"/>
                        </a:lnSpc>
                        <a:spcAft>
                          <a:spcPts val="0"/>
                        </a:spcAft>
                      </a:pPr>
                      <a:r>
                        <a:rPr lang="zh-CN" sz="1400" kern="100" dirty="0">
                          <a:effectLst/>
                          <a:latin typeface="彩虹粗仿宋" panose="03000509000000000000" pitchFamily="65" charset="-122"/>
                          <a:ea typeface="彩虹粗仿宋" panose="03000509000000000000" pitchFamily="65" charset="-122"/>
                        </a:rPr>
                        <a:t>风险概述</a:t>
                      </a:r>
                      <a:endParaRPr lang="zh-CN" sz="1400" kern="100" dirty="0">
                        <a:effectLst/>
                        <a:latin typeface="彩虹粗仿宋" panose="03000509000000000000" pitchFamily="65" charset="-122"/>
                        <a:ea typeface="彩虹粗仿宋" panose="03000509000000000000" pitchFamily="65" charset="-122"/>
                        <a:cs typeface="宋体" pitchFamily="2" charset="-122"/>
                      </a:endParaRPr>
                    </a:p>
                  </a:txBody>
                  <a:tcPr marL="5045" marR="5045" marT="5045" marB="0" anchor="ctr"/>
                </a:tc>
                <a:tc>
                  <a:txBody>
                    <a:bodyPr/>
                    <a:lstStyle/>
                    <a:p>
                      <a:pPr algn="ctr">
                        <a:lnSpc>
                          <a:spcPct val="100000"/>
                        </a:lnSpc>
                        <a:spcAft>
                          <a:spcPts val="0"/>
                        </a:spcAft>
                      </a:pPr>
                      <a:r>
                        <a:rPr lang="zh-CN" sz="1400" kern="100" dirty="0">
                          <a:effectLst/>
                          <a:latin typeface="彩虹粗仿宋" panose="03000509000000000000" pitchFamily="65" charset="-122"/>
                          <a:ea typeface="彩虹粗仿宋" panose="03000509000000000000" pitchFamily="65" charset="-122"/>
                        </a:rPr>
                        <a:t>应对策略</a:t>
                      </a:r>
                      <a:endParaRPr lang="zh-CN" sz="1400" kern="100" dirty="0">
                        <a:effectLst/>
                        <a:latin typeface="彩虹粗仿宋" panose="03000509000000000000" pitchFamily="65" charset="-122"/>
                        <a:ea typeface="彩虹粗仿宋" panose="03000509000000000000" pitchFamily="65" charset="-122"/>
                        <a:cs typeface="宋体" pitchFamily="2" charset="-122"/>
                      </a:endParaRPr>
                    </a:p>
                  </a:txBody>
                  <a:tcPr marL="5045" marR="5045" marT="5045" marB="0" anchor="ctr"/>
                </a:tc>
              </a:tr>
              <a:tr h="674370">
                <a:tc>
                  <a:txBody>
                    <a:bodyPr/>
                    <a:lstStyle/>
                    <a:p>
                      <a:pPr algn="l" fontAlgn="ctr"/>
                      <a:r>
                        <a:rPr lang="zh-CN" altLang="en-US" sz="1100" b="1" i="0">
                          <a:solidFill>
                            <a:schemeClr val="bg1"/>
                          </a:solidFill>
                          <a:latin typeface="仿宋" panose="02010609060101010101" charset="-122"/>
                          <a:ea typeface="仿宋" panose="02010609060101010101" charset="-122"/>
                        </a:rPr>
                        <a:t>核心底层硬件风险</a:t>
                      </a:r>
                      <a:endParaRPr lang="zh-CN" altLang="en-US" sz="1100" b="1" i="0">
                        <a:solidFill>
                          <a:schemeClr val="bg1"/>
                        </a:solidFill>
                        <a:latin typeface="仿宋" panose="02010609060101010101" charset="-122"/>
                        <a:ea typeface="仿宋" panose="02010609060101010101" charset="-122"/>
                      </a:endParaRPr>
                    </a:p>
                  </a:txBody>
                  <a:tcPr marL="13017" marR="13017" marT="13017" marB="0" anchor="ctr"/>
                </a:tc>
                <a:tc>
                  <a:txBody>
                    <a:bodyPr/>
                    <a:lstStyle/>
                    <a:p>
                      <a:pPr algn="l" fontAlgn="ctr"/>
                      <a:r>
                        <a:rPr lang="zh-CN" altLang="en-US" sz="1400" b="1" i="0">
                          <a:solidFill>
                            <a:srgbClr val="C00000"/>
                          </a:solidFill>
                          <a:latin typeface="仿宋" panose="02010609060101010101" charset="-122"/>
                          <a:ea typeface="仿宋" panose="02010609060101010101" charset="-122"/>
                          <a:cs typeface="仿宋" panose="02010609060101010101" charset="-122"/>
                        </a:rPr>
                        <a:t>未见自研高端核心芯片专利</a:t>
                      </a:r>
                      <a:r>
                        <a:rPr lang="zh-CN" altLang="en-US" sz="1400" b="0" i="0">
                          <a:solidFill>
                            <a:srgbClr val="000000"/>
                          </a:solidFill>
                          <a:latin typeface="仿宋" panose="02010609060101010101" charset="-122"/>
                          <a:ea typeface="仿宋" panose="02010609060101010101" charset="-122"/>
                          <a:cs typeface="仿宋" panose="02010609060101010101" charset="-122"/>
                        </a:rPr>
                        <a:t>，依赖外采通用医用芯片。</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tc>
                <a:tc>
                  <a:txBody>
                    <a:bodyPr/>
                    <a:lstStyle/>
                    <a:p>
                      <a:pPr algn="l" fontAlgn="ctr"/>
                      <a:r>
                        <a:rPr lang="zh-CN" altLang="en-US" sz="1400" b="1" i="0">
                          <a:solidFill>
                            <a:srgbClr val="C00000"/>
                          </a:solidFill>
                          <a:latin typeface="仿宋" panose="02010609060101010101" charset="-122"/>
                          <a:ea typeface="仿宋" panose="02010609060101010101" charset="-122"/>
                          <a:cs typeface="仿宋" panose="02010609060101010101" charset="-122"/>
                        </a:rPr>
                        <a:t>根据访谈，植入级专用芯片已经设计完成</a:t>
                      </a:r>
                      <a:r>
                        <a:rPr lang="zh-CN" altLang="en-US" sz="1400" b="0" i="0">
                          <a:solidFill>
                            <a:srgbClr val="000000"/>
                          </a:solidFill>
                          <a:latin typeface="仿宋" panose="02010609060101010101" charset="-122"/>
                          <a:ea typeface="仿宋" panose="02010609060101010101" charset="-122"/>
                          <a:cs typeface="仿宋" panose="02010609060101010101" charset="-122"/>
                        </a:rPr>
                        <a:t>，加速流片进程，布局自有芯片 </a:t>
                      </a:r>
                      <a:r>
                        <a:rPr lang="en-US" altLang="zh-CN" sz="1400" b="0" i="0">
                          <a:solidFill>
                            <a:srgbClr val="000000"/>
                          </a:solidFill>
                          <a:latin typeface="仿宋" panose="02010609060101010101" charset="-122"/>
                          <a:ea typeface="仿宋" panose="02010609060101010101" charset="-122"/>
                          <a:cs typeface="仿宋" panose="02010609060101010101" charset="-122"/>
                        </a:rPr>
                        <a:t>IP </a:t>
                      </a:r>
                      <a:r>
                        <a:rPr lang="zh-CN" altLang="en-US" sz="1400" b="0" i="0">
                          <a:solidFill>
                            <a:srgbClr val="000000"/>
                          </a:solidFill>
                          <a:latin typeface="仿宋" panose="02010609060101010101" charset="-122"/>
                          <a:ea typeface="仿宋" panose="02010609060101010101" charset="-122"/>
                          <a:cs typeface="仿宋" panose="02010609060101010101" charset="-122"/>
                        </a:rPr>
                        <a:t>核与低功耗架构；同步搭建国内外双备用供应链，减少对 </a:t>
                      </a:r>
                      <a:r>
                        <a:rPr lang="en-US" altLang="zh-CN" sz="1400" b="0" i="0">
                          <a:solidFill>
                            <a:srgbClr val="000000"/>
                          </a:solidFill>
                          <a:latin typeface="仿宋" panose="02010609060101010101" charset="-122"/>
                          <a:ea typeface="仿宋" panose="02010609060101010101" charset="-122"/>
                          <a:cs typeface="仿宋" panose="02010609060101010101" charset="-122"/>
                        </a:rPr>
                        <a:t>TI</a:t>
                      </a:r>
                      <a:r>
                        <a:rPr lang="zh-CN" altLang="en-US" sz="1400" b="0" i="0">
                          <a:solidFill>
                            <a:srgbClr val="000000"/>
                          </a:solidFill>
                          <a:latin typeface="仿宋" panose="02010609060101010101" charset="-122"/>
                          <a:ea typeface="仿宋" panose="02010609060101010101" charset="-122"/>
                          <a:cs typeface="仿宋" panose="02010609060101010101" charset="-122"/>
                        </a:rPr>
                        <a:t>、</a:t>
                      </a:r>
                      <a:r>
                        <a:rPr lang="en-US" altLang="zh-CN" sz="1400" b="0" i="0">
                          <a:solidFill>
                            <a:srgbClr val="000000"/>
                          </a:solidFill>
                          <a:latin typeface="仿宋" panose="02010609060101010101" charset="-122"/>
                          <a:ea typeface="仿宋" panose="02010609060101010101" charset="-122"/>
                          <a:cs typeface="仿宋" panose="02010609060101010101" charset="-122"/>
                        </a:rPr>
                        <a:t>ADI </a:t>
                      </a:r>
                      <a:r>
                        <a:rPr lang="zh-CN" altLang="en-US" sz="1400" b="0" i="0">
                          <a:solidFill>
                            <a:srgbClr val="000000"/>
                          </a:solidFill>
                          <a:latin typeface="仿宋" panose="02010609060101010101" charset="-122"/>
                          <a:ea typeface="仿宋" panose="02010609060101010101" charset="-122"/>
                          <a:cs typeface="仿宋" panose="02010609060101010101" charset="-122"/>
                        </a:rPr>
                        <a:t>单一海外厂商依赖</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tc>
              </a:tr>
              <a:tr h="803424">
                <a:tc>
                  <a:txBody>
                    <a:bodyPr/>
                    <a:lstStyle/>
                    <a:p>
                      <a:pPr algn="l" fontAlgn="ctr"/>
                      <a:r>
                        <a:rPr lang="zh-CN" altLang="en-US" sz="1100" b="1" i="0">
                          <a:solidFill>
                            <a:schemeClr val="bg1"/>
                          </a:solidFill>
                          <a:latin typeface="仿宋" panose="02010609060101010101" charset="-122"/>
                          <a:ea typeface="仿宋" panose="02010609060101010101" charset="-122"/>
                        </a:rPr>
                        <a:t>电极与信号采集风险</a:t>
                      </a:r>
                      <a:endParaRPr lang="zh-CN" altLang="en-US" sz="1100" b="1" i="0">
                        <a:solidFill>
                          <a:schemeClr val="bg1"/>
                        </a:solidFill>
                        <a:latin typeface="仿宋" panose="02010609060101010101" charset="-122"/>
                        <a:ea typeface="仿宋" panose="02010609060101010101" charset="-122"/>
                      </a:endParaRPr>
                    </a:p>
                  </a:txBody>
                  <a:tcPr marL="13017" marR="13017" marT="13017" marB="0" anchor="ctr"/>
                </a:tc>
                <a:tc>
                  <a:txBody>
                    <a:bodyPr/>
                    <a:lstStyle/>
                    <a:p>
                      <a:pPr algn="l" fontAlgn="ctr"/>
                      <a:r>
                        <a:rPr lang="zh-CN" altLang="en-US" sz="1400" b="0" i="0">
                          <a:solidFill>
                            <a:srgbClr val="000000"/>
                          </a:solidFill>
                          <a:latin typeface="仿宋" panose="02010609060101010101" charset="-122"/>
                          <a:ea typeface="仿宋" panose="02010609060101010101" charset="-122"/>
                        </a:rPr>
                        <a:t>以传统刚性电极为主，高通量柔性电极仍处研发早期，在电极材质、植入创伤、生物相容性上与头部企业存在代差；临床植入样本量、单例通道数不足，缺乏长期随访数据支撑信号稳定性，长期植入面临</a:t>
                      </a:r>
                      <a:r>
                        <a:rPr lang="zh-CN" altLang="en-US" sz="1400" b="1" i="0">
                          <a:solidFill>
                            <a:srgbClr val="C00000"/>
                          </a:solidFill>
                          <a:latin typeface="仿宋" panose="02010609060101010101" charset="-122"/>
                          <a:ea typeface="仿宋" panose="02010609060101010101" charset="-122"/>
                        </a:rPr>
                        <a:t>胶质瘢痕增生、信号衰减</a:t>
                      </a:r>
                      <a:r>
                        <a:rPr lang="zh-CN" altLang="en-US" sz="1400" b="0" i="0">
                          <a:solidFill>
                            <a:srgbClr val="000000"/>
                          </a:solidFill>
                          <a:latin typeface="仿宋" panose="02010609060101010101" charset="-122"/>
                          <a:ea typeface="仿宋" panose="02010609060101010101" charset="-122"/>
                        </a:rPr>
                        <a:t>等行业痛点。</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tc>
                <a:tc>
                  <a:txBody>
                    <a:bodyPr/>
                    <a:lstStyle/>
                    <a:p>
                      <a:pPr algn="l" fontAlgn="ctr"/>
                      <a:r>
                        <a:rPr lang="zh-CN" altLang="en-US" sz="1400" b="1" i="0">
                          <a:solidFill>
                            <a:srgbClr val="C00000"/>
                          </a:solidFill>
                          <a:latin typeface="仿宋" panose="02010609060101010101" charset="-122"/>
                          <a:ea typeface="仿宋" panose="02010609060101010101" charset="-122"/>
                        </a:rPr>
                        <a:t>公司已与新加坡国立大学签订合同，开展制备</a:t>
                      </a:r>
                      <a:r>
                        <a:rPr lang="en-US" altLang="zh-CN" sz="1400" b="1" i="0">
                          <a:solidFill>
                            <a:srgbClr val="C00000"/>
                          </a:solidFill>
                          <a:latin typeface="仿宋" panose="02010609060101010101" charset="-122"/>
                          <a:ea typeface="仿宋" panose="02010609060101010101" charset="-122"/>
                        </a:rPr>
                        <a:t>3D</a:t>
                      </a:r>
                      <a:r>
                        <a:rPr lang="zh-CN" altLang="en-US" sz="1400" b="1" i="0">
                          <a:solidFill>
                            <a:srgbClr val="C00000"/>
                          </a:solidFill>
                          <a:latin typeface="仿宋" panose="02010609060101010101" charset="-122"/>
                          <a:ea typeface="仿宋" panose="02010609060101010101" charset="-122"/>
                        </a:rPr>
                        <a:t>卷绕结构柔性微电极阵列联合科研合作</a:t>
                      </a:r>
                      <a:r>
                        <a:rPr lang="zh-CN" altLang="en-US" sz="1400" b="0" i="0">
                          <a:solidFill>
                            <a:srgbClr val="000000"/>
                          </a:solidFill>
                          <a:latin typeface="仿宋" panose="02010609060101010101" charset="-122"/>
                          <a:ea typeface="仿宋" panose="02010609060101010101" charset="-122"/>
                        </a:rPr>
                        <a:t>，合作周期</a:t>
                      </a:r>
                      <a:r>
                        <a:rPr lang="en-US" altLang="zh-CN" sz="1400" b="0" i="0">
                          <a:solidFill>
                            <a:srgbClr val="000000"/>
                          </a:solidFill>
                          <a:latin typeface="仿宋" panose="02010609060101010101" charset="-122"/>
                          <a:ea typeface="仿宋" panose="02010609060101010101" charset="-122"/>
                        </a:rPr>
                        <a:t> 18 </a:t>
                      </a:r>
                      <a:r>
                        <a:rPr lang="zh-CN" altLang="en-US" sz="1400" b="0" i="0">
                          <a:solidFill>
                            <a:srgbClr val="000000"/>
                          </a:solidFill>
                          <a:latin typeface="仿宋" panose="02010609060101010101" charset="-122"/>
                          <a:ea typeface="仿宋" panose="02010609060101010101" charset="-122"/>
                        </a:rPr>
                        <a:t>个月，聚焦下一代</a:t>
                      </a:r>
                      <a:r>
                        <a:rPr lang="en-US" altLang="zh-CN" sz="1400" b="0" i="0">
                          <a:solidFill>
                            <a:srgbClr val="000000"/>
                          </a:solidFill>
                          <a:latin typeface="仿宋" panose="02010609060101010101" charset="-122"/>
                          <a:ea typeface="仿宋" panose="02010609060101010101" charset="-122"/>
                        </a:rPr>
                        <a:t> SEEG </a:t>
                      </a:r>
                      <a:r>
                        <a:rPr lang="zh-CN" altLang="en-US" sz="1400" b="0" i="0">
                          <a:solidFill>
                            <a:srgbClr val="000000"/>
                          </a:solidFill>
                          <a:latin typeface="仿宋" panose="02010609060101010101" charset="-122"/>
                          <a:ea typeface="仿宋" panose="02010609060101010101" charset="-122"/>
                        </a:rPr>
                        <a:t>癫痫病灶高精度定位技术研发；针对性研发抗胶质瘢痕、</a:t>
                      </a:r>
                      <a:r>
                        <a:rPr lang="zh-CN" altLang="en-US" sz="1400" b="1" i="0">
                          <a:solidFill>
                            <a:srgbClr val="C00000"/>
                          </a:solidFill>
                          <a:latin typeface="仿宋" panose="02010609060101010101" charset="-122"/>
                          <a:ea typeface="仿宋" panose="02010609060101010101" charset="-122"/>
                        </a:rPr>
                        <a:t>抑制</a:t>
                      </a:r>
                      <a:r>
                        <a:rPr lang="zh-CN" altLang="en-US" sz="1400" b="0" i="0">
                          <a:solidFill>
                            <a:srgbClr val="000000"/>
                          </a:solidFill>
                          <a:latin typeface="仿宋" panose="02010609060101010101" charset="-122"/>
                          <a:ea typeface="仿宋" panose="02010609060101010101" charset="-122"/>
                        </a:rPr>
                        <a:t>信号衰减的材料与结构方案，提升长期植入稳定性和使用寿命。</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tc>
              </a:tr>
              <a:tr h="1099742">
                <a:tc>
                  <a:txBody>
                    <a:bodyPr/>
                    <a:lstStyle/>
                    <a:p>
                      <a:pPr algn="l" fontAlgn="ctr"/>
                      <a:r>
                        <a:rPr lang="zh-CN" altLang="en-US" sz="1100" b="1" i="0">
                          <a:solidFill>
                            <a:schemeClr val="bg1"/>
                          </a:solidFill>
                          <a:latin typeface="仿宋" panose="02010609060101010101" charset="-122"/>
                          <a:ea typeface="仿宋" panose="02010609060101010101" charset="-122"/>
                        </a:rPr>
                        <a:t>算法与闭环技术风险</a:t>
                      </a:r>
                      <a:endParaRPr lang="zh-CN" altLang="en-US" sz="1100" b="1" i="0">
                        <a:solidFill>
                          <a:schemeClr val="bg1"/>
                        </a:solidFill>
                        <a:latin typeface="仿宋" panose="02010609060101010101" charset="-122"/>
                        <a:ea typeface="仿宋" panose="02010609060101010101" charset="-122"/>
                      </a:endParaRPr>
                    </a:p>
                  </a:txBody>
                  <a:tcPr marL="13017" marR="13017" marT="13017" marB="0" anchor="ctr"/>
                </a:tc>
                <a:tc>
                  <a:txBody>
                    <a:bodyPr/>
                    <a:lstStyle/>
                    <a:p>
                      <a:pPr algn="l" fontAlgn="ctr"/>
                      <a:r>
                        <a:rPr lang="zh-CN" altLang="en-US" sz="1400" b="1" i="0">
                          <a:solidFill>
                            <a:srgbClr val="C00000"/>
                          </a:solidFill>
                          <a:latin typeface="仿宋" panose="02010609060101010101" charset="-122"/>
                          <a:ea typeface="仿宋" panose="02010609060101010101" charset="-122"/>
                          <a:cs typeface="仿宋" panose="02010609060101010101" charset="-122"/>
                        </a:rPr>
                        <a:t>无独家解码算法壁垒</a:t>
                      </a:r>
                      <a:r>
                        <a:rPr lang="zh-CN" altLang="en-US" sz="1400" b="0" i="0">
                          <a:solidFill>
                            <a:srgbClr val="000000"/>
                          </a:solidFill>
                          <a:latin typeface="仿宋" panose="02010609060101010101" charset="-122"/>
                          <a:ea typeface="仿宋" panose="02010609060101010101" charset="-122"/>
                          <a:cs typeface="仿宋" panose="02010609060101010101" charset="-122"/>
                        </a:rPr>
                        <a:t>，技术框架同质化；</a:t>
                      </a:r>
                      <a:r>
                        <a:rPr lang="en-US" altLang="zh-CN" sz="1400" b="0" i="0">
                          <a:solidFill>
                            <a:srgbClr val="000000"/>
                          </a:solidFill>
                          <a:latin typeface="仿宋" panose="02010609060101010101" charset="-122"/>
                          <a:ea typeface="仿宋" panose="02010609060101010101" charset="-122"/>
                          <a:cs typeface="仿宋" panose="02010609060101010101" charset="-122"/>
                        </a:rPr>
                        <a:t>RNS </a:t>
                      </a:r>
                      <a:r>
                        <a:rPr lang="zh-CN" altLang="en-US" sz="1400" b="0" i="0">
                          <a:solidFill>
                            <a:srgbClr val="000000"/>
                          </a:solidFill>
                          <a:latin typeface="仿宋" panose="02010609060101010101" charset="-122"/>
                          <a:ea typeface="仿宋" panose="02010609060101010101" charset="-122"/>
                          <a:cs typeface="仿宋" panose="02010609060101010101" charset="-122"/>
                        </a:rPr>
                        <a:t>癫痫闭环疗效缺乏多中心大样本对照研究与顶刊背书；帕金森、脊髓损伤管线仅停留在零星个案临床，未形成标准化范式，适应症拓展难度大。</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加大闭环解码、自适应刺激算法自研投入，布局原创算法专利形成差异化壁垒；推进 </a:t>
                      </a:r>
                      <a:r>
                        <a:rPr lang="en-US" altLang="zh-CN" sz="1400" b="0" i="0">
                          <a:solidFill>
                            <a:srgbClr val="000000"/>
                          </a:solidFill>
                          <a:latin typeface="仿宋" panose="02010609060101010101" charset="-122"/>
                          <a:ea typeface="仿宋" panose="02010609060101010101" charset="-122"/>
                          <a:cs typeface="仿宋" panose="02010609060101010101" charset="-122"/>
                        </a:rPr>
                        <a:t>RNS </a:t>
                      </a:r>
                      <a:r>
                        <a:rPr lang="zh-CN" altLang="en-US" sz="1400" b="0" i="0">
                          <a:solidFill>
                            <a:srgbClr val="000000"/>
                          </a:solidFill>
                          <a:latin typeface="仿宋" panose="02010609060101010101" charset="-122"/>
                          <a:ea typeface="仿宋" panose="02010609060101010101" charset="-122"/>
                          <a:cs typeface="仿宋" panose="02010609060101010101" charset="-122"/>
                        </a:rPr>
                        <a:t>癫痫产品多中心大样本对照临床，补充顶刊学术研究背书，规范临床疗效数据披露；建立帕金森、脊髓损伤管线标准化解码与刺激范式体系，从零星个案走向系统化临床验证，降低适应症拓展不及预期风险。</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tc>
              </a:tr>
              <a:tr h="1088397">
                <a:tc>
                  <a:txBody>
                    <a:bodyPr/>
                    <a:lstStyle/>
                    <a:p>
                      <a:pPr algn="l" fontAlgn="ctr"/>
                      <a:r>
                        <a:rPr lang="zh-CN" altLang="en-US" sz="1100" b="1" i="0">
                          <a:solidFill>
                            <a:schemeClr val="bg1"/>
                          </a:solidFill>
                          <a:latin typeface="仿宋" panose="02010609060101010101" charset="-122"/>
                          <a:ea typeface="仿宋" panose="02010609060101010101" charset="-122"/>
                        </a:rPr>
                        <a:t>行业梯队靠后风险</a:t>
                      </a:r>
                      <a:endParaRPr lang="zh-CN" altLang="en-US" sz="1100" b="1" i="0">
                        <a:solidFill>
                          <a:schemeClr val="bg1"/>
                        </a:solidFill>
                        <a:latin typeface="仿宋" panose="02010609060101010101" charset="-122"/>
                        <a:ea typeface="仿宋" panose="02010609060101010101" charset="-122"/>
                      </a:endParaRPr>
                    </a:p>
                  </a:txBody>
                  <a:tcPr marL="13017" marR="13017" marT="13017" marB="0" anchor="ctr"/>
                </a:tc>
                <a:tc>
                  <a:txBody>
                    <a:bodyPr/>
                    <a:lstStyle/>
                    <a:p>
                      <a:pPr algn="l" fontAlgn="ctr"/>
                      <a:r>
                        <a:rPr lang="zh-CN" altLang="en-US" sz="1400" b="0" i="0">
                          <a:solidFill>
                            <a:srgbClr val="000000"/>
                          </a:solidFill>
                          <a:latin typeface="仿宋" panose="02010609060101010101" charset="-122"/>
                          <a:ea typeface="仿宋" panose="02010609060101010101" charset="-122"/>
                        </a:rPr>
                        <a:t>位于行业第二梯队，与第一梯队企业在产品获批、商业化、临床体量上差距明显；赛道竞争激烈，缺乏绝对差异化优势，向上跃迁难度大。</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立足第二梯队现有管线基础，加快 </a:t>
                      </a:r>
                      <a:r>
                        <a:rPr lang="en-US" altLang="zh-CN" sz="1400" b="0" i="0">
                          <a:solidFill>
                            <a:srgbClr val="000000"/>
                          </a:solidFill>
                          <a:latin typeface="仿宋" panose="02010609060101010101" charset="-122"/>
                          <a:ea typeface="仿宋" panose="02010609060101010101" charset="-122"/>
                          <a:cs typeface="仿宋" panose="02010609060101010101" charset="-122"/>
                        </a:rPr>
                        <a:t>RNS</a:t>
                      </a:r>
                      <a:r>
                        <a:rPr lang="zh-CN" altLang="en-US" sz="1400" b="0" i="0">
                          <a:solidFill>
                            <a:srgbClr val="000000"/>
                          </a:solidFill>
                          <a:latin typeface="仿宋" panose="02010609060101010101" charset="-122"/>
                          <a:ea typeface="仿宋" panose="02010609060101010101" charset="-122"/>
                          <a:cs typeface="仿宋" panose="02010609060101010101" charset="-122"/>
                        </a:rPr>
                        <a:t>、</a:t>
                      </a:r>
                      <a:r>
                        <a:rPr lang="en-US" altLang="zh-CN" sz="1400" b="0" i="0">
                          <a:solidFill>
                            <a:srgbClr val="000000"/>
                          </a:solidFill>
                          <a:latin typeface="仿宋" panose="02010609060101010101" charset="-122"/>
                          <a:ea typeface="仿宋" panose="02010609060101010101" charset="-122"/>
                          <a:cs typeface="仿宋" panose="02010609060101010101" charset="-122"/>
                        </a:rPr>
                        <a:t>DBS </a:t>
                      </a:r>
                      <a:r>
                        <a:rPr lang="zh-CN" altLang="en-US" sz="1400" b="0" i="0">
                          <a:solidFill>
                            <a:srgbClr val="000000"/>
                          </a:solidFill>
                          <a:latin typeface="仿宋" panose="02010609060101010101" charset="-122"/>
                          <a:ea typeface="仿宋" panose="02010609060101010101" charset="-122"/>
                          <a:cs typeface="仿宋" panose="02010609060101010101" charset="-122"/>
                        </a:rPr>
                        <a:t>等核心产品注册拿证节奏，快速扩大多中心临床植入规模，补齐与第一梯队在商业化、临床数据上的差距；强化自身 </a:t>
                      </a:r>
                      <a:r>
                        <a:rPr lang="en-US" altLang="zh-CN" sz="1400" b="0" i="0">
                          <a:solidFill>
                            <a:srgbClr val="000000"/>
                          </a:solidFill>
                          <a:latin typeface="仿宋" panose="02010609060101010101" charset="-122"/>
                          <a:ea typeface="仿宋" panose="02010609060101010101" charset="-122"/>
                          <a:cs typeface="仿宋" panose="02010609060101010101" charset="-122"/>
                        </a:rPr>
                        <a:t>SEEG+LITT + </a:t>
                      </a:r>
                      <a:r>
                        <a:rPr lang="zh-CN" altLang="en-US" sz="1400" b="0" i="0">
                          <a:solidFill>
                            <a:srgbClr val="000000"/>
                          </a:solidFill>
                          <a:latin typeface="仿宋" panose="02010609060101010101" charset="-122"/>
                          <a:ea typeface="仿宋" panose="02010609060101010101" charset="-122"/>
                          <a:cs typeface="仿宋" panose="02010609060101010101" charset="-122"/>
                        </a:rPr>
                        <a:t>侵入式脑机全管线差异化布局，构筑临床与技术特色壁垒，弱化行业内卷竞争冲击。</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tc>
              </a:tr>
              <a:tr h="871742">
                <a:tc>
                  <a:txBody>
                    <a:bodyPr/>
                    <a:lstStyle/>
                    <a:p>
                      <a:pPr algn="l" fontAlgn="ctr"/>
                      <a:r>
                        <a:rPr lang="zh-CN" altLang="en-US" sz="1100" b="1" i="0">
                          <a:solidFill>
                            <a:schemeClr val="bg1"/>
                          </a:solidFill>
                          <a:latin typeface="仿宋" panose="02010609060101010101" charset="-122"/>
                          <a:ea typeface="仿宋" panose="02010609060101010101" charset="-122"/>
                        </a:rPr>
                        <a:t>上市不及预期风险</a:t>
                      </a:r>
                      <a:endParaRPr lang="zh-CN" altLang="en-US" sz="1100" b="1" i="0">
                        <a:solidFill>
                          <a:schemeClr val="bg1"/>
                        </a:solidFill>
                        <a:latin typeface="仿宋" panose="02010609060101010101" charset="-122"/>
                        <a:ea typeface="仿宋" panose="02010609060101010101" charset="-122"/>
                      </a:endParaRPr>
                    </a:p>
                  </a:txBody>
                  <a:tcPr marL="13017" marR="13017" marT="13017" marB="0" anchor="ctr"/>
                </a:tc>
                <a:tc>
                  <a:txBody>
                    <a:bodyPr/>
                    <a:lstStyle/>
                    <a:p>
                      <a:pPr algn="l" fontAlgn="ctr"/>
                      <a:r>
                        <a:rPr lang="zh-CN" altLang="en-US" sz="1400" b="1" i="0">
                          <a:solidFill>
                            <a:srgbClr val="C00000"/>
                          </a:solidFill>
                          <a:latin typeface="仿宋" panose="02010609060101010101" charset="-122"/>
                          <a:ea typeface="仿宋" panose="02010609060101010101" charset="-122"/>
                          <a:cs typeface="仿宋" panose="02010609060101010101" charset="-122"/>
                        </a:rPr>
                        <a:t>依赖核心产品拿证与研发进度冲刺港股 </a:t>
                      </a:r>
                      <a:r>
                        <a:rPr lang="en-US" altLang="zh-CN" sz="1400" b="1" i="0">
                          <a:solidFill>
                            <a:srgbClr val="C00000"/>
                          </a:solidFill>
                          <a:latin typeface="仿宋" panose="02010609060101010101" charset="-122"/>
                          <a:ea typeface="仿宋" panose="02010609060101010101" charset="-122"/>
                          <a:cs typeface="仿宋" panose="02010609060101010101" charset="-122"/>
                        </a:rPr>
                        <a:t>18A</a:t>
                      </a:r>
                      <a:r>
                        <a:rPr lang="zh-CN" altLang="en-US" sz="1400" b="0" i="0">
                          <a:solidFill>
                            <a:srgbClr val="000000"/>
                          </a:solidFill>
                          <a:latin typeface="仿宋" panose="02010609060101010101" charset="-122"/>
                          <a:ea typeface="仿宋" panose="02010609060101010101" charset="-122"/>
                          <a:cs typeface="仿宋" panose="02010609060101010101" charset="-122"/>
                        </a:rPr>
                        <a:t>，存在申报受阻、无法如期上市的实质性风险。</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提前规范财务核算、搭建合规治理架构，稳步推进港股 </a:t>
                      </a:r>
                      <a:r>
                        <a:rPr lang="en-US" altLang="zh-CN" sz="1400" b="0" i="0">
                          <a:solidFill>
                            <a:srgbClr val="000000"/>
                          </a:solidFill>
                          <a:latin typeface="仿宋" panose="02010609060101010101" charset="-122"/>
                          <a:ea typeface="仿宋" panose="02010609060101010101" charset="-122"/>
                          <a:cs typeface="仿宋" panose="02010609060101010101" charset="-122"/>
                        </a:rPr>
                        <a:t>18A </a:t>
                      </a:r>
                      <a:r>
                        <a:rPr lang="zh-CN" altLang="en-US" sz="1400" b="0" i="0">
                          <a:solidFill>
                            <a:srgbClr val="000000"/>
                          </a:solidFill>
                          <a:latin typeface="仿宋" panose="02010609060101010101" charset="-122"/>
                          <a:ea typeface="仿宋" panose="02010609060101010101" charset="-122"/>
                          <a:cs typeface="仿宋" panose="02010609060101010101" charset="-122"/>
                        </a:rPr>
                        <a:t>申报筹备，分阶段达成上市各项指标，缓释申报延后、估值走低乃至长期无法上市退出的风险。</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tc>
              </a:tr>
            </a:tbl>
          </a:graphicData>
        </a:graphic>
      </p:graphicFrame>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iṥlîḍê"/>
        <p:cNvGrpSpPr/>
        <p:nvPr/>
      </p:nvGrpSpPr>
      <p:grpSpPr>
        <a:xfrm>
          <a:off x="0" y="0"/>
          <a:ext cx="0" cy="0"/>
          <a:chOff x="0" y="0"/>
          <a:chExt cx="0" cy="0"/>
        </a:xfrm>
      </p:grpSpPr>
      <p:sp>
        <p:nvSpPr>
          <p:cNvPr id="5" name="íṥ1îḑe"/>
          <p:cNvSpPr>
            <a:spLocks noGrp="1"/>
          </p:cNvSpPr>
          <p:nvPr>
            <p:ph type="title"/>
            <p:custDataLst>
              <p:tags r:id="rId1"/>
            </p:custDataLst>
          </p:nvPr>
        </p:nvSpPr>
        <p:spPr>
          <a:xfrm>
            <a:off x="3098800" y="2081530"/>
            <a:ext cx="5994400" cy="895350"/>
          </a:xfrm>
        </p:spPr>
        <p:txBody>
          <a:bodyPr>
            <a:normAutofit/>
            <a:scene3d>
              <a:camera prst="orthographicFront"/>
              <a:lightRig rig="soft" dir="t">
                <a:rot lat="0" lon="0" rev="15600000"/>
              </a:lightRig>
            </a:scene3d>
            <a:sp3d extrusionH="57150" prstMaterial="softEdge">
              <a:bevelT w="25400" h="38100"/>
            </a:sp3d>
          </a:bodyPr>
          <a:lstStyle/>
          <a:p>
            <a:pPr algn="ctr"/>
            <a:r>
              <a:rPr lang="zh-CN" altLang="en-US" sz="4000" dirty="0">
                <a:solidFill>
                  <a:schemeClr val="accent4"/>
                </a:solidFill>
                <a:effectLst/>
              </a:rPr>
              <a:t>谢谢观看！</a:t>
            </a:r>
            <a:endParaRPr lang="zh-CN" altLang="en-US" sz="4000" dirty="0">
              <a:solidFill>
                <a:schemeClr val="accent4"/>
              </a:solidFill>
              <a:effectLst/>
            </a:endParaRPr>
          </a:p>
        </p:txBody>
      </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9020" y="-10795"/>
            <a:ext cx="657225" cy="492125"/>
          </a:xfrm>
          <a:prstGeom prst="rect">
            <a:avLst/>
          </a:prstGeom>
        </p:spPr>
      </p:pic>
      <p:sp>
        <p:nvSpPr>
          <p:cNvPr id="3" name="文本框 2"/>
          <p:cNvSpPr txBox="1"/>
          <p:nvPr/>
        </p:nvSpPr>
        <p:spPr>
          <a:xfrm>
            <a:off x="3707765" y="3626485"/>
            <a:ext cx="4776470" cy="368300"/>
          </a:xfrm>
          <a:prstGeom prst="rect">
            <a:avLst/>
          </a:prstGeom>
          <a:noFill/>
        </p:spPr>
        <p:txBody>
          <a:bodyPr wrap="square" rtlCol="0">
            <a:spAutoFit/>
          </a:bodyPr>
          <a:lstStyle/>
          <a:p>
            <a:pPr algn="ctr"/>
            <a:r>
              <a:rPr lang="zh-CN" altLang="en-US" dirty="0"/>
              <a:t>仅限内部分享，严格保密</a:t>
            </a:r>
            <a:endParaRPr lang="zh-CN" altLang="en-US" dirty="0"/>
          </a:p>
        </p:txBody>
      </p:sp>
      <p:pic>
        <p:nvPicPr>
          <p:cNvPr id="10" name="图片 9"/>
          <p:cNvPicPr>
            <a:picLocks noChangeAspect="1"/>
          </p:cNvPicPr>
          <p:nvPr/>
        </p:nvPicPr>
        <p:blipFill>
          <a:blip r:embed="rId3"/>
          <a:stretch>
            <a:fillRect/>
          </a:stretch>
        </p:blipFill>
        <p:spPr>
          <a:xfrm>
            <a:off x="175" y="-296"/>
            <a:ext cx="1048603" cy="481626"/>
          </a:xfrm>
          <a:prstGeom prst="rect">
            <a:avLst/>
          </a:prstGeom>
        </p:spPr>
      </p:pic>
    </p:spTree>
    <p:custDataLst>
      <p:tags r:id="rId4"/>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平行四边形 12"/>
          <p:cNvSpPr/>
          <p:nvPr/>
        </p:nvSpPr>
        <p:spPr>
          <a:xfrm rot="10800000" flipV="1">
            <a:off x="-142876" y="0"/>
            <a:ext cx="1763395" cy="549538"/>
          </a:xfrm>
          <a:prstGeom prst="parallelogram">
            <a:avLst>
              <a:gd name="adj" fmla="val 2738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b="1">
                <a:latin typeface="微软雅黑" panose="020B0503020204020204" charset="-122"/>
                <a:ea typeface="微软雅黑" panose="020B0503020204020204" charset="-122"/>
              </a:rPr>
              <a:t>赛道选择</a:t>
            </a:r>
            <a:endParaRPr lang="zh-CN" altLang="en-US" sz="1600" b="1">
              <a:latin typeface="微软雅黑" panose="020B0503020204020204" charset="-122"/>
              <a:ea typeface="微软雅黑" panose="020B0503020204020204" charset="-122"/>
            </a:endParaRPr>
          </a:p>
        </p:txBody>
      </p:sp>
      <p:sp>
        <p:nvSpPr>
          <p:cNvPr id="14" name="标题 13"/>
          <p:cNvSpPr>
            <a:spLocks noGrp="1"/>
          </p:cNvSpPr>
          <p:nvPr>
            <p:ph type="title"/>
          </p:nvPr>
        </p:nvSpPr>
        <p:spPr>
          <a:xfrm>
            <a:off x="1496060" y="0"/>
            <a:ext cx="10024745" cy="577215"/>
          </a:xfrm>
        </p:spPr>
        <p:txBody>
          <a:bodyPr>
            <a:normAutofit/>
          </a:bodyPr>
          <a:lstStyle/>
          <a:p>
            <a:r>
              <a:rPr lang="zh-CN" altLang="en-US" sz="2000" dirty="0">
                <a:solidFill>
                  <a:srgbClr val="5353B5"/>
                </a:solidFill>
                <a:latin typeface="微软雅黑" panose="020B0503020204020204" charset="-122"/>
                <a:ea typeface="微软雅黑" panose="020B0503020204020204" charset="-122"/>
                <a:cs typeface="微软雅黑" panose="020B0503020204020204" charset="-122"/>
                <a:sym typeface="+mn-ea"/>
              </a:rPr>
              <a:t>佳量 Epilcure </a:t>
            </a:r>
            <a:r>
              <a:rPr lang="zh-CN" altLang="en-US" sz="2000" dirty="0">
                <a:solidFill>
                  <a:srgbClr val="5353B5"/>
                </a:solidFill>
                <a:latin typeface="微软雅黑" panose="020B0503020204020204" charset="-122"/>
                <a:ea typeface="微软雅黑" panose="020B0503020204020204" charset="-122"/>
                <a:cs typeface="微软雅黑" panose="020B0503020204020204" charset="-122"/>
              </a:rPr>
              <a:t>市场空间测算</a:t>
            </a:r>
            <a:endParaRPr lang="zh-CN" altLang="en-US" sz="2000" dirty="0">
              <a:solidFill>
                <a:srgbClr val="5353B5"/>
              </a:solidFill>
              <a:latin typeface="微软雅黑" panose="020B0503020204020204" charset="-122"/>
              <a:ea typeface="微软雅黑" panose="020B0503020204020204" charset="-122"/>
              <a:cs typeface="微软雅黑" panose="020B0503020204020204" charset="-122"/>
            </a:endParaRPr>
          </a:p>
        </p:txBody>
      </p:sp>
      <p:graphicFrame>
        <p:nvGraphicFramePr>
          <p:cNvPr id="2" name="表格 1"/>
          <p:cNvGraphicFramePr/>
          <p:nvPr>
            <p:custDataLst>
              <p:tags r:id="rId1"/>
            </p:custDataLst>
          </p:nvPr>
        </p:nvGraphicFramePr>
        <p:xfrm>
          <a:off x="730250" y="1035050"/>
          <a:ext cx="10155555" cy="5059677"/>
        </p:xfrm>
        <a:graphic>
          <a:graphicData uri="http://schemas.openxmlformats.org/drawingml/2006/table">
            <a:tbl>
              <a:tblPr/>
              <a:tblGrid>
                <a:gridCol w="1091565"/>
                <a:gridCol w="2148840"/>
                <a:gridCol w="2628265"/>
                <a:gridCol w="4286885"/>
              </a:tblGrid>
              <a:tr h="718185">
                <a:tc>
                  <a:txBody>
                    <a:bodyPr/>
                    <a:lstStyle/>
                    <a:p>
                      <a:pPr algn="ctr" fontAlgn="ctr"/>
                      <a:r>
                        <a:rPr lang="zh-CN" altLang="en-US" sz="1400" b="1" i="0">
                          <a:solidFill>
                            <a:schemeClr val="bg1"/>
                          </a:solidFill>
                          <a:latin typeface="仿宋" panose="02010609060101010101" charset="-122"/>
                          <a:ea typeface="仿宋" panose="02010609060101010101" charset="-122"/>
                        </a:rPr>
                        <a:t>指标</a:t>
                      </a:r>
                      <a:endParaRPr lang="zh-CN" altLang="en-US" sz="1400" b="1" i="0">
                        <a:solidFill>
                          <a:schemeClr val="bg1"/>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chemeClr val="accent1"/>
                    </a:solidFill>
                  </a:tcPr>
                </a:tc>
                <a:tc>
                  <a:txBody>
                    <a:bodyPr/>
                    <a:lstStyle/>
                    <a:p>
                      <a:pPr algn="ctr" fontAlgn="ctr"/>
                      <a:r>
                        <a:rPr lang="zh-CN" altLang="en-US" sz="1400" b="1" i="0">
                          <a:solidFill>
                            <a:schemeClr val="bg1"/>
                          </a:solidFill>
                          <a:latin typeface="仿宋" panose="02010609060101010101" charset="-122"/>
                          <a:ea typeface="仿宋" panose="02010609060101010101" charset="-122"/>
                          <a:cs typeface="仿宋" panose="02010609060101010101" charset="-122"/>
                        </a:rPr>
                        <a:t>中国市场</a:t>
                      </a:r>
                      <a:endParaRPr lang="zh-CN" altLang="en-US" sz="1400" b="1" i="0">
                        <a:solidFill>
                          <a:schemeClr val="bg1"/>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chemeClr val="accent1"/>
                    </a:solidFill>
                  </a:tcPr>
                </a:tc>
                <a:tc>
                  <a:txBody>
                    <a:bodyPr/>
                    <a:lstStyle/>
                    <a:p>
                      <a:pPr algn="ctr" fontAlgn="ctr"/>
                      <a:r>
                        <a:rPr lang="zh-CN" altLang="en-US" sz="1400" b="1" i="0">
                          <a:solidFill>
                            <a:schemeClr val="bg1"/>
                          </a:solidFill>
                          <a:latin typeface="仿宋" panose="02010609060101010101" charset="-122"/>
                          <a:ea typeface="仿宋" panose="02010609060101010101" charset="-122"/>
                          <a:cs typeface="仿宋" panose="02010609060101010101" charset="-122"/>
                        </a:rPr>
                        <a:t>美国市场（以 </a:t>
                      </a:r>
                      <a:r>
                        <a:rPr lang="en-US" altLang="zh-CN" sz="1400" b="1" i="0">
                          <a:solidFill>
                            <a:schemeClr val="bg1"/>
                          </a:solidFill>
                          <a:latin typeface="仿宋" panose="02010609060101010101" charset="-122"/>
                          <a:ea typeface="仿宋" panose="02010609060101010101" charset="-122"/>
                          <a:cs typeface="仿宋" panose="02010609060101010101" charset="-122"/>
                        </a:rPr>
                        <a:t>NeuroPace </a:t>
                      </a:r>
                      <a:r>
                        <a:rPr lang="zh-CN" altLang="en-US" sz="1400" b="1" i="0">
                          <a:solidFill>
                            <a:schemeClr val="bg1"/>
                          </a:solidFill>
                          <a:latin typeface="仿宋" panose="02010609060101010101" charset="-122"/>
                          <a:ea typeface="仿宋" panose="02010609060101010101" charset="-122"/>
                          <a:cs typeface="仿宋" panose="02010609060101010101" charset="-122"/>
                        </a:rPr>
                        <a:t>为例）</a:t>
                      </a:r>
                      <a:endParaRPr lang="zh-CN" altLang="en-US" sz="1400" b="1" i="0">
                        <a:solidFill>
                          <a:schemeClr val="bg1"/>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chemeClr val="accent1"/>
                    </a:solidFill>
                  </a:tcPr>
                </a:tc>
                <a:tc>
                  <a:txBody>
                    <a:bodyPr/>
                    <a:lstStyle/>
                    <a:p>
                      <a:pPr algn="ctr" fontAlgn="ctr"/>
                      <a:r>
                        <a:rPr lang="zh-CN" altLang="en-US" sz="1400" b="1" i="0">
                          <a:solidFill>
                            <a:schemeClr val="bg1"/>
                          </a:solidFill>
                          <a:latin typeface="仿宋" panose="02010609060101010101" charset="-122"/>
                          <a:ea typeface="仿宋" panose="02010609060101010101" charset="-122"/>
                        </a:rPr>
                        <a:t>核心假设</a:t>
                      </a:r>
                      <a:endParaRPr lang="zh-CN" altLang="en-US" sz="1400" b="1" i="0">
                        <a:solidFill>
                          <a:schemeClr val="bg1"/>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solidFill>
                      <a:schemeClr val="accent1"/>
                    </a:solidFill>
                  </a:tcPr>
                </a:tc>
              </a:tr>
              <a:tr h="194310">
                <a:tc rowSpan="2">
                  <a:txBody>
                    <a:bodyPr/>
                    <a:lstStyle/>
                    <a:p>
                      <a:pPr algn="l" fontAlgn="ctr"/>
                      <a:r>
                        <a:rPr lang="zh-CN" altLang="en-US" sz="1400" b="1" i="0">
                          <a:solidFill>
                            <a:srgbClr val="000000"/>
                          </a:solidFill>
                          <a:latin typeface="仿宋" panose="02010609060101010101" charset="-122"/>
                          <a:ea typeface="仿宋" panose="02010609060101010101" charset="-122"/>
                        </a:rPr>
                        <a:t>目标患者人群</a:t>
                      </a:r>
                      <a:endParaRPr lang="zh-CN" altLang="en-US" sz="1400" b="1"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lstStyle/>
                    <a:p>
                      <a:pPr algn="l" fontAlgn="ctr"/>
                      <a:r>
                        <a:rPr lang="zh-CN" altLang="en-US" sz="1400" b="1" i="0">
                          <a:solidFill>
                            <a:srgbClr val="000000"/>
                          </a:solidFill>
                          <a:latin typeface="仿宋" panose="02010609060101010101" charset="-122"/>
                          <a:ea typeface="仿宋" panose="02010609060101010101" charset="-122"/>
                          <a:cs typeface="仿宋" panose="02010609060101010101" charset="-122"/>
                        </a:rPr>
                        <a:t>约 </a:t>
                      </a:r>
                      <a:r>
                        <a:rPr lang="en-US" altLang="zh-CN" sz="1400" b="1" i="0">
                          <a:solidFill>
                            <a:srgbClr val="000000"/>
                          </a:solidFill>
                          <a:latin typeface="仿宋" panose="02010609060101010101" charset="-122"/>
                          <a:ea typeface="仿宋" panose="02010609060101010101" charset="-122"/>
                          <a:cs typeface="仿宋" panose="02010609060101010101" charset="-122"/>
                        </a:rPr>
                        <a:t>300 </a:t>
                      </a:r>
                      <a:r>
                        <a:rPr lang="zh-CN" altLang="en-US" sz="1400" b="1" i="0">
                          <a:solidFill>
                            <a:srgbClr val="000000"/>
                          </a:solidFill>
                          <a:latin typeface="仿宋" panose="02010609060101010101" charset="-122"/>
                          <a:ea typeface="仿宋" panose="02010609060101010101" charset="-122"/>
                          <a:cs typeface="仿宋" panose="02010609060101010101" charset="-122"/>
                        </a:rPr>
                        <a:t>万人</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a:txBody>
                    <a:bodyPr/>
                    <a:lstStyle/>
                    <a:p>
                      <a:pPr algn="l" fontAlgn="ctr"/>
                      <a:r>
                        <a:rPr lang="zh-CN" altLang="en-US" sz="1400" b="1" i="0">
                          <a:solidFill>
                            <a:srgbClr val="000000"/>
                          </a:solidFill>
                          <a:latin typeface="仿宋" panose="02010609060101010101" charset="-122"/>
                          <a:ea typeface="仿宋" panose="02010609060101010101" charset="-122"/>
                          <a:cs typeface="仿宋" panose="02010609060101010101" charset="-122"/>
                        </a:rPr>
                        <a:t>约 </a:t>
                      </a:r>
                      <a:r>
                        <a:rPr lang="en-US" altLang="zh-CN" sz="1400" b="1" i="0">
                          <a:solidFill>
                            <a:srgbClr val="000000"/>
                          </a:solidFill>
                          <a:latin typeface="仿宋" panose="02010609060101010101" charset="-122"/>
                          <a:ea typeface="仿宋" panose="02010609060101010101" charset="-122"/>
                          <a:cs typeface="仿宋" panose="02010609060101010101" charset="-122"/>
                        </a:rPr>
                        <a:t>57.5 </a:t>
                      </a:r>
                      <a:r>
                        <a:rPr lang="zh-CN" altLang="en-US" sz="1400" b="1" i="0">
                          <a:solidFill>
                            <a:srgbClr val="000000"/>
                          </a:solidFill>
                          <a:latin typeface="仿宋" panose="02010609060101010101" charset="-122"/>
                          <a:ea typeface="仿宋" panose="02010609060101010101" charset="-122"/>
                          <a:cs typeface="仿宋" panose="02010609060101010101" charset="-122"/>
                        </a:rPr>
                        <a:t>万人</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rowSpan="2">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中国患者基数是美国的 </a:t>
                      </a:r>
                      <a:r>
                        <a:rPr lang="en-US" altLang="zh-CN" sz="1400" b="0" i="0">
                          <a:solidFill>
                            <a:srgbClr val="000000"/>
                          </a:solidFill>
                          <a:latin typeface="仿宋" panose="02010609060101010101" charset="-122"/>
                          <a:ea typeface="仿宋" panose="02010609060101010101" charset="-122"/>
                          <a:cs typeface="仿宋" panose="02010609060101010101" charset="-122"/>
                        </a:rPr>
                        <a:t>5 </a:t>
                      </a:r>
                      <a:r>
                        <a:rPr lang="zh-CN" altLang="en-US" sz="1400" b="0" i="0">
                          <a:solidFill>
                            <a:srgbClr val="000000"/>
                          </a:solidFill>
                          <a:latin typeface="仿宋" panose="02010609060101010101" charset="-122"/>
                          <a:ea typeface="仿宋" panose="02010609060101010101" charset="-122"/>
                          <a:cs typeface="仿宋" panose="02010609060101010101" charset="-122"/>
                        </a:rPr>
                        <a:t>倍以上，市场潜力巨大。</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388620">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c>
                  <a:txBody>
                    <a:bodyPr/>
                    <a:lstStyle/>
                    <a:p>
                      <a:pPr algn="l" fontAlgn="ctr"/>
                      <a:r>
                        <a:rPr lang="zh-CN" altLang="en-US" sz="1400" b="0" i="0">
                          <a:solidFill>
                            <a:srgbClr val="000000"/>
                          </a:solidFill>
                          <a:latin typeface="仿宋" panose="02010609060101010101" charset="-122"/>
                          <a:ea typeface="仿宋" panose="02010609060101010101" charset="-122"/>
                        </a:rPr>
                        <a:t>（药物难治性癫痫患者）</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a:txBody>
                    <a:bodyPr/>
                    <a:lstStyle/>
                    <a:p>
                      <a:pPr algn="l" fontAlgn="ctr"/>
                      <a:r>
                        <a:rPr lang="zh-CN" altLang="en-US" sz="1400" b="0" i="0">
                          <a:solidFill>
                            <a:srgbClr val="000000"/>
                          </a:solidFill>
                          <a:latin typeface="仿宋" panose="02010609060101010101" charset="-122"/>
                          <a:ea typeface="仿宋" panose="02010609060101010101" charset="-122"/>
                        </a:rPr>
                        <a:t>（成人局灶性难治性癫痫）</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r>
              <a:tr h="194310">
                <a:tc rowSpan="2">
                  <a:txBody>
                    <a:bodyPr/>
                    <a:lstStyle/>
                    <a:p>
                      <a:pPr algn="l" fontAlgn="ctr"/>
                      <a:r>
                        <a:rPr lang="zh-CN" altLang="en-US" sz="1400" b="1" i="0">
                          <a:solidFill>
                            <a:srgbClr val="000000"/>
                          </a:solidFill>
                          <a:latin typeface="仿宋" panose="02010609060101010101" charset="-122"/>
                          <a:ea typeface="仿宋" panose="02010609060101010101" charset="-122"/>
                        </a:rPr>
                        <a:t>每年潜在可植入人数</a:t>
                      </a:r>
                      <a:endParaRPr lang="zh-CN" altLang="en-US" sz="1400" b="1"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lstStyle/>
                    <a:p>
                      <a:pPr algn="l" fontAlgn="ctr"/>
                      <a:r>
                        <a:rPr lang="zh-CN" altLang="en-US" sz="1400" b="1" i="0">
                          <a:solidFill>
                            <a:srgbClr val="000000"/>
                          </a:solidFill>
                          <a:latin typeface="仿宋" panose="02010609060101010101" charset="-122"/>
                          <a:ea typeface="仿宋" panose="02010609060101010101" charset="-122"/>
                          <a:cs typeface="仿宋" panose="02010609060101010101" charset="-122"/>
                        </a:rPr>
                        <a:t>约 </a:t>
                      </a:r>
                      <a:r>
                        <a:rPr lang="en-US" altLang="zh-CN" sz="1400" b="1" i="0">
                          <a:solidFill>
                            <a:srgbClr val="000000"/>
                          </a:solidFill>
                          <a:latin typeface="仿宋" panose="02010609060101010101" charset="-122"/>
                          <a:ea typeface="仿宋" panose="02010609060101010101" charset="-122"/>
                          <a:cs typeface="仿宋" panose="02010609060101010101" charset="-122"/>
                        </a:rPr>
                        <a:t>2-3 </a:t>
                      </a:r>
                      <a:r>
                        <a:rPr lang="zh-CN" altLang="en-US" sz="1400" b="1" i="0">
                          <a:solidFill>
                            <a:srgbClr val="000000"/>
                          </a:solidFill>
                          <a:latin typeface="仿宋" panose="02010609060101010101" charset="-122"/>
                          <a:ea typeface="仿宋" panose="02010609060101010101" charset="-122"/>
                          <a:cs typeface="仿宋" panose="02010609060101010101" charset="-122"/>
                        </a:rPr>
                        <a:t>万人</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a:txBody>
                    <a:bodyPr/>
                    <a:lstStyle/>
                    <a:p>
                      <a:pPr algn="l" fontAlgn="ctr"/>
                      <a:r>
                        <a:rPr lang="zh-CN" altLang="en-US" sz="1400" b="1" i="0">
                          <a:solidFill>
                            <a:srgbClr val="000000"/>
                          </a:solidFill>
                          <a:latin typeface="仿宋" panose="02010609060101010101" charset="-122"/>
                          <a:ea typeface="仿宋" panose="02010609060101010101" charset="-122"/>
                          <a:cs typeface="仿宋" panose="02010609060101010101" charset="-122"/>
                        </a:rPr>
                        <a:t>约 </a:t>
                      </a:r>
                      <a:r>
                        <a:rPr lang="en-US" altLang="zh-CN" sz="1400" b="1" i="0">
                          <a:solidFill>
                            <a:srgbClr val="000000"/>
                          </a:solidFill>
                          <a:latin typeface="仿宋" panose="02010609060101010101" charset="-122"/>
                          <a:ea typeface="仿宋" panose="02010609060101010101" charset="-122"/>
                          <a:cs typeface="仿宋" panose="02010609060101010101" charset="-122"/>
                        </a:rPr>
                        <a:t>2.4 </a:t>
                      </a:r>
                      <a:r>
                        <a:rPr lang="zh-CN" altLang="en-US" sz="1400" b="1" i="0">
                          <a:solidFill>
                            <a:srgbClr val="000000"/>
                          </a:solidFill>
                          <a:latin typeface="仿宋" panose="02010609060101010101" charset="-122"/>
                          <a:ea typeface="仿宋" panose="02010609060101010101" charset="-122"/>
                          <a:cs typeface="仿宋" panose="02010609060101010101" charset="-122"/>
                        </a:rPr>
                        <a:t>万人</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rowSpan="2">
                  <a:txBody>
                    <a:bodyPr/>
                    <a:lstStyle/>
                    <a:p>
                      <a:pPr algn="l" fontAlgn="ctr"/>
                      <a:r>
                        <a:rPr lang="zh-CN" altLang="en-US" sz="1400" b="0" i="0">
                          <a:solidFill>
                            <a:srgbClr val="000000"/>
                          </a:solidFill>
                          <a:latin typeface="仿宋" panose="02010609060101010101" charset="-122"/>
                          <a:ea typeface="仿宋" panose="02010609060101010101" charset="-122"/>
                        </a:rPr>
                        <a:t>两国每年新增潜在需求规模相当。</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668020">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（符合 </a:t>
                      </a:r>
                      <a:r>
                        <a:rPr lang="en-US" altLang="zh-CN" sz="1400" b="0" i="0">
                          <a:solidFill>
                            <a:srgbClr val="000000"/>
                          </a:solidFill>
                          <a:latin typeface="仿宋" panose="02010609060101010101" charset="-122"/>
                          <a:ea typeface="仿宋" panose="02010609060101010101" charset="-122"/>
                          <a:cs typeface="仿宋" panose="02010609060101010101" charset="-122"/>
                        </a:rPr>
                        <a:t>RNS </a:t>
                      </a:r>
                      <a:r>
                        <a:rPr lang="zh-CN" altLang="en-US" sz="1400" b="0" i="0">
                          <a:solidFill>
                            <a:srgbClr val="000000"/>
                          </a:solidFill>
                          <a:latin typeface="仿宋" panose="02010609060101010101" charset="-122"/>
                          <a:ea typeface="仿宋" panose="02010609060101010101" charset="-122"/>
                          <a:cs typeface="仿宋" panose="02010609060101010101" charset="-122"/>
                        </a:rPr>
                        <a:t>适应症的局灶性患者）</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（经顶级癫痫中心评估后适合 </a:t>
                      </a:r>
                      <a:r>
                        <a:rPr lang="en-US" altLang="zh-CN" sz="1400" b="0" i="0">
                          <a:solidFill>
                            <a:srgbClr val="000000"/>
                          </a:solidFill>
                          <a:latin typeface="仿宋" panose="02010609060101010101" charset="-122"/>
                          <a:ea typeface="仿宋" panose="02010609060101010101" charset="-122"/>
                          <a:cs typeface="仿宋" panose="02010609060101010101" charset="-122"/>
                        </a:rPr>
                        <a:t>RNS </a:t>
                      </a:r>
                      <a:r>
                        <a:rPr lang="zh-CN" altLang="en-US" sz="1400" b="0" i="0">
                          <a:solidFill>
                            <a:srgbClr val="000000"/>
                          </a:solidFill>
                          <a:latin typeface="仿宋" panose="02010609060101010101" charset="-122"/>
                          <a:ea typeface="仿宋" panose="02010609060101010101" charset="-122"/>
                          <a:cs typeface="仿宋" panose="02010609060101010101" charset="-122"/>
                        </a:rPr>
                        <a:t>的患者）</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r>
              <a:tr h="289560">
                <a:tc rowSpan="2">
                  <a:txBody>
                    <a:bodyPr/>
                    <a:lstStyle/>
                    <a:p>
                      <a:pPr algn="l" fontAlgn="ctr"/>
                      <a:r>
                        <a:rPr lang="zh-CN" altLang="en-US" sz="1400" b="1" i="0">
                          <a:solidFill>
                            <a:srgbClr val="000000"/>
                          </a:solidFill>
                          <a:latin typeface="仿宋" panose="02010609060101010101" charset="-122"/>
                          <a:ea typeface="仿宋" panose="02010609060101010101" charset="-122"/>
                          <a:cs typeface="仿宋" panose="02010609060101010101" charset="-122"/>
                        </a:rPr>
                        <a:t>产品定价（</a:t>
                      </a:r>
                      <a:r>
                        <a:rPr lang="en-US" altLang="zh-CN" sz="1400" b="1" i="0">
                          <a:solidFill>
                            <a:srgbClr val="000000"/>
                          </a:solidFill>
                          <a:latin typeface="仿宋" panose="02010609060101010101" charset="-122"/>
                          <a:ea typeface="仿宋" panose="02010609060101010101" charset="-122"/>
                          <a:cs typeface="仿宋" panose="02010609060101010101" charset="-122"/>
                        </a:rPr>
                        <a:t>ASP</a:t>
                      </a:r>
                      <a:r>
                        <a:rPr lang="zh-CN" altLang="en-US" sz="1400" b="1" i="0">
                          <a:solidFill>
                            <a:srgbClr val="000000"/>
                          </a:solidFill>
                          <a:latin typeface="仿宋" panose="02010609060101010101" charset="-122"/>
                          <a:ea typeface="仿宋" panose="02010609060101010101" charset="-122"/>
                          <a:cs typeface="仿宋" panose="02010609060101010101" charset="-122"/>
                        </a:rPr>
                        <a:t>）</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lstStyle/>
                    <a:p>
                      <a:pPr algn="l" fontAlgn="ctr"/>
                      <a:r>
                        <a:rPr lang="en-US" altLang="zh-CN" sz="1400" b="1" i="0">
                          <a:solidFill>
                            <a:srgbClr val="000000"/>
                          </a:solidFill>
                          <a:latin typeface="仿宋" panose="02010609060101010101" charset="-122"/>
                          <a:ea typeface="仿宋" panose="02010609060101010101" charset="-122"/>
                          <a:cs typeface="仿宋" panose="02010609060101010101" charset="-122"/>
                        </a:rPr>
                        <a:t>30-40 </a:t>
                      </a:r>
                      <a:r>
                        <a:rPr lang="zh-CN" altLang="en-US" sz="1400" b="1" i="0">
                          <a:solidFill>
                            <a:srgbClr val="000000"/>
                          </a:solidFill>
                          <a:latin typeface="仿宋" panose="02010609060101010101" charset="-122"/>
                          <a:ea typeface="仿宋" panose="02010609060101010101" charset="-122"/>
                          <a:cs typeface="仿宋" panose="02010609060101010101" charset="-122"/>
                        </a:rPr>
                        <a:t>万人民币 </a:t>
                      </a:r>
                      <a:r>
                        <a:rPr lang="en-US" altLang="zh-CN" sz="1400" b="1" i="0">
                          <a:solidFill>
                            <a:srgbClr val="000000"/>
                          </a:solidFill>
                          <a:latin typeface="仿宋" panose="02010609060101010101" charset="-122"/>
                          <a:ea typeface="仿宋" panose="02010609060101010101" charset="-122"/>
                          <a:cs typeface="仿宋" panose="02010609060101010101" charset="-122"/>
                        </a:rPr>
                        <a:t>/ </a:t>
                      </a:r>
                      <a:r>
                        <a:rPr lang="zh-CN" altLang="en-US" sz="1400" b="1" i="0">
                          <a:solidFill>
                            <a:srgbClr val="000000"/>
                          </a:solidFill>
                          <a:latin typeface="仿宋" panose="02010609060101010101" charset="-122"/>
                          <a:ea typeface="仿宋" panose="02010609060101010101" charset="-122"/>
                          <a:cs typeface="仿宋" panose="02010609060101010101" charset="-122"/>
                        </a:rPr>
                        <a:t>台</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a:txBody>
                    <a:bodyPr/>
                    <a:lstStyle/>
                    <a:p>
                      <a:pPr algn="l" fontAlgn="ctr"/>
                      <a:r>
                        <a:rPr lang="zh-CN" altLang="en-US" sz="1400" b="1" i="0">
                          <a:solidFill>
                            <a:srgbClr val="000000"/>
                          </a:solidFill>
                          <a:latin typeface="仿宋" panose="02010609060101010101" charset="-122"/>
                          <a:ea typeface="仿宋" panose="02010609060101010101" charset="-122"/>
                          <a:cs typeface="仿宋" panose="02010609060101010101" charset="-122"/>
                        </a:rPr>
                        <a:t>约 </a:t>
                      </a:r>
                      <a:r>
                        <a:rPr lang="en-US" altLang="zh-CN" sz="1400" b="1" i="0">
                          <a:solidFill>
                            <a:srgbClr val="000000"/>
                          </a:solidFill>
                          <a:latin typeface="仿宋" panose="02010609060101010101" charset="-122"/>
                          <a:ea typeface="仿宋" panose="02010609060101010101" charset="-122"/>
                          <a:cs typeface="仿宋" panose="02010609060101010101" charset="-122"/>
                        </a:rPr>
                        <a:t>20</a:t>
                      </a:r>
                      <a:r>
                        <a:rPr lang="zh-CN" altLang="en-US" sz="1400" b="1" i="0">
                          <a:solidFill>
                            <a:srgbClr val="000000"/>
                          </a:solidFill>
                          <a:latin typeface="仿宋" panose="02010609060101010101" charset="-122"/>
                          <a:ea typeface="仿宋" panose="02010609060101010101" charset="-122"/>
                          <a:cs typeface="仿宋" panose="02010609060101010101" charset="-122"/>
                        </a:rPr>
                        <a:t>万美元 </a:t>
                      </a:r>
                      <a:r>
                        <a:rPr lang="en-US" altLang="zh-CN" sz="1400" b="1" i="0">
                          <a:solidFill>
                            <a:srgbClr val="000000"/>
                          </a:solidFill>
                          <a:latin typeface="仿宋" panose="02010609060101010101" charset="-122"/>
                          <a:ea typeface="仿宋" panose="02010609060101010101" charset="-122"/>
                          <a:cs typeface="仿宋" panose="02010609060101010101" charset="-122"/>
                        </a:rPr>
                        <a:t>/ </a:t>
                      </a:r>
                      <a:r>
                        <a:rPr lang="zh-CN" altLang="en-US" sz="1400" b="1" i="0">
                          <a:solidFill>
                            <a:srgbClr val="000000"/>
                          </a:solidFill>
                          <a:latin typeface="仿宋" panose="02010609060101010101" charset="-122"/>
                          <a:ea typeface="仿宋" panose="02010609060101010101" charset="-122"/>
                          <a:cs typeface="仿宋" panose="02010609060101010101" charset="-122"/>
                        </a:rPr>
                        <a:t>台</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rowSpan="2">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国产 </a:t>
                      </a:r>
                      <a:r>
                        <a:rPr lang="en-US" altLang="zh-CN" sz="1400" b="0" i="0">
                          <a:solidFill>
                            <a:srgbClr val="000000"/>
                          </a:solidFill>
                          <a:latin typeface="仿宋" panose="02010609060101010101" charset="-122"/>
                          <a:ea typeface="仿宋" panose="02010609060101010101" charset="-122"/>
                          <a:cs typeface="仿宋" panose="02010609060101010101" charset="-122"/>
                        </a:rPr>
                        <a:t>RNS </a:t>
                      </a:r>
                      <a:r>
                        <a:rPr lang="zh-CN" altLang="en-US" sz="1400" b="0" i="0">
                          <a:solidFill>
                            <a:srgbClr val="000000"/>
                          </a:solidFill>
                          <a:latin typeface="仿宋" panose="02010609060101010101" charset="-122"/>
                          <a:ea typeface="仿宋" panose="02010609060101010101" charset="-122"/>
                          <a:cs typeface="仿宋" panose="02010609060101010101" charset="-122"/>
                        </a:rPr>
                        <a:t>价格仅为进口的 </a:t>
                      </a:r>
                      <a:r>
                        <a:rPr lang="en-US" altLang="zh-CN" sz="1400" b="0" i="0">
                          <a:solidFill>
                            <a:srgbClr val="000000"/>
                          </a:solidFill>
                          <a:latin typeface="仿宋" panose="02010609060101010101" charset="-122"/>
                          <a:ea typeface="仿宋" panose="02010609060101010101" charset="-122"/>
                          <a:cs typeface="仿宋" panose="02010609060101010101" charset="-122"/>
                        </a:rPr>
                        <a:t>1/4</a:t>
                      </a:r>
                      <a:r>
                        <a:rPr lang="zh-CN" altLang="en-US" sz="1400" b="0" i="0">
                          <a:solidFill>
                            <a:srgbClr val="000000"/>
                          </a:solidFill>
                          <a:latin typeface="仿宋" panose="02010609060101010101" charset="-122"/>
                          <a:ea typeface="仿宋" panose="02010609060101010101" charset="-122"/>
                          <a:cs typeface="仿宋" panose="02010609060101010101" charset="-122"/>
                        </a:rPr>
                        <a:t>，更易被市场接受和医保覆盖。</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474345">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c>
                  <a:txBody>
                    <a:bodyPr/>
                    <a:lstStyle/>
                    <a:p>
                      <a:pPr algn="l" fontAlgn="ctr"/>
                      <a:r>
                        <a:rPr lang="zh-CN" altLang="en-US" sz="1400" b="0" i="0">
                          <a:solidFill>
                            <a:srgbClr val="000000"/>
                          </a:solidFill>
                          <a:latin typeface="仿宋" panose="02010609060101010101" charset="-122"/>
                          <a:ea typeface="仿宋" panose="02010609060101010101" charset="-122"/>
                        </a:rPr>
                        <a:t>（国产替代，具备价格优势）</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（约 </a:t>
                      </a:r>
                      <a:r>
                        <a:rPr lang="en-US" altLang="zh-CN" sz="1400" b="0" i="0">
                          <a:solidFill>
                            <a:srgbClr val="000000"/>
                          </a:solidFill>
                          <a:latin typeface="仿宋" panose="02010609060101010101" charset="-122"/>
                          <a:ea typeface="仿宋" panose="02010609060101010101" charset="-122"/>
                          <a:cs typeface="仿宋" panose="02010609060101010101" charset="-122"/>
                        </a:rPr>
                        <a:t>20 </a:t>
                      </a:r>
                      <a:r>
                        <a:rPr lang="zh-CN" altLang="en-US" sz="1400" b="0" i="0">
                          <a:solidFill>
                            <a:srgbClr val="000000"/>
                          </a:solidFill>
                          <a:latin typeface="仿宋" panose="02010609060101010101" charset="-122"/>
                          <a:ea typeface="仿宋" panose="02010609060101010101" charset="-122"/>
                          <a:cs typeface="仿宋" panose="02010609060101010101" charset="-122"/>
                        </a:rPr>
                        <a:t>万美元，全球唯一）</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r>
              <a:tr h="0">
                <a:tc rowSpan="2">
                  <a:txBody>
                    <a:bodyPr/>
                    <a:lstStyle/>
                    <a:p>
                      <a:pPr algn="l" fontAlgn="ctr"/>
                      <a:r>
                        <a:rPr lang="zh-CN" altLang="en-US" sz="1400" b="1" i="0">
                          <a:solidFill>
                            <a:srgbClr val="000000"/>
                          </a:solidFill>
                          <a:latin typeface="仿宋" panose="02010609060101010101" charset="-122"/>
                          <a:ea typeface="仿宋" panose="02010609060101010101" charset="-122"/>
                        </a:rPr>
                        <a:t>市场渗透率</a:t>
                      </a:r>
                      <a:endParaRPr lang="zh-CN" altLang="en-US" sz="1400" b="1"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lstStyle/>
                    <a:p>
                      <a:pPr algn="l" fontAlgn="ctr"/>
                      <a:r>
                        <a:rPr lang="en-US" altLang="zh-CN" sz="1400" b="1" i="0">
                          <a:solidFill>
                            <a:srgbClr val="000000"/>
                          </a:solidFill>
                          <a:latin typeface="仿宋" panose="02010609060101010101" charset="-122"/>
                          <a:ea typeface="仿宋" panose="02010609060101010101" charset="-122"/>
                        </a:rPr>
                        <a:t>0%</a:t>
                      </a:r>
                      <a:endParaRPr lang="en-US" altLang="zh-CN" sz="1400" b="1"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a:txBody>
                    <a:bodyPr/>
                    <a:lstStyle/>
                    <a:p>
                      <a:pPr algn="l" fontAlgn="ctr"/>
                      <a:r>
                        <a:rPr lang="zh-CN" altLang="en-US" sz="1400" b="1" i="0">
                          <a:solidFill>
                            <a:srgbClr val="000000"/>
                          </a:solidFill>
                          <a:latin typeface="仿宋" panose="02010609060101010101" charset="-122"/>
                          <a:ea typeface="仿宋" panose="02010609060101010101" charset="-122"/>
                          <a:cs typeface="仿宋" panose="02010609060101010101" charset="-122"/>
                        </a:rPr>
                        <a:t>约 </a:t>
                      </a:r>
                      <a:r>
                        <a:rPr lang="en-US" altLang="zh-CN" sz="1400" b="1" i="0">
                          <a:solidFill>
                            <a:srgbClr val="000000"/>
                          </a:solidFill>
                          <a:latin typeface="仿宋" panose="02010609060101010101" charset="-122"/>
                          <a:ea typeface="仿宋" panose="02010609060101010101" charset="-122"/>
                          <a:cs typeface="仿宋" panose="02010609060101010101" charset="-122"/>
                        </a:rPr>
                        <a:t>2%</a:t>
                      </a:r>
                      <a:endParaRPr lang="en-US" altLang="zh-CN"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rowSpan="2">
                  <a:txBody>
                    <a:bodyPr/>
                    <a:lstStyle/>
                    <a:p>
                      <a:pPr algn="l" fontAlgn="ctr"/>
                      <a:r>
                        <a:rPr lang="zh-CN" altLang="en-US" sz="1400" b="0" i="0">
                          <a:solidFill>
                            <a:srgbClr val="000000"/>
                          </a:solidFill>
                          <a:latin typeface="仿宋" panose="02010609060101010101" charset="-122"/>
                          <a:ea typeface="仿宋" panose="02010609060101010101" charset="-122"/>
                        </a:rPr>
                        <a:t>中国市场处于绝对蓝海，佳量将享受先发优势，快速抢占市场。</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473710">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c>
                  <a:txBody>
                    <a:bodyPr/>
                    <a:lstStyle/>
                    <a:p>
                      <a:pPr algn="l" fontAlgn="ctr"/>
                      <a:r>
                        <a:rPr lang="zh-CN" altLang="en-US" sz="1400" b="0" i="0">
                          <a:solidFill>
                            <a:srgbClr val="000000"/>
                          </a:solidFill>
                          <a:latin typeface="仿宋" panose="02010609060101010101" charset="-122"/>
                          <a:ea typeface="仿宋" panose="02010609060101010101" charset="-122"/>
                        </a:rPr>
                        <a:t>（无获批产品，市场完全空白）</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（年植入 </a:t>
                      </a:r>
                      <a:r>
                        <a:rPr lang="en-US" altLang="zh-CN" sz="1400" b="0" i="0">
                          <a:solidFill>
                            <a:srgbClr val="000000"/>
                          </a:solidFill>
                          <a:latin typeface="仿宋" panose="02010609060101010101" charset="-122"/>
                          <a:ea typeface="仿宋" panose="02010609060101010101" charset="-122"/>
                          <a:cs typeface="仿宋" panose="02010609060101010101" charset="-122"/>
                        </a:rPr>
                        <a:t>500 </a:t>
                      </a:r>
                      <a:r>
                        <a:rPr lang="zh-CN" altLang="en-US" sz="1400" b="0" i="0">
                          <a:solidFill>
                            <a:srgbClr val="000000"/>
                          </a:solidFill>
                          <a:latin typeface="仿宋" panose="02010609060101010101" charset="-122"/>
                          <a:ea typeface="仿宋" panose="02010609060101010101" charset="-122"/>
                          <a:cs typeface="仿宋" panose="02010609060101010101" charset="-122"/>
                        </a:rPr>
                        <a:t>台 </a:t>
                      </a:r>
                      <a:r>
                        <a:rPr lang="en-US" altLang="zh-CN" sz="1400" b="0" i="0">
                          <a:solidFill>
                            <a:srgbClr val="000000"/>
                          </a:solidFill>
                          <a:latin typeface="仿宋" panose="02010609060101010101" charset="-122"/>
                          <a:ea typeface="仿宋" panose="02010609060101010101" charset="-122"/>
                          <a:cs typeface="仿宋" panose="02010609060101010101" charset="-122"/>
                        </a:rPr>
                        <a:t>/ </a:t>
                      </a:r>
                      <a:r>
                        <a:rPr lang="zh-CN" altLang="en-US" sz="1400" b="0" i="0">
                          <a:solidFill>
                            <a:srgbClr val="000000"/>
                          </a:solidFill>
                          <a:latin typeface="仿宋" panose="02010609060101010101" charset="-122"/>
                          <a:ea typeface="仿宋" panose="02010609060101010101" charset="-122"/>
                          <a:cs typeface="仿宋" panose="02010609060101010101" charset="-122"/>
                        </a:rPr>
                        <a:t>年潜在 </a:t>
                      </a:r>
                      <a:r>
                        <a:rPr lang="en-US" altLang="zh-CN" sz="1400" b="0" i="0">
                          <a:solidFill>
                            <a:srgbClr val="000000"/>
                          </a:solidFill>
                          <a:latin typeface="仿宋" panose="02010609060101010101" charset="-122"/>
                          <a:ea typeface="仿宋" panose="02010609060101010101" charset="-122"/>
                          <a:cs typeface="仿宋" panose="02010609060101010101" charset="-122"/>
                        </a:rPr>
                        <a:t>2.4 </a:t>
                      </a:r>
                      <a:r>
                        <a:rPr lang="zh-CN" altLang="en-US" sz="1400" b="0" i="0">
                          <a:solidFill>
                            <a:srgbClr val="000000"/>
                          </a:solidFill>
                          <a:latin typeface="仿宋" panose="02010609060101010101" charset="-122"/>
                          <a:ea typeface="仿宋" panose="02010609060101010101" charset="-122"/>
                          <a:cs typeface="仿宋" panose="02010609060101010101" charset="-122"/>
                        </a:rPr>
                        <a:t>万人）</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r>
              <a:tr h="194310">
                <a:tc rowSpan="2">
                  <a:txBody>
                    <a:bodyPr/>
                    <a:lstStyle/>
                    <a:p>
                      <a:pPr algn="l" fontAlgn="ctr"/>
                      <a:r>
                        <a:rPr lang="zh-CN" altLang="en-US" sz="1400" b="1" i="0">
                          <a:solidFill>
                            <a:srgbClr val="000000"/>
                          </a:solidFill>
                          <a:latin typeface="仿宋" panose="02010609060101010101" charset="-122"/>
                          <a:ea typeface="仿宋" panose="02010609060101010101" charset="-122"/>
                        </a:rPr>
                        <a:t>年市场规模（潜在）</a:t>
                      </a:r>
                      <a:endParaRPr lang="zh-CN" altLang="en-US" sz="1400" b="1"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lstStyle/>
                    <a:p>
                      <a:pPr algn="l" fontAlgn="ctr"/>
                      <a:r>
                        <a:rPr lang="en-US" altLang="zh-CN" sz="1400" b="1" i="0">
                          <a:solidFill>
                            <a:srgbClr val="000000"/>
                          </a:solidFill>
                          <a:latin typeface="仿宋" panose="02010609060101010101" charset="-122"/>
                          <a:ea typeface="仿宋" panose="02010609060101010101" charset="-122"/>
                          <a:cs typeface="仿宋" panose="02010609060101010101" charset="-122"/>
                        </a:rPr>
                        <a:t>60-120 </a:t>
                      </a:r>
                      <a:r>
                        <a:rPr lang="zh-CN" altLang="en-US" sz="1400" b="1" i="0">
                          <a:solidFill>
                            <a:srgbClr val="000000"/>
                          </a:solidFill>
                          <a:latin typeface="仿宋" panose="02010609060101010101" charset="-122"/>
                          <a:ea typeface="仿宋" panose="02010609060101010101" charset="-122"/>
                          <a:cs typeface="仿宋" panose="02010609060101010101" charset="-122"/>
                        </a:rPr>
                        <a:t>亿人民币</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a:txBody>
                    <a:bodyPr/>
                    <a:lstStyle/>
                    <a:p>
                      <a:pPr algn="l" fontAlgn="ctr"/>
                      <a:r>
                        <a:rPr lang="zh-CN" altLang="en-US" sz="1400" b="1" i="0">
                          <a:solidFill>
                            <a:srgbClr val="000000"/>
                          </a:solidFill>
                          <a:latin typeface="仿宋" panose="02010609060101010101" charset="-122"/>
                          <a:ea typeface="仿宋" panose="02010609060101010101" charset="-122"/>
                          <a:cs typeface="仿宋" panose="02010609060101010101" charset="-122"/>
                        </a:rPr>
                        <a:t>约 </a:t>
                      </a:r>
                      <a:r>
                        <a:rPr lang="en-US" altLang="zh-CN" sz="1400" b="1" i="0">
                          <a:solidFill>
                            <a:srgbClr val="000000"/>
                          </a:solidFill>
                          <a:latin typeface="仿宋" panose="02010609060101010101" charset="-122"/>
                          <a:ea typeface="仿宋" panose="02010609060101010101" charset="-122"/>
                          <a:cs typeface="仿宋" panose="02010609060101010101" charset="-122"/>
                        </a:rPr>
                        <a:t>48 </a:t>
                      </a:r>
                      <a:r>
                        <a:rPr lang="zh-CN" altLang="en-US" sz="1400" b="1" i="0">
                          <a:solidFill>
                            <a:srgbClr val="000000"/>
                          </a:solidFill>
                          <a:latin typeface="仿宋" panose="02010609060101010101" charset="-122"/>
                          <a:ea typeface="仿宋" panose="02010609060101010101" charset="-122"/>
                          <a:cs typeface="仿宋" panose="02010609060101010101" charset="-122"/>
                        </a:rPr>
                        <a:t>亿美元</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rowSpan="2">
                  <a:txBody>
                    <a:bodyPr/>
                    <a:lstStyle/>
                    <a:p>
                      <a:pPr algn="l" fontAlgn="ctr"/>
                      <a:r>
                        <a:rPr lang="zh-CN" altLang="en-US" sz="1400" b="0" i="0">
                          <a:solidFill>
                            <a:srgbClr val="000000"/>
                          </a:solidFill>
                          <a:latin typeface="仿宋" panose="02010609060101010101" charset="-122"/>
                          <a:ea typeface="仿宋" panose="02010609060101010101" charset="-122"/>
                        </a:rPr>
                        <a:t>尽管美国定价高，但中国庞大的患者基数使其潜在市场规模接近美国。</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401955">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（按 </a:t>
                      </a:r>
                      <a:r>
                        <a:rPr lang="en-US" altLang="zh-CN" sz="1400" b="0" i="0">
                          <a:solidFill>
                            <a:srgbClr val="000000"/>
                          </a:solidFill>
                          <a:latin typeface="仿宋" panose="02010609060101010101" charset="-122"/>
                          <a:ea typeface="仿宋" panose="02010609060101010101" charset="-122"/>
                          <a:cs typeface="仿宋" panose="02010609060101010101" charset="-122"/>
                        </a:rPr>
                        <a:t>2-3 </a:t>
                      </a:r>
                      <a:r>
                        <a:rPr lang="zh-CN" altLang="en-US" sz="1400" b="0" i="0">
                          <a:solidFill>
                            <a:srgbClr val="000000"/>
                          </a:solidFill>
                          <a:latin typeface="仿宋" panose="02010609060101010101" charset="-122"/>
                          <a:ea typeface="仿宋" panose="02010609060101010101" charset="-122"/>
                          <a:cs typeface="仿宋" panose="02010609060101010101" charset="-122"/>
                        </a:rPr>
                        <a:t>万人 </a:t>
                      </a:r>
                      <a:r>
                        <a:rPr lang="en-US" altLang="zh-CN" sz="1400" b="0" i="0">
                          <a:solidFill>
                            <a:srgbClr val="000000"/>
                          </a:solidFill>
                          <a:latin typeface="仿宋" panose="02010609060101010101" charset="-122"/>
                          <a:ea typeface="仿宋" panose="02010609060101010101" charset="-122"/>
                          <a:cs typeface="仿宋" panose="02010609060101010101" charset="-122"/>
                        </a:rPr>
                        <a:t>* 30-40 </a:t>
                      </a:r>
                      <a:r>
                        <a:rPr lang="zh-CN" altLang="en-US" sz="1400" b="0" i="0">
                          <a:solidFill>
                            <a:srgbClr val="000000"/>
                          </a:solidFill>
                          <a:latin typeface="仿宋" panose="02010609060101010101" charset="-122"/>
                          <a:ea typeface="仿宋" panose="02010609060101010101" charset="-122"/>
                          <a:cs typeface="仿宋" panose="02010609060101010101" charset="-122"/>
                        </a:rPr>
                        <a:t>万计算）</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（按 </a:t>
                      </a:r>
                      <a:r>
                        <a:rPr lang="en-US" altLang="zh-CN" sz="1400" b="0" i="0">
                          <a:solidFill>
                            <a:srgbClr val="000000"/>
                          </a:solidFill>
                          <a:latin typeface="仿宋" panose="02010609060101010101" charset="-122"/>
                          <a:ea typeface="仿宋" panose="02010609060101010101" charset="-122"/>
                          <a:cs typeface="仿宋" panose="02010609060101010101" charset="-122"/>
                        </a:rPr>
                        <a:t>2.4 </a:t>
                      </a:r>
                      <a:r>
                        <a:rPr lang="zh-CN" altLang="en-US" sz="1400" b="0" i="0">
                          <a:solidFill>
                            <a:srgbClr val="000000"/>
                          </a:solidFill>
                          <a:latin typeface="仿宋" panose="02010609060101010101" charset="-122"/>
                          <a:ea typeface="仿宋" panose="02010609060101010101" charset="-122"/>
                          <a:cs typeface="仿宋" panose="02010609060101010101" charset="-122"/>
                        </a:rPr>
                        <a:t>万人 </a:t>
                      </a:r>
                      <a:r>
                        <a:rPr lang="en-US" altLang="zh-CN" sz="1400" b="0" i="0">
                          <a:solidFill>
                            <a:srgbClr val="000000"/>
                          </a:solidFill>
                          <a:latin typeface="仿宋" panose="02010609060101010101" charset="-122"/>
                          <a:ea typeface="仿宋" panose="02010609060101010101" charset="-122"/>
                          <a:cs typeface="仿宋" panose="02010609060101010101" charset="-122"/>
                        </a:rPr>
                        <a:t>* 20</a:t>
                      </a:r>
                      <a:r>
                        <a:rPr lang="zh-CN" altLang="en-US" sz="1400" b="0" i="0">
                          <a:solidFill>
                            <a:srgbClr val="000000"/>
                          </a:solidFill>
                          <a:latin typeface="仿宋" panose="02010609060101010101" charset="-122"/>
                          <a:ea typeface="仿宋" panose="02010609060101010101" charset="-122"/>
                          <a:cs typeface="仿宋" panose="02010609060101010101" charset="-122"/>
                        </a:rPr>
                        <a:t>万美元计算）</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r>
              <a:tr h="194310">
                <a:tc rowSpan="2">
                  <a:txBody>
                    <a:bodyPr/>
                    <a:lstStyle/>
                    <a:p>
                      <a:pPr algn="l" fontAlgn="ctr"/>
                      <a:r>
                        <a:rPr lang="zh-CN" altLang="en-US" sz="1400" b="1" i="0">
                          <a:solidFill>
                            <a:srgbClr val="000000"/>
                          </a:solidFill>
                          <a:latin typeface="仿宋" panose="02010609060101010101" charset="-122"/>
                          <a:ea typeface="仿宋" panose="02010609060101010101" charset="-122"/>
                        </a:rPr>
                        <a:t>年市场规模（实际）</a:t>
                      </a:r>
                      <a:endParaRPr lang="zh-CN" altLang="en-US" sz="1400" b="1"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lstStyle/>
                    <a:p>
                      <a:pPr algn="l" fontAlgn="ctr"/>
                      <a:r>
                        <a:rPr lang="en-US" altLang="zh-CN" sz="1400" b="1" i="0">
                          <a:solidFill>
                            <a:srgbClr val="000000"/>
                          </a:solidFill>
                          <a:latin typeface="仿宋" panose="02010609060101010101" charset="-122"/>
                          <a:ea typeface="仿宋" panose="02010609060101010101" charset="-122"/>
                        </a:rPr>
                        <a:t>0</a:t>
                      </a:r>
                      <a:endParaRPr lang="en-US" altLang="zh-CN" sz="1400" b="1"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a:txBody>
                    <a:bodyPr/>
                    <a:lstStyle/>
                    <a:p>
                      <a:pPr algn="l" fontAlgn="ctr"/>
                      <a:r>
                        <a:rPr lang="en-US" altLang="zh-CN" sz="1400" b="1" i="0">
                          <a:solidFill>
                            <a:srgbClr val="000000"/>
                          </a:solidFill>
                          <a:latin typeface="仿宋" panose="02010609060101010101" charset="-122"/>
                          <a:ea typeface="仿宋" panose="02010609060101010101" charset="-122"/>
                          <a:cs typeface="仿宋" panose="02010609060101010101" charset="-122"/>
                        </a:rPr>
                        <a:t>2025</a:t>
                      </a:r>
                      <a:r>
                        <a:rPr lang="zh-CN" altLang="en-US" sz="1400" b="1" i="0">
                          <a:solidFill>
                            <a:srgbClr val="000000"/>
                          </a:solidFill>
                          <a:latin typeface="仿宋" panose="02010609060101010101" charset="-122"/>
                          <a:ea typeface="仿宋" panose="02010609060101010101" charset="-122"/>
                          <a:cs typeface="仿宋" panose="02010609060101010101" charset="-122"/>
                        </a:rPr>
                        <a:t>年实际销售额</a:t>
                      </a:r>
                      <a:r>
                        <a:rPr lang="en-US" altLang="zh-CN" sz="1400" b="1" i="0">
                          <a:solidFill>
                            <a:srgbClr val="000000"/>
                          </a:solidFill>
                          <a:latin typeface="仿宋" panose="02010609060101010101" charset="-122"/>
                          <a:ea typeface="仿宋" panose="02010609060101010101" charset="-122"/>
                          <a:cs typeface="仿宋" panose="02010609060101010101" charset="-122"/>
                        </a:rPr>
                        <a:t>9980</a:t>
                      </a:r>
                      <a:r>
                        <a:rPr lang="zh-CN" altLang="en-US" sz="1400" b="1" i="0">
                          <a:solidFill>
                            <a:srgbClr val="000000"/>
                          </a:solidFill>
                          <a:latin typeface="仿宋" panose="02010609060101010101" charset="-122"/>
                          <a:ea typeface="仿宋" panose="02010609060101010101" charset="-122"/>
                          <a:cs typeface="仿宋" panose="02010609060101010101" charset="-122"/>
                        </a:rPr>
                        <a:t>万美元</a:t>
                      </a:r>
                      <a:endParaRPr lang="zh-CN" altLang="en-US" sz="1400" b="1"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a:noFill/>
                    </a:lnB>
                    <a:noFill/>
                  </a:tcPr>
                </a:tc>
                <a:tc rowSpan="2">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美国成熟市场已验证 </a:t>
                      </a:r>
                      <a:r>
                        <a:rPr lang="en-US" altLang="zh-CN" sz="1400" b="0" i="0">
                          <a:solidFill>
                            <a:srgbClr val="000000"/>
                          </a:solidFill>
                          <a:latin typeface="仿宋" panose="02010609060101010101" charset="-122"/>
                          <a:ea typeface="仿宋" panose="02010609060101010101" charset="-122"/>
                          <a:cs typeface="仿宋" panose="02010609060101010101" charset="-122"/>
                        </a:rPr>
                        <a:t>RNS </a:t>
                      </a:r>
                      <a:r>
                        <a:rPr lang="zh-CN" altLang="en-US" sz="1400" b="0" i="0">
                          <a:solidFill>
                            <a:srgbClr val="000000"/>
                          </a:solidFill>
                          <a:latin typeface="仿宋" panose="02010609060101010101" charset="-122"/>
                          <a:ea typeface="仿宋" panose="02010609060101010101" charset="-122"/>
                          <a:cs typeface="仿宋" panose="02010609060101010101" charset="-122"/>
                        </a:rPr>
                        <a:t>的商业价值，中国市场一旦启动，增长将非常迅速。</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475615">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c>
                  <a:txBody>
                    <a:bodyPr/>
                    <a:lstStyle/>
                    <a:p>
                      <a:pPr algn="l" fontAlgn="ctr"/>
                      <a:r>
                        <a:rPr lang="zh-CN" altLang="en-US" sz="1400" b="0" i="0">
                          <a:solidFill>
                            <a:srgbClr val="000000"/>
                          </a:solidFill>
                          <a:latin typeface="仿宋" panose="02010609060101010101" charset="-122"/>
                          <a:ea typeface="仿宋" panose="02010609060101010101" charset="-122"/>
                        </a:rPr>
                        <a:t>（商业化前）</a:t>
                      </a:r>
                      <a:endParaRPr lang="zh-CN" altLang="en-US" sz="1400" b="0" i="0">
                        <a:solidFill>
                          <a:srgbClr val="000000"/>
                        </a:solidFill>
                        <a:latin typeface="仿宋" panose="02010609060101010101" charset="-122"/>
                        <a:ea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a:txBody>
                    <a:bodyPr/>
                    <a:lstStyle/>
                    <a:p>
                      <a:pPr algn="l" fontAlgn="ctr"/>
                      <a:r>
                        <a:rPr lang="zh-CN" altLang="en-US" sz="1400" b="0" i="0">
                          <a:solidFill>
                            <a:srgbClr val="000000"/>
                          </a:solidFill>
                          <a:latin typeface="仿宋" panose="02010609060101010101" charset="-122"/>
                          <a:ea typeface="仿宋" panose="02010609060101010101" charset="-122"/>
                          <a:cs typeface="仿宋" panose="02010609060101010101" charset="-122"/>
                        </a:rPr>
                        <a:t>（按年销 </a:t>
                      </a:r>
                      <a:r>
                        <a:rPr lang="en-US" altLang="zh-CN" sz="1400" b="0" i="0">
                          <a:solidFill>
                            <a:srgbClr val="000000"/>
                          </a:solidFill>
                          <a:latin typeface="仿宋" panose="02010609060101010101" charset="-122"/>
                          <a:ea typeface="仿宋" panose="02010609060101010101" charset="-122"/>
                          <a:cs typeface="仿宋" panose="02010609060101010101" charset="-122"/>
                        </a:rPr>
                        <a:t>500 </a:t>
                      </a:r>
                      <a:r>
                        <a:rPr lang="zh-CN" altLang="en-US" sz="1400" b="0" i="0">
                          <a:solidFill>
                            <a:srgbClr val="000000"/>
                          </a:solidFill>
                          <a:latin typeface="仿宋" panose="02010609060101010101" charset="-122"/>
                          <a:ea typeface="仿宋" panose="02010609060101010101" charset="-122"/>
                          <a:cs typeface="仿宋" panose="02010609060101010101" charset="-122"/>
                        </a:rPr>
                        <a:t>台 </a:t>
                      </a:r>
                      <a:r>
                        <a:rPr lang="en-US" altLang="zh-CN" sz="1400" b="0" i="0">
                          <a:solidFill>
                            <a:srgbClr val="000000"/>
                          </a:solidFill>
                          <a:latin typeface="仿宋" panose="02010609060101010101" charset="-122"/>
                          <a:ea typeface="仿宋" panose="02010609060101010101" charset="-122"/>
                          <a:cs typeface="仿宋" panose="02010609060101010101" charset="-122"/>
                        </a:rPr>
                        <a:t>* 20</a:t>
                      </a:r>
                      <a:r>
                        <a:rPr lang="zh-CN" altLang="en-US" sz="1400" b="0" i="0">
                          <a:solidFill>
                            <a:srgbClr val="000000"/>
                          </a:solidFill>
                          <a:latin typeface="仿宋" panose="02010609060101010101" charset="-122"/>
                          <a:ea typeface="仿宋" panose="02010609060101010101" charset="-122"/>
                          <a:cs typeface="仿宋" panose="02010609060101010101" charset="-122"/>
                        </a:rPr>
                        <a:t>万美元计算）</a:t>
                      </a:r>
                      <a:endParaRPr lang="zh-CN" altLang="en-US" sz="1400" b="0" i="0">
                        <a:solidFill>
                          <a:srgbClr val="000000"/>
                        </a:solidFill>
                        <a:latin typeface="仿宋" panose="02010609060101010101" charset="-122"/>
                        <a:ea typeface="仿宋" panose="02010609060101010101" charset="-122"/>
                        <a:cs typeface="仿宋" panose="02010609060101010101" charset="-122"/>
                      </a:endParaRPr>
                    </a:p>
                  </a:txBody>
                  <a:tcPr marL="13017" marR="13017" marT="13017" marB="0" anchor="ct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a:noFill/>
                    </a:lnT>
                    <a:lnB w="12700" cap="flat" cmpd="sng">
                      <a:solidFill>
                        <a:srgbClr val="CCCCCC"/>
                      </a:solidFill>
                      <a:prstDash val="solid"/>
                      <a:headEnd type="none" w="med" len="med"/>
                      <a:tailEnd type="none" w="med" len="med"/>
                    </a:lnB>
                    <a:noFill/>
                  </a:tcPr>
                </a:tc>
                <a:tc vMerge="1">
                  <a:tcPr>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B w="12700" cap="flat" cmpd="sng">
                      <a:solidFill>
                        <a:srgbClr val="CCCCCC"/>
                      </a:solidFill>
                      <a:prstDash val="solid"/>
                      <a:headEnd type="none" w="med" len="med"/>
                      <a:tailEnd type="none" w="med" len="med"/>
                    </a:lnB>
                  </a:tcPr>
                </a:tc>
              </a:tr>
            </a:tbl>
          </a:graphicData>
        </a:graphic>
      </p:graphicFrame>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FULL_TEXT_BEAUTIFY_COPY_ID" val="5"/>
</p:tagLst>
</file>

<file path=ppt/tags/tag6.xml><?xml version="1.0" encoding="utf-8"?>
<p:tagLst xmlns:p="http://schemas.openxmlformats.org/presentationml/2006/main">
  <p:tag name="KSO_WM_FULL_TEXT_BEAUTIFY_COPY_ID" val="6"/>
</p:tagLst>
</file>

<file path=ppt/tags/tag7.xml><?xml version="1.0" encoding="utf-8"?>
<p:tagLst xmlns:p="http://schemas.openxmlformats.org/presentationml/2006/main">
  <p:tag name="ISLIDE.THEME" val="https://www.islide.cc;"/>
  <p:tag name="KSO_WM_FULL_TEXT_BEAUTIFY_COPY_ID" val="150995202"/>
</p:tagLst>
</file>

<file path=ppt/tags/tag8.xml><?xml version="1.0" encoding="utf-8"?>
<p:tagLst xmlns:p="http://schemas.openxmlformats.org/presentationml/2006/main">
  <p:tag name="KSO_WM_FULL_TEXT_BEAUTIFY_COPY_ID" val="5"/>
</p:tagLst>
</file>

<file path=ppt/tags/tag9.xml><?xml version="1.0" encoding="utf-8"?>
<p:tagLst xmlns:p="http://schemas.openxmlformats.org/presentationml/2006/main">
  <p:tag name="KSO_WM_FULL_TEXT_BEAUTIFY_COPY_ID" val="5"/>
</p:tagLst>
</file>

<file path=ppt/tags/tag10.xml><?xml version="1.0" encoding="utf-8"?>
<p:tagLst xmlns:p="http://schemas.openxmlformats.org/presentationml/2006/main">
  <p:tag name="KSO_WM_FULL_TEXT_BEAUTIFY_COPY_ID" val="5"/>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23.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24.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25.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26.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29.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30.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31.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32.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33.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34.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35.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36.xml><?xml version="1.0" encoding="utf-8"?>
<p:tagLst xmlns:p="http://schemas.openxmlformats.org/presentationml/2006/main">
  <p:tag name="KSO_WM_FULL_TEXT_BEAUTIFY_COPY_ID" val="5"/>
</p:tagLst>
</file>

<file path=ppt/tags/tag37.xml><?xml version="1.0" encoding="utf-8"?>
<p:tagLst xmlns:p="http://schemas.openxmlformats.org/presentationml/2006/main">
  <p:tag name="TABLE_ENDDRAG_ORIGIN_RECT" val="376*94"/>
  <p:tag name="TABLE_ENDDRAG_RECT" val="11*260*376*94"/>
</p:tagLst>
</file>

<file path=ppt/tags/tag38.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 name="RESOURCE_RECORD_KEY" val="{&quot;29&quot;:[50053044],&quot;65&quot;:[20205081]}"/>
</p:tagLst>
</file>

<file path=ppt/tags/tag39.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 name="RESOURCE_RECORD_KEY" val="{&quot;29&quot;:[50053044],&quot;65&quot;:[20205081]}"/>
</p:tagLst>
</file>

<file path=ppt/tags/tag40.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 name="RESOURCE_RECORD_KEY" val="{&quot;29&quot;:[50053044],&quot;65&quot;:[20205081]}"/>
</p:tagLst>
</file>

<file path=ppt/tags/tag41.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l"/>
  <p:tag name="KSO_WM_SLIDE_LAYOUT_CNT" val="1_1"/>
  <p:tag name="KSO_WM_SLIDE_TYPE" val="text"/>
  <p:tag name="KSO_WM_SLIDE_SUBTYPE" val="picTxt"/>
  <p:tag name="KSO_WM_SLIDE_SIZE" val="733.461*299.866"/>
  <p:tag name="KSO_WM_SLIDE_POSITION" val="113.224*171.087"/>
  <p:tag name="KSO_WM_TEMPLATE_INDEX" val="20205081"/>
  <p:tag name="KSO_WM_TEMPLATE_SUBCATEGORY" val="0"/>
  <p:tag name="KSO_WM_SLIDE_INDEX" val="1"/>
  <p:tag name="KSO_WM_TAG_VERSION" val="3.0"/>
  <p:tag name="KSO_WM_SLIDE_ID" val="custom20233278_1"/>
  <p:tag name="KSO_WM_SLIDE_ITEM_CNT" val="6"/>
</p:tagLst>
</file>

<file path=ppt/tags/tag42.xml><?xml version="1.0" encoding="utf-8"?>
<p:tagLst xmlns:p="http://schemas.openxmlformats.org/presentationml/2006/main">
  <p:tag name="KSO_WM_FULL_TEXT_BEAUTIFY_COPY_ID" val="5"/>
</p:tagLst>
</file>

<file path=ppt/tags/tag43.xml><?xml version="1.0" encoding="utf-8"?>
<p:tagLst xmlns:p="http://schemas.openxmlformats.org/presentationml/2006/main">
  <p:tag name="ISLIDE.THEME" val="https://www.islide.cc;"/>
  <p:tag name="KSO_WM_FULL_TEXT_BEAUTIFY_COPY_ID" val="150995202"/>
</p:tagLst>
</file>

<file path=ppt/tags/tag44.xml><?xml version="1.0" encoding="utf-8"?>
<p:tagLst xmlns:p="http://schemas.openxmlformats.org/presentationml/2006/main">
  <p:tag name="TABLE_ENDDRAG_ORIGIN_RECT" val="343*394"/>
  <p:tag name="TABLE_ENDDRAG_RECT" val="437*107*343*394"/>
</p:tagLst>
</file>

<file path=ppt/tags/tag45.xml><?xml version="1.0" encoding="utf-8"?>
<p:tagLst xmlns:p="http://schemas.openxmlformats.org/presentationml/2006/main">
  <p:tag name="ISLIDE.THEME" val="#435891"/>
  <p:tag name="ISLIDE.SHOWCASE" val="f0627be9-e5f7-4b4e-b9c2-0bbca680d4c3"/>
  <p:tag name="ISLIDE.TEMPLATE" val="b4d0484f-ca76-4c4e-a9aa-7d467de1c3de"/>
  <p:tag name="COMMONDATA" val="eyJoZGlkIjoiMTNlYTY5MWZlNDQ2NTY2ZGMzMDNkMjEzOWVhN2M1NzAifQ=="/>
  <p:tag name="KSO_WPP_MARK_KEY" val="cb3cc774-52af-4ea6-b796-1edc5d5e26b1"/>
  <p:tag name="RESOURCE_RECORD_KEY" val="{&quot;10&quot;:[4521268],&quot;29&quot;:[50000031,50053044],&quot;65&quot;:[20205081]}"/>
</p:tagLst>
</file>

<file path=ppt/theme/theme1.xml><?xml version="1.0" encoding="utf-8"?>
<a:theme xmlns:a="http://schemas.openxmlformats.org/drawingml/2006/main" name="主题5">
  <a:themeElements>
    <a:clrScheme name="蓝色暖调">
      <a:dk1>
        <a:srgbClr val="000000"/>
      </a:dk1>
      <a:lt1>
        <a:srgbClr val="FFFFFF"/>
      </a:lt1>
      <a:dk2>
        <a:srgbClr val="778495"/>
      </a:dk2>
      <a:lt2>
        <a:srgbClr val="F0F0F0"/>
      </a:lt2>
      <a:accent1>
        <a:srgbClr val="6161E1"/>
      </a:accent1>
      <a:accent2>
        <a:srgbClr val="436AF8"/>
      </a:accent2>
      <a:accent3>
        <a:srgbClr val="FF9E1A"/>
      </a:accent3>
      <a:accent4>
        <a:srgbClr val="5353B5"/>
      </a:accent4>
      <a:accent5>
        <a:srgbClr val="A5A5A5"/>
      </a:accent5>
      <a:accent6>
        <a:srgbClr val="C9C9C9"/>
      </a:accent6>
      <a:hlink>
        <a:srgbClr val="6161E1"/>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15813</Words>
  <Application>WPS 文字</Application>
  <PresentationFormat>宽屏</PresentationFormat>
  <Paragraphs>1987</Paragraphs>
  <Slides>37</Slides>
  <Notes>37</Notes>
  <HiddenSlides>0</HiddenSlides>
  <MMClips>0</MMClips>
  <ScaleCrop>false</ScaleCrop>
  <HeadingPairs>
    <vt:vector size="6" baseType="variant">
      <vt:variant>
        <vt:lpstr>已用的字体</vt:lpstr>
      </vt:variant>
      <vt:variant>
        <vt:i4>38</vt:i4>
      </vt:variant>
      <vt:variant>
        <vt:lpstr>主题</vt:lpstr>
      </vt:variant>
      <vt:variant>
        <vt:i4>1</vt:i4>
      </vt:variant>
      <vt:variant>
        <vt:lpstr>幻灯片标题</vt:lpstr>
      </vt:variant>
      <vt:variant>
        <vt:i4>37</vt:i4>
      </vt:variant>
    </vt:vector>
  </HeadingPairs>
  <TitlesOfParts>
    <vt:vector size="76" baseType="lpstr">
      <vt:lpstr>Arial</vt:lpstr>
      <vt:lpstr>宋体</vt:lpstr>
      <vt:lpstr>Wingdings</vt:lpstr>
      <vt:lpstr>微软雅黑</vt:lpstr>
      <vt:lpstr>汉仪旗黑</vt:lpstr>
      <vt:lpstr>Times  New Roman</vt:lpstr>
      <vt:lpstr>Times New Roman</vt:lpstr>
      <vt:lpstr>楷体</vt:lpstr>
      <vt:lpstr>微软雅黑)</vt:lpstr>
      <vt:lpstr>Noto Sans SC</vt:lpstr>
      <vt:lpstr>彩虹粗仿宋</vt:lpstr>
      <vt:lpstr>Helvetica</vt:lpstr>
      <vt:lpstr>Calibri</vt:lpstr>
      <vt:lpstr>ITC Avant Garde Gothic Std Medium</vt:lpstr>
      <vt:lpstr>宋体</vt:lpstr>
      <vt:lpstr>Arial Unicode MS</vt:lpstr>
      <vt:lpstr>Helvetica Neue</vt:lpstr>
      <vt:lpstr>汉仪书宋二KW</vt:lpstr>
      <vt:lpstr>思源黑体 CN Normal</vt:lpstr>
      <vt:lpstr>微软雅黑</vt:lpstr>
      <vt:lpstr>汉仪中黑KW</vt:lpstr>
      <vt:lpstr>等线</vt:lpstr>
      <vt:lpstr>Wingdings</vt:lpstr>
      <vt:lpstr>仿宋</vt:lpstr>
      <vt:lpstr>仿宋</vt:lpstr>
      <vt:lpstr>汉仪楷体KW</vt:lpstr>
      <vt:lpstr>Thonburi</vt:lpstr>
      <vt:lpstr>方正仿宋_GBK</vt:lpstr>
      <vt:lpstr>苹方-简</vt:lpstr>
      <vt:lpstr>汉仪中等线KW</vt:lpstr>
      <vt:lpstr>Noto Sans SC</vt:lpstr>
      <vt:lpstr>仿宋</vt:lpstr>
      <vt:lpstr>彩虹粗仿宋</vt:lpstr>
      <vt:lpstr>微软雅黑</vt:lpstr>
      <vt:lpstr>楷体</vt:lpstr>
      <vt:lpstr>等线</vt:lpstr>
      <vt:lpstr>Apple Color Emoji</vt:lpstr>
      <vt:lpstr>宋体-简</vt:lpstr>
      <vt:lpstr>主题5</vt:lpstr>
      <vt:lpstr>佳量脑科学</vt:lpstr>
      <vt:lpstr>PowerPoint 演示文稿</vt:lpstr>
      <vt:lpstr>PowerPoint 演示文稿</vt:lpstr>
      <vt:lpstr>脑机接口（BCI）是以大脑意念为控制方式的下一代技术</vt:lpstr>
      <vt:lpstr>万亿风口，侵入式脑机接口是严肃医疗的硬核主线</vt:lpstr>
      <vt:lpstr>侵入式脑机接口是高性能应用（如治疗重症神经疾病）的关键路径</vt:lpstr>
      <vt:lpstr>PowerPoint 演示文稿</vt:lpstr>
      <vt:lpstr> 万亿赛道：全球BCI市场爆发在即</vt:lpstr>
      <vt:lpstr>密集出台的政策进一步打开了黄金发展窗口</vt:lpstr>
      <vt:lpstr>佳量脑科学是国内脑机接口的重点标的</vt:lpstr>
      <vt:lpstr>癫痫治疗脑机接口竞争格局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癫痫为脑机接口创新医疗器械的理想突破口</vt:lpstr>
      <vt:lpstr>PowerPoint 演示文稿</vt:lpstr>
      <vt:lpstr>PowerPoint 演示文稿</vt:lpstr>
      <vt:lpstr>PowerPoint 演示文稿</vt:lpstr>
      <vt:lpstr>脑机接口与传统神经电生理医疗器械：闭环治疗vs诊疗工具</vt:lpstr>
      <vt:lpstr>佳量脑科学已完成癫痫诊疗全产业链布局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vt:lpstr>
      <vt:lpstr>佳量 Epilcure 市场空间测算</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吴襄</cp:lastModifiedBy>
  <cp:revision>188</cp:revision>
  <cp:lastPrinted>2026-06-25T07:51:15Z</cp:lastPrinted>
  <dcterms:created xsi:type="dcterms:W3CDTF">2026-06-25T07:51:15Z</dcterms:created>
  <dcterms:modified xsi:type="dcterms:W3CDTF">2026-06-25T07:51:15Z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Slide.SHOWCASE">
    <vt:lpwstr>f0627be9-e5f7-4b4e-b9c2-0bbca680d4c3</vt:lpwstr>
  </property>
  <property fmtid="{D5CDD505-2E9C-101B-9397-08002B2CF9AE}" pid="4" name="iSlide.TEMPLATE">
    <vt:lpwstr>b4d0484f-ca76-4c4e-a9aa-7d467de1c3de</vt:lpwstr>
  </property>
  <property fmtid="{D5CDD505-2E9C-101B-9397-08002B2CF9AE}" pid="5" name="KSOProductBuildVer">
    <vt:lpwstr>2052-12.1.24031.24031</vt:lpwstr>
  </property>
  <property fmtid="{D5CDD505-2E9C-101B-9397-08002B2CF9AE}" pid="6" name="ICV">
    <vt:lpwstr>1C07DBC6430BC7D296D8386ACC52C4F5_43</vt:lpwstr>
  </property>
</Properties>
</file>